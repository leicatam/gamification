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90-minute session turns valuation from a black box into a constructed, defensible argument. Every method is shown as a diagram and worked through with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Scientists often feel valuation is arbitrary. The message: it is a structured argument linking milestones, funds and market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arc. Each section builds on the previous one and becomes a layer of the master model in Section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visual contents page. Refer back to it at each section divider so the audience always knows where they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establishes the mental model: value is created step by step as risk is removed at each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Scientists already think in TRL terms. The pins mark value-inflection milestones; the Illuminatio MRI venture targets a 510(k) clearance.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 choice is stage-dependent. We revisit this matrix in Section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chart deliberately shows tiny early steps — that IS the deep-tech reality. The 4.4 → 80 series recurs through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is the quantitative heart of the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 the use of funds is milestone-led. 'We will spend $2.5M to reach prototype and validation' — not just 'we will spend $2.5M'.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reframes budgeting for scientists: spending is investment only when it shifts a POS or expands the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uplift combines risk removed (CPOS 16.8% → 48%) and time shortened (5 yrs →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sum = risk-adjusted reward; second = cost. Discipline: once a milestone is achieved, DROP its POS from CPOS — do not also keep an inflated r, or you double-count the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each row. 1.25⁵ = 3.05; 1.25³ = 1.95. All figures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supplies the exit value and the sense-checks the rNPV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 single lens can mislead; triangulation across all four makes the exit value defensible.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moving from the TAM headline to a defensible bottom-up SOM.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five dimensions come from the DTL interview scorecard.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Deep-tech comparables are scarce and deal terms seldom disclosed — hence triangulation.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 is the reconciliation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of matching is to diagnose. A gap tells you where to dig.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'Review' flag means bottom-up and top-down disagree.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Closes the loop between Sections 2 and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 forces the deck away from single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Researchers over-weight the technology vertex. Investors price all three; organisation and commercial risk are where scientist-led ventures most often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deliberate asymmetry — upside far above base — is characteristic of deep tech.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driver should trace to a milestone POS in the rNPV.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E[V] collapses the distribution to one number — always present it with the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 separates the headline valuation from value realised.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minority investor with strong protective provisions can hold decisive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Participating preferred surprises founders most; 1× non-participating is the founder-friendly norm.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option pool is usually created pre-money — it dilutes founders, not the incoming investor.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pre- vs post-money confusion is a classic, costly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 is the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layer is one prior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figure traces back to a named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WBI case is a real DTL-adjacent valuation; capital-market multiples leverage listed peers but need discounts.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drives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recurring errors in DTL venture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one-page memo is the real test of whether the training landed.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Restate the four takeaways; point to the reading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3017520"/>
            <a:ext cx="3108960" cy="3108960"/>
          </a:xfrm>
          <a:prstGeom prst="ellipse">
            <a:avLst/>
          </a:prstGeom>
          <a:noFill/>
          <a:ln w="17780">
            <a:solidFill>
              <a:srgbClr val="21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3429000"/>
            <a:ext cx="2286000" cy="2286000"/>
          </a:xfrm>
          <a:prstGeom prst="ellipse">
            <a:avLst/>
          </a:prstGeom>
          <a:noFill/>
          <a:ln w="17780">
            <a:solidFill>
              <a:srgbClr val="21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19" y="3840480"/>
            <a:ext cx="1463040" cy="1463040"/>
          </a:xfrm>
          <a:prstGeom prst="ellipse">
            <a:avLst/>
          </a:prstGeom>
          <a:noFill/>
          <a:ln w="17780">
            <a:solidFill>
              <a:srgbClr val="214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152144"/>
            <a:ext cx="100584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08E2B"/>
                </a:solidFill>
                <a:latin typeface="Calibri"/>
              </a:rPr>
              <a:t>DEEP-TECH LAB (DTL)   ·   TRAINING 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19072"/>
            <a:ext cx="1005840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Georgia"/>
              </a:rPr>
              <a:t>Valuing Deep-Tech Ventures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670048"/>
            <a:ext cx="99669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C6D4E2"/>
                </a:solidFill>
                <a:latin typeface="Calibri"/>
              </a:rPr>
              <a:t>A Practitioner's Framework for Researchers &amp; Scientists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28" y="3584448"/>
            <a:ext cx="2743200" cy="91440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95344"/>
            <a:ext cx="978408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5C7D8"/>
                </a:solidFill>
                <a:latin typeface="Calibri"/>
              </a:rPr>
              <a:t>90-minute training  ·  six connected methods, assembled into one master model.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5C7D8"/>
                </a:solidFill>
                <a:latin typeface="Calibri"/>
              </a:rPr>
              <a:t>From milestone roadmap and use-of-funds, through benchmarking and uncertainty, to stakeholder rights and dilution — each illustrated and worked through with numbers.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806440"/>
            <a:ext cx="100584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C5D6D"/>
                </a:solidFill>
                <a:latin typeface="Calibri"/>
              </a:rPr>
              <a:t>Audience: research scientists and venture founders   |   All figures are illustrative worked examples, not investment advice.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WHY THIS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The valuation gap for scientist-founders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35024"/>
            <a:ext cx="11064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Deep-tech ventures are valued years before revenue — earnings, book value and cash flow are near zero, so standard accounting methods return little that is meaningful.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Yet valuation is unavoidable: it sets how much equity you exchange for the capital needed to reach your next scientific milestone.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A defensible valuation is not a guess — it is an argument that links three things: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        –  </a:t>
            </a:r>
            <a:r>
              <a:rPr sz="1400">
                <a:solidFill>
                  <a:srgbClr val="4C5D6D"/>
                </a:solidFill>
                <a:latin typeface="Calibri"/>
              </a:rPr>
              <a:t>the science you will do (milestones),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        –  </a:t>
            </a:r>
            <a:r>
              <a:rPr sz="1400">
                <a:solidFill>
                  <a:srgbClr val="4C5D6D"/>
                </a:solidFill>
                <a:latin typeface="Calibri"/>
              </a:rPr>
              <a:t>the funds you will spend to do it (use of funds), and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        –  </a:t>
            </a:r>
            <a:r>
              <a:rPr sz="1400">
                <a:solidFill>
                  <a:srgbClr val="4C5D6D"/>
                </a:solidFill>
                <a:latin typeface="Calibri"/>
              </a:rPr>
              <a:t>the market evidence that prices the result (benchmarking).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This session builds that argument in six connected methods, each explained with a diagram and a worked example.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248656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248656"/>
            <a:ext cx="100584" cy="84124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248656"/>
            <a:ext cx="107899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A deep-tech valuation is a risk-adjusted, milestone-indexed estimate of future value — not a statement of present fact.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90-MINUTE RUN OF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Agenda — the path of the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50976" y="1517904"/>
            <a:ext cx="0" cy="4133088"/>
          </a:xfrm>
          <a:prstGeom prst="line">
            <a:avLst/>
          </a:prstGeom>
          <a:ln w="25400">
            <a:solidFill>
              <a:srgbClr val="C9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49224" y="1243584"/>
            <a:ext cx="566928" cy="566928"/>
          </a:xfrm>
          <a:prstGeom prst="ellipse">
            <a:avLst/>
          </a:prstGeom>
          <a:solidFill>
            <a:srgbClr val="4E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243584"/>
            <a:ext cx="566928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1328" y="1243584"/>
            <a:ext cx="8001000" cy="566928"/>
          </a:xfrm>
          <a:prstGeom prst="roundRect">
            <a:avLst>
              <a:gd name="adj" fmla="val 1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36"/>
                </a:solidFill>
                <a:latin typeface="Georgia"/>
              </a:rPr>
              <a:t>The milestone roadmap to a 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1298448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13" name="Oval 12"/>
          <p:cNvSpPr/>
          <p:nvPr/>
        </p:nvSpPr>
        <p:spPr>
          <a:xfrm>
            <a:off x="649224" y="1883664"/>
            <a:ext cx="566928" cy="566928"/>
          </a:xfrm>
          <a:prstGeom prst="ellipse">
            <a:avLst/>
          </a:prstGeom>
          <a:solidFill>
            <a:srgbClr val="3F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1883664"/>
            <a:ext cx="566928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81328" y="1883664"/>
            <a:ext cx="8001000" cy="566928"/>
          </a:xfrm>
          <a:prstGeom prst="roundRect">
            <a:avLst>
              <a:gd name="adj" fmla="val 1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36"/>
                </a:solidFill>
                <a:latin typeface="Georgia"/>
              </a:rPr>
              <a:t>Use of funds → value creation → the math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938528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20 min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" y="2523744"/>
            <a:ext cx="566928" cy="566928"/>
          </a:xfrm>
          <a:prstGeom prst="ellipse">
            <a:avLst/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523744"/>
            <a:ext cx="566928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81328" y="2523744"/>
            <a:ext cx="8001000" cy="566928"/>
          </a:xfrm>
          <a:prstGeom prst="roundRect">
            <a:avLst>
              <a:gd name="adj" fmla="val 1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36"/>
                </a:solidFill>
                <a:latin typeface="Georgia"/>
              </a:rPr>
              <a:t>Benchmarking: market, competition, references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578608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15 min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" y="3163824"/>
            <a:ext cx="566928" cy="566928"/>
          </a:xfrm>
          <a:prstGeom prst="ellipse">
            <a:avLst/>
          </a:prstGeom>
          <a:solidFill>
            <a:srgbClr val="6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3163824"/>
            <a:ext cx="566928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81328" y="3163824"/>
            <a:ext cx="8001000" cy="566928"/>
          </a:xfrm>
          <a:prstGeom prst="roundRect">
            <a:avLst>
              <a:gd name="adj" fmla="val 1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36"/>
                </a:solidFill>
                <a:latin typeface="Georgia"/>
              </a:rPr>
              <a:t>Matching: use of funds tested against the market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3218688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" y="3803904"/>
            <a:ext cx="566928" cy="566928"/>
          </a:xfrm>
          <a:prstGeom prst="ellipse">
            <a:avLst/>
          </a:prstGeom>
          <a:solidFill>
            <a:srgbClr val="C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3803904"/>
            <a:ext cx="566928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81328" y="3803904"/>
            <a:ext cx="8001000" cy="566928"/>
          </a:xfrm>
          <a:prstGeom prst="roundRect">
            <a:avLst>
              <a:gd name="adj" fmla="val 1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36"/>
                </a:solidFill>
                <a:latin typeface="Georgia"/>
              </a:rPr>
              <a:t>Uncertainty: downside / upside &amp; the Golden Triangle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3858768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15 min</a:t>
            </a:r>
          </a:p>
        </p:txBody>
      </p:sp>
      <p:sp>
        <p:nvSpPr>
          <p:cNvPr id="29" name="Oval 28"/>
          <p:cNvSpPr/>
          <p:nvPr/>
        </p:nvSpPr>
        <p:spPr>
          <a:xfrm>
            <a:off x="649224" y="4443984"/>
            <a:ext cx="566928" cy="566928"/>
          </a:xfrm>
          <a:prstGeom prst="ellipse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" y="4443984"/>
            <a:ext cx="566928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81328" y="4443984"/>
            <a:ext cx="8001000" cy="566928"/>
          </a:xfrm>
          <a:prstGeom prst="roundRect">
            <a:avLst>
              <a:gd name="adj" fmla="val 1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36"/>
                </a:solidFill>
                <a:latin typeface="Georgia"/>
              </a:rPr>
              <a:t>Stakeholders: rights, protections, control, dilution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92640" y="4498848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12 min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" y="5084064"/>
            <a:ext cx="566928" cy="566928"/>
          </a:xfrm>
          <a:prstGeom prst="ellipse">
            <a:avLst/>
          </a:prstGeom>
          <a:solidFill>
            <a:srgbClr val="21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" y="5084064"/>
            <a:ext cx="566928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81328" y="5084064"/>
            <a:ext cx="8001000" cy="566928"/>
          </a:xfrm>
          <a:prstGeom prst="roundRect">
            <a:avLst>
              <a:gd name="adj" fmla="val 1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36"/>
                </a:solidFill>
                <a:latin typeface="Georgia"/>
              </a:rPr>
              <a:t>The master model + comparison of other methods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92640" y="5138928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8 min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779008"/>
            <a:ext cx="11183112" cy="640080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5779008"/>
            <a:ext cx="100584" cy="640080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5779008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Objectives — by the end you can build a milestone-indexed valuation, defend it with benchmarking, state its downside and upside, and read how a term sheet changes your 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THE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The six methods, and how they combine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188720"/>
            <a:ext cx="3456432" cy="10424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4E7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188720"/>
            <a:ext cx="585216" cy="1042415"/>
          </a:xfrm>
          <a:prstGeom prst="rect">
            <a:avLst/>
          </a:prstGeom>
          <a:solidFill>
            <a:srgbClr val="4E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188720"/>
            <a:ext cx="585216" cy="104241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188720"/>
            <a:ext cx="2596896" cy="104241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F2A4A"/>
                </a:solidFill>
                <a:latin typeface="Georgia"/>
              </a:rPr>
              <a:t>Milestone roadmap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C5D6D"/>
                </a:solidFill>
                <a:latin typeface="Calibri"/>
              </a:rPr>
              <a:t>when value is created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505456" y="3621024"/>
            <a:ext cx="182880" cy="201168"/>
          </a:xfrm>
          <a:prstGeom prst="downArrow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2" y="1188720"/>
            <a:ext cx="3456432" cy="10424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3F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9432" y="1188720"/>
            <a:ext cx="585216" cy="1042415"/>
          </a:xfrm>
          <a:prstGeom prst="rect">
            <a:avLst/>
          </a:prstGeom>
          <a:solidFill>
            <a:srgbClr val="3F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1188720"/>
            <a:ext cx="585216" cy="104241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1188720"/>
            <a:ext cx="2596896" cy="104241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F2A4A"/>
                </a:solidFill>
                <a:latin typeface="Georgia"/>
              </a:rPr>
              <a:t>Use of funds → rNPV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C5D6D"/>
                </a:solidFill>
                <a:latin typeface="Calibri"/>
              </a:rPr>
              <a:t>bottom-up intrinsic value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236208" y="3621024"/>
            <a:ext cx="182880" cy="201168"/>
          </a:xfrm>
          <a:prstGeom prst="downArrow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30183" y="1188720"/>
            <a:ext cx="3456432" cy="10424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E9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0183" y="1188720"/>
            <a:ext cx="585216" cy="1042415"/>
          </a:xfrm>
          <a:prstGeom prst="rect">
            <a:avLst/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3" y="1188720"/>
            <a:ext cx="585216" cy="104241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1704" y="1188720"/>
            <a:ext cx="2596896" cy="104241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F2A4A"/>
                </a:solidFill>
                <a:latin typeface="Georgia"/>
              </a:rPr>
              <a:t>Benchmarking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C5D6D"/>
                </a:solidFill>
                <a:latin typeface="Calibri"/>
              </a:rPr>
              <a:t>top-down market evidence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9966960" y="3621024"/>
            <a:ext cx="182880" cy="201168"/>
          </a:xfrm>
          <a:prstGeom prst="downArrow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2432304"/>
            <a:ext cx="3456432" cy="10424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6FA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2432304"/>
            <a:ext cx="585216" cy="1042415"/>
          </a:xfrm>
          <a:prstGeom prst="rect">
            <a:avLst/>
          </a:prstGeom>
          <a:solidFill>
            <a:srgbClr val="6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2432304"/>
            <a:ext cx="585216" cy="104241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2432304"/>
            <a:ext cx="2596896" cy="104241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F2A4A"/>
                </a:solidFill>
                <a:latin typeface="Georgia"/>
              </a:rPr>
              <a:t>Matching method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C5D6D"/>
                </a:solidFill>
                <a:latin typeface="Calibri"/>
              </a:rPr>
              <a:t>reconcile the two views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2505456" y="3621024"/>
            <a:ext cx="182880" cy="201168"/>
          </a:xfrm>
          <a:prstGeom prst="downArrow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99432" y="2432304"/>
            <a:ext cx="3456432" cy="10424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99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99432" y="2432304"/>
            <a:ext cx="585216" cy="1042415"/>
          </a:xfrm>
          <a:prstGeom prst="rect">
            <a:avLst/>
          </a:prstGeom>
          <a:solidFill>
            <a:srgbClr val="C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9432" y="2432304"/>
            <a:ext cx="585216" cy="104241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0952" y="2432304"/>
            <a:ext cx="2596896" cy="104241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F2A4A"/>
                </a:solidFill>
                <a:latin typeface="Georgia"/>
              </a:rPr>
              <a:t>Uncertainty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C5D6D"/>
                </a:solidFill>
                <a:latin typeface="Calibri"/>
              </a:rPr>
              <a:t>downside vs upside range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6236208" y="3621024"/>
            <a:ext cx="182880" cy="201168"/>
          </a:xfrm>
          <a:prstGeom prst="downArrow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30183" y="2432304"/>
            <a:ext cx="3456432" cy="104241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08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30183" y="2432304"/>
            <a:ext cx="585216" cy="1042415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2432304"/>
            <a:ext cx="585216" cy="104241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Georgia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2432304"/>
            <a:ext cx="2596896" cy="104241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F2A4A"/>
                </a:solidFill>
                <a:latin typeface="Georgia"/>
              </a:rPr>
              <a:t>Stakeholder terms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4C5D6D"/>
                </a:solidFill>
                <a:latin typeface="Calibri"/>
              </a:rPr>
              <a:t>value per stakeholder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9966960" y="3621024"/>
            <a:ext cx="182880" cy="201168"/>
          </a:xfrm>
          <a:prstGeom prst="downArrow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68680" y="3877056"/>
            <a:ext cx="10442448" cy="731520"/>
          </a:xfrm>
          <a:prstGeom prst="roundRect">
            <a:avLst>
              <a:gd name="adj" fmla="val 14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THE MASTER MODEL   ·   the disciplined assembly of all six methods into one argument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5998464" y="4663440"/>
            <a:ext cx="201168" cy="219456"/>
          </a:xfrm>
          <a:prstGeom prst="downArrow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783080" y="4974336"/>
            <a:ext cx="8595360" cy="585216"/>
          </a:xfrm>
          <a:prstGeom prst="roundRect">
            <a:avLst>
              <a:gd name="adj" fmla="val 50000"/>
            </a:avLst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2A4A"/>
                </a:solidFill>
                <a:latin typeface="Calibri"/>
              </a:rPr>
              <a:t>OUTPUT:  a valuation range  ·  a risk profile  ·  an ownership outcome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705856"/>
            <a:ext cx="11183112" cy="658368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5705856"/>
            <a:ext cx="100584" cy="65836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705856"/>
            <a:ext cx="10789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ORIENTATION    </a:t>
            </a:r>
            <a:r>
              <a:rPr sz="1400">
                <a:solidFill>
                  <a:srgbClr val="1F2A36"/>
                </a:solidFill>
                <a:latin typeface="Calibri"/>
              </a:rPr>
              <a:t>Read this as the map of the next 90 minutes — we build each block, then assemble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2377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0" b="1" i="0">
                <a:solidFill>
                  <a:srgbClr val="163A5E"/>
                </a:solidFill>
                <a:latin typeface="Georgia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730752"/>
            <a:ext cx="1554480" cy="10972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3255264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08E2B"/>
                </a:solidFill>
                <a:latin typeface="Calibri"/>
              </a:rPr>
              <a:t>SECTION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3913632"/>
            <a:ext cx="105156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FFFFFF"/>
                </a:solidFill>
                <a:latin typeface="Georgia"/>
              </a:rPr>
              <a:t>The Milestone Roadmap to a 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974336"/>
            <a:ext cx="1033272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B5C7D8"/>
                </a:solidFill>
                <a:latin typeface="Calibri"/>
              </a:rPr>
              <a:t>Valuation is a process indexed to scientific and commercial milestones — not a single number fixed at one date.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1  ·  THE MILESTONE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Valuation is a process, not a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8872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500" b="0">
                <a:solidFill>
                  <a:srgbClr val="1F2A36"/>
                </a:solidFill>
                <a:latin typeface="Calibri"/>
              </a:rPr>
              <a:t>Map the venture on the Technology Readiness Level (TRL) ladder — from basic principles (TRL 1) to a system proven in operation (TRL 9).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500" b="0">
                <a:solidFill>
                  <a:srgbClr val="1F2A36"/>
                </a:solidFill>
                <a:latin typeface="Calibri"/>
              </a:rPr>
              <a:t>Each rung pairs a readiness step with a value inflection: a point at which a specific risk is removed and the venture is worth more.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500" b="0">
                <a:solidFill>
                  <a:srgbClr val="1F2A36"/>
                </a:solidFill>
                <a:latin typeface="Calibri"/>
              </a:rPr>
              <a:t>The roadmap defines WHEN value is created; later sections quantify HOW MUCH.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" y="5148072"/>
            <a:ext cx="1024128" cy="384048"/>
          </a:xfrm>
          <a:prstGeom prst="rect">
            <a:avLst/>
          </a:prstGeom>
          <a:solidFill>
            <a:srgbClr val="4E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5202936"/>
            <a:ext cx="10241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TRL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29967" y="4899355"/>
            <a:ext cx="1024128" cy="632764"/>
          </a:xfrm>
          <a:prstGeom prst="rect">
            <a:avLst/>
          </a:prstGeom>
          <a:solidFill>
            <a:srgbClr val="4E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9967" y="5202936"/>
            <a:ext cx="10241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TRL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72968" y="4650638"/>
            <a:ext cx="1024128" cy="881481"/>
          </a:xfrm>
          <a:prstGeom prst="rect">
            <a:avLst/>
          </a:prstGeom>
          <a:solidFill>
            <a:srgbClr val="4E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72968" y="5202936"/>
            <a:ext cx="10241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TRL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4401921"/>
            <a:ext cx="1024128" cy="1130198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5202936"/>
            <a:ext cx="10241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TRL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58968" y="4153204"/>
            <a:ext cx="1024128" cy="1378915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58968" y="5202936"/>
            <a:ext cx="10241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TRL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1968" y="3904487"/>
            <a:ext cx="1024128" cy="1627632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5202936"/>
            <a:ext cx="10241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TRL 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44968" y="3655771"/>
            <a:ext cx="1024128" cy="187634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4968" y="5202936"/>
            <a:ext cx="10241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TRL 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87968" y="3407054"/>
            <a:ext cx="1024128" cy="2125065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87968" y="5202936"/>
            <a:ext cx="10241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TRL 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30968" y="3158337"/>
            <a:ext cx="1024128" cy="237378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30968" y="5202936"/>
            <a:ext cx="10241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TRL 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596128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E79A8"/>
                </a:solidFill>
                <a:latin typeface="Calibri"/>
              </a:rPr>
              <a:t>Concept · TRL 1–3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5596128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9E8A"/>
                </a:solidFill>
                <a:latin typeface="Calibri"/>
              </a:rPr>
              <a:t>Prototype &amp; validation · TRL 4–6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4968" y="5596128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08E2B"/>
                </a:solidFill>
                <a:latin typeface="Calibri"/>
              </a:rPr>
              <a:t>Demonstration &amp; deployment · TRL 7–9</a:t>
            </a:r>
          </a:p>
        </p:txBody>
      </p:sp>
      <p:sp>
        <p:nvSpPr>
          <p:cNvPr id="30" name="Oval 29"/>
          <p:cNvSpPr/>
          <p:nvPr/>
        </p:nvSpPr>
        <p:spPr>
          <a:xfrm>
            <a:off x="4745736" y="4109313"/>
            <a:ext cx="164592" cy="164592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59351" y="3853281"/>
            <a:ext cx="1737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2A4A"/>
                </a:solidFill>
                <a:latin typeface="Calibri"/>
              </a:rPr>
              <a:t>Prototype</a:t>
            </a:r>
          </a:p>
        </p:txBody>
      </p:sp>
      <p:sp>
        <p:nvSpPr>
          <p:cNvPr id="32" name="Oval 31"/>
          <p:cNvSpPr/>
          <p:nvPr/>
        </p:nvSpPr>
        <p:spPr>
          <a:xfrm>
            <a:off x="7031736" y="3611879"/>
            <a:ext cx="164592" cy="164592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5351" y="3355847"/>
            <a:ext cx="1737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2A4A"/>
                </a:solidFill>
                <a:latin typeface="Calibri"/>
              </a:rPr>
              <a:t>Pilot data</a:t>
            </a:r>
          </a:p>
        </p:txBody>
      </p:sp>
      <p:sp>
        <p:nvSpPr>
          <p:cNvPr id="34" name="Oval 33"/>
          <p:cNvSpPr/>
          <p:nvPr/>
        </p:nvSpPr>
        <p:spPr>
          <a:xfrm>
            <a:off x="9317736" y="3114446"/>
            <a:ext cx="164592" cy="164592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31352" y="2858414"/>
            <a:ext cx="17373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2A4A"/>
                </a:solidFill>
                <a:latin typeface="Calibri"/>
              </a:rPr>
              <a:t>Clearance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1  ·  THE MILESTONE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From idea to value — the milestone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33856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C5D6D"/>
                </a:solidFill>
                <a:latin typeface="Calibri"/>
              </a:rPr>
              <a:t>Illustrative; each venture customises its milestones and valuation method.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20927" y="1682496"/>
          <a:ext cx="10149840" cy="2871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85800"/>
                <a:gridCol w="3108960"/>
                <a:gridCol w="2148840"/>
                <a:gridCol w="2971800"/>
              </a:tblGrid>
              <a:tr h="41017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orgia"/>
                        </a:rPr>
                        <a:t>Stage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orgia"/>
                        </a:rPr>
                        <a:t>TRL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orgia"/>
                        </a:rPr>
                        <a:t>Defining milestone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orgia"/>
                        </a:rPr>
                        <a:t>Risk removed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orgia"/>
                        </a:rPr>
                        <a:t>Primary method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</a:tr>
              <a:tr h="4101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1–3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Proof of principle, IP filed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Scientific basis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Qualitative scorecard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101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Prototype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4–6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Working prototype / validated assay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Engineering feasibility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Use-of-funds rNPV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  <a:tr h="4101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7–8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Clinical or field validation data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Efficacy / performance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rNPV + comparables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101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Regulatory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Clearance / approval (e.g. 510(k))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Regulatory risk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Benchmarked exit value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  <a:tr h="4101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Commercial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First revenue / signed contracts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Market acceptance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Revenue / earnings multiples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1017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Scaling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Repeatable growth, positive margin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Execution / scale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DCF + market multiples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522976"/>
            <a:ext cx="11183112" cy="786384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522976"/>
            <a:ext cx="100584" cy="786384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522976"/>
            <a:ext cx="1078992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The valuation method follows the venture's TRL stage — applying a revenue multiple to a pre-revenue venture is a category error.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1  ·  THE MILESTONE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De-risking equals value creation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500" b="0">
                <a:solidFill>
                  <a:srgbClr val="1F2A36"/>
                </a:solidFill>
                <a:latin typeface="Calibri"/>
              </a:rPr>
              <a:t>Each milestone carries a probability of success (POS). Achieving it removes that risk — and value jumps by the factor 1 / POS.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500" b="0">
                <a:solidFill>
                  <a:srgbClr val="1F2A36"/>
                </a:solidFill>
                <a:latin typeface="Calibri"/>
              </a:rPr>
              <a:t>Value is created in steps, each coinciding with a milestone — and the early steps are small.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47548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C5D6D"/>
                </a:solidFill>
                <a:latin typeface="Calibri"/>
              </a:rPr>
              <a:t>Risk-adjusted venture value (US$M, illustrative)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51560" y="5504688"/>
            <a:ext cx="10058400" cy="0"/>
          </a:xfrm>
          <a:prstGeom prst="line">
            <a:avLst/>
          </a:prstGeom>
          <a:ln w="15875">
            <a:solidFill>
              <a:srgbClr val="4C5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106424" y="5348782"/>
            <a:ext cx="1566672" cy="155905"/>
          </a:xfrm>
          <a:prstGeom prst="rect">
            <a:avLst/>
          </a:prstGeom>
          <a:solidFill>
            <a:srgbClr val="4E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37886"/>
            <a:ext cx="167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Consolas"/>
              </a:rPr>
              <a:t>$4.4M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577840"/>
            <a:ext cx="16764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6"/>
                </a:solidFill>
                <a:latin typeface="Calibri"/>
              </a:rPr>
              <a:t>Today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2824" y="5224767"/>
            <a:ext cx="1566672" cy="279920"/>
          </a:xfrm>
          <a:prstGeom prst="rect">
            <a:avLst/>
          </a:prstGeom>
          <a:solidFill>
            <a:srgbClr val="3F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7960" y="4913871"/>
            <a:ext cx="167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Consolas"/>
              </a:rPr>
              <a:t>$7.9M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7960" y="5577840"/>
            <a:ext cx="16764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6"/>
                </a:solidFill>
                <a:latin typeface="Calibri"/>
              </a:rPr>
              <a:t>After M1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59223" y="4806657"/>
            <a:ext cx="1566672" cy="698030"/>
          </a:xfrm>
          <a:prstGeom prst="rect">
            <a:avLst/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4360" y="4495761"/>
            <a:ext cx="167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Consolas"/>
              </a:rPr>
              <a:t>$19.7M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4360" y="5577840"/>
            <a:ext cx="16764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6"/>
                </a:solidFill>
                <a:latin typeface="Calibri"/>
              </a:rPr>
              <a:t>After M2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35624" y="4051934"/>
            <a:ext cx="1566672" cy="1452753"/>
          </a:xfrm>
          <a:prstGeom prst="rect">
            <a:avLst/>
          </a:prstGeom>
          <a:solidFill>
            <a:srgbClr val="6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3741038"/>
            <a:ext cx="167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Consolas"/>
              </a:rPr>
              <a:t>$41.0M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5577840"/>
            <a:ext cx="16764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6"/>
                </a:solidFill>
                <a:latin typeface="Calibri"/>
              </a:rPr>
              <a:t>After M3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2024" y="3236975"/>
            <a:ext cx="1566672" cy="2267712"/>
          </a:xfrm>
          <a:prstGeom prst="rect">
            <a:avLst/>
          </a:prstGeom>
          <a:solidFill>
            <a:srgbClr val="C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7159" y="2926079"/>
            <a:ext cx="167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Consolas"/>
              </a:rPr>
              <a:t>$64.0M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7159" y="5577840"/>
            <a:ext cx="16764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6"/>
                </a:solidFill>
                <a:latin typeface="Calibri"/>
              </a:rPr>
              <a:t>After M4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88424" y="2670047"/>
            <a:ext cx="1566672" cy="2834640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33560" y="2359151"/>
            <a:ext cx="167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Consolas"/>
              </a:rPr>
              <a:t>$80.0M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3560" y="5577840"/>
            <a:ext cx="16764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6"/>
                </a:solidFill>
                <a:latin typeface="Calibri"/>
              </a:rPr>
              <a:t>Exit Yr 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25296" y="2798064"/>
            <a:ext cx="4160520" cy="1280160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 wrap="square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READ THE CHART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Value is back-loaded: most of it appears only as the final risks are removed. A round's job is to buy the milestones that remove the most risk per dollar.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25296" y="2798064"/>
            <a:ext cx="91440" cy="1280160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2377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0" b="1" i="0">
                <a:solidFill>
                  <a:srgbClr val="163A5E"/>
                </a:solidFill>
                <a:latin typeface="Georgia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730752"/>
            <a:ext cx="1554480" cy="10972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3255264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08E2B"/>
                </a:solidFill>
                <a:latin typeface="Calibri"/>
              </a:rPr>
              <a:t>SECTION 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3913632"/>
            <a:ext cx="105156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FFFFFF"/>
                </a:solidFill>
                <a:latin typeface="Georgia"/>
              </a:rPr>
              <a:t>From Use of Funds to Value — the Math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974336"/>
            <a:ext cx="1033272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B5C7D8"/>
                </a:solidFill>
                <a:latin typeface="Calibri"/>
              </a:rPr>
              <a:t>Funds drive tasks, tasks remove risk, removed risk accumulates into valuation — and the rNPV formula makes it measurable.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2  ·  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Step 1 — use of funds as the unit of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07008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550" b="0">
                <a:solidFill>
                  <a:srgbClr val="1F2A36"/>
                </a:solidFill>
                <a:latin typeface="Calibri"/>
              </a:rPr>
              <a:t>Start not with a valuation number, but with the use of funds: the itemised plan of what the next round of capital will be spent on.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550" b="0">
                <a:solidFill>
                  <a:srgbClr val="1F2A36"/>
                </a:solidFill>
                <a:latin typeface="Calibri"/>
              </a:rPr>
              <a:t>A credible use of funds is structured around milestones, not line items — it states which milestones the money will deliver.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550" b="0">
                <a:solidFill>
                  <a:srgbClr val="1F2A36"/>
                </a:solidFill>
                <a:latin typeface="Calibri"/>
              </a:rPr>
              <a:t>Each category funds tasks; each task is chosen to remove a specific, nameable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310128"/>
            <a:ext cx="1993392" cy="1097280"/>
          </a:xfrm>
          <a:prstGeom prst="roundRect">
            <a:avLst>
              <a:gd name="adj" fmla="val 12000"/>
            </a:avLst>
          </a:prstGeom>
          <a:solidFill>
            <a:srgbClr val="4E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R&amp;D &amp;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prototyping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2" y="3310128"/>
            <a:ext cx="1993392" cy="1097280"/>
          </a:xfrm>
          <a:prstGeom prst="roundRect">
            <a:avLst>
              <a:gd name="adj" fmla="val 12000"/>
            </a:avLst>
          </a:prstGeom>
          <a:solidFill>
            <a:srgbClr val="3F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Validation &amp;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clinical / 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9784" y="3310128"/>
            <a:ext cx="1993392" cy="1097280"/>
          </a:xfrm>
          <a:prstGeom prst="roundRect">
            <a:avLst>
              <a:gd name="adj" fmla="val 12000"/>
            </a:avLst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Regulatory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&amp; 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06056" y="3310128"/>
            <a:ext cx="1993392" cy="1097280"/>
          </a:xfrm>
          <a:prstGeom prst="roundRect">
            <a:avLst>
              <a:gd name="adj" fmla="val 12000"/>
            </a:avLst>
          </a:prstGeom>
          <a:solidFill>
            <a:srgbClr val="6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Team &amp;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operations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82328" y="3310128"/>
            <a:ext cx="1993392" cy="1097280"/>
          </a:xfrm>
          <a:prstGeom prst="roundRect">
            <a:avLst>
              <a:gd name="adj" fmla="val 12000"/>
            </a:avLst>
          </a:prstGeom>
          <a:solidFill>
            <a:srgbClr val="C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Go-to-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35424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4C5D6D"/>
                </a:solidFill>
                <a:latin typeface="Calibri"/>
              </a:rPr>
              <a:t>Typical use-of-funds categories — every dollar should be traceable to a milestone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029200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5029200"/>
            <a:ext cx="100584" cy="84124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029200"/>
            <a:ext cx="107899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The use of funds is the bridge between the laboratory and the valuation: it is the list of risks the round will buy down.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2  ·  VALUE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How funded tasks create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88720"/>
            <a:ext cx="11064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550" b="0">
                <a:solidFill>
                  <a:srgbClr val="1F2A36"/>
                </a:solidFill>
                <a:latin typeface="Calibri"/>
              </a:rPr>
              <a:t>Trace the causal chain for every dollar. A task creates value only if it changes a probability of success or the size of the prize.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550" b="0">
                <a:solidFill>
                  <a:srgbClr val="1F2A36"/>
                </a:solidFill>
                <a:latin typeface="Calibri"/>
              </a:rPr>
              <a:t>Tasks that merely maintain the status quo are necessary cost — they keep the option alive, but do not by themselves create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670048"/>
            <a:ext cx="1949500" cy="1005840"/>
          </a:xfrm>
          <a:prstGeom prst="roundRect">
            <a:avLst>
              <a:gd name="adj" fmla="val 13000"/>
            </a:avLst>
          </a:prstGeom>
          <a:solidFill>
            <a:srgbClr val="4E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Funds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6ECF2"/>
                </a:solidFill>
                <a:latin typeface="Calibri"/>
              </a:rPr>
              <a:t>US$2.5M round</a:t>
            </a:r>
          </a:p>
        </p:txBody>
      </p:sp>
      <p:sp>
        <p:nvSpPr>
          <p:cNvPr id="10" name="Chevron 9"/>
          <p:cNvSpPr/>
          <p:nvPr/>
        </p:nvSpPr>
        <p:spPr>
          <a:xfrm>
            <a:off x="2543860" y="3017520"/>
            <a:ext cx="283464" cy="310896"/>
          </a:xfrm>
          <a:prstGeom prst="chevron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45612" y="2670048"/>
            <a:ext cx="1949500" cy="1005840"/>
          </a:xfrm>
          <a:prstGeom prst="roundRect">
            <a:avLst>
              <a:gd name="adj" fmla="val 13000"/>
            </a:avLst>
          </a:prstGeom>
          <a:solidFill>
            <a:srgbClr val="3F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Funded task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6ECF2"/>
                </a:solidFill>
                <a:latin typeface="Calibri"/>
              </a:rPr>
              <a:t>clinical study</a:t>
            </a:r>
          </a:p>
        </p:txBody>
      </p:sp>
      <p:sp>
        <p:nvSpPr>
          <p:cNvPr id="12" name="Chevron 11"/>
          <p:cNvSpPr/>
          <p:nvPr/>
        </p:nvSpPr>
        <p:spPr>
          <a:xfrm>
            <a:off x="4822545" y="3017520"/>
            <a:ext cx="283464" cy="310896"/>
          </a:xfrm>
          <a:prstGeom prst="chevron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4297" y="2670048"/>
            <a:ext cx="1949500" cy="1005840"/>
          </a:xfrm>
          <a:prstGeom prst="roundRect">
            <a:avLst>
              <a:gd name="adj" fmla="val 13000"/>
            </a:avLst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Milestone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6ECF2"/>
                </a:solidFill>
                <a:latin typeface="Calibri"/>
              </a:rPr>
              <a:t>validation data</a:t>
            </a:r>
          </a:p>
        </p:txBody>
      </p:sp>
      <p:sp>
        <p:nvSpPr>
          <p:cNvPr id="14" name="Chevron 13"/>
          <p:cNvSpPr/>
          <p:nvPr/>
        </p:nvSpPr>
        <p:spPr>
          <a:xfrm>
            <a:off x="7101230" y="3017520"/>
            <a:ext cx="283464" cy="310896"/>
          </a:xfrm>
          <a:prstGeom prst="chevron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02982" y="2670048"/>
            <a:ext cx="1949500" cy="1005840"/>
          </a:xfrm>
          <a:prstGeom prst="roundRect">
            <a:avLst>
              <a:gd name="adj" fmla="val 13000"/>
            </a:avLst>
          </a:prstGeom>
          <a:solidFill>
            <a:srgbClr val="6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Risk removed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6ECF2"/>
                </a:solidFill>
                <a:latin typeface="Calibri"/>
              </a:rPr>
              <a:t>efficacy risk</a:t>
            </a:r>
          </a:p>
        </p:txBody>
      </p:sp>
      <p:sp>
        <p:nvSpPr>
          <p:cNvPr id="16" name="Chevron 15"/>
          <p:cNvSpPr/>
          <p:nvPr/>
        </p:nvSpPr>
        <p:spPr>
          <a:xfrm>
            <a:off x="9379915" y="3017520"/>
            <a:ext cx="283464" cy="310896"/>
          </a:xfrm>
          <a:prstGeom prst="chevron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81667" y="2670048"/>
            <a:ext cx="1949500" cy="1005840"/>
          </a:xfrm>
          <a:prstGeom prst="roundRect">
            <a:avLst>
              <a:gd name="adj" fmla="val 13000"/>
            </a:avLst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Value created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6ECF2"/>
                </a:solidFill>
                <a:latin typeface="Calibri"/>
              </a:rPr>
              <a:t>POS 0.3 → 0.5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877056"/>
            <a:ext cx="11064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4C5D6D"/>
                </a:solidFill>
                <a:latin typeface="Calibri"/>
              </a:rPr>
              <a:t>The value-creation chain — worked for one funded task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70832"/>
            <a:ext cx="11183112" cy="932688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370832"/>
            <a:ext cx="100584" cy="93268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370832"/>
            <a:ext cx="1078992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Test every funded task with one question: which probability does it move, and by how much? If the answer is ‘none’, it is overhead, not investment.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2  ·  VALUE ACCUMULATION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How value accumulates across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1064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C5D6D"/>
                </a:solidFill>
                <a:latin typeface="Calibri"/>
              </a:rPr>
              <a:t>Milestones compound: achieving each one removes its risk and multiplies value by 1 / POS.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03120"/>
            <a:ext cx="2788920" cy="1783080"/>
          </a:xfrm>
          <a:prstGeom prst="roundRect">
            <a:avLst>
              <a:gd name="adj" fmla="val 10000"/>
            </a:avLst>
          </a:prstGeom>
          <a:solidFill>
            <a:srgbClr val="4E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Today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$4.4M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E8EEF3"/>
                </a:solidFill>
                <a:latin typeface="Calibri"/>
              </a:rPr>
              <a:t>4 milestones remain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E8EEF3"/>
                </a:solidFill>
                <a:latin typeface="Calibri"/>
              </a:rPr>
              <a:t>CPOS = 16.8%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694176" y="2702052"/>
            <a:ext cx="731520" cy="585216"/>
          </a:xfrm>
          <a:prstGeom prst="rightArrow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4023360"/>
            <a:ext cx="13716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F2A4A"/>
                </a:solidFill>
                <a:latin typeface="Calibri"/>
              </a:rPr>
              <a:t>M1 achieved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F2A4A"/>
                </a:solidFill>
                <a:latin typeface="Calibri"/>
              </a:rPr>
              <a:t>removes POS 0.70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F2A4A"/>
                </a:solidFill>
                <a:latin typeface="Calibri"/>
              </a:rPr>
              <a:t>→ value × 1.8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2103120"/>
            <a:ext cx="2788920" cy="1783080"/>
          </a:xfrm>
          <a:prstGeom prst="roundRect">
            <a:avLst>
              <a:gd name="adj" fmla="val 10000"/>
            </a:avLst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After M1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$7.9M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E8EEF3"/>
                </a:solidFill>
                <a:latin typeface="Calibri"/>
              </a:rPr>
              <a:t>prototype done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E8EEF3"/>
                </a:solidFill>
                <a:latin typeface="Calibri"/>
              </a:rPr>
              <a:t>CPOS = 24%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24344" y="2702052"/>
            <a:ext cx="731520" cy="585216"/>
          </a:xfrm>
          <a:prstGeom prst="rightArrow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31736" y="4023360"/>
            <a:ext cx="13716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F2A4A"/>
                </a:solidFill>
                <a:latin typeface="Calibri"/>
              </a:rPr>
              <a:t>M2 achieved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F2A4A"/>
                </a:solidFill>
                <a:latin typeface="Calibri"/>
              </a:rPr>
              <a:t>removes POS 0.50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F2A4A"/>
                </a:solidFill>
                <a:latin typeface="Calibri"/>
              </a:rPr>
              <a:t>→ value × 2.5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2103120"/>
            <a:ext cx="2788920" cy="1783080"/>
          </a:xfrm>
          <a:prstGeom prst="roundRect">
            <a:avLst>
              <a:gd name="adj" fmla="val 10000"/>
            </a:avLst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After M2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$19.7M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E8EEF3"/>
                </a:solidFill>
                <a:latin typeface="Calibri"/>
              </a:rPr>
              <a:t>validation done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E8EEF3"/>
                </a:solidFill>
                <a:latin typeface="Calibri"/>
              </a:rPr>
              <a:t>CPOS = 48%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175504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5175504"/>
            <a:ext cx="100584" cy="84124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5175504"/>
            <a:ext cx="107899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A US$2.5M round that funds M1 + M2 lifts risk-adjusted value from ~US$4.4M to ~US$19.7M — about 4.5×. That multiple, not the cash, is the valuation argument.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2  ·  THE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The math of valuation — risk-adjusted NPV (rNPV)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298448"/>
            <a:ext cx="10268712" cy="1024128"/>
          </a:xfrm>
          <a:prstGeom prst="roundRect">
            <a:avLst>
              <a:gd name="adj" fmla="val 12000"/>
            </a:avLst>
          </a:prstGeom>
          <a:solidFill>
            <a:srgbClr val="16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298448"/>
            <a:ext cx="9902952" cy="10241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900" b="1" i="0">
                <a:solidFill>
                  <a:srgbClr val="FFFFFF"/>
                </a:solidFill>
                <a:latin typeface="Consolas"/>
              </a:rPr>
              <a:t>rNPV₀  =  Σ ( CPOSₜ × CFₜ ) / (1+r)ₜ   −   Σ Costₜ / (1+r)ₜ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50" b="0" i="0">
                <a:solidFill>
                  <a:srgbClr val="F2B55C"/>
                </a:solidFill>
                <a:latin typeface="Consolas"/>
              </a:rPr>
              <a:t>value step on milestone success:   V → V × ( 1 / POS 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578608"/>
            <a:ext cx="73152" cy="29260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42032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Calibri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07792"/>
            <a:ext cx="5074920" cy="2468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08E2B"/>
                </a:solidFill>
                <a:latin typeface="Consolas"/>
              </a:rPr>
              <a:t>CPOSₜ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1F2A36"/>
                </a:solidFill>
                <a:latin typeface="Calibri"/>
              </a:rPr>
              <a:t>cumulative probability of reaching year 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08E2B"/>
                </a:solidFill>
                <a:latin typeface="Consolas"/>
              </a:rPr>
              <a:t>CFₜ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1F2A36"/>
                </a:solidFill>
                <a:latin typeface="Calibri"/>
              </a:rPr>
              <a:t>cash flow / exit value in year t (from benchmarking)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08E2B"/>
                </a:solidFill>
                <a:latin typeface="Consolas"/>
              </a:rPr>
              <a:t>Costₜ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1F2A36"/>
                </a:solidFill>
                <a:latin typeface="Calibri"/>
              </a:rPr>
              <a:t>use of funds deployed in year 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08E2B"/>
                </a:solidFill>
                <a:latin typeface="Consolas"/>
              </a:rPr>
              <a:t>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1F2A36"/>
                </a:solidFill>
                <a:latin typeface="Calibri"/>
              </a:rPr>
              <a:t>venture discount rate (15–40% for early deep tech)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487168"/>
            <a:ext cx="5577840" cy="2971800"/>
          </a:xfrm>
          <a:prstGeom prst="roundRect">
            <a:avLst>
              <a:gd name="adj" fmla="val 5000"/>
            </a:avLst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53328" y="2487168"/>
            <a:ext cx="5577840" cy="420624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2487168"/>
            <a:ext cx="521208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Calibri"/>
              </a:rPr>
              <a:t>WORKED EXAMPLE  —  numbers in the 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017520"/>
            <a:ext cx="5120640" cy="2331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onsolas"/>
              </a:rPr>
              <a:t>Diagnostic-imaging venture, US$2.5M round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1 · CPOS = 0.70×0.50×0.60×0.80 = 0.168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2 · Exit value  CF₅ = US$80M  (Year 5)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3 · Discount  r = 25%  →  1.25⁵ = 3.05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onsolas"/>
              </a:rPr>
              <a:t>4 · Reward = 0.168 × 80 ÷ 3.05 = US$4.40M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5 · Cost term = PV of US$2.5M ≈ US$2.15M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onsolas"/>
              </a:rPr>
              <a:t>rNPV₀ = 4.40 − 2.15 ≈ US$2.25M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    ( &gt; 0  →  the round creates value 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541264"/>
            <a:ext cx="11183112" cy="768096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5541264"/>
            <a:ext cx="100584" cy="768096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541264"/>
            <a:ext cx="1078992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rNPV (also called eNPV) is the standard intrinsic method for risk-laden, milestone-driven ventures — it makes de-risking measurable.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2  · 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Worked example — a milestone-funded venture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33856"/>
            <a:ext cx="1106424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C5D6D"/>
                </a:solidFill>
                <a:latin typeface="Calibri"/>
              </a:rPr>
              <a:t>Illustrative figures for a diagnostic-imaging venture raising a US$2.5M round to fund the first two milestones.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66647" y="1645920"/>
          <a:ext cx="10058400" cy="3675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645920"/>
                <a:gridCol w="4206240"/>
              </a:tblGrid>
              <a:tr h="40843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orgia"/>
                        </a:rPr>
                        <a:t>Item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orgia"/>
                        </a:rPr>
                        <a:t>Value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orgia"/>
                        </a:rPr>
                        <a:t>Basis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</a:tr>
              <a:tr h="40843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36"/>
                          </a:solidFill>
                          <a:latin typeface="Calibri"/>
                        </a:rPr>
                        <a:t>Benchmarked exit value (Year 5)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US$80M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comparable med-tech exits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0843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36"/>
                          </a:solidFill>
                          <a:latin typeface="Calibri"/>
                        </a:rPr>
                        <a:t>M1 — working prototype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POS 70%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engineering / feasibility risk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  <a:tr h="40843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36"/>
                          </a:solidFill>
                          <a:latin typeface="Calibri"/>
                        </a:rPr>
                        <a:t>M2 — clinical validation data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POS 50%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efficacy / scientific risk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0843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36"/>
                          </a:solidFill>
                          <a:latin typeface="Calibri"/>
                        </a:rPr>
                        <a:t>M3 — regulatory clearance (510(k))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POS 60%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regulatory risk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  <a:tr h="40843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36"/>
                          </a:solidFill>
                          <a:latin typeface="Calibri"/>
                        </a:rPr>
                        <a:t>M4 — first commercial revenue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POS 80%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market-acceptance risk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0843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36"/>
                          </a:solidFill>
                          <a:latin typeface="Calibri"/>
                        </a:rPr>
                        <a:t>Cumulative POS (all four)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16.8%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0.70 × 0.50 × 0.60 × 0.80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  <a:tr h="40843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36"/>
                          </a:solidFill>
                          <a:latin typeface="Calibri"/>
                        </a:rPr>
                        <a:t>Risk-adjusted value today (pre-money)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≈ US$4.4M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0.168 × 80 ÷ 1.25⁵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08439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36"/>
                          </a:solidFill>
                          <a:latin typeface="Calibri"/>
                        </a:rPr>
                        <a:t>Value after M1 + M2 achieved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≈ US$19.7M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0.48 × 80 ÷ 1.25³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504688"/>
            <a:ext cx="11183112" cy="804672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504688"/>
            <a:ext cx="100584" cy="80467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504688"/>
            <a:ext cx="107899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A US$2.5M round that buys M1 + M2 lifts risk-adjusted value ~4.5× — that multiple, not the cash, is the valuation argument.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2377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0" b="1" i="0">
                <a:solidFill>
                  <a:srgbClr val="163A5E"/>
                </a:solidFill>
                <a:latin typeface="Georgia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730752"/>
            <a:ext cx="1554480" cy="10972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3255264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08E2B"/>
                </a:solidFill>
                <a:latin typeface="Calibri"/>
              </a:rPr>
              <a:t>SECTION THREE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3913632"/>
            <a:ext cx="105156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FFFFFF"/>
                </a:solidFill>
                <a:latin typeface="Georgia"/>
              </a:rPr>
              <a:t>The Benchmarking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974336"/>
            <a:ext cx="1033272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B5C7D8"/>
                </a:solidFill>
                <a:latin typeface="Calibri"/>
              </a:rPr>
              <a:t>Anchoring the venture to external evidence: market size, competitive position, qualitative quality, and current valuation references.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3  · 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Benchmarking — triangulating value from the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52144"/>
            <a:ext cx="11064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C5D6D"/>
                </a:solidFill>
                <a:latin typeface="Calibri"/>
              </a:rPr>
              <a:t>Four lenses, used together — agreement across all four produces a defensible exit value.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53512" y="2414016"/>
            <a:ext cx="3140964" cy="1289304"/>
          </a:xfrm>
          <a:prstGeom prst="line">
            <a:avLst/>
          </a:prstGeom>
          <a:ln w="19050">
            <a:solidFill>
              <a:srgbClr val="B7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094476" y="2414016"/>
            <a:ext cx="3140964" cy="1289304"/>
          </a:xfrm>
          <a:prstGeom prst="line">
            <a:avLst/>
          </a:prstGeom>
          <a:ln w="19050">
            <a:solidFill>
              <a:srgbClr val="B7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953512" y="3703320"/>
            <a:ext cx="3140964" cy="1216152"/>
          </a:xfrm>
          <a:prstGeom prst="line">
            <a:avLst/>
          </a:prstGeom>
          <a:ln w="19050">
            <a:solidFill>
              <a:srgbClr val="B7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6094476" y="3703320"/>
            <a:ext cx="3140964" cy="1216152"/>
          </a:xfrm>
          <a:prstGeom prst="line">
            <a:avLst/>
          </a:prstGeom>
          <a:ln w="19050">
            <a:solidFill>
              <a:srgbClr val="B7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" y="1682496"/>
            <a:ext cx="3986784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8575">
            <a:solidFill>
              <a:srgbClr val="4E7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1682496"/>
            <a:ext cx="3986784" cy="420624"/>
          </a:xfrm>
          <a:prstGeom prst="rect">
            <a:avLst/>
          </a:prstGeom>
          <a:solidFill>
            <a:srgbClr val="4E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1682496"/>
            <a:ext cx="398678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194560"/>
            <a:ext cx="3621024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How large is the addressable opportunity?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42048" y="1682496"/>
            <a:ext cx="3986784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8575">
            <a:solidFill>
              <a:srgbClr val="2E9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42048" y="1682496"/>
            <a:ext cx="3986784" cy="420624"/>
          </a:xfrm>
          <a:prstGeom prst="rect">
            <a:avLst/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1682496"/>
            <a:ext cx="398678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COMPETITIVE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2194560"/>
            <a:ext cx="3621024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Who else is there — how do you compare?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187952"/>
            <a:ext cx="3986784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8575">
            <a:solidFill>
              <a:srgbClr val="6FA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4187952"/>
            <a:ext cx="3986784" cy="420624"/>
          </a:xfrm>
          <a:prstGeom prst="rect">
            <a:avLst/>
          </a:prstGeom>
          <a:solidFill>
            <a:srgbClr val="6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187952"/>
            <a:ext cx="398678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QUALITATIVE ‘GOOD VIEWS’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700016"/>
            <a:ext cx="3621024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Team, IP and execution quality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42048" y="4187952"/>
            <a:ext cx="3986784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8575">
            <a:solidFill>
              <a:srgbClr val="E08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42048" y="4187952"/>
            <a:ext cx="3986784" cy="420624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42048" y="4187952"/>
            <a:ext cx="398678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VALUATION REFERENCES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7" y="4700016"/>
            <a:ext cx="3621024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What were comparable ventures valued at?</a:t>
            </a:r>
          </a:p>
        </p:txBody>
      </p:sp>
      <p:sp>
        <p:nvSpPr>
          <p:cNvPr id="29" name="Oval 28"/>
          <p:cNvSpPr/>
          <p:nvPr/>
        </p:nvSpPr>
        <p:spPr>
          <a:xfrm>
            <a:off x="5157216" y="2766060"/>
            <a:ext cx="1874519" cy="1874519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Defensible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exit value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2B55C"/>
                </a:solidFill>
                <a:latin typeface="Calibri"/>
              </a:rPr>
              <a:t>CFₜ for the rNPV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760720"/>
            <a:ext cx="11183112" cy="640080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760720"/>
            <a:ext cx="100584" cy="640080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76072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HOW IT FITS    </a:t>
            </a:r>
            <a:r>
              <a:rPr sz="1400">
                <a:solidFill>
                  <a:srgbClr val="1F2A36"/>
                </a:solidFill>
                <a:latin typeface="Calibri"/>
              </a:rPr>
              <a:t>Benchmarking is top-down (market inward); the use-of-funds rNPV is bottom-up. Section 4 reconciles them.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3  ·  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Market sizing — TAM, SAM, SOM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17</a:t>
            </a:r>
          </a:p>
        </p:txBody>
      </p:sp>
      <p:sp>
        <p:nvSpPr>
          <p:cNvPr id="8" name="Oval 7"/>
          <p:cNvSpPr/>
          <p:nvPr/>
        </p:nvSpPr>
        <p:spPr>
          <a:xfrm>
            <a:off x="1303020" y="1760220"/>
            <a:ext cx="3703320" cy="3703320"/>
          </a:xfrm>
          <a:prstGeom prst="ellipse">
            <a:avLst/>
          </a:prstGeom>
          <a:solidFill>
            <a:srgbClr val="D7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83664" y="2340864"/>
            <a:ext cx="2542032" cy="2542032"/>
          </a:xfrm>
          <a:prstGeom prst="ellipse">
            <a:avLst/>
          </a:prstGeom>
          <a:solidFill>
            <a:srgbClr val="9F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59736" y="2916936"/>
            <a:ext cx="1389888" cy="1389888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1879092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Georgia"/>
              </a:rPr>
              <a:t>TAM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459736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Georgia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456432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SOM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42432" y="1627632"/>
            <a:ext cx="82296" cy="1115568"/>
          </a:xfrm>
          <a:prstGeom prst="rect">
            <a:avLst/>
          </a:prstGeom>
          <a:solidFill>
            <a:srgbClr val="4E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0176" y="1627632"/>
            <a:ext cx="5669280" cy="11521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2A4A"/>
                </a:solidFill>
                <a:latin typeface="Georgia"/>
              </a:rPr>
              <a:t>TAM — Total Addressable Market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Total demand if you served everyone.  DTL reference: liver-disease diagnostics ≈ US$30.6B (2020), ~6.7% CAGR.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42432" y="2980944"/>
            <a:ext cx="82296" cy="1115568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0176" y="2980944"/>
            <a:ext cx="5669280" cy="11521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2A4A"/>
                </a:solidFill>
                <a:latin typeface="Georgia"/>
              </a:rPr>
              <a:t>SAM — Serviceable Available Market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The slice your product and channel can reach — e.g. non-invasive MRI-based liver-fibrosis testing in target markets.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42432" y="4334256"/>
            <a:ext cx="82296" cy="111556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0176" y="4334256"/>
            <a:ext cx="5669280" cy="11521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F2A4A"/>
                </a:solidFill>
                <a:latin typeface="Georgia"/>
              </a:rPr>
              <a:t>SOM — Serviceable Obtainable Market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The share you can realistically win — early hospital and pharma adopters reachable in the first 3–5 years.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596128"/>
            <a:ext cx="11183112" cy="676656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596128"/>
            <a:ext cx="100584" cy="676656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596128"/>
            <a:ext cx="107899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Investors discount an unsupported TAM heavily — a credible SOM, built bottom-up from named customers, carries far more weight.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3  ·  COMPETITION &amp;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Competitive analysis and the qualitative ‘good views’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33856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C5D6D"/>
                </a:solidFill>
                <a:latin typeface="Calibri"/>
              </a:rPr>
              <a:t>A benchmarking scorecard — the dimensions DTL reviewers use to grade ventures.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92327" y="1682496"/>
          <a:ext cx="106070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657600"/>
                <a:gridCol w="4114800"/>
              </a:tblGrid>
              <a:tr h="4114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Georgia"/>
                        </a:rPr>
                        <a:t>Dimension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Georgia"/>
                        </a:rPr>
                        <a:t>What it benchmarks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Georgia"/>
                        </a:rPr>
                        <a:t>Strong signal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6"/>
                          </a:solidFill>
                          <a:latin typeface="Calibri"/>
                        </a:rPr>
                        <a:t>Technology content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Depth, defensibility, IP position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Granted patents; clear performance edge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6"/>
                          </a:solidFill>
                          <a:latin typeface="Calibri"/>
                        </a:rPr>
                        <a:t>Team / founder readiness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Capability and commitment to execute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Domain track record; full-time founders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6"/>
                          </a:solidFill>
                          <a:latin typeface="Calibri"/>
                        </a:rPr>
                        <a:t>Commercialisation potential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Route to revenue and scale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Named customers; validated demand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6"/>
                          </a:solidFill>
                          <a:latin typeface="Calibri"/>
                        </a:rPr>
                        <a:t>Feasibility &amp; sustainability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Can it be delivered and funded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Credible milestones; realistic capital plan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6"/>
                          </a:solidFill>
                          <a:latin typeface="Calibri"/>
                        </a:rPr>
                        <a:t>Competitive position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Advantage vs named rivals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Direct measurement vs indirect proxies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522976"/>
            <a:ext cx="11183112" cy="786384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522976"/>
            <a:ext cx="100584" cy="786384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522976"/>
            <a:ext cx="1078992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The ‘good views’ are qualitative but not arbitrary — a structured scorecard turns judgement into a comparable benchmark.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3  ·  VALUATION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Current valuation references — reading the comparables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35024"/>
            <a:ext cx="11064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Valuation references are observed prices: recent funding rounds, acquisitions and licensing deals for comparable ventures.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Three reference types, in decreasing order of availability: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        –  </a:t>
            </a:r>
            <a:r>
              <a:rPr sz="1400">
                <a:solidFill>
                  <a:srgbClr val="4C5D6D"/>
                </a:solidFill>
                <a:latin typeface="Calibri"/>
              </a:rPr>
              <a:t>comparable financing rounds — pre-money valuations at the same stage;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        –  </a:t>
            </a:r>
            <a:r>
              <a:rPr sz="1400">
                <a:solidFill>
                  <a:srgbClr val="4C5D6D"/>
                </a:solidFill>
                <a:latin typeface="Calibri"/>
              </a:rPr>
              <a:t>comparable transactions — acquisition prices for similar assets;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        –  </a:t>
            </a:r>
            <a:r>
              <a:rPr sz="1400">
                <a:solidFill>
                  <a:srgbClr val="4C5D6D"/>
                </a:solidFill>
                <a:latin typeface="Calibri"/>
              </a:rPr>
              <a:t>comparable public companies — listed peers’ trading multiples.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Adjust every reference for stage, geography, TRL and deal terms before applying it — raw comparables are rarely like-for-like.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Date every reference: venture valuations move with the financing cycle, so a comparable over 12–18 months old needs caution.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248656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248656"/>
            <a:ext cx="100584" cy="84124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248656"/>
            <a:ext cx="107899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A comparable is evidence, not a verdict. Adjust it for stage, terms and date — then let it inform a range, not a 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2377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0" b="1" i="0">
                <a:solidFill>
                  <a:srgbClr val="163A5E"/>
                </a:solidFill>
                <a:latin typeface="Georgia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730752"/>
            <a:ext cx="1554480" cy="10972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3255264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08E2B"/>
                </a:solidFill>
                <a:latin typeface="Calibri"/>
              </a:rPr>
              <a:t>SECTION FOUR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3913632"/>
            <a:ext cx="105156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FFFFFF"/>
                </a:solidFill>
                <a:latin typeface="Georgia"/>
              </a:rPr>
              <a:t>The Matching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974336"/>
            <a:ext cx="1033272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B5C7D8"/>
                </a:solidFill>
                <a:latin typeface="Calibri"/>
              </a:rPr>
              <a:t>Reconciling the bottom-up use of funds with the top-down benchmarking — and testing the funding plan against market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4  · 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Matching — reconciling bottom-up and top-down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52144"/>
            <a:ext cx="11064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C5D6D"/>
                </a:solidFill>
                <a:latin typeface="Calibri"/>
              </a:rPr>
              <a:t>Two independent estimates of value are placed side by side — do they tell a consistent story?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47088"/>
            <a:ext cx="3246120" cy="1572768"/>
          </a:xfrm>
          <a:prstGeom prst="roundRect">
            <a:avLst>
              <a:gd name="adj" fmla="val 10000"/>
            </a:avLst>
          </a:prstGeom>
          <a:solidFill>
            <a:srgbClr val="3F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55C"/>
                </a:solidFill>
                <a:latin typeface="Calibri"/>
              </a:rPr>
              <a:t>BOTTOM-UP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FFFFFF"/>
                </a:solidFill>
                <a:latin typeface="Georgia"/>
              </a:rPr>
              <a:t>Use-of-funds rNPV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E3E9EF"/>
                </a:solidFill>
                <a:latin typeface="Calibri"/>
              </a:rPr>
              <a:t>built from milestones, POS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3E9EF"/>
                </a:solidFill>
                <a:latin typeface="Calibri"/>
              </a:rPr>
              <a:t>and the spending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5592" y="1847088"/>
            <a:ext cx="3246120" cy="1572768"/>
          </a:xfrm>
          <a:prstGeom prst="roundRect">
            <a:avLst>
              <a:gd name="adj" fmla="val 10000"/>
            </a:avLst>
          </a:prstGeom>
          <a:solidFill>
            <a:srgbClr val="C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F2A4A"/>
                </a:solidFill>
                <a:latin typeface="Calibri"/>
              </a:rPr>
              <a:t>TOP-DOWN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FFFFFF"/>
                </a:solidFill>
                <a:latin typeface="Georgia"/>
              </a:rPr>
              <a:t>Benchmarked exit value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FBF1DF"/>
                </a:solidFill>
                <a:latin typeface="Calibri"/>
              </a:rPr>
              <a:t>built from market size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BF1DF"/>
                </a:solidFill>
                <a:latin typeface="Calibri"/>
              </a:rPr>
              <a:t>and comparable references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2377440"/>
            <a:ext cx="1481328" cy="512064"/>
          </a:xfrm>
          <a:prstGeom prst="rightArrow">
            <a:avLst/>
          </a:prstGeom>
          <a:solidFill>
            <a:srgbClr val="3F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ft Arrow 11"/>
          <p:cNvSpPr/>
          <p:nvPr/>
        </p:nvSpPr>
        <p:spPr>
          <a:xfrm>
            <a:off x="6537960" y="2377440"/>
            <a:ext cx="1481328" cy="512064"/>
          </a:xfrm>
          <a:prstGeom prst="leftArrow">
            <a:avLst/>
          </a:prstGeom>
          <a:solidFill>
            <a:srgbClr val="C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0056" y="1883664"/>
            <a:ext cx="2139696" cy="1499616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MATCH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Defensible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Georgia"/>
              </a:rPr>
              <a:t>valuation range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12463"/>
            <a:ext cx="5285232" cy="1417320"/>
          </a:xfrm>
          <a:prstGeom prst="roundRect">
            <a:avLst>
              <a:gd name="adj" fmla="val 9000"/>
            </a:avLst>
          </a:prstGeom>
          <a:solidFill>
            <a:srgbClr val="E4F0E7"/>
          </a:solidFill>
          <a:ln w="22225">
            <a:solidFill>
              <a:srgbClr val="3C8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3C8C55"/>
                </a:solidFill>
                <a:latin typeface="Calibri"/>
              </a:rPr>
              <a:t>CONVERGE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6"/>
                </a:solidFill>
                <a:latin typeface="Calibri"/>
              </a:rPr>
              <a:t>Confidence is high. The overlap defines the defensible valuation range.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12463"/>
            <a:ext cx="5285232" cy="1417320"/>
          </a:xfrm>
          <a:prstGeom prst="roundRect">
            <a:avLst>
              <a:gd name="adj" fmla="val 9000"/>
            </a:avLst>
          </a:prstGeom>
          <a:solidFill>
            <a:srgbClr val="F6E6E3"/>
          </a:solidFill>
          <a:ln w="22225">
            <a:solidFill>
              <a:srgbClr val="C04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4A3A"/>
                </a:solidFill>
                <a:latin typeface="Calibri"/>
              </a:rPr>
              <a:t>DIVERGE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6"/>
                </a:solidFill>
                <a:latin typeface="Calibri"/>
              </a:rPr>
              <a:t>One assumption is wrong — an optimistic POS, an inflated TAM, a stale comparable. Find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85232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5285232"/>
            <a:ext cx="100584" cy="822960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5285232"/>
            <a:ext cx="10789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Matching is a consistency test: convergence builds confidence, divergence locates the flawed assumption.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4  · 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The matching worksheet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33856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C5D6D"/>
                </a:solidFill>
                <a:latin typeface="Calibri"/>
              </a:rPr>
              <a:t>Place each funded milestone against the market evidence that prices it.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3747" y="1682496"/>
          <a:ext cx="10744200" cy="2066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468880"/>
                <a:gridCol w="4114800"/>
                <a:gridCol w="1051560"/>
              </a:tblGrid>
              <a:tr h="41330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orgia"/>
                        </a:rPr>
                        <a:t>Use of funds (milestone)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orgia"/>
                        </a:rPr>
                        <a:t>Value mechanism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orgia"/>
                        </a:rPr>
                        <a:t>Market evidence that tests it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orgia"/>
                        </a:rPr>
                        <a:t>Match?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</a:tr>
              <a:tr h="4133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Prototype build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Engineering POS 0.4→0.7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Comparable seed rounds post-prototype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Aligned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133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Clinical validation study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Efficacy POS 0.3→0.5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Valuations after comparable validation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Aligned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  <a:tr h="4133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Regulatory submission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Clearance POS → 0.6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Re-rating of cleared comparable devices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Aligned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133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Go-to-market / first contract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Unlocks revenue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Revenue multiples of early-commercial peers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522976"/>
            <a:ext cx="11183112" cy="786384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522976"/>
            <a:ext cx="100584" cy="786384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522976"/>
            <a:ext cx="1078992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Each row links a dollar of spend to a milestone, to a value step, to the market evidence that confirms or challenges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4  · 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Articulating use of funds and testing it against the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35024"/>
            <a:ext cx="11064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Articulate — state the use of funds so each item is explicitly tied to a milestone, a probability shift and a value step.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Examine each articulated item against the market evidence: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        –  </a:t>
            </a:r>
            <a:r>
              <a:rPr sz="1400">
                <a:solidFill>
                  <a:srgbClr val="4C5D6D"/>
                </a:solidFill>
                <a:latin typeface="Calibri"/>
              </a:rPr>
              <a:t>Is it a milestone the market actually re-prices? (some are invisible);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        –  </a:t>
            </a:r>
            <a:r>
              <a:rPr sz="1400">
                <a:solidFill>
                  <a:srgbClr val="4C5D6D"/>
                </a:solidFill>
                <a:latin typeface="Calibri"/>
              </a:rPr>
              <a:t>Is the probability shift consistent with base rates from comparable programmes?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        –  </a:t>
            </a:r>
            <a:r>
              <a:rPr sz="1400">
                <a:solidFill>
                  <a:srgbClr val="4C5D6D"/>
                </a:solidFill>
                <a:latin typeface="Calibri"/>
              </a:rPr>
              <a:t>Does the implied value step match observed valuations at that stage?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Where the answers align, the use of funds is validated — the round is priced by the market, not by assertion.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Where they do not, reallocate funds toward the milestones the market genuinely rewards.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248656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248656"/>
            <a:ext cx="100584" cy="84124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248656"/>
            <a:ext cx="107899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A use of funds is well-articulated when every dollar is traceable to a milestone the market is observed to pay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2377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0" b="1" i="0">
                <a:solidFill>
                  <a:srgbClr val="163A5E"/>
                </a:solidFill>
                <a:latin typeface="Georgia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730752"/>
            <a:ext cx="1554480" cy="10972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3255264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08E2B"/>
                </a:solidFill>
                <a:latin typeface="Calibri"/>
              </a:rPr>
              <a:t>SECTION FIVE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3913632"/>
            <a:ext cx="105156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FFFFFF"/>
                </a:solidFill>
                <a:latin typeface="Georgia"/>
              </a:rPr>
              <a:t>Uncertainty — Downside vs Upside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974336"/>
            <a:ext cx="1033272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B5C7D8"/>
                </a:solidFill>
                <a:latin typeface="Calibri"/>
              </a:rPr>
              <a:t>A deep-tech valuation is a distribution, not a point. Frame its spread with the Golden Triangle: technology, organisation and commercial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5  · 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The Golden Triangle — the three sources of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15568"/>
            <a:ext cx="11064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C5D6D"/>
                </a:solidFill>
                <a:latin typeface="Calibri"/>
              </a:rPr>
              <a:t>Every deep-tech venture's uncertainty resolves into three vertices — value is capped by the weakest.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20440" y="2011680"/>
            <a:ext cx="2080260" cy="201168"/>
          </a:xfrm>
          <a:prstGeom prst="line">
            <a:avLst/>
          </a:prstGeom>
          <a:ln w="17780">
            <a:solidFill>
              <a:srgbClr val="B7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749039" y="4937760"/>
            <a:ext cx="27433" cy="54864"/>
          </a:xfrm>
          <a:prstGeom prst="line">
            <a:avLst/>
          </a:prstGeom>
          <a:ln w="17780">
            <a:solidFill>
              <a:srgbClr val="B7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430768" y="4937760"/>
            <a:ext cx="0" cy="54864"/>
          </a:xfrm>
          <a:prstGeom prst="line">
            <a:avLst/>
          </a:prstGeom>
          <a:ln w="17780">
            <a:solidFill>
              <a:srgbClr val="B7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>
            <a:off x="3611880" y="1627632"/>
            <a:ext cx="4983480" cy="3456432"/>
          </a:xfrm>
          <a:prstGeom prst="triangle">
            <a:avLst/>
          </a:prstGeom>
          <a:solidFill>
            <a:srgbClr val="E9EEF2"/>
          </a:solidFill>
          <a:ln w="19050">
            <a:solidFill>
              <a:srgbClr val="0F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02352" y="2907792"/>
            <a:ext cx="1993392" cy="1298448"/>
          </a:xfrm>
          <a:prstGeom prst="ellipse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E08E2B"/>
                </a:solidFill>
                <a:latin typeface="Calibri"/>
              </a:rPr>
              <a:t>VENTURE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VALUE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6D4E2"/>
                </a:solidFill>
                <a:latin typeface="Calibri"/>
              </a:rPr>
              <a:t>capped by the weakest vertex</a:t>
            </a:r>
          </a:p>
        </p:txBody>
      </p:sp>
      <p:sp>
        <p:nvSpPr>
          <p:cNvPr id="14" name="Oval 13"/>
          <p:cNvSpPr/>
          <p:nvPr/>
        </p:nvSpPr>
        <p:spPr>
          <a:xfrm>
            <a:off x="5573268" y="1682495"/>
            <a:ext cx="1060704" cy="1060704"/>
          </a:xfrm>
          <a:prstGeom prst="ellipse">
            <a:avLst/>
          </a:prstGeom>
          <a:solidFill>
            <a:srgbClr val="4E79A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Georgia"/>
              </a:rPr>
              <a:t>TECH</a:t>
            </a:r>
          </a:p>
        </p:txBody>
      </p:sp>
      <p:sp>
        <p:nvSpPr>
          <p:cNvPr id="15" name="Oval 14"/>
          <p:cNvSpPr/>
          <p:nvPr/>
        </p:nvSpPr>
        <p:spPr>
          <a:xfrm>
            <a:off x="3630168" y="4151376"/>
            <a:ext cx="1060704" cy="1060704"/>
          </a:xfrm>
          <a:prstGeom prst="ellipse">
            <a:avLst/>
          </a:prstGeom>
          <a:solidFill>
            <a:srgbClr val="6FA04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Georgia"/>
              </a:rPr>
              <a:t>ORG</a:t>
            </a:r>
          </a:p>
        </p:txBody>
      </p:sp>
      <p:sp>
        <p:nvSpPr>
          <p:cNvPr id="16" name="Oval 15"/>
          <p:cNvSpPr/>
          <p:nvPr/>
        </p:nvSpPr>
        <p:spPr>
          <a:xfrm>
            <a:off x="7516368" y="4151376"/>
            <a:ext cx="1060704" cy="1060704"/>
          </a:xfrm>
          <a:prstGeom prst="ellipse">
            <a:avLst/>
          </a:prstGeom>
          <a:solidFill>
            <a:srgbClr val="E08E2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Georgia"/>
              </a:rPr>
              <a:t>COMM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481328"/>
            <a:ext cx="2907792" cy="13350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4E7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1481328"/>
            <a:ext cx="2907792" cy="365760"/>
          </a:xfrm>
          <a:prstGeom prst="rect">
            <a:avLst/>
          </a:prstGeom>
          <a:solidFill>
            <a:srgbClr val="4E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1481328"/>
            <a:ext cx="290779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TECHNOLOGY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1883664"/>
            <a:ext cx="2615184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A36"/>
                </a:solidFill>
                <a:latin typeface="Calibri"/>
              </a:rPr>
              <a:t>Does the science work — at scale, reproducibly, with freedom to operate?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443984"/>
            <a:ext cx="3182112" cy="13350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6FA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443984"/>
            <a:ext cx="3182112" cy="365760"/>
          </a:xfrm>
          <a:prstGeom prst="rect">
            <a:avLst/>
          </a:prstGeom>
          <a:solidFill>
            <a:srgbClr val="6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443984"/>
            <a:ext cx="318211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ORGANISATION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846320"/>
            <a:ext cx="2889504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A36"/>
                </a:solidFill>
                <a:latin typeface="Calibri"/>
              </a:rPr>
              <a:t>Can the team, governance and capital plan execute and survive?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67344" y="4443984"/>
            <a:ext cx="3182112" cy="13350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08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67344" y="4443984"/>
            <a:ext cx="3182112" cy="365760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67344" y="4443984"/>
            <a:ext cx="318211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COMMERCIAL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3648" y="4846320"/>
            <a:ext cx="2889504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A36"/>
                </a:solidFill>
                <a:latin typeface="Calibri"/>
              </a:rPr>
              <a:t>Will customers adopt and pay — against competition and regulation?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888736"/>
            <a:ext cx="11183112" cy="530352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888736"/>
            <a:ext cx="100584" cy="53035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5888736"/>
            <a:ext cx="10789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WHY IT MATTERS    </a:t>
            </a:r>
            <a:r>
              <a:rPr sz="1400">
                <a:solidFill>
                  <a:srgbClr val="1F2A36"/>
                </a:solidFill>
                <a:latin typeface="Calibri"/>
              </a:rPr>
              <a:t>Every milestone and risk in the rNPV maps onto one of these three vertices.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5  · 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Scenario analysis — downside, base and upside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52144"/>
            <a:ext cx="11064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C5D6D"/>
                </a:solidFill>
                <a:latin typeface="Calibri"/>
              </a:rPr>
              <a:t>Replace the single number with three explicit, fully-described scenarios.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755648"/>
            <a:ext cx="7552944" cy="676656"/>
          </a:xfrm>
          <a:prstGeom prst="rect">
            <a:avLst/>
          </a:prstGeom>
          <a:solidFill>
            <a:srgbClr val="3C8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59" y="1755648"/>
            <a:ext cx="137160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C8C55"/>
                </a:solidFill>
                <a:latin typeface="Calibri"/>
              </a:rPr>
              <a:t>UPSIDE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1755648"/>
            <a:ext cx="173736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0F2A4A"/>
                </a:solidFill>
                <a:latin typeface="Consolas"/>
              </a:rPr>
              <a:t>US$70M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C5D6D"/>
                </a:solidFill>
                <a:latin typeface="Calibri"/>
              </a:rPr>
              <a:t>p = 0.20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1136" y="2468880"/>
            <a:ext cx="8229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C5D6D"/>
                </a:solidFill>
                <a:latin typeface="Calibri"/>
              </a:rPr>
              <a:t>Faster validation, larger market capture, strategic interest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2834639"/>
            <a:ext cx="2697479" cy="676656"/>
          </a:xfrm>
          <a:prstGeom prst="rect">
            <a:avLst/>
          </a:prstGeom>
          <a:solidFill>
            <a:srgbClr val="4E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59" y="2834639"/>
            <a:ext cx="137160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E79A8"/>
                </a:solidFill>
                <a:latin typeface="Calibri"/>
              </a:rPr>
              <a:t>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8616" y="2834639"/>
            <a:ext cx="173736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0F2A4A"/>
                </a:solidFill>
                <a:latin typeface="Consolas"/>
              </a:rPr>
              <a:t>US$25M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C5D6D"/>
                </a:solidFill>
                <a:latin typeface="Calibri"/>
              </a:rPr>
              <a:t>p = 0.50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3547872"/>
            <a:ext cx="8229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C5D6D"/>
                </a:solidFill>
                <a:latin typeface="Calibri"/>
              </a:rPr>
              <a:t>Plan delivered roughly on time and on budget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913631"/>
            <a:ext cx="863193" cy="676656"/>
          </a:xfrm>
          <a:prstGeom prst="rect">
            <a:avLst/>
          </a:prstGeom>
          <a:solidFill>
            <a:srgbClr val="C04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59" y="3913631"/>
            <a:ext cx="137160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4A3A"/>
                </a:solidFill>
                <a:latin typeface="Calibri"/>
              </a:rPr>
              <a:t>DOWNSIDE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4329" y="3913631"/>
            <a:ext cx="173736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0F2A4A"/>
                </a:solidFill>
                <a:latin typeface="Consolas"/>
              </a:rPr>
              <a:t>US$8M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C5D6D"/>
                </a:solidFill>
                <a:latin typeface="Calibri"/>
              </a:rPr>
              <a:t>p = 0.30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1136" y="4626864"/>
            <a:ext cx="8229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C5D6D"/>
                </a:solidFill>
                <a:latin typeface="Calibri"/>
              </a:rPr>
              <a:t>Key milestone slips; partial recovery via asset sale or pivot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21406" y="1591056"/>
            <a:ext cx="0" cy="3511296"/>
          </a:xfrm>
          <a:prstGeom prst="line">
            <a:avLst/>
          </a:prstGeom>
          <a:ln w="25400">
            <a:solidFill>
              <a:srgbClr val="E08E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24126" y="5102352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8E2B"/>
                </a:solidFill>
                <a:latin typeface="Calibri"/>
              </a:rPr>
              <a:t>E[V] ≈ US$28.9M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22976"/>
            <a:ext cx="11183112" cy="786384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522976"/>
            <a:ext cx="100584" cy="786384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522976"/>
            <a:ext cx="1078992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Expected value  E[V] = 0.30×8 + 0.50×25 + 0.20×70 ≈ US$28.9M — the upside tail lifts the mean above the base case.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5  · 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Mapping uncertainty across the Golden Triangle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33856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C5D6D"/>
                </a:solidFill>
                <a:latin typeface="Calibri"/>
              </a:rPr>
              <a:t>For each vertex, name the specific downside and upside — do not leave risk abstract.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247" y="1682496"/>
          <a:ext cx="11887200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846320"/>
                <a:gridCol w="4846320"/>
              </a:tblGrid>
              <a:tr h="41605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Georgia"/>
                        </a:rPr>
                        <a:t>Vertex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Georgia"/>
                        </a:rPr>
                        <a:t>Downside driver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Georgia"/>
                        </a:rPr>
                        <a:t>Upside driver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6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Fails to reproduce or scale; blocked by third-party IP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Performance beats target; platform spawns several products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6"/>
                          </a:solidFill>
                          <a:latin typeface="Calibri"/>
                        </a:rPr>
                        <a:t>Organisation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Key person leaves; cash runs out before next milestone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Senior hires land; non-dilutive grants extend the runway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6"/>
                          </a:solidFill>
                          <a:latin typeface="Calibri"/>
                        </a:rPr>
                        <a:t>Commercial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Slow adoption; reimbursement tightens; new entrant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Strategic partner or anchor customer; faster path to scale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522976"/>
            <a:ext cx="11183112" cy="786384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522976"/>
            <a:ext cx="100584" cy="786384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522976"/>
            <a:ext cx="1078992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Quantify, do not just list: attach a probability and a value impact to each driver so it feeds the scenario weights.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5  · 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Expected value and probability weighting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298448"/>
            <a:ext cx="10268712" cy="1024128"/>
          </a:xfrm>
          <a:prstGeom prst="roundRect">
            <a:avLst>
              <a:gd name="adj" fmla="val 12000"/>
            </a:avLst>
          </a:prstGeom>
          <a:solidFill>
            <a:srgbClr val="16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298448"/>
            <a:ext cx="9902952" cy="10241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900" b="1" i="0">
                <a:solidFill>
                  <a:srgbClr val="FFFFFF"/>
                </a:solidFill>
                <a:latin typeface="Consolas"/>
              </a:rPr>
              <a:t>E[V]  =  p_down × V_down  +  p_base × V_base  +  p_up × V_up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578608"/>
            <a:ext cx="73152" cy="29260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42032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Calibri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07792"/>
            <a:ext cx="5074920" cy="2468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08E2B"/>
                </a:solidFill>
                <a:latin typeface="Consolas"/>
              </a:rPr>
              <a:t>p_x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1F2A36"/>
                </a:solidFill>
                <a:latin typeface="Calibri"/>
              </a:rPr>
              <a:t>probability of scenario x (from the Golden-Triangle drivers)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08E2B"/>
                </a:solidFill>
                <a:latin typeface="Consolas"/>
              </a:rPr>
              <a:t>V_x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1F2A36"/>
                </a:solidFill>
                <a:latin typeface="Calibri"/>
              </a:rPr>
              <a:t>venture value in scenario x — each scenario fully narrated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08E2B"/>
                </a:solidFill>
                <a:latin typeface="Consolas"/>
              </a:rPr>
              <a:t>E[V]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1F2A36"/>
                </a:solidFill>
                <a:latin typeface="Calibri"/>
              </a:rPr>
              <a:t>the probability-weighted expected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487168"/>
            <a:ext cx="5577840" cy="2971800"/>
          </a:xfrm>
          <a:prstGeom prst="roundRect">
            <a:avLst>
              <a:gd name="adj" fmla="val 5000"/>
            </a:avLst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53328" y="2487168"/>
            <a:ext cx="5577840" cy="420624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2487168"/>
            <a:ext cx="521208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Calibri"/>
              </a:rPr>
              <a:t>WORKED EXAMPLE  —  numbers in the 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017520"/>
            <a:ext cx="5120640" cy="2331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onsolas"/>
              </a:rPr>
              <a:t>Three scenarios for the same venture: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Downside   p = 0.30   V = US$8M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    →  0.30 × 8  =  2.40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Base         p = 0.50   V = US$25M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    →  0.50 × 25  =  12.50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Upside       p = 0.20   V = US$70M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    →  0.20 × 70  =  14.00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onsolas"/>
              </a:rPr>
              <a:t>E[V] = 2.40 + 12.50 + 14.00 = US$28.9M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541264"/>
            <a:ext cx="11183112" cy="768096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5541264"/>
            <a:ext cx="100584" cy="768096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541264"/>
            <a:ext cx="1078992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Report the range AND the probabilities, not only E[V] — the spread between downside and upside is itself decision-useful.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2377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0" b="1" i="0">
                <a:solidFill>
                  <a:srgbClr val="163A5E"/>
                </a:solidFill>
                <a:latin typeface="Georgia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730752"/>
            <a:ext cx="1554480" cy="10972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3255264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08E2B"/>
                </a:solidFill>
                <a:latin typeface="Calibri"/>
              </a:rPr>
              <a:t>SECTION SIX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3913632"/>
            <a:ext cx="105156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FFFFFF"/>
                </a:solidFill>
                <a:latin typeface="Georgia"/>
              </a:rPr>
              <a:t>Stakeholders — Rights, Protections, Control &amp; Dilution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974336"/>
            <a:ext cx="1033272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B5C7D8"/>
                </a:solidFill>
                <a:latin typeface="Calibri"/>
              </a:rPr>
              <a:t>Enterprise value is not value received. Term-sheet rights, controls and future dilution decide who actually gets what.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6  ·  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The cap table — who holds the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550" b="0">
                <a:solidFill>
                  <a:srgbClr val="1F2A36"/>
                </a:solidFill>
                <a:latin typeface="Calibri"/>
              </a:rPr>
              <a:t>The capitalisation table records who owns the venture — founders, the employee option pool, and investors by round.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550" b="0">
                <a:solidFill>
                  <a:srgbClr val="1F2A36"/>
                </a:solidFill>
                <a:latin typeface="Calibri"/>
              </a:rPr>
              <a:t>The headline valuation prices the whole company; the cap table and term sheet decide how that value is divided.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550" b="0">
                <a:solidFill>
                  <a:srgbClr val="1F2A36"/>
                </a:solidFill>
                <a:latin typeface="Calibri"/>
              </a:rPr>
              <a:t>Two distinct dimensions are negotiated: economic rights (who receives cash, and in what order) and control rights (who can decide or veto).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19856"/>
            <a:ext cx="10515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Calibri"/>
              </a:rPr>
              <a:t>Illustrative cap table after a seed round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30752"/>
            <a:ext cx="5833872" cy="859536"/>
          </a:xfrm>
          <a:prstGeom prst="rect">
            <a:avLst/>
          </a:prstGeom>
          <a:solidFill>
            <a:srgbClr val="4E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30752"/>
            <a:ext cx="5833872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Founders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55%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11112" y="3730752"/>
            <a:ext cx="954633" cy="859536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3730752"/>
            <a:ext cx="954633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Option pool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65745" y="3730752"/>
            <a:ext cx="3818534" cy="859536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5745" y="3730752"/>
            <a:ext cx="381853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Seed investors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36%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882896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882896"/>
            <a:ext cx="100584" cy="84124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882896"/>
            <a:ext cx="107899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The headline valuation sizes the pie. Rights, controls and dilution decide the slice each stakeholder actually eats — ownership % alone is an incomplete picture.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6  ·  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Investor rights, protections and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33856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C5D6D"/>
                </a:solidFill>
                <a:latin typeface="Calibri"/>
              </a:rPr>
              <a:t>Common term-sheet provisions — and how each changes the value you receive.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447" y="1682496"/>
          <a:ext cx="10972800" cy="2871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886200"/>
                <a:gridCol w="4069080"/>
              </a:tblGrid>
              <a:tr h="41017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orgia"/>
                        </a:rPr>
                        <a:t>Provision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orgia"/>
                        </a:rPr>
                        <a:t>What it does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orgia"/>
                        </a:rPr>
                        <a:t>Effect on founder value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</a:tr>
              <a:tr h="4101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1× liquidation preference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Investor recovers capital first on exit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Reduces common value at low/mid exits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101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Participating preferred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Preference AND a share of the remainder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‘Double dip’ — cuts founder proceeds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  <a:tr h="4101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Anti-dilution (weighted-avg.)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Re-prices investor shares in a down round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Shifts down-round dilution to founders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101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Pro-rata / pre-emptive rights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Investor may keep its % in later rounds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Constrains who you can admit later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  <a:tr h="4101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Board seats &amp; protective provisions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Veto over budget, hiring, financing, sale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Control independent of ownership %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1017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Founder vesting &amp; drag-along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Re-earn your shares; can be forced to sell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Aligns — and limits — founder economics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522976"/>
            <a:ext cx="11183112" cy="786384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522976"/>
            <a:ext cx="100584" cy="786384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522976"/>
            <a:ext cx="1078992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Two ventures can carry an identical headline valuation yet deliver very different value to founders — the terms decide.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6  ·  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Future development and dilution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52144"/>
            <a:ext cx="11064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C5D6D"/>
                </a:solidFill>
                <a:latin typeface="Calibri"/>
              </a:rPr>
              <a:t>Deep-tech ventures need several rounds — dilution is a planned sequence, not a one-off event.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10607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Calibri"/>
              </a:rPr>
              <a:t>Before seed round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938528"/>
            <a:ext cx="9652406" cy="676656"/>
          </a:xfrm>
          <a:prstGeom prst="rect">
            <a:avLst/>
          </a:prstGeom>
          <a:solidFill>
            <a:srgbClr val="4E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38528"/>
            <a:ext cx="965240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Founders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91%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9646" y="1938528"/>
            <a:ext cx="954633" cy="676656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9646" y="1938528"/>
            <a:ext cx="954633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Pool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34640"/>
            <a:ext cx="10607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Calibri"/>
              </a:rPr>
              <a:t>After seed round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127248"/>
            <a:ext cx="5833872" cy="676656"/>
          </a:xfrm>
          <a:prstGeom prst="rect">
            <a:avLst/>
          </a:prstGeom>
          <a:solidFill>
            <a:srgbClr val="4E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27248"/>
            <a:ext cx="5833872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Founders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55%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11112" y="3127248"/>
            <a:ext cx="954633" cy="676656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3127248"/>
            <a:ext cx="954633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Pool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65745" y="3127248"/>
            <a:ext cx="3818534" cy="676656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65745" y="3127248"/>
            <a:ext cx="381853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36%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23360"/>
            <a:ext cx="10607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Calibri"/>
              </a:rPr>
              <a:t>After Series 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315968"/>
            <a:ext cx="4030675" cy="676656"/>
          </a:xfrm>
          <a:prstGeom prst="rect">
            <a:avLst/>
          </a:prstGeom>
          <a:solidFill>
            <a:srgbClr val="4E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315968"/>
            <a:ext cx="4030675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Founders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38%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7915" y="4315968"/>
            <a:ext cx="1060704" cy="676656"/>
          </a:xfrm>
          <a:prstGeom prst="rect">
            <a:avLst/>
          </a:prstGeom>
          <a:solidFill>
            <a:srgbClr val="1B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7915" y="4315968"/>
            <a:ext cx="106070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Pool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10%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68619" y="4315968"/>
            <a:ext cx="2651760" cy="676656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68619" y="4315968"/>
            <a:ext cx="26517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25%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20379" y="4315968"/>
            <a:ext cx="2863900" cy="676656"/>
          </a:xfrm>
          <a:prstGeom prst="rect">
            <a:avLst/>
          </a:prstGeom>
          <a:solidFill>
            <a:srgbClr val="C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0379" y="4315968"/>
            <a:ext cx="286390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Series 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27%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413248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413248"/>
            <a:ext cx="100584" cy="84124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413248"/>
            <a:ext cx="107899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Aim is not to minimise dilution — it is to maximise the value of the slice retained. A smaller share of a de-risked, larger company can be worth far more.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6  ·  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Pre-money, post-money and the dilution math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298448"/>
            <a:ext cx="10268712" cy="1024128"/>
          </a:xfrm>
          <a:prstGeom prst="roundRect">
            <a:avLst>
              <a:gd name="adj" fmla="val 12000"/>
            </a:avLst>
          </a:prstGeom>
          <a:solidFill>
            <a:srgbClr val="16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298448"/>
            <a:ext cx="9902952" cy="10241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900" b="1" i="0">
                <a:solidFill>
                  <a:srgbClr val="FFFFFF"/>
                </a:solidFill>
                <a:latin typeface="Consolas"/>
              </a:rPr>
              <a:t>Post-money = Pre-money + New Investment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50" b="0" i="0">
                <a:solidFill>
                  <a:srgbClr val="F2B55C"/>
                </a:solidFill>
                <a:latin typeface="Consolas"/>
              </a:rPr>
              <a:t>Investor % = New Investment / Post-money       Founder % after = before × ( Pre / Post 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578608"/>
            <a:ext cx="73152" cy="29260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42032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2A4A"/>
                </a:solidFill>
                <a:latin typeface="Calibri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07792"/>
            <a:ext cx="5074920" cy="2468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08E2B"/>
                </a:solidFill>
                <a:latin typeface="Consolas"/>
              </a:rPr>
              <a:t>Pre-money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1F2A36"/>
                </a:solidFill>
                <a:latin typeface="Calibri"/>
              </a:rPr>
              <a:t>venture value immediately before the new investment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08E2B"/>
                </a:solidFill>
                <a:latin typeface="Consolas"/>
              </a:rPr>
              <a:t>Post-money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1F2A36"/>
                </a:solidFill>
                <a:latin typeface="Calibri"/>
              </a:rPr>
              <a:t>value immediately after — the basis for ownership 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08E2B"/>
                </a:solidFill>
                <a:latin typeface="Consolas"/>
              </a:rPr>
              <a:t>Note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1F2A36"/>
                </a:solidFill>
                <a:latin typeface="Calibri"/>
              </a:rPr>
              <a:t>a pre-money option pool dilutes founders further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487168"/>
            <a:ext cx="5577840" cy="2971800"/>
          </a:xfrm>
          <a:prstGeom prst="roundRect">
            <a:avLst>
              <a:gd name="adj" fmla="val 5000"/>
            </a:avLst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53328" y="2487168"/>
            <a:ext cx="5577840" cy="420624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2487168"/>
            <a:ext cx="521208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Calibri"/>
              </a:rPr>
              <a:t>WORKED EXAMPLE  —  numbers in the formula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017520"/>
            <a:ext cx="5120640" cy="2331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onsolas"/>
              </a:rPr>
              <a:t>Raise US$2.5M at a US$4.4M pre-money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1 · Post-money = 4.4 + 2.5 = US$6.9M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onsolas"/>
              </a:rPr>
              <a:t>2 · Investor % = 2.5 ÷ 6.9 = 36.2%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3 · Founders before = 100%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A"/>
                </a:solidFill>
                <a:latin typeface="Consolas"/>
              </a:rPr>
              <a:t>    → after = 100% × (4.4 ÷ 6.9) = 63.8%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4 · With a 10% pre-money option pool,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F2A36"/>
                </a:solidFill>
                <a:latin typeface="Calibri"/>
              </a:rPr>
              <a:t>    founders fall further to ≈ 53.8%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541264"/>
            <a:ext cx="11183112" cy="768096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5541264"/>
            <a:ext cx="100584" cy="768096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541264"/>
            <a:ext cx="1078992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The same headline number implies different ownership depending on whether it is pre- or post-money — always confirm which.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2377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0" b="1" i="0">
                <a:solidFill>
                  <a:srgbClr val="163A5E"/>
                </a:solidFill>
                <a:latin typeface="Georgia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730752"/>
            <a:ext cx="1554480" cy="10972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3255264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08E2B"/>
                </a:solidFill>
                <a:latin typeface="Calibri"/>
              </a:rPr>
              <a:t>SECTION SEVEN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3913632"/>
            <a:ext cx="105156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FFFFFF"/>
                </a:solidFill>
                <a:latin typeface="Georgia"/>
              </a:rPr>
              <a:t>The Master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974336"/>
            <a:ext cx="1033272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B5C7D8"/>
                </a:solidFill>
                <a:latin typeface="Calibri"/>
              </a:rPr>
              <a:t>Assembling the six methods into one integrated model — and comparing it with the other financial approaches.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7  ·  THE MASTER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The master model — six methods, one argument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225296"/>
            <a:ext cx="10607040" cy="512064"/>
          </a:xfrm>
          <a:prstGeom prst="roundRect">
            <a:avLst>
              <a:gd name="adj" fmla="val 16000"/>
            </a:avLst>
          </a:prstGeom>
          <a:solidFill>
            <a:srgbClr val="4E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225296"/>
            <a:ext cx="141732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LAYER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225296"/>
            <a:ext cx="882396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Milestone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225296"/>
            <a:ext cx="877824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CF1F5"/>
                </a:solidFill>
                <a:latin typeface="Calibri"/>
              </a:rPr>
              <a:t>defines the value-inflection timeline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1778508"/>
            <a:ext cx="10058400" cy="512064"/>
          </a:xfrm>
          <a:prstGeom prst="roundRect">
            <a:avLst>
              <a:gd name="adj" fmla="val 16000"/>
            </a:avLst>
          </a:prstGeom>
          <a:solidFill>
            <a:srgbClr val="3F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1778508"/>
            <a:ext cx="141732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LAYER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778508"/>
            <a:ext cx="827532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Use of funds / rNPV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778508"/>
            <a:ext cx="822960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CF1F5"/>
                </a:solidFill>
                <a:latin typeface="Calibri"/>
              </a:rPr>
              <a:t>bottom-up intrinsic value of next milestones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2331720"/>
            <a:ext cx="9509760" cy="512064"/>
          </a:xfrm>
          <a:prstGeom prst="roundRect">
            <a:avLst>
              <a:gd name="adj" fmla="val 16000"/>
            </a:avLst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2331720"/>
            <a:ext cx="141732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LAYER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331720"/>
            <a:ext cx="772668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Benchmarking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331720"/>
            <a:ext cx="768096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CF1F5"/>
                </a:solidFill>
                <a:latin typeface="Calibri"/>
              </a:rPr>
              <a:t>top-down, market-anchored exit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0200" y="2884932"/>
            <a:ext cx="8961120" cy="512064"/>
          </a:xfrm>
          <a:prstGeom prst="roundRect">
            <a:avLst>
              <a:gd name="adj" fmla="val 16000"/>
            </a:avLst>
          </a:prstGeom>
          <a:solidFill>
            <a:srgbClr val="6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83080" y="2884932"/>
            <a:ext cx="141732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LAYER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884932"/>
            <a:ext cx="717804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Matching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884932"/>
            <a:ext cx="713232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CF1F5"/>
                </a:solidFill>
                <a:latin typeface="Calibri"/>
              </a:rPr>
              <a:t>reconciles Layers 2 &amp; 3 into a range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74519" y="3438144"/>
            <a:ext cx="8412480" cy="512064"/>
          </a:xfrm>
          <a:prstGeom prst="roundRect">
            <a:avLst>
              <a:gd name="adj" fmla="val 16000"/>
            </a:avLst>
          </a:prstGeom>
          <a:solidFill>
            <a:srgbClr val="C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3438144"/>
            <a:ext cx="141732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LAYER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438144"/>
            <a:ext cx="6629399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Uncertainty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438144"/>
            <a:ext cx="6583679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CF1F5"/>
                </a:solidFill>
                <a:latin typeface="Calibri"/>
              </a:rPr>
              <a:t>Golden-Triangle scenarios → a weighted range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48840" y="3991356"/>
            <a:ext cx="7863840" cy="512064"/>
          </a:xfrm>
          <a:prstGeom prst="roundRect">
            <a:avLst>
              <a:gd name="adj" fmla="val 16000"/>
            </a:avLst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720" y="3991356"/>
            <a:ext cx="141732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LAYER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3991356"/>
            <a:ext cx="6080759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Georgia"/>
              </a:rPr>
              <a:t>Stakeholder terms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3991356"/>
            <a:ext cx="603504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CF1F5"/>
                </a:solidFill>
                <a:latin typeface="Calibri"/>
              </a:rPr>
              <a:t>enterprise value → value per stakeholder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998464" y="4526280"/>
            <a:ext cx="219456" cy="219456"/>
          </a:xfrm>
          <a:prstGeom prst="downArrow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194560" y="4782312"/>
            <a:ext cx="7772400" cy="530352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" rIns="64008" tIns="36576" bIns="36576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OUTPUT:  a valuation range  ·  a risk profile  ·  an ownership outcome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577840"/>
            <a:ext cx="11183112" cy="566928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577840"/>
            <a:ext cx="100584" cy="56692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557784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THE SYNTHESIS    </a:t>
            </a:r>
            <a:r>
              <a:rPr sz="1400">
                <a:solidFill>
                  <a:srgbClr val="1F2A36"/>
                </a:solidFill>
                <a:latin typeface="Calibri"/>
              </a:rPr>
              <a:t>The master model is not a seventh method — it is the disciplined assembly of the previous six.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7  ·  THE MASTER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Master model walkthrough — one venture,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33856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C5D6D"/>
                </a:solidFill>
                <a:latin typeface="Calibri"/>
              </a:rPr>
              <a:t>Illustrative: a diagnostic-imaging venture carried through all six layers.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8007" y="1682496"/>
          <a:ext cx="11155680" cy="2871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846320"/>
                <a:gridCol w="4023360"/>
              </a:tblGrid>
              <a:tr h="410173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orgia"/>
                        </a:rPr>
                        <a:t>Layer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orgia"/>
                        </a:rPr>
                        <a:t>Method applied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Georgia"/>
                        </a:rPr>
                        <a:t>Result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</a:tr>
              <a:tr h="41017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36"/>
                          </a:solidFill>
                          <a:latin typeface="Calibri"/>
                        </a:rPr>
                        <a:t>1  Roadmap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TRL 4 → 9; four milestones to exit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exit horizon: Year 5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1017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36"/>
                          </a:solidFill>
                          <a:latin typeface="Calibri"/>
                        </a:rPr>
                        <a:t>2  Use of funds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US$2.5M funds M1+M2; CPOS 16.8%; r 25%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intrinsic pre-money ≈ US$4.4M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  <a:tr h="41017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36"/>
                          </a:solidFill>
                          <a:latin typeface="Calibri"/>
                        </a:rPr>
                        <a:t>3  Benchmarking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Liver-diagnostics TAM US$30.6B; comparables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exit value ≈ US$80M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1017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36"/>
                          </a:solidFill>
                          <a:latin typeface="Calibri"/>
                        </a:rPr>
                        <a:t>4  Matching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Bottom-up vs top-down reconciled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defensible pre-money US$4–6M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  <a:tr h="41017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36"/>
                          </a:solidFill>
                          <a:latin typeface="Calibri"/>
                        </a:rPr>
                        <a:t>5  Uncertainty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Down/Base/Up = 8 / 25 / 70; E[V] ≈ US$29M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a range, not a point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1017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2A36"/>
                          </a:solidFill>
                          <a:latin typeface="Calibri"/>
                        </a:rPr>
                        <a:t>6  Stakeholder terms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US$2.5M at US$4.5M pre; 1× pref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A36"/>
                          </a:solidFill>
                          <a:latin typeface="Calibri"/>
                        </a:rPr>
                        <a:t>investors ≈ 36%; founders keep majority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522976"/>
            <a:ext cx="11183112" cy="786384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522976"/>
            <a:ext cx="100584" cy="786384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522976"/>
            <a:ext cx="1078992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Six layers, one argument: a valuation range, its risk profile and the cap-table outcome — all traceable to stated assumptions.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7  · 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Comparison — other financial valuation approaches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33856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C5D6D"/>
                </a:solidFill>
                <a:latin typeface="Calibri"/>
              </a:rPr>
              <a:t>The master model is the spine; these methods are cross-checks for different stages.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6567" y="1682496"/>
          <a:ext cx="11338560" cy="2871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017520"/>
                <a:gridCol w="3291840"/>
              </a:tblGrid>
              <a:tr h="41017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orgia"/>
                        </a:rPr>
                        <a:t>Approach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orgia"/>
                        </a:rPr>
                        <a:t>Essence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orgia"/>
                        </a:rPr>
                        <a:t>Best used when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Georgia"/>
                        </a:rPr>
                        <a:t>Caveat for deep tech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</a:tr>
              <a:tr h="4101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Revenue multiple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EV = Revenue × multiple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Early commercial revenue exists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Silent pre-revenue; volatile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101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Earnings / P/E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Equity = Net profit × P/E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Profitable, listed peers exist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Not applicable while pre-profit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  <a:tr h="4101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EV/EBITDA &amp; market multiples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EV = EBITDA × peer multiple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Scaling, near-peer financials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Needs illiquidity / stage discounts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101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DCF / rNPV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Σ risk-adjusted CF ÷ (1+r)ₜ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Any stage — the intrinsic anchor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Highly assumption-sensitive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  <a:tr h="41017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VC method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EV = Exit value ÷ target return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Pricing a priced round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Depends on exit assumptions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1017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2A36"/>
                          </a:solidFill>
                          <a:latin typeface="Calibri"/>
                        </a:rPr>
                        <a:t>Comparable transactions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Apply observed deal metrics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Reference deals exist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A36"/>
                          </a:solidFill>
                          <a:latin typeface="Calibri"/>
                        </a:rPr>
                        <a:t>Deal terms rarely disclosed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650992"/>
            <a:ext cx="11183112" cy="658368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650992"/>
            <a:ext cx="100584" cy="65836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650992"/>
            <a:ext cx="10789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Cross-checks, not rivals. WBI was valued by DCF (WACC 12%, terminal growth 3%) at US$55.6M, then sense-checked against an industry P/E of 50–60×.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SECTION 7  · 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Choosing the right method by venture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33856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C5D6D"/>
                </a:solidFill>
                <a:latin typeface="Calibri"/>
              </a:rPr>
              <a:t>Method selection follows TRL stage — the matrix introduced in Section 1.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8007" y="1682496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97680"/>
                <a:gridCol w="4114800"/>
              </a:tblGrid>
              <a:tr h="4114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Georgia"/>
                        </a:rPr>
                        <a:t>Stage / TRL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Georgia"/>
                        </a:rPr>
                        <a:t>Primary method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Georgia"/>
                        </a:rPr>
                        <a:t>Secondary cross-check</a:t>
                      </a:r>
                    </a:p>
                  </a:txBody>
                  <a:tcPr anchor="ctr" marL="91440" marR="91440" marT="45720" marB="45720">
                    <a:solidFill>
                      <a:srgbClr val="0F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6"/>
                          </a:solidFill>
                          <a:latin typeface="Calibri"/>
                        </a:rPr>
                        <a:t>Concept (TRL 1–3)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Milestone roadmap + qualitative scorecard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Comparable seed rounds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6"/>
                          </a:solidFill>
                          <a:latin typeface="Calibri"/>
                        </a:rPr>
                        <a:t>Prototype (TRL 4–6)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Use-of-funds rNPV + VC method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Benchmarked exit value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6"/>
                          </a:solidFill>
                          <a:latin typeface="Calibri"/>
                        </a:rPr>
                        <a:t>Validation (TRL 7–8)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rNPV + comparable transactions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Revenue multiple, if pilot revenue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6"/>
                          </a:solidFill>
                          <a:latin typeface="Calibri"/>
                        </a:rPr>
                        <a:t>Early commercial (TRL 9)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Revenue &amp; EV/EBITDA multiples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DCF</a:t>
                      </a:r>
                    </a:p>
                  </a:txBody>
                  <a:tcPr anchor="ctr" marL="91440" marR="91440" marT="41148" marB="41148">
                    <a:solidFill>
                      <a:srgbClr val="EEF1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A36"/>
                          </a:solidFill>
                          <a:latin typeface="Calibri"/>
                        </a:rPr>
                        <a:t>Scaling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DCF + capital-market multiples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6"/>
                          </a:solidFill>
                          <a:latin typeface="Calibri"/>
                        </a:rPr>
                        <a:t>P/E versus listed peers</a:t>
                      </a:r>
                    </a:p>
                  </a:txBody>
                  <a:tcPr anchor="ctr" marL="91440" marR="91440" marT="41148" marB="4114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522976"/>
            <a:ext cx="11183112" cy="786384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522976"/>
            <a:ext cx="100584" cy="786384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5522976"/>
            <a:ext cx="1078992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No single method is correct — the master model is correct because it uses the right method at each stage.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CLOSING  ·  CAVEATS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Common pitfalls and academic caveats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35024"/>
            <a:ext cx="11064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Single-point valuations — deep tech is a distribution; always present a range with its probabilities.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Confusing headline valuation with value received — terms and dilution can outweigh the price.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Double-counting risk — once a milestone is achieved, remove its POS from CPOS; do not also keep an inflated discount rate.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Optimistic POS — use base rates from comparable programmes, not the founder's confidence.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Stale benchmarks — venture references age quickly; date and adjust every comparable.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Ignoring the option pool — it is usually created pre-money and dilutes founders, not investors.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248656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248656"/>
            <a:ext cx="100584" cy="84124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248656"/>
            <a:ext cx="107899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A valuation is only as honest as its weakest assumption — state assumptions explicitly so others can challenge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CLOSING  · 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Workshop exercise — build a valuation for your venture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52144"/>
            <a:ext cx="11064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4C5D6D"/>
                </a:solidFill>
                <a:latin typeface="Calibri"/>
              </a:rPr>
              <a:t>Work with your own venture, or a DTL case provided by the facilitator.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682496"/>
            <a:ext cx="566928" cy="566928"/>
          </a:xfrm>
          <a:prstGeom prst="ellipse">
            <a:avLst/>
          </a:prstGeom>
          <a:solidFill>
            <a:srgbClr val="4E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82496"/>
            <a:ext cx="566928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1700784"/>
            <a:ext cx="9692640" cy="530352"/>
          </a:xfrm>
          <a:prstGeom prst="roundRect">
            <a:avLst>
              <a:gd name="adj" fmla="val 1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37744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6"/>
                </a:solidFill>
                <a:latin typeface="Georgia"/>
              </a:rPr>
              <a:t>Draw the milestone roadmap from today's TRL to a credible exit.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340864"/>
            <a:ext cx="566928" cy="566928"/>
          </a:xfrm>
          <a:prstGeom prst="ellipse">
            <a:avLst/>
          </a:prstGeom>
          <a:solidFill>
            <a:srgbClr val="3F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40864"/>
            <a:ext cx="566928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2359152"/>
            <a:ext cx="9692640" cy="530352"/>
          </a:xfrm>
          <a:prstGeom prst="roundRect">
            <a:avLst>
              <a:gd name="adj" fmla="val 1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37744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6"/>
                </a:solidFill>
                <a:latin typeface="Georgia"/>
              </a:rPr>
              <a:t>State the next round's use of funds and the milestones it buys.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2999232"/>
            <a:ext cx="566928" cy="566928"/>
          </a:xfrm>
          <a:prstGeom prst="ellipse">
            <a:avLst/>
          </a:prstGeom>
          <a:solidFill>
            <a:srgbClr val="2E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99232"/>
            <a:ext cx="566928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3017520"/>
            <a:ext cx="9692640" cy="530352"/>
          </a:xfrm>
          <a:prstGeom prst="roundRect">
            <a:avLst>
              <a:gd name="adj" fmla="val 1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37744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6"/>
                </a:solidFill>
                <a:latin typeface="Georgia"/>
              </a:rPr>
              <a:t>Find three market references for the exit value.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657600"/>
            <a:ext cx="566928" cy="566928"/>
          </a:xfrm>
          <a:prstGeom prst="ellipse">
            <a:avLst/>
          </a:prstGeom>
          <a:solidFill>
            <a:srgbClr val="6F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566928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3675887"/>
            <a:ext cx="9692640" cy="530352"/>
          </a:xfrm>
          <a:prstGeom prst="roundRect">
            <a:avLst>
              <a:gd name="adj" fmla="val 1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37744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6"/>
                </a:solidFill>
                <a:latin typeface="Georgia"/>
              </a:rPr>
              <a:t>Build the rNPV, then reconcile it with benchmarking (matching).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315968"/>
            <a:ext cx="566928" cy="566928"/>
          </a:xfrm>
          <a:prstGeom prst="ellipse">
            <a:avLst/>
          </a:prstGeom>
          <a:solidFill>
            <a:srgbClr val="C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15968"/>
            <a:ext cx="566928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4480" y="4334255"/>
            <a:ext cx="9692640" cy="530352"/>
          </a:xfrm>
          <a:prstGeom prst="roundRect">
            <a:avLst>
              <a:gd name="adj" fmla="val 1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37744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6"/>
                </a:solidFill>
                <a:latin typeface="Georgia"/>
              </a:rPr>
              <a:t>Write the downside and upside across the Golden Triangle.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974336"/>
            <a:ext cx="566928" cy="566928"/>
          </a:xfrm>
          <a:prstGeom prst="ellipse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74336"/>
            <a:ext cx="566928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54480" y="4992623"/>
            <a:ext cx="9692640" cy="530352"/>
          </a:xfrm>
          <a:prstGeom prst="roundRect">
            <a:avLst>
              <a:gd name="adj" fmla="val 1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37744" tIns="36576" bIns="36576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6"/>
                </a:solidFill>
                <a:latin typeface="Georgia"/>
              </a:rPr>
              <a:t>Set a pre-money, a raise amount, and show the resulting cap table.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687568"/>
            <a:ext cx="11183112" cy="676656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687568"/>
            <a:ext cx="100584" cy="676656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5687568"/>
            <a:ext cx="107899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Deliverable: a one-page valuation memo — a value range, the six layers behind it, and every assumption stated.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50292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8E2B"/>
                </a:solidFill>
                <a:latin typeface="Calibri"/>
              </a:rPr>
              <a:t>CLOSING  · 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2014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Georgia"/>
              </a:rPr>
              <a:t>Key takeaways and further 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35024"/>
            <a:ext cx="11064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Valuation is an argument built from milestones, funds and market evidence — it is assembled, not guessed.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rNPV makes de-risking measurable; benchmarking anchors it to the market; matching reconciles the two.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Always express uncertainty as a downside/upside range across the Golden Triangle — technology, organisation, commercial.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E08E2B"/>
                </a:solidFill>
                <a:latin typeface="Calibri"/>
              </a:rPr>
              <a:t>▪  </a:t>
            </a:r>
            <a:r>
              <a:rPr sz="1600" b="0">
                <a:solidFill>
                  <a:srgbClr val="1F2A36"/>
                </a:solidFill>
                <a:latin typeface="Calibri"/>
              </a:rPr>
              <a:t>Stakeholder terms decide who receives the value — read them as carefully as the headline number.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        –  </a:t>
            </a:r>
            <a:r>
              <a:rPr sz="1400">
                <a:solidFill>
                  <a:srgbClr val="4C5D6D"/>
                </a:solidFill>
                <a:latin typeface="Calibri"/>
              </a:rPr>
              <a:t>Damodaran, A. — Valuing Young, Start-up and Growth Companies (NYU Stern).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        –  </a:t>
            </a:r>
            <a:r>
              <a:rPr sz="1400">
                <a:solidFill>
                  <a:srgbClr val="4C5D6D"/>
                </a:solidFill>
                <a:latin typeface="Calibri"/>
              </a:rPr>
              <a:t>Metrick &amp; Yasuda — Venture Capital and the Finance of Innovation.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        –  </a:t>
            </a:r>
            <a:r>
              <a:rPr sz="1400">
                <a:solidFill>
                  <a:srgbClr val="4C5D6D"/>
                </a:solidFill>
                <a:latin typeface="Calibri"/>
              </a:rPr>
              <a:t>Razgaitis, R. — Valuation and Dealmaking of Technology-Based IP.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        –  </a:t>
            </a:r>
            <a:r>
              <a:rPr sz="1400">
                <a:solidFill>
                  <a:srgbClr val="4C5D6D"/>
                </a:solidFill>
                <a:latin typeface="Calibri"/>
              </a:rPr>
              <a:t>Deep-Tech Lab (DTL) venture files — internal references used 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248656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248656"/>
            <a:ext cx="100584" cy="841248"/>
          </a:xfrm>
          <a:prstGeom prst="rect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248656"/>
            <a:ext cx="107899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08E2B"/>
                </a:solidFill>
                <a:latin typeface="Calibri"/>
              </a:rPr>
              <a:t>KEY IDEA    </a:t>
            </a:r>
            <a:r>
              <a:rPr sz="1400">
                <a:solidFill>
                  <a:srgbClr val="1F2A36"/>
                </a:solidFill>
                <a:latin typeface="Calibri"/>
              </a:rPr>
              <a:t>All figures in this deck are illustrative worked examples for training purposes — they are not investment advice.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C5D6D"/>
                </a:solidFill>
                <a:latin typeface="Calibri"/>
              </a:rPr>
              <a:t>Valuing Deep-Tech Ventures  ·  Deep-Tech Lab (DTL)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A4A"/>
                </a:solidFill>
                <a:latin typeface="Georgia"/>
              </a:rP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