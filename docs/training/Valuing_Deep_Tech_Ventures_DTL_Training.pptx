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This 90-minute session turns valuation from a black box into a constructed, defensible argument. Every method is shown as a diagram and worked through with numbers. Real Deep-Tech Lab ventures are used as references.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Scientists often feel valuation is arbitrary. The message: it is a structured argument. If any leg — milestones, funds, market evidence — is missing, the number cannot be defended.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arc. Each section builds on the previous one and becomes a layer of the master model in Section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visual contents page. Refer back to it at each section divider so the audience always knows where they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 establishes the mental model: value is created step by step as risk is removed at each milestone.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Scientists already think in TRL terms — anchor valuation to that ladder. The pins mark value-inflection milestones; the Illuminatio MRI venture targets a 510(k) clearance.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Emphasise the last column: method choice is stage-dependent. We revisit this matrix in Section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chart deliberately shows tiny early steps — that IS the deep-tech reality. Series 4.4 -&gt; 7.9 -&gt; 19.7 -&gt; 41 -&gt; 64 -&gt; 80 is carried consistently through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is the quantitative heart of the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 the use of funds is milestone-led. 'We will spend $2.5M' is not a plan; 'we will spend $2.5M to reach prototype and validation'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reframes budgeting for scientists: spending is investment only when it shifts a POS or expands the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uplift combines risk removed (CPOS 16.8% -&gt; 48%) and time shortened (5 yrs -&gt; 3). Numbers reconcile with the rNPV example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rush. First sum = risk-adjusted reward; second = cost. Discipline: once a milestone is achieved, DROP its POS from CPOS — do not also keep an inflated r, or you double-count.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each row. 1.25^5 = 3.05; 1.25^3 = 1.95. The uplift combines risk removed and time shortened. All figures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 supplies the exit value and the sense-checks the rNPV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Any single lens can mislead; triangulation across all four is what makes the exit value defensible.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Liver-diagnostics figures come from the Illuminatio venture file. Teach moving from the TAM headline to a defensible bottom-up SOM.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five dimensions come from the DTL interview scorecard. For Illuminatio, the edge is direct macromolecule measurement vs competitors' indirect stiffness proxies.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Deep-tech comparables are scarce and deal terms seldom disclosed — hence triangulation, not reliance on one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 is the reconciliation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matching is to diagnose. A gap is informative — it tells you where to dig.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'Review' flag means bottom-up and top-down disagree — the assumption must be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Closes the loop between Sections 2 and 3. If the market does not reward a milestone, question why you are funding it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 forces the deck away from single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Researchers over-weight the technology vertex. Investors price all three; organisation and commercial risk are where scientist-led ventures most often fail.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deliberate asymmetry — upside far above base — is characteristic of deep tech. The mean exceeds the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makes the scenario probabilities defensible — each driver should trace to a milestone POS in the rNPV.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E[V] collapses the distribution to one number — always present it with the range. A negotiation is about whose probabilities are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 separates the headline valuation from value realised.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economics vs control — the spine of the next two slides. A minority investor with strong protective provisions can hold decisive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participating preferred carefully — it surprises founders most. 1x non-participating is the founder-friendly norm.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option pool is usually created pre-money — it dilutes founders, not the incoming investor. Reassure: dilution is healthy if each round raises company value faster than ownership 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pre- vs post-money confusion is a classic, costly error. Have the audience compute 2.5 / 6.9 = 36.2%.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7 is the synthesis.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layer is one prior section. The deliverable of the whole training is the ability to build this stack.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figure traces back to a named assumption — that traceability is what makes the valuation defensible.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WBI case is a real DTL-adjacent valuation: DCF gave US$55.6M, cross-checked at 38x 2024 P/E vs a 50-60x industry norm. Capital-market multiples leverage listed peers but must be discounted for illiquidity, stage and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the loop with Section 1's ladder: stage drives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recurring errors in DTL venture reviews. Honesty about assumptions is what makes a valuation survive diligence.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as a take-away exercise or a breakout. The one-page memo is the real test of whether the training landed.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Restate the four takeaways. Point to the reading list for the academic underpinnings.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052560" y="3017520"/>
            <a:ext cx="3108960" cy="3108960"/>
          </a:xfrm>
          <a:prstGeom prst="ellipse">
            <a:avLst/>
          </a:prstGeom>
          <a:noFill/>
          <a:ln w="17780">
            <a:solidFill>
              <a:srgbClr val="214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3429000"/>
            <a:ext cx="2286000" cy="2286000"/>
          </a:xfrm>
          <a:prstGeom prst="ellipse">
            <a:avLst/>
          </a:prstGeom>
          <a:noFill/>
          <a:ln w="17780">
            <a:solidFill>
              <a:srgbClr val="214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75519" y="3840480"/>
            <a:ext cx="1463040" cy="1463040"/>
          </a:xfrm>
          <a:prstGeom prst="ellipse">
            <a:avLst/>
          </a:prstGeom>
          <a:noFill/>
          <a:ln w="17780">
            <a:solidFill>
              <a:srgbClr val="214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170432"/>
            <a:ext cx="100584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08E2B"/>
                </a:solidFill>
                <a:latin typeface="Calibri"/>
              </a:rPr>
              <a:t>DEEP-TECH LAB (DTL)   ·   TRAINING SERIES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737360"/>
            <a:ext cx="10058400" cy="11887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00" b="1" i="0">
                <a:solidFill>
                  <a:srgbClr val="FFFFFF"/>
                </a:solidFill>
                <a:latin typeface="Georgia"/>
              </a:rPr>
              <a:t>Valuing Deep-Tech Ventures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697480"/>
            <a:ext cx="987552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C6D4E2"/>
                </a:solidFill>
                <a:latin typeface="Calibri"/>
              </a:rPr>
              <a:t>A Practitioner's Framework for Researchers &amp; Scientists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24128" y="3611880"/>
            <a:ext cx="2743200" cy="9144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931920"/>
            <a:ext cx="9692640" cy="1371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AEC2D6"/>
                </a:solidFill>
                <a:latin typeface="Calibri"/>
              </a:rPr>
              <a:t>90-minute training  ·  six connected methods, assembled into one master model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AEC2D6"/>
                </a:solidFill>
                <a:latin typeface="Calibri"/>
              </a:rPr>
              <a:t>From milestone roadmap and use-of-funds, through benchmarking and uncertainty,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EC2D6"/>
                </a:solidFill>
                <a:latin typeface="Calibri"/>
              </a:rPr>
              <a:t>to stakeholder rights and dilution — each illustrated and worked through with numbers.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806440"/>
            <a:ext cx="100584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56676"/>
                </a:solidFill>
                <a:latin typeface="Calibri"/>
              </a:rPr>
              <a:t>Audience: research scientists and venture founders   |   All figures are illustrative worked examples,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8E2B"/>
                </a:solidFill>
                <a:latin typeface="Calibri"/>
              </a:rPr>
              <a:t>WHY THIS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The valuation gap for scientist-founders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35024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>
                <a:solidFill>
                  <a:srgbClr val="1F2A36"/>
                </a:solidFill>
                <a:latin typeface="Calibri"/>
              </a:rPr>
              <a:t>Deep-tech ventures are valued years before revenue — earnings, book value and cash flow are near zero, so standard accounting methods return little that is meaningful.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>
                <a:solidFill>
                  <a:srgbClr val="1F2A36"/>
                </a:solidFill>
                <a:latin typeface="Calibri"/>
              </a:rPr>
              <a:t>Yet valuation is unavoidable: it sets how much equity you exchange for the capital needed to reach your next scientific milestone.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>
                <a:solidFill>
                  <a:srgbClr val="1F2A36"/>
                </a:solidFill>
                <a:latin typeface="Calibri"/>
              </a:rPr>
              <a:t>A defensible valuation is not a guess — it is an argument that links three things: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>
                <a:solidFill>
                  <a:srgbClr val="556676"/>
                </a:solidFill>
                <a:latin typeface="Calibri"/>
              </a:rPr>
              <a:t>the science you will do (milestones),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>
                <a:solidFill>
                  <a:srgbClr val="556676"/>
                </a:solidFill>
                <a:latin typeface="Calibri"/>
              </a:rPr>
              <a:t>the funds you will spend to do it (use of funds), and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>
                <a:solidFill>
                  <a:srgbClr val="556676"/>
                </a:solidFill>
                <a:latin typeface="Calibri"/>
              </a:rPr>
              <a:t>the market evidence that prices the result (benchmarking).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>
                <a:solidFill>
                  <a:srgbClr val="1F2A36"/>
                </a:solidFill>
                <a:latin typeface="Calibri"/>
              </a:rPr>
              <a:t>This session builds that argument in six connected methods, each explained with a diagram and a worked example.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212080"/>
            <a:ext cx="11183112" cy="868680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212080"/>
            <a:ext cx="91440" cy="86868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12080"/>
            <a:ext cx="107442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>
                <a:solidFill>
                  <a:srgbClr val="1F2A36"/>
                </a:solidFill>
                <a:latin typeface="Calibri"/>
              </a:rPr>
              <a:t>A deep-tech valuation is a risk-adjusted, milestone-indexed estimate of future value — not a statement of present fact.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8E2B"/>
                </a:solidFill>
                <a:latin typeface="Calibri"/>
              </a:rPr>
              <a:t>90-MINUTE RUN OF SHOW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Agenda — the path of the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3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50976" y="1517904"/>
            <a:ext cx="0" cy="4133088"/>
          </a:xfrm>
          <a:prstGeom prst="line">
            <a:avLst/>
          </a:prstGeom>
          <a:ln w="25400">
            <a:solidFill>
              <a:srgbClr val="C9D3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49224" y="1243584"/>
            <a:ext cx="566928" cy="566928"/>
          </a:xfrm>
          <a:prstGeom prst="ellipse">
            <a:avLst/>
          </a:prstGeom>
          <a:solidFill>
            <a:srgbClr val="4E7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243584"/>
            <a:ext cx="566928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81328" y="1243584"/>
            <a:ext cx="8001000" cy="566928"/>
          </a:xfrm>
          <a:prstGeom prst="roundRect">
            <a:avLst>
              <a:gd name="adj" fmla="val 18000"/>
            </a:avLst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 rIns="219456" tIns="36576" bIns="36576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2A36"/>
                </a:solidFill>
                <a:latin typeface="Georgia"/>
              </a:rPr>
              <a:t>The milestone roadmap to a valuation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92640" y="1307592"/>
            <a:ext cx="1536192" cy="438912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10 min</a:t>
            </a:r>
          </a:p>
        </p:txBody>
      </p:sp>
      <p:sp>
        <p:nvSpPr>
          <p:cNvPr id="13" name="Oval 12"/>
          <p:cNvSpPr/>
          <p:nvPr/>
        </p:nvSpPr>
        <p:spPr>
          <a:xfrm>
            <a:off x="649224" y="1883664"/>
            <a:ext cx="566928" cy="566928"/>
          </a:xfrm>
          <a:prstGeom prst="ellipse">
            <a:avLst/>
          </a:prstGeom>
          <a:solidFill>
            <a:srgbClr val="3F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1883664"/>
            <a:ext cx="566928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81328" y="1883664"/>
            <a:ext cx="8001000" cy="566928"/>
          </a:xfrm>
          <a:prstGeom prst="roundRect">
            <a:avLst>
              <a:gd name="adj" fmla="val 18000"/>
            </a:avLst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 rIns="219456" tIns="36576" bIns="36576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2A36"/>
                </a:solidFill>
                <a:latin typeface="Georgia"/>
              </a:rPr>
              <a:t>Use of funds → value creation → the math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92640" y="1947672"/>
            <a:ext cx="1536192" cy="438912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20 min</a:t>
            </a:r>
          </a:p>
        </p:txBody>
      </p:sp>
      <p:sp>
        <p:nvSpPr>
          <p:cNvPr id="17" name="Oval 16"/>
          <p:cNvSpPr/>
          <p:nvPr/>
        </p:nvSpPr>
        <p:spPr>
          <a:xfrm>
            <a:off x="649224" y="2523744"/>
            <a:ext cx="566928" cy="566928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523744"/>
            <a:ext cx="566928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81328" y="2523744"/>
            <a:ext cx="8001000" cy="566928"/>
          </a:xfrm>
          <a:prstGeom prst="roundRect">
            <a:avLst>
              <a:gd name="adj" fmla="val 18000"/>
            </a:avLst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 rIns="219456" tIns="36576" bIns="36576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2A36"/>
                </a:solidFill>
                <a:latin typeface="Georgia"/>
              </a:rPr>
              <a:t>Benchmarking: market, competition, references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92640" y="2587751"/>
            <a:ext cx="1536192" cy="438912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15 min</a:t>
            </a:r>
          </a:p>
        </p:txBody>
      </p:sp>
      <p:sp>
        <p:nvSpPr>
          <p:cNvPr id="21" name="Oval 20"/>
          <p:cNvSpPr/>
          <p:nvPr/>
        </p:nvSpPr>
        <p:spPr>
          <a:xfrm>
            <a:off x="649224" y="3163824"/>
            <a:ext cx="566928" cy="566928"/>
          </a:xfrm>
          <a:prstGeom prst="ellipse">
            <a:avLst/>
          </a:prstGeom>
          <a:solidFill>
            <a:srgbClr val="6F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163824"/>
            <a:ext cx="566928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81328" y="3163824"/>
            <a:ext cx="8001000" cy="566928"/>
          </a:xfrm>
          <a:prstGeom prst="roundRect">
            <a:avLst>
              <a:gd name="adj" fmla="val 18000"/>
            </a:avLst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 rIns="219456" tIns="36576" bIns="36576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2A36"/>
                </a:solidFill>
                <a:latin typeface="Georgia"/>
              </a:rPr>
              <a:t>Matching: use of funds tested against the market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92640" y="3227832"/>
            <a:ext cx="1536192" cy="438912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10 min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" y="3803904"/>
            <a:ext cx="566928" cy="566928"/>
          </a:xfrm>
          <a:prstGeom prst="ellipse">
            <a:avLst/>
          </a:prstGeom>
          <a:solidFill>
            <a:srgbClr val="C99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3803904"/>
            <a:ext cx="566928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481328" y="3803904"/>
            <a:ext cx="8001000" cy="566928"/>
          </a:xfrm>
          <a:prstGeom prst="roundRect">
            <a:avLst>
              <a:gd name="adj" fmla="val 18000"/>
            </a:avLst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 rIns="219456" tIns="36576" bIns="36576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2A36"/>
                </a:solidFill>
                <a:latin typeface="Georgia"/>
              </a:rPr>
              <a:t>Uncertainty: downside / upside &amp; the Golden Triangle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92640" y="3867912"/>
            <a:ext cx="1536192" cy="438912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15 min</a:t>
            </a:r>
          </a:p>
        </p:txBody>
      </p:sp>
      <p:sp>
        <p:nvSpPr>
          <p:cNvPr id="29" name="Oval 28"/>
          <p:cNvSpPr/>
          <p:nvPr/>
        </p:nvSpPr>
        <p:spPr>
          <a:xfrm>
            <a:off x="649224" y="4443984"/>
            <a:ext cx="566928" cy="566928"/>
          </a:xfrm>
          <a:prstGeom prst="ellipse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4443984"/>
            <a:ext cx="566928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81328" y="4443984"/>
            <a:ext cx="8001000" cy="566928"/>
          </a:xfrm>
          <a:prstGeom prst="roundRect">
            <a:avLst>
              <a:gd name="adj" fmla="val 18000"/>
            </a:avLst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 rIns="219456" tIns="36576" bIns="36576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2A36"/>
                </a:solidFill>
                <a:latin typeface="Georgia"/>
              </a:rPr>
              <a:t>Stakeholders: rights, protections, control, dilution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92640" y="4507992"/>
            <a:ext cx="1536192" cy="438912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12 min</a:t>
            </a:r>
          </a:p>
        </p:txBody>
      </p:sp>
      <p:sp>
        <p:nvSpPr>
          <p:cNvPr id="33" name="Oval 32"/>
          <p:cNvSpPr/>
          <p:nvPr/>
        </p:nvSpPr>
        <p:spPr>
          <a:xfrm>
            <a:off x="649224" y="5084064"/>
            <a:ext cx="566928" cy="566928"/>
          </a:xfrm>
          <a:prstGeom prst="ellipse">
            <a:avLst/>
          </a:prstGeom>
          <a:solidFill>
            <a:srgbClr val="21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" y="5084064"/>
            <a:ext cx="566928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7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81328" y="5084064"/>
            <a:ext cx="8001000" cy="566928"/>
          </a:xfrm>
          <a:prstGeom prst="roundRect">
            <a:avLst>
              <a:gd name="adj" fmla="val 18000"/>
            </a:avLst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 rIns="219456" tIns="36576" bIns="36576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2A36"/>
                </a:solidFill>
                <a:latin typeface="Georgia"/>
              </a:rPr>
              <a:t>The master model + comparison of other methods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92640" y="5148072"/>
            <a:ext cx="1536192" cy="438912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8 min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797296"/>
            <a:ext cx="11183112" cy="603504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5797296"/>
            <a:ext cx="91440" cy="603504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797296"/>
            <a:ext cx="107442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>
                <a:solidFill>
                  <a:srgbClr val="1F2A36"/>
                </a:solidFill>
                <a:latin typeface="Calibri"/>
              </a:rPr>
              <a:t>Objectives — by the end you can build a milestone-indexed valuation, defend it with benchmarking, state its downside and upside, and read how a term sheet changes your value.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8E2B"/>
                </a:solidFill>
                <a:latin typeface="Calibri"/>
              </a:rPr>
              <a:t>THE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The six methods, and how they combine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1188720"/>
            <a:ext cx="3456432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4E7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188720"/>
            <a:ext cx="566928" cy="1024128"/>
          </a:xfrm>
          <a:prstGeom prst="rect">
            <a:avLst/>
          </a:prstGeom>
          <a:solidFill>
            <a:srgbClr val="4E7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188720"/>
            <a:ext cx="566928" cy="10241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1188720"/>
            <a:ext cx="2615184" cy="10241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F2A4A"/>
                </a:solidFill>
                <a:latin typeface="Georgia"/>
              </a:rPr>
              <a:t>Milestone roadmap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6676"/>
                </a:solidFill>
                <a:latin typeface="Calibri"/>
              </a:rPr>
              <a:t>when value is created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505456" y="3584448"/>
            <a:ext cx="182880" cy="201168"/>
          </a:xfrm>
          <a:prstGeom prst="downArrow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99432" y="1188720"/>
            <a:ext cx="3456432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3F8E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99432" y="1188720"/>
            <a:ext cx="566928" cy="1024128"/>
          </a:xfrm>
          <a:prstGeom prst="rect">
            <a:avLst/>
          </a:prstGeom>
          <a:solidFill>
            <a:srgbClr val="3F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1188720"/>
            <a:ext cx="566928" cy="10241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12664" y="1188720"/>
            <a:ext cx="2615184" cy="10241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F2A4A"/>
                </a:solidFill>
                <a:latin typeface="Georgia"/>
              </a:rPr>
              <a:t>Use of funds → rNPV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6676"/>
                </a:solidFill>
                <a:latin typeface="Calibri"/>
              </a:rPr>
              <a:t>bottom-up intrinsic value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6236208" y="3584448"/>
            <a:ext cx="182880" cy="201168"/>
          </a:xfrm>
          <a:prstGeom prst="downArrow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330183" y="1188720"/>
            <a:ext cx="3456432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2E9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30183" y="1188720"/>
            <a:ext cx="566928" cy="1024128"/>
          </a:xfrm>
          <a:prstGeom prst="rect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0183" y="1188720"/>
            <a:ext cx="566928" cy="10241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43415" y="1188720"/>
            <a:ext cx="2615184" cy="10241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F2A4A"/>
                </a:solidFill>
                <a:latin typeface="Georgia"/>
              </a:rPr>
              <a:t>Benchmarking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6676"/>
                </a:solidFill>
                <a:latin typeface="Calibri"/>
              </a:rPr>
              <a:t>top-down market evidence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9966960" y="3584448"/>
            <a:ext cx="182880" cy="201168"/>
          </a:xfrm>
          <a:prstGeom prst="downArrow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2414016"/>
            <a:ext cx="3456432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6FA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68680" y="2414016"/>
            <a:ext cx="566928" cy="1024128"/>
          </a:xfrm>
          <a:prstGeom prst="rect">
            <a:avLst/>
          </a:prstGeom>
          <a:solidFill>
            <a:srgbClr val="6F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2414016"/>
            <a:ext cx="566928" cy="10241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2414016"/>
            <a:ext cx="2615184" cy="10241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F2A4A"/>
                </a:solidFill>
                <a:latin typeface="Georgia"/>
              </a:rPr>
              <a:t>Matching method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6676"/>
                </a:solidFill>
                <a:latin typeface="Calibri"/>
              </a:rPr>
              <a:t>reconcile the two views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2505456" y="3584448"/>
            <a:ext cx="182880" cy="201168"/>
          </a:xfrm>
          <a:prstGeom prst="downArrow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599432" y="2414016"/>
            <a:ext cx="3456432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99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99432" y="2414016"/>
            <a:ext cx="566928" cy="1024128"/>
          </a:xfrm>
          <a:prstGeom prst="rect">
            <a:avLst/>
          </a:prstGeom>
          <a:solidFill>
            <a:srgbClr val="C99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99432" y="2414016"/>
            <a:ext cx="566928" cy="10241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12664" y="2414016"/>
            <a:ext cx="2615184" cy="10241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F2A4A"/>
                </a:solidFill>
                <a:latin typeface="Georgia"/>
              </a:rPr>
              <a:t>Uncertainty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6676"/>
                </a:solidFill>
                <a:latin typeface="Calibri"/>
              </a:rPr>
              <a:t>downside vs upside range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6236208" y="3584448"/>
            <a:ext cx="182880" cy="201168"/>
          </a:xfrm>
          <a:prstGeom prst="downArrow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330183" y="2414016"/>
            <a:ext cx="3456432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E08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30183" y="2414016"/>
            <a:ext cx="566928" cy="102412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30183" y="2414016"/>
            <a:ext cx="566928" cy="10241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43415" y="2414016"/>
            <a:ext cx="2615184" cy="10241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F2A4A"/>
                </a:solidFill>
                <a:latin typeface="Georgia"/>
              </a:rPr>
              <a:t>Stakeholder terms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6676"/>
                </a:solidFill>
                <a:latin typeface="Calibri"/>
              </a:rPr>
              <a:t>value per stakeholder</a:t>
            </a:r>
          </a:p>
        </p:txBody>
      </p:sp>
      <p:sp>
        <p:nvSpPr>
          <p:cNvPr id="37" name="Down Arrow 36"/>
          <p:cNvSpPr/>
          <p:nvPr/>
        </p:nvSpPr>
        <p:spPr>
          <a:xfrm>
            <a:off x="9966960" y="3584448"/>
            <a:ext cx="182880" cy="201168"/>
          </a:xfrm>
          <a:prstGeom prst="downArrow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68680" y="3840480"/>
            <a:ext cx="10442448" cy="713232"/>
          </a:xfrm>
          <a:prstGeom prst="roundRect">
            <a:avLst>
              <a:gd name="adj" fmla="val 14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Georgia"/>
              </a:rPr>
              <a:t>THE MASTER MODEL   ·   the disciplined assembly of all six methods into one argument</a:t>
            </a:r>
          </a:p>
        </p:txBody>
      </p:sp>
      <p:sp>
        <p:nvSpPr>
          <p:cNvPr id="39" name="Down Arrow 38"/>
          <p:cNvSpPr/>
          <p:nvPr/>
        </p:nvSpPr>
        <p:spPr>
          <a:xfrm>
            <a:off x="5998464" y="4608576"/>
            <a:ext cx="201168" cy="219456"/>
          </a:xfrm>
          <a:prstGeom prst="downArrow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828800" y="4919472"/>
            <a:ext cx="8503920" cy="566928"/>
          </a:xfrm>
          <a:prstGeom prst="roundRect">
            <a:avLst>
              <a:gd name="adj" fmla="val 50000"/>
            </a:avLst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Calibri"/>
              </a:rPr>
              <a:t>OUTPUT:  a valuation range  ·  an explicit risk profile  ·  an ownership outcome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5632704"/>
            <a:ext cx="11183112" cy="713232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5632704"/>
            <a:ext cx="91440" cy="71323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5632704"/>
            <a:ext cx="107442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E08E2B"/>
                </a:solidFill>
                <a:latin typeface="Calibri"/>
              </a:rPr>
              <a:t>ORIENTATION   </a:t>
            </a:r>
            <a:r>
              <a:rPr sz="1250">
                <a:solidFill>
                  <a:srgbClr val="1F2A36"/>
                </a:solidFill>
                <a:latin typeface="Calibri"/>
              </a:rPr>
              <a:t>Read this as the map of the next 90 minutes — we build each block, then assemble them into the master model.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058400" cy="23774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0" b="1" i="0">
                <a:solidFill>
                  <a:srgbClr val="163A5E"/>
                </a:solidFill>
                <a:latin typeface="Georgia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730752"/>
            <a:ext cx="1554480" cy="10972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3273552"/>
            <a:ext cx="100584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08E2B"/>
                </a:solidFill>
                <a:latin typeface="Calibri"/>
              </a:rPr>
              <a:t>SECTION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3931920"/>
            <a:ext cx="1051560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00" b="1" i="0">
                <a:solidFill>
                  <a:srgbClr val="FFFFFF"/>
                </a:solidFill>
                <a:latin typeface="Georgia"/>
              </a:rPr>
              <a:t>The Milestone Roadmap to a 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4983480"/>
            <a:ext cx="1033272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AEC2D6"/>
                </a:solidFill>
                <a:latin typeface="Calibri"/>
              </a:rPr>
              <a:t>Valuation is a process indexed to scientific and commercial milestones — not a single number fixed at one date.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8E2B"/>
                </a:solidFill>
                <a:latin typeface="Calibri"/>
              </a:rPr>
              <a:t>SECTION 1  ·  THE MILESTONE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Valuation is a process, not a number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25296"/>
            <a:ext cx="110642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400" b="0">
                <a:solidFill>
                  <a:srgbClr val="1F2A36"/>
                </a:solidFill>
                <a:latin typeface="Calibri"/>
              </a:rPr>
              <a:t>Map the venture on the Technology Readiness Level (TRL) ladder — from basic principles (TRL 1) to a system proven in operation (TRL 9).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400" b="0">
                <a:solidFill>
                  <a:srgbClr val="1F2A36"/>
                </a:solidFill>
                <a:latin typeface="Calibri"/>
              </a:rPr>
              <a:t>Each rung pairs a readiness step with a value inflection: a point at which a specific risk is removed and the venture is worth more.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400" b="0">
                <a:solidFill>
                  <a:srgbClr val="1F2A36"/>
                </a:solidFill>
                <a:latin typeface="Calibri"/>
              </a:rPr>
              <a:t>The roadmap defines WHEN value is created; later sections quantify HOW MUCH.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886968" y="5148072"/>
            <a:ext cx="1024128" cy="384048"/>
          </a:xfrm>
          <a:prstGeom prst="rect">
            <a:avLst/>
          </a:prstGeom>
          <a:solidFill>
            <a:srgbClr val="4E7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5221224"/>
            <a:ext cx="102412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TRL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29967" y="4896612"/>
            <a:ext cx="1024128" cy="635508"/>
          </a:xfrm>
          <a:prstGeom prst="rect">
            <a:avLst/>
          </a:prstGeom>
          <a:solidFill>
            <a:srgbClr val="4E7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29967" y="5221224"/>
            <a:ext cx="102412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TRL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72968" y="4645152"/>
            <a:ext cx="1024128" cy="886968"/>
          </a:xfrm>
          <a:prstGeom prst="rect">
            <a:avLst/>
          </a:prstGeom>
          <a:solidFill>
            <a:srgbClr val="4E7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72968" y="5221224"/>
            <a:ext cx="102412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TRL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5968" y="4393692"/>
            <a:ext cx="1024128" cy="113842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15968" y="5221224"/>
            <a:ext cx="102412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TRL 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58968" y="4142231"/>
            <a:ext cx="1024128" cy="138988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58968" y="5221224"/>
            <a:ext cx="102412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TRL 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1968" y="3890772"/>
            <a:ext cx="1024128" cy="164134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01968" y="5221224"/>
            <a:ext cx="102412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TRL 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4968" y="3639311"/>
            <a:ext cx="1024128" cy="189280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4968" y="5221224"/>
            <a:ext cx="102412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TRL 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87968" y="3387851"/>
            <a:ext cx="1024128" cy="214426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87968" y="5221224"/>
            <a:ext cx="102412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TRL 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30968" y="3136391"/>
            <a:ext cx="1024128" cy="239572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30968" y="5221224"/>
            <a:ext cx="102412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TRL 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5586983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E79A8"/>
                </a:solidFill>
                <a:latin typeface="Calibri"/>
              </a:rPr>
              <a:t>Concept  ·  TRL 1–3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5586983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9E8A"/>
                </a:solidFill>
                <a:latin typeface="Calibri"/>
              </a:rPr>
              <a:t>Prototype &amp; validation  ·  TRL 4–6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44968" y="5586983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08E2B"/>
                </a:solidFill>
                <a:latin typeface="Calibri"/>
              </a:rPr>
              <a:t>Demonstration &amp; deployment  ·  TRL 7–9</a:t>
            </a:r>
          </a:p>
        </p:txBody>
      </p:sp>
      <p:sp>
        <p:nvSpPr>
          <p:cNvPr id="30" name="Oval 29"/>
          <p:cNvSpPr/>
          <p:nvPr/>
        </p:nvSpPr>
        <p:spPr>
          <a:xfrm>
            <a:off x="4750307" y="4119372"/>
            <a:ext cx="155448" cy="155448"/>
          </a:xfrm>
          <a:prstGeom prst="ellipse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050791" y="3863339"/>
            <a:ext cx="15544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F2A4A"/>
                </a:solidFill>
                <a:latin typeface="Calibri"/>
              </a:rPr>
              <a:t>Prototype</a:t>
            </a:r>
          </a:p>
        </p:txBody>
      </p:sp>
      <p:sp>
        <p:nvSpPr>
          <p:cNvPr id="32" name="Oval 31"/>
          <p:cNvSpPr/>
          <p:nvPr/>
        </p:nvSpPr>
        <p:spPr>
          <a:xfrm>
            <a:off x="7036307" y="3616452"/>
            <a:ext cx="155448" cy="155448"/>
          </a:xfrm>
          <a:prstGeom prst="ellipse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36792" y="3360420"/>
            <a:ext cx="15544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F2A4A"/>
                </a:solidFill>
                <a:latin typeface="Calibri"/>
              </a:rPr>
              <a:t>Pilot data</a:t>
            </a:r>
          </a:p>
        </p:txBody>
      </p:sp>
      <p:sp>
        <p:nvSpPr>
          <p:cNvPr id="34" name="Oval 33"/>
          <p:cNvSpPr/>
          <p:nvPr/>
        </p:nvSpPr>
        <p:spPr>
          <a:xfrm>
            <a:off x="9322308" y="3113532"/>
            <a:ext cx="155448" cy="155448"/>
          </a:xfrm>
          <a:prstGeom prst="ellipse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22792" y="2857499"/>
            <a:ext cx="15544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F2A4A"/>
                </a:solidFill>
                <a:latin typeface="Calibri"/>
              </a:rPr>
              <a:t>Clearance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1188720"/>
            <a:ext cx="411480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1" i="1">
                <a:solidFill>
                  <a:srgbClr val="E08E2B"/>
                </a:solidFill>
                <a:latin typeface="Calibri"/>
              </a:rPr>
              <a:t>↑  rising readiness  =  higher value, lower risk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8E2B"/>
                </a:solidFill>
                <a:latin typeface="Calibri"/>
              </a:rPr>
              <a:t>SECTION 1  ·  THE MILESTONE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From idea to value — the milestone ladder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52144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56676"/>
                </a:solidFill>
                <a:latin typeface="Calibri"/>
              </a:rPr>
              <a:t>Illustrative; each venture customises its milestones and the method used to value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83767" y="1645920"/>
          <a:ext cx="10424160" cy="2615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731520"/>
                <a:gridCol w="3200400"/>
                <a:gridCol w="2103120"/>
                <a:gridCol w="3108960"/>
              </a:tblGrid>
              <a:tr h="373597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Stage</a:t>
                      </a:r>
                    </a:p>
                  </a:txBody>
                  <a:tcPr anchor="ctr" marL="82296" marR="82296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TRL</a:t>
                      </a:r>
                    </a:p>
                  </a:txBody>
                  <a:tcPr anchor="ctr" marL="82296" marR="82296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Defining milestone</a:t>
                      </a:r>
                    </a:p>
                  </a:txBody>
                  <a:tcPr anchor="ctr" marL="82296" marR="82296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Risk removed</a:t>
                      </a:r>
                    </a:p>
                  </a:txBody>
                  <a:tcPr anchor="ctr" marL="82296" marR="82296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Primary valuation method</a:t>
                      </a:r>
                    </a:p>
                  </a:txBody>
                  <a:tcPr anchor="ctr" marL="82296" marR="82296" marT="45720" marB="45720">
                    <a:solidFill>
                      <a:srgbClr val="0F2A4A"/>
                    </a:solidFill>
                  </a:tcPr>
                </a:tc>
              </a:tr>
              <a:tr h="37359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A36"/>
                          </a:solidFill>
                          <a:latin typeface="Calibri"/>
                        </a:rPr>
                        <a:t>Concept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A36"/>
                          </a:solidFill>
                          <a:latin typeface="Calibri"/>
                        </a:rPr>
                        <a:t>1–3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A36"/>
                          </a:solidFill>
                          <a:latin typeface="Calibri"/>
                        </a:rPr>
                        <a:t>Proof of principle, IP filed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A36"/>
                          </a:solidFill>
                          <a:latin typeface="Calibri"/>
                        </a:rPr>
                        <a:t>Scientific basis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A36"/>
                          </a:solidFill>
                          <a:latin typeface="Calibri"/>
                        </a:rPr>
                        <a:t>Qualitative scorecard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</a:tr>
              <a:tr h="37359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A36"/>
                          </a:solidFill>
                          <a:latin typeface="Calibri"/>
                        </a:rPr>
                        <a:t>Prototype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A36"/>
                          </a:solidFill>
                          <a:latin typeface="Calibri"/>
                        </a:rPr>
                        <a:t>4–6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A36"/>
                          </a:solidFill>
                          <a:latin typeface="Calibri"/>
                        </a:rPr>
                        <a:t>Working prototype / validated assay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A36"/>
                          </a:solidFill>
                          <a:latin typeface="Calibri"/>
                        </a:rPr>
                        <a:t>Engineering feasibility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A36"/>
                          </a:solidFill>
                          <a:latin typeface="Calibri"/>
                        </a:rPr>
                        <a:t>Use-of-funds rNPV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</a:tr>
              <a:tr h="37359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A36"/>
                          </a:solidFill>
                          <a:latin typeface="Calibri"/>
                        </a:rPr>
                        <a:t>Validation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A36"/>
                          </a:solidFill>
                          <a:latin typeface="Calibri"/>
                        </a:rPr>
                        <a:t>7–8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A36"/>
                          </a:solidFill>
                          <a:latin typeface="Calibri"/>
                        </a:rPr>
                        <a:t>Clinical or field validation data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A36"/>
                          </a:solidFill>
                          <a:latin typeface="Calibri"/>
                        </a:rPr>
                        <a:t>Efficacy / performance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A36"/>
                          </a:solidFill>
                          <a:latin typeface="Calibri"/>
                        </a:rPr>
                        <a:t>rNPV + comparables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</a:tr>
              <a:tr h="37359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A36"/>
                          </a:solidFill>
                          <a:latin typeface="Calibri"/>
                        </a:rPr>
                        <a:t>Regulatory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A3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A36"/>
                          </a:solidFill>
                          <a:latin typeface="Calibri"/>
                        </a:rPr>
                        <a:t>Clearance / approval (e.g. 510(k))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A36"/>
                          </a:solidFill>
                          <a:latin typeface="Calibri"/>
                        </a:rPr>
                        <a:t>Regulatory risk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A36"/>
                          </a:solidFill>
                          <a:latin typeface="Calibri"/>
                        </a:rPr>
                        <a:t>Benchmarked exit value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</a:tr>
              <a:tr h="37359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A36"/>
                          </a:solidFill>
                          <a:latin typeface="Calibri"/>
                        </a:rPr>
                        <a:t>Commercial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A36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A36"/>
                          </a:solidFill>
                          <a:latin typeface="Calibri"/>
                        </a:rPr>
                        <a:t>First revenue / signed contracts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A36"/>
                          </a:solidFill>
                          <a:latin typeface="Calibri"/>
                        </a:rPr>
                        <a:t>Market acceptance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A36"/>
                          </a:solidFill>
                          <a:latin typeface="Calibri"/>
                        </a:rPr>
                        <a:t>Revenue &amp; earnings multiples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</a:tr>
              <a:tr h="37360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A36"/>
                          </a:solidFill>
                          <a:latin typeface="Calibri"/>
                        </a:rPr>
                        <a:t>Scaling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A36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A36"/>
                          </a:solidFill>
                          <a:latin typeface="Calibri"/>
                        </a:rPr>
                        <a:t>Repeatable growth, positive margin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A36"/>
                          </a:solidFill>
                          <a:latin typeface="Calibri"/>
                        </a:rPr>
                        <a:t>Execution / scale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A36"/>
                          </a:solidFill>
                          <a:latin typeface="Calibri"/>
                        </a:rPr>
                        <a:t>DCF + capital-market multiples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504688"/>
            <a:ext cx="11183112" cy="786384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504688"/>
            <a:ext cx="91440" cy="786384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04688"/>
            <a:ext cx="10744200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>
                <a:solidFill>
                  <a:srgbClr val="1F2A36"/>
                </a:solidFill>
                <a:latin typeface="Calibri"/>
              </a:rPr>
              <a:t>The valuation method follows the venture's TRL stage — applying a revenue multiple to a pre-revenue venture is a category error.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8E2B"/>
                </a:solidFill>
                <a:latin typeface="Calibri"/>
              </a:rPr>
              <a:t>SECTION 1  ·  THE MILESTONE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De-risking equals value creation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18872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400" b="0">
                <a:solidFill>
                  <a:srgbClr val="1F2A36"/>
                </a:solidFill>
                <a:latin typeface="Calibri"/>
              </a:rPr>
              <a:t>Each milestone carries a probability of success (POS). Achieving it removes that risk — and value jumps by the factor 1 / POS.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400" b="0">
                <a:solidFill>
                  <a:srgbClr val="1F2A36"/>
                </a:solidFill>
                <a:latin typeface="Calibri"/>
              </a:rPr>
              <a:t>Value is created in steps, each step coinciding with a milestone — and the early steps are small.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395728"/>
            <a:ext cx="45720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6676"/>
                </a:solidFill>
                <a:latin typeface="Calibri"/>
              </a:rPr>
              <a:t>Risk-adjusted venture value (US$M, illustrative)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51560" y="5504688"/>
            <a:ext cx="10058400" cy="0"/>
          </a:xfrm>
          <a:prstGeom prst="line">
            <a:avLst/>
          </a:prstGeom>
          <a:ln w="15875">
            <a:solidFill>
              <a:srgbClr val="5566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1097280" y="5346268"/>
            <a:ext cx="1584959" cy="158419"/>
          </a:xfrm>
          <a:prstGeom prst="rect">
            <a:avLst/>
          </a:prstGeom>
          <a:solidFill>
            <a:srgbClr val="4E7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5053660"/>
            <a:ext cx="1676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F2A4A"/>
                </a:solidFill>
                <a:latin typeface="Consolas"/>
              </a:rPr>
              <a:t>$4.4M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568696"/>
            <a:ext cx="167640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2A36"/>
                </a:solidFill>
                <a:latin typeface="Calibri"/>
              </a:rPr>
              <a:t>Today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73680" y="5220252"/>
            <a:ext cx="1584959" cy="284435"/>
          </a:xfrm>
          <a:prstGeom prst="rect">
            <a:avLst/>
          </a:prstGeom>
          <a:solidFill>
            <a:srgbClr val="3F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27960" y="4927644"/>
            <a:ext cx="1676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F2A4A"/>
                </a:solidFill>
                <a:latin typeface="Consolas"/>
              </a:rPr>
              <a:t>$7.9M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27960" y="5568696"/>
            <a:ext cx="167640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2A36"/>
                </a:solidFill>
                <a:latin typeface="Calibri"/>
              </a:rPr>
              <a:t>After M1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50080" y="4795399"/>
            <a:ext cx="1584959" cy="709288"/>
          </a:xfrm>
          <a:prstGeom prst="rect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4360" y="4502791"/>
            <a:ext cx="1676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F2A4A"/>
                </a:solidFill>
                <a:latin typeface="Consolas"/>
              </a:rPr>
              <a:t>$19.7M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4360" y="5568696"/>
            <a:ext cx="167640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2A36"/>
                </a:solidFill>
                <a:latin typeface="Calibri"/>
              </a:rPr>
              <a:t>After M2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4028503"/>
            <a:ext cx="1584959" cy="1476184"/>
          </a:xfrm>
          <a:prstGeom prst="rect">
            <a:avLst/>
          </a:prstGeom>
          <a:solidFill>
            <a:srgbClr val="6F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60" y="3735895"/>
            <a:ext cx="1676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F2A4A"/>
                </a:solidFill>
                <a:latin typeface="Consolas"/>
              </a:rPr>
              <a:t>$41.0M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5568696"/>
            <a:ext cx="167640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2A36"/>
                </a:solidFill>
                <a:latin typeface="Calibri"/>
              </a:rPr>
              <a:t>After M3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02880" y="3200399"/>
            <a:ext cx="1584959" cy="2304288"/>
          </a:xfrm>
          <a:prstGeom prst="rect">
            <a:avLst/>
          </a:prstGeom>
          <a:solidFill>
            <a:srgbClr val="C99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57159" y="2907791"/>
            <a:ext cx="1676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F2A4A"/>
                </a:solidFill>
                <a:latin typeface="Consolas"/>
              </a:rPr>
              <a:t>$64.0M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57159" y="5568696"/>
            <a:ext cx="167640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2A36"/>
                </a:solidFill>
                <a:latin typeface="Calibri"/>
              </a:rPr>
              <a:t>After M4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79280" y="2624327"/>
            <a:ext cx="1584959" cy="288036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33560" y="2331720"/>
            <a:ext cx="1676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F2A4A"/>
                </a:solidFill>
                <a:latin typeface="Consolas"/>
              </a:rPr>
              <a:t>$80.0M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33560" y="5568696"/>
            <a:ext cx="167640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2A36"/>
                </a:solidFill>
                <a:latin typeface="Calibri"/>
              </a:rPr>
              <a:t>Exit Yr 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207008" y="2816352"/>
            <a:ext cx="4160520" cy="1234440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 wrap="square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E08E2B"/>
                </a:solidFill>
                <a:latin typeface="Calibri"/>
              </a:rPr>
              <a:t>READ THE CHART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2A36"/>
                </a:solidFill>
                <a:latin typeface="Calibri"/>
              </a:rPr>
              <a:t>Value is back-loaded: most of it appears only as the final risks are removed. A round's job is to buy the milestones that remove the most risk per dollar.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07008" y="2816352"/>
            <a:ext cx="82296" cy="123444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058400" cy="23774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0" b="1" i="0">
                <a:solidFill>
                  <a:srgbClr val="163A5E"/>
                </a:solidFill>
                <a:latin typeface="Georgia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730752"/>
            <a:ext cx="1554480" cy="10972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3273552"/>
            <a:ext cx="100584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08E2B"/>
                </a:solidFill>
                <a:latin typeface="Calibri"/>
              </a:rPr>
              <a:t>SECTION TWO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3931920"/>
            <a:ext cx="1051560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00" b="1" i="0">
                <a:solidFill>
                  <a:srgbClr val="FFFFFF"/>
                </a:solidFill>
                <a:latin typeface="Georgia"/>
              </a:rPr>
              <a:t>From Use of Funds to Value — the Math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4983480"/>
            <a:ext cx="1033272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AEC2D6"/>
                </a:solidFill>
                <a:latin typeface="Calibri"/>
              </a:rPr>
              <a:t>Funds drive tasks, tasks remove risk, removed risk accumulates into valuation — and the rNPV formula makes it measurable.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8E2B"/>
                </a:solidFill>
                <a:latin typeface="Calibri"/>
              </a:rPr>
              <a:t>SECTION 2  ·  USE OF FUNDS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Step 1 — use of funds as the unit of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25296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450" b="0">
                <a:solidFill>
                  <a:srgbClr val="1F2A36"/>
                </a:solidFill>
                <a:latin typeface="Calibri"/>
              </a:rPr>
              <a:t>Start not with a valuation number, but with the use of funds: the itemised plan of what the next round of capital will be spent on.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450" b="0">
                <a:solidFill>
                  <a:srgbClr val="1F2A36"/>
                </a:solidFill>
                <a:latin typeface="Calibri"/>
              </a:rPr>
              <a:t>A credible use of funds is structured around milestones, not line items — it states which milestones the money will deliver.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450" b="0">
                <a:solidFill>
                  <a:srgbClr val="1F2A36"/>
                </a:solidFill>
                <a:latin typeface="Calibri"/>
              </a:rPr>
              <a:t>Each category funds tasks; each task is chosen to remove a specific, nameable risk.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246120"/>
            <a:ext cx="1993392" cy="1051560"/>
          </a:xfrm>
          <a:prstGeom prst="roundRect">
            <a:avLst>
              <a:gd name="adj" fmla="val 12000"/>
            </a:avLst>
          </a:prstGeom>
          <a:solidFill>
            <a:srgbClr val="4E7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Georgia"/>
              </a:rPr>
              <a:t>R&amp;D &amp;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Georgia"/>
              </a:rPr>
              <a:t>prototyping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53512" y="3246120"/>
            <a:ext cx="1993392" cy="1051560"/>
          </a:xfrm>
          <a:prstGeom prst="roundRect">
            <a:avLst>
              <a:gd name="adj" fmla="val 12000"/>
            </a:avLst>
          </a:prstGeom>
          <a:solidFill>
            <a:srgbClr val="3F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Georgia"/>
              </a:rPr>
              <a:t>Validation &amp;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Georgia"/>
              </a:rPr>
              <a:t>clinical / pilot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9784" y="3246120"/>
            <a:ext cx="1993392" cy="1051560"/>
          </a:xfrm>
          <a:prstGeom prst="roundRect">
            <a:avLst>
              <a:gd name="adj" fmla="val 12000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Georgia"/>
              </a:rPr>
              <a:t>Regulatory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Georgia"/>
              </a:rPr>
              <a:t>&amp; IP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6056" y="3246120"/>
            <a:ext cx="1993392" cy="1051560"/>
          </a:xfrm>
          <a:prstGeom prst="roundRect">
            <a:avLst>
              <a:gd name="adj" fmla="val 12000"/>
            </a:avLst>
          </a:prstGeom>
          <a:solidFill>
            <a:srgbClr val="6F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Georgia"/>
              </a:rPr>
              <a:t>Team &amp;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Georgia"/>
              </a:rPr>
              <a:t>operations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82328" y="3246120"/>
            <a:ext cx="1993392" cy="1051560"/>
          </a:xfrm>
          <a:prstGeom prst="roundRect">
            <a:avLst>
              <a:gd name="adj" fmla="val 12000"/>
            </a:avLst>
          </a:prstGeom>
          <a:solidFill>
            <a:srgbClr val="C99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Georgia"/>
              </a:rPr>
              <a:t>Go-to-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Georgia"/>
              </a:rPr>
              <a:t>market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434840"/>
            <a:ext cx="105156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56676"/>
                </a:solidFill>
                <a:latin typeface="Calibri"/>
              </a:rPr>
              <a:t>Typical use-of-funds categories — every dollar should be traceable to a milestone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937760"/>
            <a:ext cx="11183112" cy="868680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4937760"/>
            <a:ext cx="91440" cy="86868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937760"/>
            <a:ext cx="107442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>
                <a:solidFill>
                  <a:srgbClr val="1F2A36"/>
                </a:solidFill>
                <a:latin typeface="Calibri"/>
              </a:rPr>
              <a:t>The use of funds is the bridge between the laboratory and the valuation: it is the list of risks the round will buy down.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8E2B"/>
                </a:solidFill>
                <a:latin typeface="Calibri"/>
              </a:rPr>
              <a:t>SECTION 2  ·  VALUE CREATION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How funded tasks create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07008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450" b="0">
                <a:solidFill>
                  <a:srgbClr val="1F2A36"/>
                </a:solidFill>
                <a:latin typeface="Calibri"/>
              </a:rPr>
              <a:t>Trace the causal chain for every dollar. A task creates value only if it changes a probability of success or the size of the prize.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450" b="0">
                <a:solidFill>
                  <a:srgbClr val="1F2A36"/>
                </a:solidFill>
                <a:latin typeface="Calibri"/>
              </a:rPr>
              <a:t>Tasks that merely maintain the status quo are necessary cost — they keep the option alive, but do not by themselves create value.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697480"/>
            <a:ext cx="1964131" cy="960120"/>
          </a:xfrm>
          <a:prstGeom prst="roundRect">
            <a:avLst>
              <a:gd name="adj" fmla="val 14000"/>
            </a:avLst>
          </a:prstGeom>
          <a:solidFill>
            <a:srgbClr val="4E7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Georgia"/>
              </a:rPr>
              <a:t>Funds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E6ECF2"/>
                </a:solidFill>
                <a:latin typeface="Calibri"/>
              </a:rPr>
              <a:t>US$2.5M round</a:t>
            </a:r>
          </a:p>
        </p:txBody>
      </p:sp>
      <p:sp>
        <p:nvSpPr>
          <p:cNvPr id="10" name="Chevron 9"/>
          <p:cNvSpPr/>
          <p:nvPr/>
        </p:nvSpPr>
        <p:spPr>
          <a:xfrm>
            <a:off x="2549347" y="3031236"/>
            <a:ext cx="274320" cy="292608"/>
          </a:xfrm>
          <a:prstGeom prst="chevron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1955" y="2697480"/>
            <a:ext cx="1964131" cy="960120"/>
          </a:xfrm>
          <a:prstGeom prst="roundRect">
            <a:avLst>
              <a:gd name="adj" fmla="val 14000"/>
            </a:avLst>
          </a:prstGeom>
          <a:solidFill>
            <a:srgbClr val="3F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Georgia"/>
              </a:rPr>
              <a:t>Funded task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E6ECF2"/>
                </a:solidFill>
                <a:latin typeface="Calibri"/>
              </a:rPr>
              <a:t>clinical study</a:t>
            </a:r>
          </a:p>
        </p:txBody>
      </p:sp>
      <p:sp>
        <p:nvSpPr>
          <p:cNvPr id="12" name="Chevron 11"/>
          <p:cNvSpPr/>
          <p:nvPr/>
        </p:nvSpPr>
        <p:spPr>
          <a:xfrm>
            <a:off x="4824374" y="3031236"/>
            <a:ext cx="274320" cy="292608"/>
          </a:xfrm>
          <a:prstGeom prst="chevron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16982" y="2697480"/>
            <a:ext cx="1964131" cy="960120"/>
          </a:xfrm>
          <a:prstGeom prst="roundRect">
            <a:avLst>
              <a:gd name="adj" fmla="val 14000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Georgia"/>
              </a:rPr>
              <a:t>Milestone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E6ECF2"/>
                </a:solidFill>
                <a:latin typeface="Calibri"/>
              </a:rPr>
              <a:t>validation data</a:t>
            </a:r>
          </a:p>
        </p:txBody>
      </p:sp>
      <p:sp>
        <p:nvSpPr>
          <p:cNvPr id="14" name="Chevron 13"/>
          <p:cNvSpPr/>
          <p:nvPr/>
        </p:nvSpPr>
        <p:spPr>
          <a:xfrm>
            <a:off x="7099401" y="3031236"/>
            <a:ext cx="274320" cy="292608"/>
          </a:xfrm>
          <a:prstGeom prst="chevron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92009" y="2697480"/>
            <a:ext cx="1964131" cy="960120"/>
          </a:xfrm>
          <a:prstGeom prst="roundRect">
            <a:avLst>
              <a:gd name="adj" fmla="val 14000"/>
            </a:avLst>
          </a:prstGeom>
          <a:solidFill>
            <a:srgbClr val="6F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Georgia"/>
              </a:rPr>
              <a:t>Risk removed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E6ECF2"/>
                </a:solidFill>
                <a:latin typeface="Calibri"/>
              </a:rPr>
              <a:t>efficacy risk</a:t>
            </a:r>
          </a:p>
        </p:txBody>
      </p:sp>
      <p:sp>
        <p:nvSpPr>
          <p:cNvPr id="16" name="Chevron 15"/>
          <p:cNvSpPr/>
          <p:nvPr/>
        </p:nvSpPr>
        <p:spPr>
          <a:xfrm>
            <a:off x="9374428" y="3031236"/>
            <a:ext cx="274320" cy="292608"/>
          </a:xfrm>
          <a:prstGeom prst="chevron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67036" y="2697480"/>
            <a:ext cx="1964131" cy="960120"/>
          </a:xfrm>
          <a:prstGeom prst="roundRect">
            <a:avLst>
              <a:gd name="adj" fmla="val 14000"/>
            </a:avLst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Georgia"/>
              </a:rPr>
              <a:t>Value created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E6ECF2"/>
                </a:solidFill>
                <a:latin typeface="Calibri"/>
              </a:rPr>
              <a:t>POS 0.3 → 0.5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858768"/>
            <a:ext cx="110642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56676"/>
                </a:solidFill>
                <a:latin typeface="Calibri"/>
              </a:rPr>
              <a:t>The value-creation chain — worked for one funded task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43400"/>
            <a:ext cx="11183112" cy="868680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343400"/>
            <a:ext cx="91440" cy="86868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343400"/>
            <a:ext cx="107442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>
                <a:solidFill>
                  <a:srgbClr val="1F2A36"/>
                </a:solidFill>
                <a:latin typeface="Calibri"/>
              </a:rPr>
              <a:t>Test every funded task with one question: which probability does it move, and by how much? If the answer is ‘none’, it is overhead, not investment.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349240"/>
            <a:ext cx="11183112" cy="768096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5349240"/>
            <a:ext cx="91440" cy="768096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349240"/>
            <a:ext cx="10744200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E08E2B"/>
                </a:solidFill>
                <a:latin typeface="Calibri"/>
              </a:rPr>
              <a:t>THE CHAIN   </a:t>
            </a:r>
            <a:r>
              <a:rPr sz="1250">
                <a:solidFill>
                  <a:srgbClr val="1F2A36"/>
                </a:solidFill>
                <a:latin typeface="Calibri"/>
              </a:rPr>
              <a:t>Funds → task → milestone → risk removed → value. If any link is missing, the spend is not yet an investment case.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8E2B"/>
                </a:solidFill>
                <a:latin typeface="Calibri"/>
              </a:rPr>
              <a:t>SECTION 2  ·  VALUE ACCUMULATION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How value accumulates across milestones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188720"/>
            <a:ext cx="110642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56676"/>
                </a:solidFill>
                <a:latin typeface="Calibri"/>
              </a:rPr>
              <a:t>Milestones compound: achieving each one removes its risk and multiplies value by 1 / POS.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148840"/>
            <a:ext cx="2788920" cy="1783080"/>
          </a:xfrm>
          <a:prstGeom prst="roundRect">
            <a:avLst>
              <a:gd name="adj" fmla="val 10000"/>
            </a:avLst>
          </a:prstGeom>
          <a:solidFill>
            <a:srgbClr val="4E7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</a:rPr>
              <a:t>Today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$4.4M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E8EEF3"/>
                </a:solidFill>
                <a:latin typeface="Calibri"/>
              </a:rPr>
              <a:t>4 milestones remain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E8EEF3"/>
                </a:solidFill>
                <a:latin typeface="Calibri"/>
              </a:rPr>
              <a:t>CPOS = 16.8%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694176" y="2747772"/>
            <a:ext cx="713232" cy="585216"/>
          </a:xfrm>
          <a:prstGeom prst="rightArrow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9856" y="4041648"/>
            <a:ext cx="1325880" cy="914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0F2A4A"/>
                </a:solidFill>
                <a:latin typeface="Calibri"/>
              </a:rPr>
              <a:t>M1 achieved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0F2A4A"/>
                </a:solidFill>
                <a:latin typeface="Calibri"/>
              </a:rPr>
              <a:t>removes POS 0.70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0F2A4A"/>
                </a:solidFill>
                <a:latin typeface="Calibri"/>
              </a:rPr>
              <a:t>→ value × 1.8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98848" y="2148840"/>
            <a:ext cx="2788920" cy="1783080"/>
          </a:xfrm>
          <a:prstGeom prst="roundRect">
            <a:avLst>
              <a:gd name="adj" fmla="val 10000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</a:rPr>
              <a:t>After M1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$7.9M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E8EEF3"/>
                </a:solidFill>
                <a:latin typeface="Calibri"/>
              </a:rPr>
              <a:t>prototype done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E8EEF3"/>
                </a:solidFill>
                <a:latin typeface="Calibri"/>
              </a:rPr>
              <a:t>CPOS = 24%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324344" y="2747772"/>
            <a:ext cx="713232" cy="585216"/>
          </a:xfrm>
          <a:prstGeom prst="rightArrow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50024" y="4041648"/>
            <a:ext cx="1325880" cy="914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0F2A4A"/>
                </a:solidFill>
                <a:latin typeface="Calibri"/>
              </a:rPr>
              <a:t>M2 achieved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0F2A4A"/>
                </a:solidFill>
                <a:latin typeface="Calibri"/>
              </a:rPr>
              <a:t>removes POS 0.50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0F2A4A"/>
                </a:solidFill>
                <a:latin typeface="Calibri"/>
              </a:rPr>
              <a:t>→ value × 2.5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9016" y="2148840"/>
            <a:ext cx="2788920" cy="1783080"/>
          </a:xfrm>
          <a:prstGeom prst="roundRect">
            <a:avLst>
              <a:gd name="adj" fmla="val 10000"/>
            </a:avLst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</a:rPr>
              <a:t>After M2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$19.7M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E8EEF3"/>
                </a:solidFill>
                <a:latin typeface="Calibri"/>
              </a:rPr>
              <a:t>validation done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E8EEF3"/>
                </a:solidFill>
                <a:latin typeface="Calibri"/>
              </a:rPr>
              <a:t>CPOS = 48%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138928"/>
            <a:ext cx="11183112" cy="868680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5138928"/>
            <a:ext cx="91440" cy="86868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138928"/>
            <a:ext cx="107442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>
                <a:solidFill>
                  <a:srgbClr val="1F2A36"/>
                </a:solidFill>
                <a:latin typeface="Calibri"/>
              </a:rPr>
              <a:t>A US$2.5M round that funds M1 + M2 lifts risk-adjusted value from ~US$4.4M to ~US$19.7M — about 4.5×. That multiple, not the cash, is the valuation argument.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8E2B"/>
                </a:solidFill>
                <a:latin typeface="Calibri"/>
              </a:rPr>
              <a:t>SECTION 2  ·  THE MATH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The math of valuation — risk-adjusted NPV (rNPV)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1298448"/>
            <a:ext cx="10268712" cy="1005840"/>
          </a:xfrm>
          <a:prstGeom prst="roundRect">
            <a:avLst>
              <a:gd name="adj" fmla="val 12000"/>
            </a:avLst>
          </a:prstGeom>
          <a:solidFill>
            <a:srgbClr val="16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298448"/>
            <a:ext cx="9902952" cy="10058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onsolas"/>
              </a:rPr>
              <a:t>rNPV₀  =  Σ  ( CPOSₜ × CFₜ ) / (1+r)ₜ   −   Σ  Costₜ / (1+r)ₜ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2B55C"/>
                </a:solidFill>
                <a:latin typeface="Consolas"/>
              </a:rPr>
              <a:t>value step on milestone success:    V  →  V × ( 1 / POS )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542032"/>
            <a:ext cx="64008" cy="27432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505456"/>
            <a:ext cx="45720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Calibri"/>
              </a:rPr>
              <a:t>WHERE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52928"/>
            <a:ext cx="5074920" cy="2468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08E2B"/>
                </a:solidFill>
                <a:latin typeface="Consolas"/>
              </a:rPr>
              <a:t>CPOSₜ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1F2A36"/>
                </a:solidFill>
                <a:latin typeface="Calibri"/>
              </a:rPr>
              <a:t>cumulative probability of reaching year t — the product of every milestone POS up to 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08E2B"/>
                </a:solidFill>
                <a:latin typeface="Consolas"/>
              </a:rPr>
              <a:t>CFₜ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1F2A36"/>
                </a:solidFill>
                <a:latin typeface="Calibri"/>
              </a:rPr>
              <a:t>cash flow or exit value in year t — sized by benchmarking (Section 3)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08E2B"/>
                </a:solidFill>
                <a:latin typeface="Consolas"/>
              </a:rPr>
              <a:t>Costₜ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1F2A36"/>
                </a:solidFill>
                <a:latin typeface="Calibri"/>
              </a:rPr>
              <a:t>use of funds deployed in year t — the spending plan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08E2B"/>
                </a:solidFill>
                <a:latin typeface="Consolas"/>
              </a:rPr>
              <a:t>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1F2A36"/>
                </a:solidFill>
                <a:latin typeface="Calibri"/>
              </a:rPr>
              <a:t>venture discount rate — typically 15–40% for early deep tech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2468880"/>
            <a:ext cx="5532120" cy="2880360"/>
          </a:xfrm>
          <a:prstGeom prst="roundRect">
            <a:avLst>
              <a:gd name="adj" fmla="val 6000"/>
            </a:avLst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80760" y="2468880"/>
            <a:ext cx="5532120" cy="38404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2468880"/>
            <a:ext cx="521208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2A4A"/>
                </a:solidFill>
                <a:latin typeface="Calibri"/>
              </a:rPr>
              <a:t>WORKED EXAMPLE  —  putting numbers into the formula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962656"/>
            <a:ext cx="5074920" cy="22860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2A4A"/>
                </a:solidFill>
                <a:latin typeface="Consolas"/>
              </a:rPr>
              <a:t>Venture: diagnostic-imaging start-up, US$2.5M round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F2A36"/>
                </a:solidFill>
                <a:latin typeface="Calibri"/>
              </a:rPr>
              <a:t>1 · CPOS = 0.70×0.50×0.60×0.80 = 0.168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F2A36"/>
                </a:solidFill>
                <a:latin typeface="Calibri"/>
              </a:rPr>
              <a:t>2 · Exit value  CF₅ = US$80M  (Year 5)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F2A36"/>
                </a:solidFill>
                <a:latin typeface="Calibri"/>
              </a:rPr>
              <a:t>3 · Discount:  r = 25%  →  (1.25)⁵ = 3.05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2A4A"/>
                </a:solidFill>
                <a:latin typeface="Consolas"/>
              </a:rPr>
              <a:t>4 · Reward = 0.168 × 80 ÷ 3.05 = US$4.40M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F2A36"/>
                </a:solidFill>
                <a:latin typeface="Calibri"/>
              </a:rPr>
              <a:t>5 · Cost term = PV of US$2.5M spend ≈ US$2.15M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2A4A"/>
                </a:solidFill>
                <a:latin typeface="Consolas"/>
              </a:rPr>
              <a:t>rNPV₀ = 4.40 − 2.15 ≈ US$2.25M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F2A36"/>
                </a:solidFill>
                <a:latin typeface="Calibri"/>
              </a:rPr>
              <a:t>    ( &gt; 0  →  the round creates value 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504688"/>
            <a:ext cx="11183112" cy="768096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5504688"/>
            <a:ext cx="91440" cy="768096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504688"/>
            <a:ext cx="10744200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>
                <a:solidFill>
                  <a:srgbClr val="1F2A36"/>
                </a:solidFill>
                <a:latin typeface="Calibri"/>
              </a:rPr>
              <a:t>rNPV (also called eNPV) is the standard intrinsic method for risk-laden, milestone-driven ventures — it makes de-risking measurable.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8E2B"/>
                </a:solidFill>
                <a:latin typeface="Calibri"/>
              </a:rPr>
              <a:t>SECTION 2  · 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Worked example — a milestone-funded venture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152144"/>
            <a:ext cx="1106424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556676"/>
                </a:solidFill>
                <a:latin typeface="Calibri"/>
              </a:rPr>
              <a:t>Illustrative figures for a diagnostic-imaging venture raising a US$2.5M round to fund the first two milestones.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75207" y="1627632"/>
          <a:ext cx="10241280" cy="3346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554480"/>
                <a:gridCol w="4572000"/>
              </a:tblGrid>
              <a:tr h="37185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Georgia"/>
                        </a:rPr>
                        <a:t>Item</a:t>
                      </a:r>
                    </a:p>
                  </a:txBody>
                  <a:tcPr anchor="ctr" marL="82296" marR="82296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Georgia"/>
                        </a:rPr>
                        <a:t>Value</a:t>
                      </a:r>
                    </a:p>
                  </a:txBody>
                  <a:tcPr anchor="ctr" marL="82296" marR="82296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Georgia"/>
                        </a:rPr>
                        <a:t>Basis</a:t>
                      </a:r>
                    </a:p>
                  </a:txBody>
                  <a:tcPr anchor="ctr" marL="82296" marR="82296" marT="45720" marB="45720">
                    <a:solidFill>
                      <a:srgbClr val="0F2A4A"/>
                    </a:solidFill>
                  </a:tcPr>
                </a:tc>
              </a:tr>
              <a:tr h="37185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A36"/>
                          </a:solidFill>
                          <a:latin typeface="Calibri"/>
                        </a:rPr>
                        <a:t>Benchmarked exit value (Year 5)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US$80M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comparable med-tech exits — Section 3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</a:tr>
              <a:tr h="37185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A36"/>
                          </a:solidFill>
                          <a:latin typeface="Calibri"/>
                        </a:rPr>
                        <a:t>M1 — working prototype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POS 70%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engineering / feasibility risk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</a:tr>
              <a:tr h="37185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A36"/>
                          </a:solidFill>
                          <a:latin typeface="Calibri"/>
                        </a:rPr>
                        <a:t>M2 — clinical validation data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POS 50%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efficacy / scientific risk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</a:tr>
              <a:tr h="37185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A36"/>
                          </a:solidFill>
                          <a:latin typeface="Calibri"/>
                        </a:rPr>
                        <a:t>M3 — regulatory clearance (510(k))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POS 60%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regulatory risk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</a:tr>
              <a:tr h="37185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A36"/>
                          </a:solidFill>
                          <a:latin typeface="Calibri"/>
                        </a:rPr>
                        <a:t>M4 — first commercial revenue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POS 80%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market-acceptance risk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</a:tr>
              <a:tr h="37185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A36"/>
                          </a:solidFill>
                          <a:latin typeface="Calibri"/>
                        </a:rPr>
                        <a:t>Cumulative POS (all four)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16.8%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0.70 × 0.50 × 0.60 × 0.80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</a:tr>
              <a:tr h="37185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A36"/>
                          </a:solidFill>
                          <a:latin typeface="Calibri"/>
                        </a:rPr>
                        <a:t>Risk-adjusted value today (pre-money)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≈ US$4.4M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0.168 × 80 ÷ 1.25⁵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</a:tr>
              <a:tr h="37185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A36"/>
                          </a:solidFill>
                          <a:latin typeface="Calibri"/>
                        </a:rPr>
                        <a:t>Value after M1 + M2 achieved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≈ US$19.7M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0.48 × 80 ÷ 1.25³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02920" y="5486400"/>
            <a:ext cx="11183112" cy="786384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486400"/>
            <a:ext cx="91440" cy="786384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486400"/>
            <a:ext cx="10744200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>
                <a:solidFill>
                  <a:srgbClr val="1F2A36"/>
                </a:solidFill>
                <a:latin typeface="Calibri"/>
              </a:rPr>
              <a:t>A US$2.5M round that buys M1 + M2 lifts risk-adjusted value ~4.5×. That multiple — not the cash — is the valuation argument.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058400" cy="23774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0" b="1" i="0">
                <a:solidFill>
                  <a:srgbClr val="163A5E"/>
                </a:solidFill>
                <a:latin typeface="Georgia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730752"/>
            <a:ext cx="1554480" cy="10972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3273552"/>
            <a:ext cx="100584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08E2B"/>
                </a:solidFill>
                <a:latin typeface="Calibri"/>
              </a:rPr>
              <a:t>SECTION THREE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3931920"/>
            <a:ext cx="1051560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00" b="1" i="0">
                <a:solidFill>
                  <a:srgbClr val="FFFFFF"/>
                </a:solidFill>
                <a:latin typeface="Georgia"/>
              </a:rPr>
              <a:t>The Benchmarking 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4983480"/>
            <a:ext cx="1033272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AEC2D6"/>
                </a:solidFill>
                <a:latin typeface="Calibri"/>
              </a:rPr>
              <a:t>Anchoring the venture to external evidence: market size, competitive position, qualitative quality, and current valuation references.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8E2B"/>
                </a:solidFill>
                <a:latin typeface="Calibri"/>
              </a:rPr>
              <a:t>SECTION 3  ·  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Benchmarking — triangulating value from the market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170432"/>
            <a:ext cx="110642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56676"/>
                </a:solidFill>
                <a:latin typeface="Calibri"/>
              </a:rPr>
              <a:t>Four lenses, used together — agreement across all four produces a defensible exit value.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48939" y="2400300"/>
            <a:ext cx="3145537" cy="1303020"/>
          </a:xfrm>
          <a:prstGeom prst="line">
            <a:avLst/>
          </a:prstGeom>
          <a:ln w="19050">
            <a:solidFill>
              <a:srgbClr val="B7C3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6094476" y="2400300"/>
            <a:ext cx="3136391" cy="1303020"/>
          </a:xfrm>
          <a:prstGeom prst="line">
            <a:avLst/>
          </a:prstGeom>
          <a:ln w="19050">
            <a:solidFill>
              <a:srgbClr val="B7C3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948939" y="3703320"/>
            <a:ext cx="3145537" cy="1165860"/>
          </a:xfrm>
          <a:prstGeom prst="line">
            <a:avLst/>
          </a:prstGeom>
          <a:ln w="19050">
            <a:solidFill>
              <a:srgbClr val="B7C3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6094476" y="3703320"/>
            <a:ext cx="3136391" cy="1165860"/>
          </a:xfrm>
          <a:prstGeom prst="line">
            <a:avLst/>
          </a:prstGeom>
          <a:ln w="19050">
            <a:solidFill>
              <a:srgbClr val="B7C3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60120" y="1691640"/>
            <a:ext cx="3977639" cy="14173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28575">
            <a:solidFill>
              <a:srgbClr val="4E7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0120" y="1691640"/>
            <a:ext cx="3977639" cy="384048"/>
          </a:xfrm>
          <a:prstGeom prst="rect">
            <a:avLst/>
          </a:prstGeom>
          <a:solidFill>
            <a:srgbClr val="4E7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1691640"/>
            <a:ext cx="3977639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THE MARKET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2167128"/>
            <a:ext cx="3611880" cy="8686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A36"/>
                </a:solidFill>
                <a:latin typeface="Calibri"/>
              </a:rPr>
              <a:t>How large is the addressable opportunity?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42048" y="1691640"/>
            <a:ext cx="3977639" cy="14173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28575">
            <a:solidFill>
              <a:srgbClr val="2E9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42048" y="1691640"/>
            <a:ext cx="3977639" cy="384048"/>
          </a:xfrm>
          <a:prstGeom prst="rect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42048" y="1691640"/>
            <a:ext cx="3977639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COMPETITIVE ANALYSIS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7" y="2167128"/>
            <a:ext cx="3611880" cy="8686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A36"/>
                </a:solidFill>
                <a:latin typeface="Calibri"/>
              </a:rPr>
              <a:t>Who else is there — and how do you compare?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" y="4160520"/>
            <a:ext cx="3977639" cy="14173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28575">
            <a:solidFill>
              <a:srgbClr val="6FA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0120" y="4160520"/>
            <a:ext cx="3977639" cy="384048"/>
          </a:xfrm>
          <a:prstGeom prst="rect">
            <a:avLst/>
          </a:prstGeom>
          <a:solidFill>
            <a:srgbClr val="6F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160520"/>
            <a:ext cx="3977639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QUALITATIVE ‘GOOD VIEWS’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636008"/>
            <a:ext cx="3611880" cy="8686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A36"/>
                </a:solidFill>
                <a:latin typeface="Calibri"/>
              </a:rPr>
              <a:t>Team, IP and execution quality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42048" y="4160520"/>
            <a:ext cx="3977639" cy="14173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28575">
            <a:solidFill>
              <a:srgbClr val="E08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42048" y="4160520"/>
            <a:ext cx="3977639" cy="38404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42048" y="4160520"/>
            <a:ext cx="3977639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VALUATION REFERENCES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24927" y="4636008"/>
            <a:ext cx="3611880" cy="8686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A36"/>
                </a:solidFill>
                <a:latin typeface="Calibri"/>
              </a:rPr>
              <a:t>What have comparable ventures been valued at?</a:t>
            </a:r>
          </a:p>
        </p:txBody>
      </p:sp>
      <p:sp>
        <p:nvSpPr>
          <p:cNvPr id="29" name="Oval 28"/>
          <p:cNvSpPr/>
          <p:nvPr/>
        </p:nvSpPr>
        <p:spPr>
          <a:xfrm>
            <a:off x="5202936" y="2811779"/>
            <a:ext cx="1783080" cy="1783080"/>
          </a:xfrm>
          <a:prstGeom prst="ellipse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Georgia"/>
              </a:rPr>
              <a:t>Defensible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Georgia"/>
              </a:rPr>
              <a:t>exit value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2B55C"/>
                </a:solidFill>
                <a:latin typeface="Calibri"/>
              </a:rPr>
              <a:t>CFₜ for the rNPV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742432"/>
            <a:ext cx="11183112" cy="676656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5742432"/>
            <a:ext cx="91440" cy="676656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742432"/>
            <a:ext cx="107442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E08E2B"/>
                </a:solidFill>
                <a:latin typeface="Calibri"/>
              </a:rPr>
              <a:t>HOW IT FITS   </a:t>
            </a:r>
            <a:r>
              <a:rPr sz="1250">
                <a:solidFill>
                  <a:srgbClr val="1F2A36"/>
                </a:solidFill>
                <a:latin typeface="Calibri"/>
              </a:rPr>
              <a:t>Benchmarking is top-down (market inward); the use-of-funds rNPV is bottom-up (venture outward). Section 4 reconciles them.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8E2B"/>
                </a:solidFill>
                <a:latin typeface="Calibri"/>
              </a:rPr>
              <a:t>SECTION 3  ·  THE 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Market sizing — TAM, SAM, SOM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17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1783080"/>
            <a:ext cx="3657600" cy="3657600"/>
          </a:xfrm>
          <a:prstGeom prst="ellipse">
            <a:avLst/>
          </a:prstGeom>
          <a:solidFill>
            <a:srgbClr val="D7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43100" y="2354580"/>
            <a:ext cx="2514600" cy="2514600"/>
          </a:xfrm>
          <a:prstGeom prst="ellipse">
            <a:avLst/>
          </a:prstGeom>
          <a:solidFill>
            <a:srgbClr val="9F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514600" y="2926080"/>
            <a:ext cx="1371600" cy="1371600"/>
          </a:xfrm>
          <a:prstGeom prst="ellipse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0" y="1892808"/>
            <a:ext cx="1463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TAM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464308"/>
            <a:ext cx="1463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SAM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465576"/>
            <a:ext cx="1463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Georgia"/>
              </a:rPr>
              <a:t>SOM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1645920"/>
            <a:ext cx="73152" cy="1097280"/>
          </a:xfrm>
          <a:prstGeom prst="rect">
            <a:avLst/>
          </a:prstGeom>
          <a:solidFill>
            <a:srgbClr val="4E7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45920"/>
            <a:ext cx="5623560" cy="11430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2A4A"/>
                </a:solidFill>
                <a:latin typeface="Georgia"/>
              </a:rPr>
              <a:t>TAM — Total Addressable Market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A36"/>
                </a:solidFill>
                <a:latin typeface="Calibri"/>
              </a:rPr>
              <a:t>Total demand if you served everyone.  DTL reference: liver-disease diagnostics ≈ US$30.6B (2020), ~6.7% CAGR.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720" y="2971800"/>
            <a:ext cx="73152" cy="109728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89320" y="2971800"/>
            <a:ext cx="5623560" cy="11430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2A4A"/>
                </a:solidFill>
                <a:latin typeface="Georgia"/>
              </a:rPr>
              <a:t>SAM — Serviceable Available Market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A36"/>
                </a:solidFill>
                <a:latin typeface="Calibri"/>
              </a:rPr>
              <a:t>The slice your product and channel can reach — e.g. non-invasive MRI-based liver-fibrosis testing in target geographies.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720" y="4297680"/>
            <a:ext cx="73152" cy="109728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4297680"/>
            <a:ext cx="5623560" cy="11430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2A4A"/>
                </a:solidFill>
                <a:latin typeface="Georgia"/>
              </a:rPr>
              <a:t>SOM — Serviceable Obtainable Market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A36"/>
                </a:solidFill>
                <a:latin typeface="Calibri"/>
              </a:rPr>
              <a:t>The share you can realistically win — early hospital and pharma adopters reachable in the first 3–5 years.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77840"/>
            <a:ext cx="11183112" cy="676656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5577840"/>
            <a:ext cx="91440" cy="676656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577840"/>
            <a:ext cx="107442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>
                <a:solidFill>
                  <a:srgbClr val="1F2A36"/>
                </a:solidFill>
                <a:latin typeface="Calibri"/>
              </a:rPr>
              <a:t>Investors discount an unsupported TAM heavily. A credible SOM, built bottom-up from named customers, carries far more weight.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8E2B"/>
                </a:solidFill>
                <a:latin typeface="Calibri"/>
              </a:rPr>
              <a:t>SECTION 3  ·  COMPETITION &amp;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Competitive analysis and the qualitative ‘good views’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52144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56676"/>
                </a:solidFill>
                <a:latin typeface="Calibri"/>
              </a:rPr>
              <a:t>A benchmarking scorecard — the dimensions DTL reviewers use to grade ventures.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83767" y="1645920"/>
          <a:ext cx="10424160" cy="2249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657600"/>
                <a:gridCol w="4023360"/>
              </a:tblGrid>
              <a:tr h="37490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Dimension</a:t>
                      </a:r>
                    </a:p>
                  </a:txBody>
                  <a:tcPr anchor="ctr" marL="82296" marR="82296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What it benchmarks</a:t>
                      </a:r>
                    </a:p>
                  </a:txBody>
                  <a:tcPr anchor="ctr" marL="82296" marR="82296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Strong signal</a:t>
                      </a:r>
                    </a:p>
                  </a:txBody>
                  <a:tcPr anchor="ctr" marL="82296" marR="82296" marT="45720" marB="45720">
                    <a:solidFill>
                      <a:srgbClr val="0F2A4A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A36"/>
                          </a:solidFill>
                          <a:latin typeface="Calibri"/>
                        </a:rPr>
                        <a:t>Technology content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A36"/>
                          </a:solidFill>
                          <a:latin typeface="Calibri"/>
                        </a:rPr>
                        <a:t>Depth, defensibility, IP position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A36"/>
                          </a:solidFill>
                          <a:latin typeface="Calibri"/>
                        </a:rPr>
                        <a:t>Granted patents; clear performance edge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A36"/>
                          </a:solidFill>
                          <a:latin typeface="Calibri"/>
                        </a:rPr>
                        <a:t>Team / founder readiness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A36"/>
                          </a:solidFill>
                          <a:latin typeface="Calibri"/>
                        </a:rPr>
                        <a:t>Capability and commitment to execute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A36"/>
                          </a:solidFill>
                          <a:latin typeface="Calibri"/>
                        </a:rPr>
                        <a:t>Domain track record; full-time founders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A36"/>
                          </a:solidFill>
                          <a:latin typeface="Calibri"/>
                        </a:rPr>
                        <a:t>Commercialisation potential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A36"/>
                          </a:solidFill>
                          <a:latin typeface="Calibri"/>
                        </a:rPr>
                        <a:t>Route to revenue and scale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A36"/>
                          </a:solidFill>
                          <a:latin typeface="Calibri"/>
                        </a:rPr>
                        <a:t>Named customers; validated demand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A36"/>
                          </a:solidFill>
                          <a:latin typeface="Calibri"/>
                        </a:rPr>
                        <a:t>Feasibility &amp; sustainability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A36"/>
                          </a:solidFill>
                          <a:latin typeface="Calibri"/>
                        </a:rPr>
                        <a:t>Can it be delivered and funded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A36"/>
                          </a:solidFill>
                          <a:latin typeface="Calibri"/>
                        </a:rPr>
                        <a:t>Credible milestones; realistic capital plan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A36"/>
                          </a:solidFill>
                          <a:latin typeface="Calibri"/>
                        </a:rPr>
                        <a:t>Competitive position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A36"/>
                          </a:solidFill>
                          <a:latin typeface="Calibri"/>
                        </a:rPr>
                        <a:t>Advantage vs named rivals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A36"/>
                          </a:solidFill>
                          <a:latin typeface="Calibri"/>
                        </a:rPr>
                        <a:t>Direct measurement vs indirect proxies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504688"/>
            <a:ext cx="11183112" cy="786384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504688"/>
            <a:ext cx="91440" cy="786384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04688"/>
            <a:ext cx="10744200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>
                <a:solidFill>
                  <a:srgbClr val="1F2A36"/>
                </a:solidFill>
                <a:latin typeface="Calibri"/>
              </a:rPr>
              <a:t>The ‘good views’ are qualitative but not arbitrary — a structured scorecard turns judgement into a comparable benchmark.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8E2B"/>
                </a:solidFill>
                <a:latin typeface="Calibri"/>
              </a:rPr>
              <a:t>SECTION 3  ·  VALUATION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Current valuation references — reading the comparables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35024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>
                <a:solidFill>
                  <a:srgbClr val="1F2A36"/>
                </a:solidFill>
                <a:latin typeface="Calibri"/>
              </a:rPr>
              <a:t>Valuation references are observed prices: recent funding rounds, acquisitions and licensing deals for comparable ventures.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>
                <a:solidFill>
                  <a:srgbClr val="1F2A36"/>
                </a:solidFill>
                <a:latin typeface="Calibri"/>
              </a:rPr>
              <a:t>Three reference types, in decreasing order of availability: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>
                <a:solidFill>
                  <a:srgbClr val="556676"/>
                </a:solidFill>
                <a:latin typeface="Calibri"/>
              </a:rPr>
              <a:t>comparable financing rounds — pre-money valuations at the same stage;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>
                <a:solidFill>
                  <a:srgbClr val="556676"/>
                </a:solidFill>
                <a:latin typeface="Calibri"/>
              </a:rPr>
              <a:t>comparable transactions — acquisition prices for similar assets;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>
                <a:solidFill>
                  <a:srgbClr val="556676"/>
                </a:solidFill>
                <a:latin typeface="Calibri"/>
              </a:rPr>
              <a:t>comparable public companies — listed peers’ trading multiples.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>
                <a:solidFill>
                  <a:srgbClr val="1F2A36"/>
                </a:solidFill>
                <a:latin typeface="Calibri"/>
              </a:rPr>
              <a:t>Adjust every reference for stage, geography, TRL and deal terms before applying it — raw comparables are rarely like-for-like.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>
                <a:solidFill>
                  <a:srgbClr val="1F2A36"/>
                </a:solidFill>
                <a:latin typeface="Calibri"/>
              </a:rPr>
              <a:t>Date every reference: venture valuations move with the financing cycle, so a comparable over 12–18 months old needs caution.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212080"/>
            <a:ext cx="11183112" cy="868680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212080"/>
            <a:ext cx="91440" cy="86868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12080"/>
            <a:ext cx="107442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>
                <a:solidFill>
                  <a:srgbClr val="1F2A36"/>
                </a:solidFill>
                <a:latin typeface="Calibri"/>
              </a:rPr>
              <a:t>A comparable is evidence, not a verdict. Adjust it for stage, terms and date — then let it inform a range, not a point.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058400" cy="23774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0" b="1" i="0">
                <a:solidFill>
                  <a:srgbClr val="163A5E"/>
                </a:solidFill>
                <a:latin typeface="Georgia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730752"/>
            <a:ext cx="1554480" cy="10972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3273552"/>
            <a:ext cx="100584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08E2B"/>
                </a:solidFill>
                <a:latin typeface="Calibri"/>
              </a:rPr>
              <a:t>SECTION FOUR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3931920"/>
            <a:ext cx="1051560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00" b="1" i="0">
                <a:solidFill>
                  <a:srgbClr val="FFFFFF"/>
                </a:solidFill>
                <a:latin typeface="Georgia"/>
              </a:rPr>
              <a:t>The Matching Method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4983480"/>
            <a:ext cx="1033272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AEC2D6"/>
                </a:solidFill>
                <a:latin typeface="Calibri"/>
              </a:rPr>
              <a:t>Reconciling the bottom-up use of funds with the top-down benchmarking — and testing the funding plan against market evidence.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8E2B"/>
                </a:solidFill>
                <a:latin typeface="Calibri"/>
              </a:rPr>
              <a:t>SECTION 4  ·  MATCHING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Matching — reconciling bottom-up and top-down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170432"/>
            <a:ext cx="110642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56676"/>
                </a:solidFill>
                <a:latin typeface="Calibri"/>
              </a:rPr>
              <a:t>Two independent estimates of value are placed side by side — do they tell a consistent story?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3246120" cy="1554480"/>
          </a:xfrm>
          <a:prstGeom prst="roundRect">
            <a:avLst>
              <a:gd name="adj" fmla="val 10000"/>
            </a:avLst>
          </a:prstGeom>
          <a:solidFill>
            <a:srgbClr val="3F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2B55C"/>
                </a:solidFill>
                <a:latin typeface="Calibri"/>
              </a:rPr>
              <a:t>BOTTOM-UP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FFFFFF"/>
                </a:solidFill>
                <a:latin typeface="Georgia"/>
              </a:rPr>
              <a:t>Use-of-funds rNPV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3E9EF"/>
                </a:solidFill>
                <a:latin typeface="Calibri"/>
              </a:rPr>
              <a:t>built from milestones, POS
and the spending plan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5592" y="1874519"/>
            <a:ext cx="3246120" cy="1554480"/>
          </a:xfrm>
          <a:prstGeom prst="roundRect">
            <a:avLst>
              <a:gd name="adj" fmla="val 10000"/>
            </a:avLst>
          </a:prstGeom>
          <a:solidFill>
            <a:srgbClr val="C99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F2A4A"/>
                </a:solidFill>
                <a:latin typeface="Calibri"/>
              </a:rPr>
              <a:t>TOP-DOWN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FFFFFF"/>
                </a:solidFill>
                <a:latin typeface="Georgia"/>
              </a:rPr>
              <a:t>Benchmarked exit value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BF1DF"/>
                </a:solidFill>
                <a:latin typeface="Calibri"/>
              </a:rPr>
              <a:t>built from market size and
comparable references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160520" y="2395728"/>
            <a:ext cx="1508760" cy="502920"/>
          </a:xfrm>
          <a:prstGeom prst="rightArrow">
            <a:avLst/>
          </a:prstGeom>
          <a:solidFill>
            <a:srgbClr val="3F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Left Arrow 11"/>
          <p:cNvSpPr/>
          <p:nvPr/>
        </p:nvSpPr>
        <p:spPr>
          <a:xfrm>
            <a:off x="6510528" y="2395728"/>
            <a:ext cx="1508760" cy="502920"/>
          </a:xfrm>
          <a:prstGeom prst="leftArrow">
            <a:avLst/>
          </a:prstGeom>
          <a:solidFill>
            <a:srgbClr val="C99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92624" y="1920240"/>
            <a:ext cx="2194560" cy="1463040"/>
          </a:xfrm>
          <a:prstGeom prst="ellipse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E08E2B"/>
                </a:solidFill>
                <a:latin typeface="Calibri"/>
              </a:rPr>
              <a:t>MATCH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Georgia"/>
              </a:rPr>
              <a:t>Defensible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Georgia"/>
              </a:rPr>
              <a:t>valuation range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749039"/>
            <a:ext cx="5285232" cy="1417320"/>
          </a:xfrm>
          <a:prstGeom prst="roundRect">
            <a:avLst>
              <a:gd name="adj" fmla="val 9000"/>
            </a:avLst>
          </a:prstGeom>
          <a:solidFill>
            <a:srgbClr val="E4F0E7"/>
          </a:solidFill>
          <a:ln w="22225">
            <a:solidFill>
              <a:srgbClr val="3C8C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C8C55"/>
                </a:solidFill>
                <a:latin typeface="Calibri"/>
              </a:rPr>
              <a:t>CONVERGE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A36"/>
                </a:solidFill>
                <a:latin typeface="Calibri"/>
              </a:rPr>
              <a:t>Confidence is high. The overlap defines the
defensible valuation range.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749039"/>
            <a:ext cx="5285232" cy="1417320"/>
          </a:xfrm>
          <a:prstGeom prst="roundRect">
            <a:avLst>
              <a:gd name="adj" fmla="val 9000"/>
            </a:avLst>
          </a:prstGeom>
          <a:solidFill>
            <a:srgbClr val="F6E6E3"/>
          </a:solidFill>
          <a:ln w="22225">
            <a:solidFill>
              <a:srgbClr val="C04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04A3A"/>
                </a:solidFill>
                <a:latin typeface="Calibri"/>
              </a:rPr>
              <a:t>DIVERGE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A36"/>
                </a:solidFill>
                <a:latin typeface="Calibri"/>
              </a:rPr>
              <a:t>One assumption is wrong — an optimistic POS, an inflated
TAM, a stale comparable. Find it and fix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413248"/>
            <a:ext cx="11183112" cy="841248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5413248"/>
            <a:ext cx="91440" cy="84124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413248"/>
            <a:ext cx="1074420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>
                <a:solidFill>
                  <a:srgbClr val="1F2A36"/>
                </a:solidFill>
                <a:latin typeface="Calibri"/>
              </a:rPr>
              <a:t>Matching is a consistency test: convergence builds confidence, divergence locates the flawed assumption — it is a diagnosis, not an average.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8E2B"/>
                </a:solidFill>
                <a:latin typeface="Calibri"/>
              </a:rPr>
              <a:t>SECTION 4  ·  MATCHING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The matching worksheet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52144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56676"/>
                </a:solidFill>
                <a:latin typeface="Calibri"/>
              </a:rPr>
              <a:t>Place each funded milestone against the market evidence that prices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6607" y="1645920"/>
          <a:ext cx="10698480" cy="188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68880"/>
                <a:gridCol w="3931920"/>
                <a:gridCol w="1097280"/>
              </a:tblGrid>
              <a:tr h="37673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Use of funds (milestone)</a:t>
                      </a:r>
                    </a:p>
                  </a:txBody>
                  <a:tcPr anchor="ctr" marL="82296" marR="82296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Value mechanism</a:t>
                      </a:r>
                    </a:p>
                  </a:txBody>
                  <a:tcPr anchor="ctr" marL="82296" marR="82296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Market evidence that tests it</a:t>
                      </a:r>
                    </a:p>
                  </a:txBody>
                  <a:tcPr anchor="ctr" marL="82296" marR="82296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Match?</a:t>
                      </a:r>
                    </a:p>
                  </a:txBody>
                  <a:tcPr anchor="ctr" marL="82296" marR="82296" marT="45720" marB="45720">
                    <a:solidFill>
                      <a:srgbClr val="0F2A4A"/>
                    </a:solidFill>
                  </a:tcPr>
                </a:tc>
              </a:tr>
              <a:tr h="37673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6"/>
                          </a:solidFill>
                          <a:latin typeface="Calibri"/>
                        </a:rPr>
                        <a:t>Prototype build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36"/>
                          </a:solidFill>
                          <a:latin typeface="Calibri"/>
                        </a:rPr>
                        <a:t>Engineering POS 0.4→0.7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36"/>
                          </a:solidFill>
                          <a:latin typeface="Calibri"/>
                        </a:rPr>
                        <a:t>Comparable seed rounds post-prototype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36"/>
                          </a:solidFill>
                          <a:latin typeface="Calibri"/>
                        </a:rPr>
                        <a:t>Aligned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</a:tr>
              <a:tr h="37673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6"/>
                          </a:solidFill>
                          <a:latin typeface="Calibri"/>
                        </a:rPr>
                        <a:t>Clinical validation study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36"/>
                          </a:solidFill>
                          <a:latin typeface="Calibri"/>
                        </a:rPr>
                        <a:t>Efficacy POS 0.3→0.5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36"/>
                          </a:solidFill>
                          <a:latin typeface="Calibri"/>
                        </a:rPr>
                        <a:t>Valuations after comparable validation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36"/>
                          </a:solidFill>
                          <a:latin typeface="Calibri"/>
                        </a:rPr>
                        <a:t>Aligned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</a:tr>
              <a:tr h="37673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6"/>
                          </a:solidFill>
                          <a:latin typeface="Calibri"/>
                        </a:rPr>
                        <a:t>Regulatory submission (510(k))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36"/>
                          </a:solidFill>
                          <a:latin typeface="Calibri"/>
                        </a:rPr>
                        <a:t>Clearance POS → 0.6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36"/>
                          </a:solidFill>
                          <a:latin typeface="Calibri"/>
                        </a:rPr>
                        <a:t>Re-rating of cleared comparable devices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36"/>
                          </a:solidFill>
                          <a:latin typeface="Calibri"/>
                        </a:rPr>
                        <a:t>Aligned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</a:tr>
              <a:tr h="37673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6"/>
                          </a:solidFill>
                          <a:latin typeface="Calibri"/>
                        </a:rPr>
                        <a:t>Go-to-market / first contract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36"/>
                          </a:solidFill>
                          <a:latin typeface="Calibri"/>
                        </a:rPr>
                        <a:t>Unlocks revenue, market risk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36"/>
                          </a:solidFill>
                          <a:latin typeface="Calibri"/>
                        </a:rPr>
                        <a:t>Revenue multiples of early-commercial peers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36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504688"/>
            <a:ext cx="11183112" cy="786384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504688"/>
            <a:ext cx="91440" cy="786384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04688"/>
            <a:ext cx="10744200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>
                <a:solidFill>
                  <a:srgbClr val="1F2A36"/>
                </a:solidFill>
                <a:latin typeface="Calibri"/>
              </a:rPr>
              <a:t>Each row links a dollar of spend to a milestone, to a value step, to the market evidence that confirms or challenges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8E2B"/>
                </a:solidFill>
                <a:latin typeface="Calibri"/>
              </a:rPr>
              <a:t>SECTION 4  ·  MATCHING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Articulating use of funds and testing it against the market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35024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>
                <a:solidFill>
                  <a:srgbClr val="1F2A36"/>
                </a:solidFill>
                <a:latin typeface="Calibri"/>
              </a:rPr>
              <a:t>Articulate — state the use of funds so each item is explicitly tied to a milestone, a probability shift and a value step.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>
                <a:solidFill>
                  <a:srgbClr val="1F2A36"/>
                </a:solidFill>
                <a:latin typeface="Calibri"/>
              </a:rPr>
              <a:t>Examine each articulated item against the market evidence: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>
                <a:solidFill>
                  <a:srgbClr val="556676"/>
                </a:solidFill>
                <a:latin typeface="Calibri"/>
              </a:rPr>
              <a:t>Is it a milestone the market actually re-prices? (some are invisible);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>
                <a:solidFill>
                  <a:srgbClr val="556676"/>
                </a:solidFill>
                <a:latin typeface="Calibri"/>
              </a:rPr>
              <a:t>Is the probability shift consistent with base rates from comparable programmes?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>
                <a:solidFill>
                  <a:srgbClr val="556676"/>
                </a:solidFill>
                <a:latin typeface="Calibri"/>
              </a:rPr>
              <a:t>Does the implied value step match observed valuations at that stage?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>
                <a:solidFill>
                  <a:srgbClr val="1F2A36"/>
                </a:solidFill>
                <a:latin typeface="Calibri"/>
              </a:rPr>
              <a:t>Where the answers align, the use of funds is validated — the round is priced by the market, not by assertion.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>
                <a:solidFill>
                  <a:srgbClr val="1F2A36"/>
                </a:solidFill>
                <a:latin typeface="Calibri"/>
              </a:rPr>
              <a:t>Where they do not, revise the plan: reallocate funds toward the milestones the market genuinely rewards.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212080"/>
            <a:ext cx="11183112" cy="868680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212080"/>
            <a:ext cx="91440" cy="86868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12080"/>
            <a:ext cx="107442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>
                <a:solidFill>
                  <a:srgbClr val="1F2A36"/>
                </a:solidFill>
                <a:latin typeface="Calibri"/>
              </a:rPr>
              <a:t>A use of funds is well-articulated when every dollar is traceable to a milestone the market is observed to pay for.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058400" cy="23774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0" b="1" i="0">
                <a:solidFill>
                  <a:srgbClr val="163A5E"/>
                </a:solidFill>
                <a:latin typeface="Georgia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730752"/>
            <a:ext cx="1554480" cy="10972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3273552"/>
            <a:ext cx="100584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08E2B"/>
                </a:solidFill>
                <a:latin typeface="Calibri"/>
              </a:rPr>
              <a:t>SECTION FIVE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3931920"/>
            <a:ext cx="1051560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00" b="1" i="0">
                <a:solidFill>
                  <a:srgbClr val="FFFFFF"/>
                </a:solidFill>
                <a:latin typeface="Georgia"/>
              </a:rPr>
              <a:t>Uncertainty — Downside vs Upside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4983480"/>
            <a:ext cx="1033272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AEC2D6"/>
                </a:solidFill>
                <a:latin typeface="Calibri"/>
              </a:rPr>
              <a:t>A deep-tech valuation is a distribution, not a point. Frame its spread with the Golden Triangle: technology, organisation and commercial risk.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8E2B"/>
                </a:solidFill>
                <a:latin typeface="Calibri"/>
              </a:rPr>
              <a:t>SECTION 5  ·  UNCERTAINTY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The Golden Triangle — the three sources of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115568"/>
            <a:ext cx="1106424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556676"/>
                </a:solidFill>
                <a:latin typeface="Calibri"/>
              </a:rPr>
              <a:t>Every deep-tech venture's uncertainty resolves into three vertices — value is capped by the weakest.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56432" y="2057400"/>
            <a:ext cx="2144268" cy="155448"/>
          </a:xfrm>
          <a:prstGeom prst="line">
            <a:avLst/>
          </a:prstGeom>
          <a:ln w="17780">
            <a:solidFill>
              <a:srgbClr val="B7C3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3712463" y="4983480"/>
            <a:ext cx="82296" cy="91440"/>
          </a:xfrm>
          <a:prstGeom prst="line">
            <a:avLst/>
          </a:prstGeom>
          <a:ln w="17780">
            <a:solidFill>
              <a:srgbClr val="B7C3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8412480" y="4983480"/>
            <a:ext cx="530352" cy="91440"/>
          </a:xfrm>
          <a:prstGeom prst="line">
            <a:avLst/>
          </a:prstGeom>
          <a:ln w="17780">
            <a:solidFill>
              <a:srgbClr val="B7C3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Isosceles Triangle 11"/>
          <p:cNvSpPr/>
          <p:nvPr/>
        </p:nvSpPr>
        <p:spPr>
          <a:xfrm>
            <a:off x="3611880" y="1627632"/>
            <a:ext cx="4983480" cy="3520440"/>
          </a:xfrm>
          <a:prstGeom prst="triangle">
            <a:avLst/>
          </a:prstGeom>
          <a:solidFill>
            <a:srgbClr val="E9EEF2"/>
          </a:solidFill>
          <a:ln w="19050">
            <a:solidFill>
              <a:srgbClr val="0F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120640" y="2926080"/>
            <a:ext cx="1965960" cy="1280160"/>
          </a:xfrm>
          <a:prstGeom prst="ellipse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E08E2B"/>
                </a:solidFill>
                <a:latin typeface="Calibri"/>
              </a:rPr>
              <a:t>VENTURE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Georgia"/>
              </a:rPr>
              <a:t>VALUE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C6D4E2"/>
                </a:solidFill>
                <a:latin typeface="Calibri"/>
              </a:rPr>
              <a:t>capped by the weakest vertex</a:t>
            </a:r>
          </a:p>
        </p:txBody>
      </p:sp>
      <p:sp>
        <p:nvSpPr>
          <p:cNvPr id="14" name="Oval 13"/>
          <p:cNvSpPr/>
          <p:nvPr/>
        </p:nvSpPr>
        <p:spPr>
          <a:xfrm>
            <a:off x="5573268" y="1682495"/>
            <a:ext cx="1060704" cy="1060704"/>
          </a:xfrm>
          <a:prstGeom prst="ellipse">
            <a:avLst/>
          </a:prstGeom>
          <a:solidFill>
            <a:srgbClr val="4E79A8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Georgia"/>
              </a:rPr>
              <a:t>TECH</a:t>
            </a:r>
          </a:p>
        </p:txBody>
      </p:sp>
      <p:sp>
        <p:nvSpPr>
          <p:cNvPr id="15" name="Oval 14"/>
          <p:cNvSpPr/>
          <p:nvPr/>
        </p:nvSpPr>
        <p:spPr>
          <a:xfrm>
            <a:off x="3630168" y="4178808"/>
            <a:ext cx="1060704" cy="1060704"/>
          </a:xfrm>
          <a:prstGeom prst="ellipse">
            <a:avLst/>
          </a:prstGeom>
          <a:solidFill>
            <a:srgbClr val="6FA0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Georgia"/>
              </a:rPr>
              <a:t>ORG</a:t>
            </a:r>
          </a:p>
        </p:txBody>
      </p:sp>
      <p:sp>
        <p:nvSpPr>
          <p:cNvPr id="16" name="Oval 15"/>
          <p:cNvSpPr/>
          <p:nvPr/>
        </p:nvSpPr>
        <p:spPr>
          <a:xfrm>
            <a:off x="7516368" y="4178808"/>
            <a:ext cx="1060704" cy="1060704"/>
          </a:xfrm>
          <a:prstGeom prst="ellipse">
            <a:avLst/>
          </a:prstGeom>
          <a:solidFill>
            <a:srgbClr val="E08E2B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Georgia"/>
              </a:rPr>
              <a:t>COMM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1517904"/>
            <a:ext cx="2880360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4E7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1517904"/>
            <a:ext cx="2880360" cy="347472"/>
          </a:xfrm>
          <a:prstGeom prst="rect">
            <a:avLst/>
          </a:prstGeom>
          <a:solidFill>
            <a:srgbClr val="4E7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1517904"/>
            <a:ext cx="28803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TECHNOLOGY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1901952"/>
            <a:ext cx="2587752" cy="8778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A36"/>
                </a:solidFill>
                <a:latin typeface="Calibri"/>
              </a:rPr>
              <a:t>Does the science work — at scale, reproducibly, with freedom to operate?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498848"/>
            <a:ext cx="3154680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6FA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498848"/>
            <a:ext cx="3154680" cy="347472"/>
          </a:xfrm>
          <a:prstGeom prst="rect">
            <a:avLst/>
          </a:prstGeom>
          <a:solidFill>
            <a:srgbClr val="6F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4498848"/>
            <a:ext cx="315468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ORGANISATION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4882896"/>
            <a:ext cx="2862072" cy="8778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A36"/>
                </a:solidFill>
                <a:latin typeface="Calibri"/>
              </a:rPr>
              <a:t>Can the team, governance and capital plan execute and survive?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03920" y="4498848"/>
            <a:ext cx="3154680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E08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503920" y="4498848"/>
            <a:ext cx="3154680" cy="34747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03920" y="4498848"/>
            <a:ext cx="315468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COMMERCIAL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50224" y="4882896"/>
            <a:ext cx="2862072" cy="8778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A36"/>
                </a:solidFill>
                <a:latin typeface="Calibri"/>
              </a:rPr>
              <a:t>Will customers adopt, pay and stay — against competition and regulation?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907024"/>
            <a:ext cx="11183112" cy="493776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5907024"/>
            <a:ext cx="91440" cy="493776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907024"/>
            <a:ext cx="107442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E08E2B"/>
                </a:solidFill>
                <a:latin typeface="Calibri"/>
              </a:rPr>
              <a:t>WHY IT MATTERS   </a:t>
            </a:r>
            <a:r>
              <a:rPr sz="1250">
                <a:solidFill>
                  <a:srgbClr val="1F2A36"/>
                </a:solidFill>
                <a:latin typeface="Calibri"/>
              </a:rPr>
              <a:t>Every milestone, funded task and risk in the rNPV maps onto one of these three vertices.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8E2B"/>
                </a:solidFill>
                <a:latin typeface="Calibri"/>
              </a:rPr>
              <a:t>SECTION 5  ·  UNCERTAINTY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Scenario analysis — downside, base and upside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170432"/>
            <a:ext cx="110642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56676"/>
                </a:solidFill>
                <a:latin typeface="Calibri"/>
              </a:rPr>
              <a:t>Replace the single number with three explicit, fully-described scenarios.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74519" y="1783080"/>
            <a:ext cx="7904988" cy="676656"/>
          </a:xfrm>
          <a:prstGeom prst="rect">
            <a:avLst/>
          </a:prstGeom>
          <a:solidFill>
            <a:srgbClr val="3C8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39" y="1783080"/>
            <a:ext cx="1234440" cy="6766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3C8C55"/>
                </a:solidFill>
                <a:latin typeface="Calibri"/>
              </a:rPr>
              <a:t>UPSIDE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89236" y="1783080"/>
            <a:ext cx="1371600" cy="6766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0F2A4A"/>
                </a:solidFill>
                <a:latin typeface="Consolas"/>
              </a:rPr>
              <a:t>US$70M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6676"/>
                </a:solidFill>
                <a:latin typeface="Calibri"/>
              </a:rPr>
              <a:t>p = 0.20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84248" y="2496312"/>
            <a:ext cx="82296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56676"/>
                </a:solidFill>
                <a:latin typeface="Calibri"/>
              </a:rPr>
              <a:t>Faster validation, larger market capture, strategic interest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74519" y="2843784"/>
            <a:ext cx="2823210" cy="676656"/>
          </a:xfrm>
          <a:prstGeom prst="rect">
            <a:avLst/>
          </a:prstGeom>
          <a:solidFill>
            <a:srgbClr val="4E7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39" y="2843784"/>
            <a:ext cx="1234440" cy="6766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4E79A8"/>
                </a:solidFill>
                <a:latin typeface="Calibri"/>
              </a:rPr>
              <a:t>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7457" y="2843784"/>
            <a:ext cx="1371600" cy="6766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0F2A4A"/>
                </a:solidFill>
                <a:latin typeface="Consolas"/>
              </a:rPr>
              <a:t>US$25M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6676"/>
                </a:solidFill>
                <a:latin typeface="Calibri"/>
              </a:rPr>
              <a:t>p = 0.50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84248" y="3557015"/>
            <a:ext cx="82296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56676"/>
                </a:solidFill>
                <a:latin typeface="Calibri"/>
              </a:rPr>
              <a:t>Plan delivered roughly on time and on budget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74519" y="3904487"/>
            <a:ext cx="903427" cy="676656"/>
          </a:xfrm>
          <a:prstGeom prst="rect">
            <a:avLst/>
          </a:prstGeom>
          <a:solidFill>
            <a:srgbClr val="C04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39" y="3904487"/>
            <a:ext cx="1234440" cy="6766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C04A3A"/>
                </a:solidFill>
                <a:latin typeface="Calibri"/>
              </a:rPr>
              <a:t>DOWNSIDE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7675" y="3904487"/>
            <a:ext cx="1371600" cy="6766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0F2A4A"/>
                </a:solidFill>
                <a:latin typeface="Consolas"/>
              </a:rPr>
              <a:t>US$8M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6676"/>
                </a:solidFill>
                <a:latin typeface="Calibri"/>
              </a:rPr>
              <a:t>p = 0.30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84248" y="4617720"/>
            <a:ext cx="82296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56676"/>
                </a:solidFill>
                <a:latin typeface="Calibri"/>
              </a:rPr>
              <a:t>Key milestone slips; partial recovery via asset sale or pivot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138150" y="1627632"/>
            <a:ext cx="0" cy="3447288"/>
          </a:xfrm>
          <a:prstGeom prst="line">
            <a:avLst/>
          </a:prstGeom>
          <a:ln w="25400">
            <a:solidFill>
              <a:srgbClr val="E08E2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132310" y="5074920"/>
            <a:ext cx="2011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08E2B"/>
                </a:solidFill>
                <a:latin typeface="Calibri"/>
              </a:rPr>
              <a:t>E[V] ≈ US$28.9M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532120"/>
            <a:ext cx="11183112" cy="768096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5532120"/>
            <a:ext cx="91440" cy="768096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532120"/>
            <a:ext cx="10744200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>
                <a:solidFill>
                  <a:srgbClr val="1F2A36"/>
                </a:solidFill>
                <a:latin typeface="Calibri"/>
              </a:rPr>
              <a:t>Expected value  E[V] = 0.30×8 + 0.50×25 + 0.20×70 ≈ US$28.9M — the upside tail lifts the mean above the base case.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8E2B"/>
                </a:solidFill>
                <a:latin typeface="Calibri"/>
              </a:rPr>
              <a:t>SECTION 5  ·  UNCERTAINTY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Mapping uncertainty across the Golden Triangle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52144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56676"/>
                </a:solidFill>
                <a:latin typeface="Calibri"/>
              </a:rPr>
              <a:t>For each vertex, name the specific downside and the specific upside — do not leave risk abstract.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97967" y="1645920"/>
          <a:ext cx="11795760" cy="1517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846320"/>
                <a:gridCol w="4846320"/>
              </a:tblGrid>
              <a:tr h="37947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Georgia"/>
                        </a:rPr>
                        <a:t>Vertex</a:t>
                      </a:r>
                    </a:p>
                  </a:txBody>
                  <a:tcPr anchor="ctr" marL="82296" marR="82296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Georgia"/>
                        </a:rPr>
                        <a:t>Downside driver</a:t>
                      </a:r>
                    </a:p>
                  </a:txBody>
                  <a:tcPr anchor="ctr" marL="82296" marR="82296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Georgia"/>
                        </a:rPr>
                        <a:t>Upside driver</a:t>
                      </a:r>
                    </a:p>
                  </a:txBody>
                  <a:tcPr anchor="ctr" marL="82296" marR="82296" marT="45720" marB="45720">
                    <a:solidFill>
                      <a:srgbClr val="0F2A4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A36"/>
                          </a:solidFill>
                          <a:latin typeface="Calibri"/>
                        </a:rPr>
                        <a:t>Technology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Fails to reproduce or scale; blocked by third-party IP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Performance beats target; platform spawns several products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A36"/>
                          </a:solidFill>
                          <a:latin typeface="Calibri"/>
                        </a:rPr>
                        <a:t>Organisation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Key person leaves; cash runs out before next milestone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Senior hires land; non-dilutive grants extend the runway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A36"/>
                          </a:solidFill>
                          <a:latin typeface="Calibri"/>
                        </a:rPr>
                        <a:t>Commercial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Slow adoption; reimbursement tightens; new entrant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Strategic partner or anchor customer; faster path to scale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504688"/>
            <a:ext cx="11183112" cy="786384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504688"/>
            <a:ext cx="91440" cy="786384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04688"/>
            <a:ext cx="10744200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>
                <a:solidFill>
                  <a:srgbClr val="1F2A36"/>
                </a:solidFill>
                <a:latin typeface="Calibri"/>
              </a:rPr>
              <a:t>Quantify, do not just list: attach a probability and a value impact to each driver so it feeds the scenario weights.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8E2B"/>
                </a:solidFill>
                <a:latin typeface="Calibri"/>
              </a:rPr>
              <a:t>SECTION 5  ·  UNCERTAINTY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Expected value and probability weighting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1298448"/>
            <a:ext cx="10268712" cy="1005840"/>
          </a:xfrm>
          <a:prstGeom prst="roundRect">
            <a:avLst>
              <a:gd name="adj" fmla="val 12000"/>
            </a:avLst>
          </a:prstGeom>
          <a:solidFill>
            <a:srgbClr val="16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298448"/>
            <a:ext cx="9902952" cy="10058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onsolas"/>
              </a:rPr>
              <a:t>E[V]  =  p_down × V_down  +  p_base × V_base  +  p_up × V_up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542032"/>
            <a:ext cx="64008" cy="27432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505456"/>
            <a:ext cx="45720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Calibri"/>
              </a:rPr>
              <a:t>WHERE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52928"/>
            <a:ext cx="5074920" cy="2468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08E2B"/>
                </a:solidFill>
                <a:latin typeface="Consolas"/>
              </a:rPr>
              <a:t>p_x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1F2A36"/>
                </a:solidFill>
                <a:latin typeface="Calibri"/>
              </a:rPr>
              <a:t>probability of scenario x — grounded in the Golden-Triangle driver analysis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08E2B"/>
                </a:solidFill>
                <a:latin typeface="Consolas"/>
              </a:rPr>
              <a:t>V_x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1F2A36"/>
                </a:solidFill>
                <a:latin typeface="Calibri"/>
              </a:rPr>
              <a:t>venture value in scenario x — each scenario fully narrated, not just a number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08E2B"/>
                </a:solidFill>
                <a:latin typeface="Consolas"/>
              </a:rPr>
              <a:t>E[V]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1F2A36"/>
                </a:solidFill>
                <a:latin typeface="Calibri"/>
              </a:rPr>
              <a:t>probability-weighted expected value — the single figure, if one is needed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2468880"/>
            <a:ext cx="5532120" cy="2880360"/>
          </a:xfrm>
          <a:prstGeom prst="roundRect">
            <a:avLst>
              <a:gd name="adj" fmla="val 6000"/>
            </a:avLst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80760" y="2468880"/>
            <a:ext cx="5532120" cy="38404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2468880"/>
            <a:ext cx="521208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2A4A"/>
                </a:solidFill>
                <a:latin typeface="Calibri"/>
              </a:rPr>
              <a:t>WORKED EXAMPLE  —  putting numbers into the formula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962656"/>
            <a:ext cx="5074920" cy="22860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2A4A"/>
                </a:solidFill>
                <a:latin typeface="Consolas"/>
              </a:rPr>
              <a:t>Three scenarios for the same venture: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F2A36"/>
                </a:solidFill>
                <a:latin typeface="Calibri"/>
              </a:rPr>
              <a:t>Downside   p = 0.30   V = US$8M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F2A36"/>
                </a:solidFill>
                <a:latin typeface="Calibri"/>
              </a:rPr>
              <a:t>    →  0.30 × 8  =  2.40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F2A36"/>
                </a:solidFill>
                <a:latin typeface="Calibri"/>
              </a:rPr>
              <a:t>Base         p = 0.50   V = US$25M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F2A36"/>
                </a:solidFill>
                <a:latin typeface="Calibri"/>
              </a:rPr>
              <a:t>    →  0.50 × 25  =  12.50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F2A36"/>
                </a:solidFill>
                <a:latin typeface="Calibri"/>
              </a:rPr>
              <a:t>Upside       p = 0.20   V = US$70M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F2A36"/>
                </a:solidFill>
                <a:latin typeface="Calibri"/>
              </a:rPr>
              <a:t>    →  0.20 × 70  =  14.00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2A4A"/>
                </a:solidFill>
                <a:latin typeface="Consolas"/>
              </a:rPr>
              <a:t>E[V] = 2.40 + 12.50 + 14.00 = US$28.9M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504688"/>
            <a:ext cx="11183112" cy="768096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5504688"/>
            <a:ext cx="91440" cy="768096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504688"/>
            <a:ext cx="10744200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>
                <a:solidFill>
                  <a:srgbClr val="1F2A36"/>
                </a:solidFill>
                <a:latin typeface="Calibri"/>
              </a:rPr>
              <a:t>Report the range AND the probabilities, not only E[V]. The spread between downside and upside is itself decision-useful information.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058400" cy="23774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0" b="1" i="0">
                <a:solidFill>
                  <a:srgbClr val="163A5E"/>
                </a:solidFill>
                <a:latin typeface="Georgia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730752"/>
            <a:ext cx="1554480" cy="10972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3273552"/>
            <a:ext cx="100584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08E2B"/>
                </a:solidFill>
                <a:latin typeface="Calibri"/>
              </a:rPr>
              <a:t>SECTION SIX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3931920"/>
            <a:ext cx="1051560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00" b="1" i="0">
                <a:solidFill>
                  <a:srgbClr val="FFFFFF"/>
                </a:solidFill>
                <a:latin typeface="Georgia"/>
              </a:rPr>
              <a:t>Stakeholders — Rights, Protections, Control &amp; Dilution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4983480"/>
            <a:ext cx="1033272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AEC2D6"/>
                </a:solidFill>
                <a:latin typeface="Calibri"/>
              </a:rPr>
              <a:t>Enterprise value is not value received. Term-sheet rights, controls and future dilution decide who actually gets what.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8E2B"/>
                </a:solidFill>
                <a:latin typeface="Calibri"/>
              </a:rPr>
              <a:t>SECTION 6  ·  STAKEHOLDERS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The cap table — who holds the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25296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450" b="0">
                <a:solidFill>
                  <a:srgbClr val="1F2A36"/>
                </a:solidFill>
                <a:latin typeface="Calibri"/>
              </a:rPr>
              <a:t>The capitalisation table records who owns the venture — founders, the employee option pool, and investors by round.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450" b="0">
                <a:solidFill>
                  <a:srgbClr val="1F2A36"/>
                </a:solidFill>
                <a:latin typeface="Calibri"/>
              </a:rPr>
              <a:t>The headline valuation prices the whole company; the cap table and term sheet decide how that value is divided.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450" b="0">
                <a:solidFill>
                  <a:srgbClr val="1F2A36"/>
                </a:solidFill>
                <a:latin typeface="Calibri"/>
              </a:rPr>
              <a:t>Two distinct dimensions are negotiated: economic rights (who receives cash, and in what order) and control rights (who can decide or veto).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83280"/>
            <a:ext cx="105156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2A4A"/>
                </a:solidFill>
                <a:latin typeface="Calibri"/>
              </a:rPr>
              <a:t>Illustrative cap table after a seed round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703320"/>
            <a:ext cx="5833872" cy="841248"/>
          </a:xfrm>
          <a:prstGeom prst="rect">
            <a:avLst/>
          </a:prstGeom>
          <a:solidFill>
            <a:srgbClr val="4E7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703320"/>
            <a:ext cx="5833872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Founders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Georgia"/>
              </a:rPr>
              <a:t>55%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11112" y="3703320"/>
            <a:ext cx="954633" cy="84124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11112" y="3703320"/>
            <a:ext cx="954633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Option pool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Georgia"/>
              </a:rPr>
              <a:t>9%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65745" y="3703320"/>
            <a:ext cx="3818534" cy="84124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65745" y="3703320"/>
            <a:ext cx="3818534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Seed investors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Georgia"/>
              </a:rPr>
              <a:t>36%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846320"/>
            <a:ext cx="11183112" cy="868680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846320"/>
            <a:ext cx="91440" cy="86868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846320"/>
            <a:ext cx="107442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>
                <a:solidFill>
                  <a:srgbClr val="1F2A36"/>
                </a:solidFill>
                <a:latin typeface="Calibri"/>
              </a:rPr>
              <a:t>The headline valuation sizes the pie. Rights, controls and dilution decide the slice each stakeholder actually eats — ownership % alone is an incomplete picture.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8E2B"/>
                </a:solidFill>
                <a:latin typeface="Calibri"/>
              </a:rPr>
              <a:t>SECTION 6  ·  STAKEHOLDERS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Investor rights, protections and controls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52144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56676"/>
                </a:solidFill>
                <a:latin typeface="Calibri"/>
              </a:rPr>
              <a:t>Common term-sheet provisions — and how each changes the value you actually receive.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5167" y="1645920"/>
          <a:ext cx="10881360" cy="2615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840480"/>
                <a:gridCol w="4023360"/>
              </a:tblGrid>
              <a:tr h="373597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Provision</a:t>
                      </a:r>
                    </a:p>
                  </a:txBody>
                  <a:tcPr anchor="ctr" marL="82296" marR="82296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What it does</a:t>
                      </a:r>
                    </a:p>
                  </a:txBody>
                  <a:tcPr anchor="ctr" marL="82296" marR="82296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Effect on founder value</a:t>
                      </a:r>
                    </a:p>
                  </a:txBody>
                  <a:tcPr anchor="ctr" marL="82296" marR="82296" marT="45720" marB="45720">
                    <a:solidFill>
                      <a:srgbClr val="0F2A4A"/>
                    </a:solidFill>
                  </a:tcPr>
                </a:tc>
              </a:tr>
              <a:tr h="373597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6"/>
                          </a:solidFill>
                          <a:latin typeface="Calibri"/>
                        </a:rPr>
                        <a:t>1× liquidation preference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36"/>
                          </a:solidFill>
                          <a:latin typeface="Calibri"/>
                        </a:rPr>
                        <a:t>Investor recovers capital first on exit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36"/>
                          </a:solidFill>
                          <a:latin typeface="Calibri"/>
                        </a:rPr>
                        <a:t>Reduces common-share value at low/mid exits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</a:tr>
              <a:tr h="373597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6"/>
                          </a:solidFill>
                          <a:latin typeface="Calibri"/>
                        </a:rPr>
                        <a:t>Participating preferred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36"/>
                          </a:solidFill>
                          <a:latin typeface="Calibri"/>
                        </a:rPr>
                        <a:t>Preference AND a share of the remainder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36"/>
                          </a:solidFill>
                          <a:latin typeface="Calibri"/>
                        </a:rPr>
                        <a:t>‘Double dip’ — materially cuts founder proceeds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</a:tr>
              <a:tr h="373597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6"/>
                          </a:solidFill>
                          <a:latin typeface="Calibri"/>
                        </a:rPr>
                        <a:t>Anti-dilution (weighted-avg.)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36"/>
                          </a:solidFill>
                          <a:latin typeface="Calibri"/>
                        </a:rPr>
                        <a:t>Re-prices investor shares in a down round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36"/>
                          </a:solidFill>
                          <a:latin typeface="Calibri"/>
                        </a:rPr>
                        <a:t>Shifts down-round dilution onto founders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</a:tr>
              <a:tr h="373597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6"/>
                          </a:solidFill>
                          <a:latin typeface="Calibri"/>
                        </a:rPr>
                        <a:t>Pro-rata / pre-emptive rights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36"/>
                          </a:solidFill>
                          <a:latin typeface="Calibri"/>
                        </a:rPr>
                        <a:t>Investor may keep its % in future rounds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36"/>
                          </a:solidFill>
                          <a:latin typeface="Calibri"/>
                        </a:rPr>
                        <a:t>Constrains who you can admit later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</a:tr>
              <a:tr h="373597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6"/>
                          </a:solidFill>
                          <a:latin typeface="Calibri"/>
                        </a:rPr>
                        <a:t>Board seats &amp; protective provisions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36"/>
                          </a:solidFill>
                          <a:latin typeface="Calibri"/>
                        </a:rPr>
                        <a:t>Veto over budget, hiring, financing, sale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36"/>
                          </a:solidFill>
                          <a:latin typeface="Calibri"/>
                        </a:rPr>
                        <a:t>Control independent of ownership %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</a:tr>
              <a:tr h="37360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6"/>
                          </a:solidFill>
                          <a:latin typeface="Calibri"/>
                        </a:rPr>
                        <a:t>Founder vesting &amp; drag-along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36"/>
                          </a:solidFill>
                          <a:latin typeface="Calibri"/>
                        </a:rPr>
                        <a:t>Re-earn your shares; can be forced to sell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36"/>
                          </a:solidFill>
                          <a:latin typeface="Calibri"/>
                        </a:rPr>
                        <a:t>Aligns — and limits — founder economics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504688"/>
            <a:ext cx="11183112" cy="786384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504688"/>
            <a:ext cx="91440" cy="786384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04688"/>
            <a:ext cx="10744200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>
                <a:solidFill>
                  <a:srgbClr val="1F2A36"/>
                </a:solidFill>
                <a:latin typeface="Calibri"/>
              </a:rPr>
              <a:t>Two ventures can carry an identical headline valuation yet deliver very different value to founders — the terms decide.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8E2B"/>
                </a:solidFill>
                <a:latin typeface="Calibri"/>
              </a:rPr>
              <a:t>SECTION 6  ·  STAKEHOLDERS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Future development and dilution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170432"/>
            <a:ext cx="110642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56676"/>
                </a:solidFill>
                <a:latin typeface="Calibri"/>
              </a:rPr>
              <a:t>Deep-tech ventures need several rounds — dilution is a planned sequence, not a one-off event.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655064"/>
            <a:ext cx="10607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2A4A"/>
                </a:solidFill>
                <a:latin typeface="Calibri"/>
              </a:rPr>
              <a:t>Before seed round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947672"/>
            <a:ext cx="9652406" cy="658368"/>
          </a:xfrm>
          <a:prstGeom prst="rect">
            <a:avLst/>
          </a:prstGeom>
          <a:solidFill>
            <a:srgbClr val="4E7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947672"/>
            <a:ext cx="9652406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Founders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Georgia"/>
              </a:rPr>
              <a:t>91%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9646" y="1947672"/>
            <a:ext cx="954633" cy="65836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9646" y="1947672"/>
            <a:ext cx="954633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Pool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Georgia"/>
              </a:rPr>
              <a:t>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43784"/>
            <a:ext cx="10607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2A4A"/>
                </a:solidFill>
                <a:latin typeface="Calibri"/>
              </a:rPr>
              <a:t>After seed round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136392"/>
            <a:ext cx="5833872" cy="658368"/>
          </a:xfrm>
          <a:prstGeom prst="rect">
            <a:avLst/>
          </a:prstGeom>
          <a:solidFill>
            <a:srgbClr val="4E7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136392"/>
            <a:ext cx="5833872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Founders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Georgia"/>
              </a:rPr>
              <a:t>55%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11112" y="3136392"/>
            <a:ext cx="954633" cy="65836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1112" y="3136392"/>
            <a:ext cx="954633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Pool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Georgia"/>
              </a:rPr>
              <a:t>9%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65745" y="3136392"/>
            <a:ext cx="3818534" cy="65836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65745" y="3136392"/>
            <a:ext cx="3818534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Seed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Georgia"/>
              </a:rPr>
              <a:t>36%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032504"/>
            <a:ext cx="10607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2A4A"/>
                </a:solidFill>
                <a:latin typeface="Calibri"/>
              </a:rPr>
              <a:t>After Series 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325112"/>
            <a:ext cx="4030675" cy="658368"/>
          </a:xfrm>
          <a:prstGeom prst="rect">
            <a:avLst/>
          </a:prstGeom>
          <a:solidFill>
            <a:srgbClr val="4E7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325112"/>
            <a:ext cx="4030675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Founders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Georgia"/>
              </a:rPr>
              <a:t>38%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7915" y="4325112"/>
            <a:ext cx="1060704" cy="65836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7915" y="4325112"/>
            <a:ext cx="1060704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Pool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Georgia"/>
              </a:rPr>
              <a:t>10%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68619" y="4325112"/>
            <a:ext cx="2651760" cy="65836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68619" y="4325112"/>
            <a:ext cx="26517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Seed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Georgia"/>
              </a:rPr>
              <a:t>25%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20379" y="4325112"/>
            <a:ext cx="2863900" cy="658368"/>
          </a:xfrm>
          <a:prstGeom prst="rect">
            <a:avLst/>
          </a:prstGeom>
          <a:solidFill>
            <a:srgbClr val="C99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20379" y="4325112"/>
            <a:ext cx="28639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Series A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Georgia"/>
              </a:rPr>
              <a:t>27%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413248"/>
            <a:ext cx="11183112" cy="841248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5413248"/>
            <a:ext cx="91440" cy="84124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413248"/>
            <a:ext cx="1074420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>
                <a:solidFill>
                  <a:srgbClr val="1F2A36"/>
                </a:solidFill>
                <a:latin typeface="Calibri"/>
              </a:rPr>
              <a:t>Aim is not to minimise dilution — it is to maximise the value of the slice retained. A smaller share of a de-risked, larger company can be worth far more.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8E2B"/>
                </a:solidFill>
                <a:latin typeface="Calibri"/>
              </a:rPr>
              <a:t>SECTION 6  ·  STAKEHOLDERS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Pre-money, post-money and the dilution math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1298448"/>
            <a:ext cx="10268712" cy="1005840"/>
          </a:xfrm>
          <a:prstGeom prst="roundRect">
            <a:avLst>
              <a:gd name="adj" fmla="val 12000"/>
            </a:avLst>
          </a:prstGeom>
          <a:solidFill>
            <a:srgbClr val="16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298448"/>
            <a:ext cx="9902952" cy="10058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onsolas"/>
              </a:rPr>
              <a:t>Post-money  =  Pre-money  +  New Investment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2B55C"/>
                </a:solidFill>
                <a:latin typeface="Consolas"/>
              </a:rPr>
              <a:t>Investor %  =  New Investment  /  Post-money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2B55C"/>
                </a:solidFill>
                <a:latin typeface="Consolas"/>
              </a:rPr>
              <a:t>Founder stake after  =  before  ×  ( Pre-money / Post-money )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542032"/>
            <a:ext cx="64008" cy="27432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505456"/>
            <a:ext cx="45720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Calibri"/>
              </a:rPr>
              <a:t>WHERE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52928"/>
            <a:ext cx="5074920" cy="2468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08E2B"/>
                </a:solidFill>
                <a:latin typeface="Consolas"/>
              </a:rPr>
              <a:t>Pre-money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1F2A36"/>
                </a:solidFill>
                <a:latin typeface="Calibri"/>
              </a:rPr>
              <a:t>the venture's agreed value immediately before the new investment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08E2B"/>
                </a:solidFill>
                <a:latin typeface="Consolas"/>
              </a:rPr>
              <a:t>Post-money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1F2A36"/>
                </a:solidFill>
                <a:latin typeface="Calibri"/>
              </a:rPr>
              <a:t>value immediately after — the basis for the investor's ownership %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08E2B"/>
                </a:solidFill>
                <a:latin typeface="Consolas"/>
              </a:rPr>
              <a:t>Note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1F2A36"/>
                </a:solidFill>
                <a:latin typeface="Calibri"/>
              </a:rPr>
              <a:t>a pre-money option pool dilutes founders further — model it explicitly, and always confirm whether a quoted valuation is pre- or post-money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2468880"/>
            <a:ext cx="5532120" cy="2880360"/>
          </a:xfrm>
          <a:prstGeom prst="roundRect">
            <a:avLst>
              <a:gd name="adj" fmla="val 6000"/>
            </a:avLst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80760" y="2468880"/>
            <a:ext cx="5532120" cy="38404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2468880"/>
            <a:ext cx="521208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2A4A"/>
                </a:solidFill>
                <a:latin typeface="Calibri"/>
              </a:rPr>
              <a:t>WORKED EXAMPLE  —  putting numbers into the formula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962656"/>
            <a:ext cx="5074920" cy="22860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2A4A"/>
                </a:solidFill>
                <a:latin typeface="Consolas"/>
              </a:rPr>
              <a:t>Round: raise US$2.5M at a US$4.4M pre-money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F2A36"/>
                </a:solidFill>
                <a:latin typeface="Calibri"/>
              </a:rPr>
              <a:t>1 · Post-money = 4.4 + 2.5 = US$6.9M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2A4A"/>
                </a:solidFill>
                <a:latin typeface="Consolas"/>
              </a:rPr>
              <a:t>2 · Investor % = 2.5 ÷ 6.9 = 36.2%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F2A36"/>
                </a:solidFill>
                <a:latin typeface="Calibri"/>
              </a:rPr>
              <a:t>3 · Founders before = 100%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2A4A"/>
                </a:solidFill>
                <a:latin typeface="Consolas"/>
              </a:rPr>
              <a:t>    → after = 100% × (4.4 ÷ 6.9) = 63.8%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F2A36"/>
                </a:solidFill>
                <a:latin typeface="Calibri"/>
              </a:rPr>
              <a:t>4 · With a 10% pre-money option pool,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F2A36"/>
                </a:solidFill>
                <a:latin typeface="Calibri"/>
              </a:rPr>
              <a:t>    founders fall further to ≈ 53.8%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504688"/>
            <a:ext cx="11183112" cy="768096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5504688"/>
            <a:ext cx="91440" cy="768096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504688"/>
            <a:ext cx="10744200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>
                <a:solidFill>
                  <a:srgbClr val="1F2A36"/>
                </a:solidFill>
                <a:latin typeface="Calibri"/>
              </a:rPr>
              <a:t>The same headline number implies different ownership depending on whether it is pre- or post-money — always confirm which.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058400" cy="23774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0" b="1" i="0">
                <a:solidFill>
                  <a:srgbClr val="163A5E"/>
                </a:solidFill>
                <a:latin typeface="Georgia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730752"/>
            <a:ext cx="1554480" cy="10972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3273552"/>
            <a:ext cx="100584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08E2B"/>
                </a:solidFill>
                <a:latin typeface="Calibri"/>
              </a:rPr>
              <a:t>SECTION SEVEN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3931920"/>
            <a:ext cx="1051560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00" b="1" i="0">
                <a:solidFill>
                  <a:srgbClr val="FFFFFF"/>
                </a:solidFill>
                <a:latin typeface="Georgia"/>
              </a:rPr>
              <a:t>The Master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4983480"/>
            <a:ext cx="1033272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AEC2D6"/>
                </a:solidFill>
                <a:latin typeface="Calibri"/>
              </a:rPr>
              <a:t>Assembling the six methods into one integrated model — and comparing it with the other financial approaches.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8E2B"/>
                </a:solidFill>
                <a:latin typeface="Calibri"/>
              </a:rPr>
              <a:t>SECTION 7  ·  THE MASTER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The master model — six methods, one argument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225296"/>
            <a:ext cx="10607040" cy="493776"/>
          </a:xfrm>
          <a:prstGeom prst="roundRect">
            <a:avLst>
              <a:gd name="adj" fmla="val 18000"/>
            </a:avLst>
          </a:prstGeom>
          <a:solidFill>
            <a:srgbClr val="4E7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225296"/>
            <a:ext cx="1325880" cy="4937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LAYER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225296"/>
            <a:ext cx="8979408" cy="4937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Georgia"/>
              </a:rPr>
              <a:t>Milestone roadmap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225296"/>
            <a:ext cx="8961119" cy="4937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ECF1F5"/>
                </a:solidFill>
                <a:latin typeface="Calibri"/>
              </a:rPr>
              <a:t>defines the value-inflection timeline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1773936"/>
            <a:ext cx="10058400" cy="493776"/>
          </a:xfrm>
          <a:prstGeom prst="roundRect">
            <a:avLst>
              <a:gd name="adj" fmla="val 18000"/>
            </a:avLst>
          </a:prstGeom>
          <a:solidFill>
            <a:srgbClr val="3F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16151" y="1773936"/>
            <a:ext cx="1325880" cy="4937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LAYER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1773936"/>
            <a:ext cx="8430768" cy="4937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Georgia"/>
              </a:rPr>
              <a:t>Use of funds / rNPV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1773936"/>
            <a:ext cx="8412480" cy="4937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ECF1F5"/>
                </a:solidFill>
                <a:latin typeface="Calibri"/>
              </a:rPr>
              <a:t>bottom-up intrinsic value of the next milestones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25880" y="2322576"/>
            <a:ext cx="9509760" cy="493776"/>
          </a:xfrm>
          <a:prstGeom prst="roundRect">
            <a:avLst>
              <a:gd name="adj" fmla="val 18000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90472" y="2322576"/>
            <a:ext cx="1325880" cy="4937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LAYER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2322576"/>
            <a:ext cx="7882128" cy="4937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Georgia"/>
              </a:rPr>
              <a:t>Benchmarking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2322576"/>
            <a:ext cx="7863840" cy="4937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ECF1F5"/>
                </a:solidFill>
                <a:latin typeface="Calibri"/>
              </a:rPr>
              <a:t>top-down, market-anchored exit value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600200" y="2871216"/>
            <a:ext cx="8961120" cy="493776"/>
          </a:xfrm>
          <a:prstGeom prst="roundRect">
            <a:avLst>
              <a:gd name="adj" fmla="val 18000"/>
            </a:avLst>
          </a:prstGeom>
          <a:solidFill>
            <a:srgbClr val="6F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64792" y="2871216"/>
            <a:ext cx="1325880" cy="4937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LAYER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3240" y="2871216"/>
            <a:ext cx="7333488" cy="4937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Georgia"/>
              </a:rPr>
              <a:t>Matching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2871216"/>
            <a:ext cx="7315200" cy="4937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ECF1F5"/>
                </a:solidFill>
                <a:latin typeface="Calibri"/>
              </a:rPr>
              <a:t>reconciles Layers 2 &amp; 3 into a defensible range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74519" y="3419856"/>
            <a:ext cx="8412480" cy="493776"/>
          </a:xfrm>
          <a:prstGeom prst="roundRect">
            <a:avLst>
              <a:gd name="adj" fmla="val 18000"/>
            </a:avLst>
          </a:prstGeom>
          <a:solidFill>
            <a:srgbClr val="C99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39112" y="3419856"/>
            <a:ext cx="1325880" cy="4937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LAYER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37560" y="3419856"/>
            <a:ext cx="6784847" cy="4937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Georgia"/>
              </a:rPr>
              <a:t>Uncertainty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3419856"/>
            <a:ext cx="6766559" cy="4937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ECF1F5"/>
                </a:solidFill>
                <a:latin typeface="Calibri"/>
              </a:rPr>
              <a:t>Golden-Triangle scenarios → a weighted range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48840" y="3968496"/>
            <a:ext cx="7863840" cy="493776"/>
          </a:xfrm>
          <a:prstGeom prst="roundRect">
            <a:avLst>
              <a:gd name="adj" fmla="val 18000"/>
            </a:avLst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3432" y="3968496"/>
            <a:ext cx="1325880" cy="4937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LAYER 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3968496"/>
            <a:ext cx="6236207" cy="4937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Georgia"/>
              </a:rPr>
              <a:t>Stakeholder terms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11880" y="3968496"/>
            <a:ext cx="6217920" cy="4937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ECF1F5"/>
                </a:solidFill>
                <a:latin typeface="Calibri"/>
              </a:rPr>
              <a:t>converts enterprise value into value per stakeholder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5998464" y="4480559"/>
            <a:ext cx="219456" cy="219456"/>
          </a:xfrm>
          <a:prstGeom prst="downArrow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194560" y="4718303"/>
            <a:ext cx="7772400" cy="512064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OUTPUT:  a valuation range  ·  a risk profile  ·  an ownership outcome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486400"/>
            <a:ext cx="11183112" cy="676656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486400"/>
            <a:ext cx="91440" cy="676656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5486400"/>
            <a:ext cx="107442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E08E2B"/>
                </a:solidFill>
                <a:latin typeface="Calibri"/>
              </a:rPr>
              <a:t>THE SYNTHESIS   </a:t>
            </a:r>
            <a:r>
              <a:rPr sz="1250">
                <a:solidFill>
                  <a:srgbClr val="1F2A36"/>
                </a:solidFill>
                <a:latin typeface="Calibri"/>
              </a:rPr>
              <a:t>The master model is not a seventh method — it is the disciplined assembly of the previous six into one defensible argument.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8E2B"/>
                </a:solidFill>
                <a:latin typeface="Calibri"/>
              </a:rPr>
              <a:t>SECTION 7  ·  THE MASTER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Master model walkthrough — one venture, end to 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52144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56676"/>
                </a:solidFill>
                <a:latin typeface="Calibri"/>
              </a:rPr>
              <a:t>Illustrative: a diagnostic-imaging venture carried through all six layers.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18007" y="1645920"/>
          <a:ext cx="11155680" cy="2615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937760"/>
                <a:gridCol w="4023360"/>
              </a:tblGrid>
              <a:tr h="373597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Layer</a:t>
                      </a:r>
                    </a:p>
                  </a:txBody>
                  <a:tcPr anchor="ctr" marL="82296" marR="82296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Method applied</a:t>
                      </a:r>
                    </a:p>
                  </a:txBody>
                  <a:tcPr anchor="ctr" marL="82296" marR="82296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Result</a:t>
                      </a:r>
                    </a:p>
                  </a:txBody>
                  <a:tcPr anchor="ctr" marL="82296" marR="82296" marT="45720" marB="45720">
                    <a:solidFill>
                      <a:srgbClr val="0F2A4A"/>
                    </a:solidFill>
                  </a:tcPr>
                </a:tc>
              </a:tr>
              <a:tr h="373597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6"/>
                          </a:solidFill>
                          <a:latin typeface="Calibri"/>
                        </a:rPr>
                        <a:t>1  Roadmap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36"/>
                          </a:solidFill>
                          <a:latin typeface="Calibri"/>
                        </a:rPr>
                        <a:t>TRL 4 → 9; four milestones to exit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36"/>
                          </a:solidFill>
                          <a:latin typeface="Calibri"/>
                        </a:rPr>
                        <a:t>exit horizon: Year 5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</a:tr>
              <a:tr h="373597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6"/>
                          </a:solidFill>
                          <a:latin typeface="Calibri"/>
                        </a:rPr>
                        <a:t>2  Use of funds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36"/>
                          </a:solidFill>
                          <a:latin typeface="Calibri"/>
                        </a:rPr>
                        <a:t>US$2.5M funds M1+M2; CPOS 16.8%; r 25%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36"/>
                          </a:solidFill>
                          <a:latin typeface="Calibri"/>
                        </a:rPr>
                        <a:t>intrinsic pre-money ≈ US$4.4M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</a:tr>
              <a:tr h="373597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6"/>
                          </a:solidFill>
                          <a:latin typeface="Calibri"/>
                        </a:rPr>
                        <a:t>3  Benchmarking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36"/>
                          </a:solidFill>
                          <a:latin typeface="Calibri"/>
                        </a:rPr>
                        <a:t>Liver-diagnostics TAM US$30.6B; comparable exits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36"/>
                          </a:solidFill>
                          <a:latin typeface="Calibri"/>
                        </a:rPr>
                        <a:t>exit value ≈ US$80M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</a:tr>
              <a:tr h="373597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6"/>
                          </a:solidFill>
                          <a:latin typeface="Calibri"/>
                        </a:rPr>
                        <a:t>4  Matching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36"/>
                          </a:solidFill>
                          <a:latin typeface="Calibri"/>
                        </a:rPr>
                        <a:t>Bottom-up vs top-down reconciled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36"/>
                          </a:solidFill>
                          <a:latin typeface="Calibri"/>
                        </a:rPr>
                        <a:t>defensible pre-money US$4–6M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</a:tr>
              <a:tr h="373597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6"/>
                          </a:solidFill>
                          <a:latin typeface="Calibri"/>
                        </a:rPr>
                        <a:t>5  Uncertainty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36"/>
                          </a:solidFill>
                          <a:latin typeface="Calibri"/>
                        </a:rPr>
                        <a:t>Down/Base/Up = 8 / 25 / 70; E[V] ≈ US$29M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36"/>
                          </a:solidFill>
                          <a:latin typeface="Calibri"/>
                        </a:rPr>
                        <a:t>a range, not a point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</a:tr>
              <a:tr h="37360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6"/>
                          </a:solidFill>
                          <a:latin typeface="Calibri"/>
                        </a:rPr>
                        <a:t>6  Stakeholder terms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36"/>
                          </a:solidFill>
                          <a:latin typeface="Calibri"/>
                        </a:rPr>
                        <a:t>US$2.5M at US$4.5M pre; 1× pref; pre-money pool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36"/>
                          </a:solidFill>
                          <a:latin typeface="Calibri"/>
                        </a:rPr>
                        <a:t>investors ≈ 36%; founders keep majority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504688"/>
            <a:ext cx="11183112" cy="786384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504688"/>
            <a:ext cx="91440" cy="786384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04688"/>
            <a:ext cx="10744200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>
                <a:solidFill>
                  <a:srgbClr val="1F2A36"/>
                </a:solidFill>
                <a:latin typeface="Calibri"/>
              </a:rPr>
              <a:t>Six layers, one argument: a valuation range, its risk profile and the cap-table outcome — all traceable to stated assumptions.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8E2B"/>
                </a:solidFill>
                <a:latin typeface="Calibri"/>
              </a:rPr>
              <a:t>SECTION 7  · 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Comparison — other financial valuation approaches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52144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56676"/>
                </a:solidFill>
                <a:latin typeface="Calibri"/>
              </a:rPr>
              <a:t>The master model is the spine; these established methods are cross-checks for different stages.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26567" y="1645920"/>
          <a:ext cx="11338560" cy="2615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743200"/>
                <a:gridCol w="2926080"/>
                <a:gridCol w="3291840"/>
              </a:tblGrid>
              <a:tr h="373597">
                <a:tc>
                  <a:txBody>
                    <a:bodyPr/>
                    <a:lstStyle/>
                    <a:p>
                      <a:r>
                        <a:rPr sz="1030" b="1">
                          <a:solidFill>
                            <a:srgbClr val="FFFFFF"/>
                          </a:solidFill>
                          <a:latin typeface="Georgia"/>
                        </a:rPr>
                        <a:t>Approach</a:t>
                      </a:r>
                    </a:p>
                  </a:txBody>
                  <a:tcPr anchor="ctr" marL="82296" marR="82296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30" b="1">
                          <a:solidFill>
                            <a:srgbClr val="FFFFFF"/>
                          </a:solidFill>
                          <a:latin typeface="Georgia"/>
                        </a:rPr>
                        <a:t>Essence</a:t>
                      </a:r>
                    </a:p>
                  </a:txBody>
                  <a:tcPr anchor="ctr" marL="82296" marR="82296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30" b="1">
                          <a:solidFill>
                            <a:srgbClr val="FFFFFF"/>
                          </a:solidFill>
                          <a:latin typeface="Georgia"/>
                        </a:rPr>
                        <a:t>Best used when</a:t>
                      </a:r>
                    </a:p>
                  </a:txBody>
                  <a:tcPr anchor="ctr" marL="82296" marR="82296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30" b="1">
                          <a:solidFill>
                            <a:srgbClr val="FFFFFF"/>
                          </a:solidFill>
                          <a:latin typeface="Georgia"/>
                        </a:rPr>
                        <a:t>Caveat for deep tech</a:t>
                      </a:r>
                    </a:p>
                  </a:txBody>
                  <a:tcPr anchor="ctr" marL="82296" marR="82296" marT="45720" marB="45720">
                    <a:solidFill>
                      <a:srgbClr val="0F2A4A"/>
                    </a:solidFill>
                  </a:tcPr>
                </a:tc>
              </a:tr>
              <a:tr h="373597">
                <a:tc>
                  <a:txBody>
                    <a:bodyPr/>
                    <a:lstStyle/>
                    <a:p>
                      <a:r>
                        <a:rPr sz="980" b="1">
                          <a:solidFill>
                            <a:srgbClr val="1F2A36"/>
                          </a:solidFill>
                          <a:latin typeface="Calibri"/>
                        </a:rPr>
                        <a:t>Revenue multiple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1F2A36"/>
                          </a:solidFill>
                          <a:latin typeface="Calibri"/>
                        </a:rPr>
                        <a:t>EV = Revenue × sector multiple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1F2A36"/>
                          </a:solidFill>
                          <a:latin typeface="Calibri"/>
                        </a:rPr>
                        <a:t>Early commercial revenue exists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1F2A36"/>
                          </a:solidFill>
                          <a:latin typeface="Calibri"/>
                        </a:rPr>
                        <a:t>Silent pre-revenue; multiples volatile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</a:tr>
              <a:tr h="373597">
                <a:tc>
                  <a:txBody>
                    <a:bodyPr/>
                    <a:lstStyle/>
                    <a:p>
                      <a:r>
                        <a:rPr sz="980" b="1">
                          <a:solidFill>
                            <a:srgbClr val="1F2A36"/>
                          </a:solidFill>
                          <a:latin typeface="Calibri"/>
                        </a:rPr>
                        <a:t>Earnings / P/E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1F2A36"/>
                          </a:solidFill>
                          <a:latin typeface="Calibri"/>
                        </a:rPr>
                        <a:t>Equity = Net profit × P/E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1F2A36"/>
                          </a:solidFill>
                          <a:latin typeface="Calibri"/>
                        </a:rPr>
                        <a:t>Profitable, comparable listed peers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1F2A36"/>
                          </a:solidFill>
                          <a:latin typeface="Calibri"/>
                        </a:rPr>
                        <a:t>Not applicable while pre-profit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</a:tr>
              <a:tr h="373597">
                <a:tc>
                  <a:txBody>
                    <a:bodyPr/>
                    <a:lstStyle/>
                    <a:p>
                      <a:r>
                        <a:rPr sz="980" b="1">
                          <a:solidFill>
                            <a:srgbClr val="1F2A36"/>
                          </a:solidFill>
                          <a:latin typeface="Calibri"/>
                        </a:rPr>
                        <a:t>EV/EBITDA &amp; market multiples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1F2A36"/>
                          </a:solidFill>
                          <a:latin typeface="Calibri"/>
                        </a:rPr>
                        <a:t>EV = EBITDA × peer multiple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1F2A36"/>
                          </a:solidFill>
                          <a:latin typeface="Calibri"/>
                        </a:rPr>
                        <a:t>Scaling, near-peer financials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1F2A36"/>
                          </a:solidFill>
                          <a:latin typeface="Calibri"/>
                        </a:rPr>
                        <a:t>Needs illiquidity &amp; stage discounts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</a:tr>
              <a:tr h="373597">
                <a:tc>
                  <a:txBody>
                    <a:bodyPr/>
                    <a:lstStyle/>
                    <a:p>
                      <a:r>
                        <a:rPr sz="980" b="1">
                          <a:solidFill>
                            <a:srgbClr val="1F2A36"/>
                          </a:solidFill>
                          <a:latin typeface="Calibri"/>
                        </a:rPr>
                        <a:t>DCF / rNPV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1F2A36"/>
                          </a:solidFill>
                          <a:latin typeface="Calibri"/>
                        </a:rPr>
                        <a:t>Σ risk-adjusted CF ÷ (1+r)ₜ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1F2A36"/>
                          </a:solidFill>
                          <a:latin typeface="Calibri"/>
                        </a:rPr>
                        <a:t>Any stage — the intrinsic anchor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1F2A36"/>
                          </a:solidFill>
                          <a:latin typeface="Calibri"/>
                        </a:rPr>
                        <a:t>Highly sensitive to assumptions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</a:tr>
              <a:tr h="373597">
                <a:tc>
                  <a:txBody>
                    <a:bodyPr/>
                    <a:lstStyle/>
                    <a:p>
                      <a:r>
                        <a:rPr sz="980" b="1">
                          <a:solidFill>
                            <a:srgbClr val="1F2A36"/>
                          </a:solidFill>
                          <a:latin typeface="Calibri"/>
                        </a:rPr>
                        <a:t>VC method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1F2A36"/>
                          </a:solidFill>
                          <a:latin typeface="Calibri"/>
                        </a:rPr>
                        <a:t>EV = Exit value ÷ target return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1F2A36"/>
                          </a:solidFill>
                          <a:latin typeface="Calibri"/>
                        </a:rPr>
                        <a:t>Pricing a priced round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1F2A36"/>
                          </a:solidFill>
                          <a:latin typeface="Calibri"/>
                        </a:rPr>
                        <a:t>Depends on exit &amp; target-multiple inputs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</a:tr>
              <a:tr h="373602">
                <a:tc>
                  <a:txBody>
                    <a:bodyPr/>
                    <a:lstStyle/>
                    <a:p>
                      <a:r>
                        <a:rPr sz="980" b="1">
                          <a:solidFill>
                            <a:srgbClr val="1F2A36"/>
                          </a:solidFill>
                          <a:latin typeface="Calibri"/>
                        </a:rPr>
                        <a:t>Comparable transactions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1F2A36"/>
                          </a:solidFill>
                          <a:latin typeface="Calibri"/>
                        </a:rPr>
                        <a:t>Apply observed deal metrics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1F2A36"/>
                          </a:solidFill>
                          <a:latin typeface="Calibri"/>
                        </a:rPr>
                        <a:t>Reference deals exist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>
                          <a:solidFill>
                            <a:srgbClr val="1F2A36"/>
                          </a:solidFill>
                          <a:latin typeface="Calibri"/>
                        </a:rPr>
                        <a:t>Deal terms rarely fully disclosed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504688"/>
            <a:ext cx="11183112" cy="786384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504688"/>
            <a:ext cx="91440" cy="786384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04688"/>
            <a:ext cx="10744200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>
                <a:solidFill>
                  <a:srgbClr val="1F2A36"/>
                </a:solidFill>
                <a:latin typeface="Calibri"/>
              </a:rPr>
              <a:t>Cross-checks, not rivals. WBI was valued by DCF (WACC 12%, terminal growth 3%) at US$55.6M, then sense-checked against an industry P/E of 50–60×.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8E2B"/>
                </a:solidFill>
                <a:latin typeface="Calibri"/>
              </a:rPr>
              <a:t>SECTION 7  · 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Choosing the right method by venture stage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52144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56676"/>
                </a:solidFill>
                <a:latin typeface="Calibri"/>
              </a:rPr>
              <a:t>Method selection follows TRL stage — the same matrix introduced in Section 1.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447" y="1645920"/>
          <a:ext cx="10972800" cy="2249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206240"/>
                <a:gridCol w="4023360"/>
              </a:tblGrid>
              <a:tr h="37490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Georgia"/>
                        </a:rPr>
                        <a:t>Stage / TRL</a:t>
                      </a:r>
                    </a:p>
                  </a:txBody>
                  <a:tcPr anchor="ctr" marL="82296" marR="82296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Georgia"/>
                        </a:rPr>
                        <a:t>Primary method</a:t>
                      </a:r>
                    </a:p>
                  </a:txBody>
                  <a:tcPr anchor="ctr" marL="82296" marR="82296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Georgia"/>
                        </a:rPr>
                        <a:t>Secondary cross-check</a:t>
                      </a:r>
                    </a:p>
                  </a:txBody>
                  <a:tcPr anchor="ctr" marL="82296" marR="82296" marT="45720" marB="45720">
                    <a:solidFill>
                      <a:srgbClr val="0F2A4A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A36"/>
                          </a:solidFill>
                          <a:latin typeface="Calibri"/>
                        </a:rPr>
                        <a:t>Concept (TRL 1–3)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Milestone roadmap + qualitative scorecard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Comparable seed rounds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A36"/>
                          </a:solidFill>
                          <a:latin typeface="Calibri"/>
                        </a:rPr>
                        <a:t>Prototype (TRL 4–6)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Use-of-funds rNPV + VC method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Benchmarked exit value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A36"/>
                          </a:solidFill>
                          <a:latin typeface="Calibri"/>
                        </a:rPr>
                        <a:t>Validation (TRL 7–8)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rNPV + comparable transactions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Revenue multiple, if pilot revenue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A36"/>
                          </a:solidFill>
                          <a:latin typeface="Calibri"/>
                        </a:rPr>
                        <a:t>Early commercial (TRL 9)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Revenue &amp; EV/EBITDA multiples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DCF</a:t>
                      </a:r>
                    </a:p>
                  </a:txBody>
                  <a:tcPr anchor="ctr" marL="82296" marR="82296" marT="36576" marB="36576">
                    <a:solidFill>
                      <a:srgbClr val="EEF1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A36"/>
                          </a:solidFill>
                          <a:latin typeface="Calibri"/>
                        </a:rPr>
                        <a:t>Scaling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DCF + capital-market multiples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36"/>
                          </a:solidFill>
                          <a:latin typeface="Calibri"/>
                        </a:rPr>
                        <a:t>P/E versus listed peers</a:t>
                      </a:r>
                    </a:p>
                  </a:txBody>
                  <a:tcPr anchor="ctr" marL="82296" marR="82296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504688"/>
            <a:ext cx="11183112" cy="786384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504688"/>
            <a:ext cx="91440" cy="786384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04688"/>
            <a:ext cx="10744200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>
                <a:solidFill>
                  <a:srgbClr val="1F2A36"/>
                </a:solidFill>
                <a:latin typeface="Calibri"/>
              </a:rPr>
              <a:t>No single method is correct — the master model is correct because it uses the right method at each stage and reconciles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8E2B"/>
                </a:solidFill>
                <a:latin typeface="Calibri"/>
              </a:rPr>
              <a:t>CLOSING  ·  CAVEATS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Common pitfalls and academic caveats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35024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>
                <a:solidFill>
                  <a:srgbClr val="1F2A36"/>
                </a:solidFill>
                <a:latin typeface="Calibri"/>
              </a:rPr>
              <a:t>Single-point valuations — deep tech is a distribution; always present a range with its probabilities.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>
                <a:solidFill>
                  <a:srgbClr val="1F2A36"/>
                </a:solidFill>
                <a:latin typeface="Calibri"/>
              </a:rPr>
              <a:t>Confusing headline valuation with value received — terms and dilution can outweigh the price.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>
                <a:solidFill>
                  <a:srgbClr val="1F2A36"/>
                </a:solidFill>
                <a:latin typeface="Calibri"/>
              </a:rPr>
              <a:t>Double-counting risk — once a milestone is achieved, remove its POS from CPOS; do not also keep an inflated discount rate.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>
                <a:solidFill>
                  <a:srgbClr val="1F2A36"/>
                </a:solidFill>
                <a:latin typeface="Calibri"/>
              </a:rPr>
              <a:t>Optimistic POS — use base rates from comparable programmes, not the founder's confidence.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>
                <a:solidFill>
                  <a:srgbClr val="1F2A36"/>
                </a:solidFill>
                <a:latin typeface="Calibri"/>
              </a:rPr>
              <a:t>Stale benchmarks — venture references age quickly; date and adjust every comparable.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>
                <a:solidFill>
                  <a:srgbClr val="1F2A36"/>
                </a:solidFill>
                <a:latin typeface="Calibri"/>
              </a:rPr>
              <a:t>Ignoring the option pool — it is usually created pre-money and dilutes founders, not investors.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212080"/>
            <a:ext cx="11183112" cy="868680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212080"/>
            <a:ext cx="91440" cy="86868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12080"/>
            <a:ext cx="107442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>
                <a:solidFill>
                  <a:srgbClr val="1F2A36"/>
                </a:solidFill>
                <a:latin typeface="Calibri"/>
              </a:rPr>
              <a:t>A valuation is only as honest as its weakest assumption. State assumptions explicitly so others can challenge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8E2B"/>
                </a:solidFill>
                <a:latin typeface="Calibri"/>
              </a:rPr>
              <a:t>CLOSING  · 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Workshop exercise — build a valuation for your venture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170432"/>
            <a:ext cx="110642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56676"/>
                </a:solidFill>
                <a:latin typeface="Calibri"/>
              </a:rPr>
              <a:t>Work with your own venture, or a DTL case provided by the facilitator.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1691640"/>
            <a:ext cx="566928" cy="566928"/>
          </a:xfrm>
          <a:prstGeom prst="ellipse">
            <a:avLst/>
          </a:prstGeom>
          <a:solidFill>
            <a:srgbClr val="4E7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691640"/>
            <a:ext cx="566928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1719072"/>
            <a:ext cx="9692640" cy="512064"/>
          </a:xfrm>
          <a:prstGeom prst="roundRect">
            <a:avLst>
              <a:gd name="adj" fmla="val 18000"/>
            </a:avLst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36576" bIns="36576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F2A36"/>
                </a:solidFill>
                <a:latin typeface="Georgia"/>
              </a:rPr>
              <a:t>Draw the milestone roadmap from today's TRL to a credible exit.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2350008"/>
            <a:ext cx="566928" cy="566928"/>
          </a:xfrm>
          <a:prstGeom prst="ellipse">
            <a:avLst/>
          </a:prstGeom>
          <a:solidFill>
            <a:srgbClr val="3F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50008"/>
            <a:ext cx="566928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54480" y="2377440"/>
            <a:ext cx="9692640" cy="512064"/>
          </a:xfrm>
          <a:prstGeom prst="roundRect">
            <a:avLst>
              <a:gd name="adj" fmla="val 18000"/>
            </a:avLst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36576" bIns="36576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F2A36"/>
                </a:solidFill>
                <a:latin typeface="Georgia"/>
              </a:rPr>
              <a:t>State the next round's use of funds and the milestones it buys.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3008376"/>
            <a:ext cx="566928" cy="566928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008376"/>
            <a:ext cx="566928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54480" y="3035808"/>
            <a:ext cx="9692640" cy="512064"/>
          </a:xfrm>
          <a:prstGeom prst="roundRect">
            <a:avLst>
              <a:gd name="adj" fmla="val 18000"/>
            </a:avLst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36576" bIns="36576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F2A36"/>
                </a:solidFill>
                <a:latin typeface="Georgia"/>
              </a:rPr>
              <a:t>Find three market references for the exit value.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3666744"/>
            <a:ext cx="566928" cy="566928"/>
          </a:xfrm>
          <a:prstGeom prst="ellipse">
            <a:avLst/>
          </a:prstGeom>
          <a:solidFill>
            <a:srgbClr val="6F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66744"/>
            <a:ext cx="566928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54480" y="3694176"/>
            <a:ext cx="9692640" cy="512064"/>
          </a:xfrm>
          <a:prstGeom prst="roundRect">
            <a:avLst>
              <a:gd name="adj" fmla="val 18000"/>
            </a:avLst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36576" bIns="36576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F2A36"/>
                </a:solidFill>
                <a:latin typeface="Georgia"/>
              </a:rPr>
              <a:t>Build the rNPV, then reconcile it with benchmarking (matching).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4325112"/>
            <a:ext cx="566928" cy="566928"/>
          </a:xfrm>
          <a:prstGeom prst="ellipse">
            <a:avLst/>
          </a:prstGeom>
          <a:solidFill>
            <a:srgbClr val="C99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325112"/>
            <a:ext cx="566928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54480" y="4352544"/>
            <a:ext cx="9692640" cy="512064"/>
          </a:xfrm>
          <a:prstGeom prst="roundRect">
            <a:avLst>
              <a:gd name="adj" fmla="val 18000"/>
            </a:avLst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36576" bIns="36576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F2A36"/>
                </a:solidFill>
                <a:latin typeface="Georgia"/>
              </a:rPr>
              <a:t>Write the downside and upside across the Golden Triangle.</a:t>
            </a:r>
          </a:p>
        </p:txBody>
      </p:sp>
      <p:sp>
        <p:nvSpPr>
          <p:cNvPr id="24" name="Oval 23"/>
          <p:cNvSpPr/>
          <p:nvPr/>
        </p:nvSpPr>
        <p:spPr>
          <a:xfrm>
            <a:off x="777240" y="4983479"/>
            <a:ext cx="566928" cy="566928"/>
          </a:xfrm>
          <a:prstGeom prst="ellipse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983479"/>
            <a:ext cx="566928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54480" y="5010912"/>
            <a:ext cx="9692640" cy="512064"/>
          </a:xfrm>
          <a:prstGeom prst="roundRect">
            <a:avLst>
              <a:gd name="adj" fmla="val 18000"/>
            </a:avLst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36576" bIns="36576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F2A36"/>
                </a:solidFill>
                <a:latin typeface="Georgia"/>
              </a:rPr>
              <a:t>Set a pre-money, a raise amount, and show the resulting cap table.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669280"/>
            <a:ext cx="11183112" cy="713232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5669280"/>
            <a:ext cx="91440" cy="71323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669280"/>
            <a:ext cx="107442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>
                <a:solidFill>
                  <a:srgbClr val="1F2A36"/>
                </a:solidFill>
                <a:latin typeface="Calibri"/>
              </a:rPr>
              <a:t>Deliverable: a one-page valuation memo — a value range, the six layers behind it, and every assumption stated.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8E2B"/>
                </a:solidFill>
                <a:latin typeface="Calibri"/>
              </a:rPr>
              <a:t>CLOSING  · 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Key takeaways and further reading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35024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>
                <a:solidFill>
                  <a:srgbClr val="1F2A36"/>
                </a:solidFill>
                <a:latin typeface="Calibri"/>
              </a:rPr>
              <a:t>Valuation is an argument built from milestones, funds and market evidence — it is assembled, not guessed.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>
                <a:solidFill>
                  <a:srgbClr val="1F2A36"/>
                </a:solidFill>
                <a:latin typeface="Calibri"/>
              </a:rPr>
              <a:t>rNPV makes de-risking measurable; benchmarking anchors it to the market; matching reconciles the two.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>
                <a:solidFill>
                  <a:srgbClr val="1F2A36"/>
                </a:solidFill>
                <a:latin typeface="Calibri"/>
              </a:rPr>
              <a:t>Always express uncertainty as a downside/upside range across the Golden Triangle — technology, organisation, commercial.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>
                <a:solidFill>
                  <a:srgbClr val="1F2A36"/>
                </a:solidFill>
                <a:latin typeface="Calibri"/>
              </a:rPr>
              <a:t>Stakeholder terms decide who receives the value — read them as carefully as the headline number.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>
                <a:solidFill>
                  <a:srgbClr val="556676"/>
                </a:solidFill>
                <a:latin typeface="Calibri"/>
              </a:rPr>
              <a:t>Damodaran, A. — Valuing Young, Start-up and Growth Companies (NYU Stern).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>
                <a:solidFill>
                  <a:srgbClr val="556676"/>
                </a:solidFill>
                <a:latin typeface="Calibri"/>
              </a:rPr>
              <a:t>Metrick &amp; Yasuda — Venture Capital and the Finance of Innovation.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>
                <a:solidFill>
                  <a:srgbClr val="556676"/>
                </a:solidFill>
                <a:latin typeface="Calibri"/>
              </a:rPr>
              <a:t>Razgaitis, R. — Valuation and Dealmaking of Technology-Based IP.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>
                <a:solidFill>
                  <a:srgbClr val="556676"/>
                </a:solidFill>
                <a:latin typeface="Calibri"/>
              </a:rPr>
              <a:t>Deep-Tech Lab (DTL) venture files — internal references used in this session.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212080"/>
            <a:ext cx="11183112" cy="868680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212080"/>
            <a:ext cx="91440" cy="86868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12080"/>
            <a:ext cx="107442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>
                <a:solidFill>
                  <a:srgbClr val="1F2A36"/>
                </a:solidFill>
                <a:latin typeface="Calibri"/>
              </a:rPr>
              <a:t>All figures in this deck are illustrative worked examples for training purposes — they are not investment advice.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8686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6676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A4A"/>
                </a:solidFill>
                <a:latin typeface="Georgia"/>
              </a:rPr>
              <a:t>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