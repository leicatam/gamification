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90-minute session turns valuation from a black box into a constructed, defensible argument. We use real Deep-Tech Lab ventures as worked references throughout. All figures shown are illustrative worked examples, not investment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Scientists often feel valuation is arbitrary. The message: it is a structured argument. If any of the three legs — milestones, funds, market evidence — is missing, the number cannot be defended in a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audience through the arc. Stress that sections build on one another — each method feeds the master model in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establishes the mental model: value is created step by step as risk is removed at each milestone.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Scientists already think in TRL terms — anchor valuation to that familiar ladder. The Illuminatio MRI venture, for example, targets a 510(k) clearance as a defining regulatory milestone.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last column: method choice is stage-dependent. We revisit this matrix in Section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conceptual core of the whole deck. The 1/POS jump is made concrete with numbers in Section 2's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is the quantitative heart of the training. Take time on the rNPV formula and the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 that the use of funds is milestone-led. 'We will spend $2.5M' is not a plan; 'we will spend $2.5M to reach prototype and validation'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reframes budgeting for scientists: spending is an investment only when it shifts a POS or expands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numbers used on the worked-example slide. The 2.9x is before the discount-for-time effect, which adds further uplift.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slide. The first sum is the risk-adjusted reward; the second is the cost. Stress the discipline: once a milestone is achieved you DROP its POS from CPOS — you do not also keep an inflated r, or you double-count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row. 1.25^5 = 3.05; 1.25^3 = 1.95. The uplift combines two effects: risk removed (16.8% -&gt; 48%) and time shortened (5 yrs -&gt; 3). All figures are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supplies the exit value and the sense-checks that the rNPV needs. Without benchmarking, the intrinsic model floats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four lenses as a checklist. Each appears on its own slide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liver-diagnostics figures come from the Illuminatio venture file. Teach the audience to move from the big TAM headline to a defensible, bottom-up SOM.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dimensions are taken from the DTL interview scorecard. For Illuminatio, the competitive edge is direct macromolecule measurement versus competitors' indirect stiffness proxies (Resoundant, Echosens, Perspectum).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Acknowledge the data problem: deep-tech comparables are scarce and deal terms are seldom disclosed. Hence triangulation, not reliance on one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is the reconciliation step. Two independent estimates that agree are far more persuasive than either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matching is not to average two numbers — it is to diagnose. A gap is informative; it tells you where to dig.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worksheet is the practical deliverable of matching. A 'Review' flag means the bottom-up and top-down views disagree and the assumption must be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closes the loop between Sections 2 and 3. The practical advice: if the market does not reward a milestone, question why you are funding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forces the deck away from single numbers. The Golden Triangle is the organising device for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Researchers tend to over-weight the technology vertex. Stress that investors price all three, and that organisation and commercial risk are where scientist-led ventures most often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deliberate asymmetry — upside far above base, downside not far below — is characteristic of deep tech. The mean exceeds the mode; this is the option-like payoff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makes the scenario probabilities defensible. Each downside/upside driver should be traceable to a milestone POS in the rNPV.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Caution: E[V] collapses the distribution back to one number. Always present it alongside the range. A negotiation is really about whose probabilities are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 separates the headline valuation from the value each stakeholder realises. This is where scientist-founders are most often surprised.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distinction economics vs control — it is the spine of the next two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participating preferred carefully — it is the term that most often surprises founders. A 1x non-participating preference is the founder-friendly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founders: dilution is normal and healthy if each round buys milestones that raise the whole company's value faster than ownership 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pre- vs post-money confusion is a classic, costly error. Make the audience compute the example: 2.5 / 6.9 = 36.2%.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 is the synthesis. Show how every prior section becomes a layer of one coherent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payoff slide. Each layer is one prior section. The deliverable of the whole training is the ability to build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consolidates every worked number used in the deck. Every figure traces back to a named assumption — that traceability is what makes the valuation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WBI case is a real DTL-adjacent valuation: DCF gave US$55.6M, cross-checked at 38x 2024 P/E versus a 50-60x industry norm. The lesson — capital-market multiples leverage listed peers but must be discounted for illiquidity, stage and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 with Section 1's ladder. Reinforce: stage drives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recurring errors in DTL venture reviews. Honesty about assumptions is what makes a valuation survive due diligence.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as a take-away exercise or a breakout. The one-page memo is the real test of whether the training landed.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restating the four takeaways. Point to the reading list for participants who want the academic underpinnings.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E08E2B"/>
                </a:solidFill>
                <a:latin typeface="Calibri"/>
              </a:rPr>
              <a:t>DEEP-TECH LAB (DTL)  ·  TRAINING SERIES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1" i="0">
                <a:solidFill>
                  <a:srgbClr val="FFFFFF"/>
                </a:solidFill>
                <a:latin typeface="Calibri"/>
              </a:rPr>
              <a:t>Valuing Deep-Tech Ventures</a:t>
            </a:r>
          </a:p>
          <a:p>
            <a:r>
              <a:rPr sz="2400" b="0" i="0">
                <a:solidFill>
                  <a:srgbClr val="C6D4E2"/>
                </a:solidFill>
                <a:latin typeface="Calibri"/>
              </a:rPr>
              <a:t>A Practitioner's Framework for Researchers &amp; Scientists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3886200"/>
            <a:ext cx="2743200" cy="9144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AEC2D6"/>
                </a:solidFill>
                <a:latin typeface="Calibri"/>
              </a:rPr>
              <a:t>90-minute training  ·  six connected methods, assembled into one master model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AEC2D6"/>
                </a:solidFill>
                <a:latin typeface="Calibri"/>
              </a:rPr>
              <a:t>From milestone roadmap and use-of-funds, through benchmarking and uncertainty,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AEC2D6"/>
                </a:solidFill>
                <a:latin typeface="Calibri"/>
              </a:rPr>
              <a:t>to stakeholder rights and dilution.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80644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Calibri"/>
              </a:rPr>
              <a:t>Audience: research scientists and venture founders  |  Tone: professional and academic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WHY THIS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The valuation gap for scientist-founders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Deep-tech ventures are valued years before revenue — earnings, book value and cash flow are near zero, so standard accounting methods return little that is meaningful.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Yet valuation is unavoidable: it sets how much equity you exchange for the capital needed to reach your next scientific milestone.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 defensible valuation is not a guess — it is an argument that links three things: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the science you will do (milestones),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the funds you will spend to do it (use of funds), and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the market evidence that prices the result (benchmarking).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This session builds that argument in six connected methods, then assembles them into a single master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 deep-tech valuation is a risk-adjusted, milestone-indexed estimate of future value — not a statement of present fact.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90-MINUTE RUN OF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Agenda and 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1  ·  The milestone roadmap to a valuation — 10 min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2  ·  Use of funds → value creation → the math — 20 min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3  ·  Benchmarking: market, competition, valuation references — 15 min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4  ·  Matching method: use of funds tested against the market — 10 min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5  ·  Uncertainty: downside/upside across the Golden Triangle — 15 min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6  ·  Stakeholders: rights, protections, controls, future dilution — 12 min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7  ·  The master model + comparison with other financial approaches — 8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Objectives — by the end you can: (i) build a milestone-indexed valuation; (ii) defend it with benchmarking; (iii) state its downside and upside; (iv) read how a term sheet changes your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The Milestone Roadmap to a 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Valuation is a process indexed to scientific and commercial milestones — not a single number fixed at one date.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Valuation is a process, not a number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 deep-tech venture's value is the present value of a future outcome that is still uncertain — the uncertainty is what milestones resolve.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Map the venture on the Technology Readiness Level (TRL) ladder, from TRL 1 (basic principles) to TRL 9 (proven in operation).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Each rung pairs a TRL step with a value inflection — a point at which a specific risk is removed and the venture is worth materially more.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Examples of value-inflection milestones in DTL ventures: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a working prototype or validated assay (engineering / feasibility risk);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clinical or field-validation data (efficacy / scientific risk);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regulatory clearance, e.g. an FDA 510(k) for a Class II device;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first paying customer or signed commercial contract (market risk).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roadmap defines WHEN value is created; the later sections quantify HOW MUCH.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From idea to value: the milestone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An illustrative roadmap; each venture customises the milestones and the method used to value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83767" y="1627632"/>
          <a:ext cx="104241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731520"/>
                <a:gridCol w="3200400"/>
                <a:gridCol w="2103120"/>
                <a:gridCol w="3108960"/>
              </a:tblGrid>
              <a:tr h="368372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Stage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TRL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Defining milestone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Risk removed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Primary valuation method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F2A36"/>
                          </a:solidFill>
                          <a:latin typeface="Calibri"/>
                        </a:rPr>
                        <a:t>Concept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1–3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Proof of principle, IP filed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Scientific basis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Qualitative scorecard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F2A36"/>
                          </a:solidFill>
                          <a:latin typeface="Calibri"/>
                        </a:rPr>
                        <a:t>Prototype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4–6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Working prototype / validated assay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Engineering feasibility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Use-of-funds rNPV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F2A36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7–8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Clinical or field validation data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Efficacy / performance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rNPV + comparables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F2A36"/>
                          </a:solidFill>
                          <a:latin typeface="Calibri"/>
                        </a:rPr>
                        <a:t>Regulatory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Clearance / approval (e.g. 510(k))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Regulatory risk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F2A36"/>
                          </a:solidFill>
                          <a:latin typeface="Calibri"/>
                        </a:rPr>
                        <a:t>Commercial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First revenue / signed contracts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Market acceptance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Revenue &amp; earnings multiples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6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1F2A36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Repeatable growth, positive margin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Execution / scale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i="0">
                          <a:solidFill>
                            <a:srgbClr val="1F2A36"/>
                          </a:solidFill>
                          <a:latin typeface="Calibri"/>
                        </a:rPr>
                        <a:t>DCF + capital-market multiples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The valuation method should follow the venture's TRL stage — using a revenue multiple on a pre-revenue venture is a category error.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1  ·  THE MILESTONE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De-risking equals value creation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Picture the venture's eventual exit value as a fixed prize, visible but discounted today by the probability it is never reached.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Every milestone has a probability of success (POS). Before any milestones, the venture is worth the prize multiplied by the product of all the POS figures — a small fraction of the prize.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Achieving a milestone removes its risk: that POS term disappears from the discount, and the venture's value jumps by the factor 1 / POS.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So value is not created smoothly — it is created in steps, each step coinciding with a milestone.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This is why a venture can raise at a much higher price after a result that cost relatively little: the result removed a large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Value creation = risk removal. The job of a funding round is to buy the milestones that remove the most risk per dollar.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From Use of Funds to Value — the Math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How a funding round creates value: funds drive tasks, tasks remove risk, and removed risk accumulates into valuation.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2  ·  USE OF FUNDS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Step 1 — use of funds as the unit of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Start not with a valuation number, but with the use of funds: the itemised plan of what the next round of capital will be spent 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 credible use of funds is structured around milestones, not line items — it states which milestones the money will deliver.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Typical use-of-funds categories for a DTL venture: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R&amp;D and prototyping — the core technical work;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validation, clinical or pilot studies — generating evidence;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regulatory and IP — filings, approvals, freedom-to-operate;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team and operations — hiring the people who execute;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go-to-market — first commercial activity.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Each category funds tasks; each task is chosen because it removes a specific, nameable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The use of funds is the bridge between the laboratory and the valuation: it is the list of risks the round will buy 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2  ·  VALUE CREATION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How funded tasks create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Trace the causal chain for every dollar:  funds → task → milestone → risk removed → value created.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 task creates value only if it changes a probability of success or the size of the eventual prize — otherwise it is cost, not investment.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Worked mapping for an imaging-diagnostics venture: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funds the prototype build → raises engineering POS from ~0.4 to ~0.7;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funds the clinical study → raises efficacy POS from ~0.3 to ~0.5;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funds the regulatory submission → raises clearance POS toward ~0.6.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Tasks that only maintain the status quo (rent, admin) are necessary but do not, by themselves, create valuation — they are the cost of keeping the option alive.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Test every funded task with one question: which probability does it move, and by how much? If the answer is 'none', it is overhead.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2  ·  VALUE ACCUMULATION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How value accumulates across tasks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Milestones compound. Achieving milestone A and then milestone B removes both risks — value multiplies by (1/POS_A) × (1/POS_B).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Accumulation example — a round that funds two milestones: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before the round, four milestones remain; cumulative POS = 0.7 × 0.5 × 0.6 × 0.8 = 16.8%;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the round funds and achieves the first two; remaining cumulative POS = 0.6 × 0.8 = 48%;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the risk-adjusted value rises by roughly 48% / 16.8% ≈ 2.9×, before accounting for the shorter remaining time to exit.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capital deployed is modest relative to the value step it unlocks — that ratio is the entire valuation argument for the round.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Value accumulates multiplicatively across milestones. The round's story is the gap between dollars spent and value steps unlocked.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2  ·  THE MATH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The math of valuation — risk-adjusted NPV (rNPV)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481328"/>
            <a:ext cx="9628632" cy="1481328"/>
          </a:xfrm>
          <a:prstGeom prst="roundRect">
            <a:avLst>
              <a:gd name="adj" fmla="val 8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591056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rNPV₀  =  Σₜ [ CPOSₜ × CFₜ / (1+r)ₜ ]  −  Σₜ [ Costₜ / (1+r)ₜ ]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08E2B"/>
                </a:solidFill>
                <a:latin typeface="Consolas"/>
              </a:rPr>
              <a:t>value step on milestone success:   V  →  V × (1 / POS)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F2A4A"/>
                </a:solidFill>
                <a:latin typeface="Calibri"/>
              </a:rPr>
              <a:t>where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CPOSₜ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cumulative probability of reaching year t — the product of every milestone POS up to t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CFₜ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projected cash flow or exit value in year t — sized by benchmarking (Section 3)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Costₜ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use of funds deployed in year t — the spending plan from Step 1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r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venture discount rate: stage-dependent cost of capital, typically 15–40% for early deep tech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9496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39496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rNPV (also called eNPV) is the standard intrinsic method for risk-laden, milestone-driven ventures. It makes de-risking measurable.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2  · 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Worked example — a milestone-funded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Illustrative figures for a diagnostic-imaging venture raising a US$2.5M round to fund the first two milestones.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6607" y="1627632"/>
          <a:ext cx="10698480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554480"/>
                <a:gridCol w="4937760"/>
              </a:tblGrid>
              <a:tr h="36758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Basis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 (Year 5)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US$80M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comparable med-tech exits — see Section 3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M1 — working prototype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POS 70%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engineering / feasibility risk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M2 — clinical validation data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POS 50%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efficacy / scientific risk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M3 — regulatory clearance (510(k))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POS 60%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regulatory risk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M4 — first commercial revenue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POS 80%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market-acceptance risk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Cumulative POS (all four)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16.8%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0.70 × 0.50 × 0.60 × 0.80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Venture discount rate r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early-stage cost of capital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758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Risk-adjusted value today (pre-money)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≈ US$4.4M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0.168 × 80 ÷ 1.25⁵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7596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Value after M1 + M2 funded &amp; achieved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≈ US$19.7M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0.48 × 80 ÷ 1.25³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 US$2.5M round that buys M1 + M2 lifts risk-adjusted value from ~US$4.4M to ~US$19.7M — about 4.5×. That multiple, not the cash, is the valuation argument.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The Benchmarking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Anchoring the venture to external evidence: market size, competitive position, qualitative quality, and current valuation references.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3  · 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Benchmarking — triangulating value from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rNPV needs an exit value (CFₜ). Benchmarking supplies it from outside evidence, so the number is not merely the founder's hope.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Four benchmarking lenses, used together: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the market — how large is the addressable opportunity?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competitive analysis — who else is there, and how do you compare?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qualitative quality — the team, IP and execution 'good views';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valuation references — what have comparable ventures been valued at?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Triangulation matters: any single lens can mislead, but agreement across all four produces a defensible exit value.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Benchmarking is top-down (from the market inward); the use-of-funds rNPV is bottom-up (from the venture outward). Section 4 reconciles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Benchmarking answers 'what is the prize, and is it credible?' — it anchors the intrinsic model to observable market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3  ·  THE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Market sizing — TAM, SAM, SOM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Size the prize from the outside in; cite the source and date of every figure.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6567" y="1627632"/>
          <a:ext cx="113385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383280"/>
                <a:gridCol w="4937760"/>
              </a:tblGrid>
              <a:tr h="37033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Definition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DTL worked reference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TAM — Total Addressable Market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Total demand if you served everyone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Liver-disease diagnostics market ≈ US$30.6B (2020), ~6.7% CAGR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SAM — Serviceable Available Market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The slice your product and channel can reach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Non-invasive MRI-based liver-fibrosis testing in target geographies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SOM — Serviceable Obtainable Market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The share you can realistically win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Early hospital and pharma adopters reachable in the first 3–5 years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Investors discount an unsupported TAM heavily. A credible SOM, built bottom-up from named customers, carries far more weight.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3  ·  COMPETITION &amp;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Competitive analysis and the qualitative 'good views'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A benchmarking scorecard — the dimensions DTL reviewers actually use to grade ventures.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83767" y="1627632"/>
          <a:ext cx="10424160" cy="221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657600"/>
                <a:gridCol w="4023360"/>
              </a:tblGrid>
              <a:tr h="3688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benchmarks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Strong signal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Technology content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Depth, defensibility, IP position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Granted patents; clear performance edge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Team / founder readiness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Capability and commitment to execute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Domain track record; full-time founders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Commercialisation potential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Route to revenue and scale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Named customers; validated demand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Feasibility &amp; sustainability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Can it be delivered and funded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Credible milestones; realistic capital plan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Competitive position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Advantage vs named rivals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Direct measurement vs indirect proxies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The 'good views' are qualitative but not arbitrary — a structured scorecard turns judgement into a comparable benchmark.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3  ·  VALUATION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Current valuation references — reading the comparables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Valuation references are observed prices: recent funding rounds, acquisitions and licensing deals for comparable ventures.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Three reference types, in decreasing order of availability: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comparable financing rounds — pre-money valuations at the same stage;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comparable transactions — acquisition prices for similar assets;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comparable public companies — listed peers' trading multiples.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Adjust every reference for differences in stage, geography, TRL and deal terms before applying it — raw comparables are rarely like-for-like.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Date every reference. Venture valuations move with the financing cycle, so a comparable more than 12–18 months old must be treated with caution.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Comparables give a defensible exit value and a reality check on the rNPV — they rarely give the answer outright.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 comparable is evidence, not a verdict. Adjust it for stage, terms and date — then let it inform a range, not a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FOUR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The Matching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Reconciling the bottom-up use of funds with the top-down benchmarking — and testing the funding plan against market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Matching — reconciling bottom-up and top-down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Two independent estimates of value now exist: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bottom-up — the use-of-funds rNPV, built from milestones and POS;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top-down — the benchmarked exit value, built from market evidence.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matching method places them side by side and asks whether they tell a consistent story.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If the two agree, confidence is high and the overlap defines the defensible valuation range.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If they diverge, one assumption is wrong — matching forces you to find it: an over-optimistic POS, an inflated TAM, a stale comparable, or a use of funds that does not reach the milestones it claims.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Two estimates that converge from different directions are far more persuasive in a negotiation than either estimate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Matching is a consistency test. Convergence builds confidence; divergence locates the flawed assumption.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The matching worksheet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Place each funded milestone against the market evidence that prices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6607" y="1627632"/>
          <a:ext cx="10698480" cy="1847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  <a:gridCol w="3931920"/>
                <a:gridCol w="1097280"/>
              </a:tblGrid>
              <a:tr h="369417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 of funds (milestone)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Value mechanism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Market evidence that tests it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Match?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9417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Prototype build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Engineering POS 0.4→0.7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Comparable seed rounds post-prototype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9417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Clinical validation study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Efficacy POS 0.3→0.5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Valuations after comparable validation data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9417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Regulatory submission (510(k))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Clearance POS → 0.6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Re-rating of cleared comparable devices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Aligned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9420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Go-to-market / first contract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Unlocks revenue, market risk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Revenue multiples of early-commercial peers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Each row links a dollar of spend to a milestone, to a value step, to the market evidence that confirms or challenges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4  · 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Articulating use of funds and testing it against the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Articulation — state the use of funds so each item is explicitly tied to a milestone, a probability shift, and a value step.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Examination — hold each articulated item against the market evidence and ask three questions: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Is the milestone one the market actually re-prices? (some are invisible to investors);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Is the probability shift consistent with base rates from comparable programmes?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Does the implied value step match observed valuations of comparable ventures at that stage?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Where the answers align, the use of funds is validated and the round is 'priced' by the market, not by assertion.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Where they do not, revise the plan — reallocate funds toward the milestones the market genuinely rewards.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 use of funds is well-articulated when every dollar is traceable to a milestone the market is observed to pay for.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FIVE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Uncertainty — Downside vs Upside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A deep-tech valuation is a distribution, not a point. Frame its spread with the Golden Triangle: technology, organisation and commercial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The Golden Triangle — the three sources of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Every deep-tech venture's uncertainty resolves into three vertices, the Golden Triangle: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Technology — does the science work, at scale, reproducibly, with freedom to operate?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Organisation — can the team, governance and capital plan actually execute and survive?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Commercial (the market) — will customers adopt, pay and stay, against competition and regulation?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 venture is only as valuable as its weakest vertex — brilliant science with no commercial route, or a strong market with an unproven team, both cap the valuation.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Every milestone, every funded task and every risk in the rNPV maps onto one of these three vertices.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Technology · Organisation · Commercial — the Golden Triangle. Value is constrained by the weakest of the three.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Scenario analysis — downside, base and upside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Replace the single number with three explicit, fully-described scenarios.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92327" y="1627632"/>
          <a:ext cx="1060704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577840"/>
                <a:gridCol w="2011680"/>
                <a:gridCol w="1371600"/>
              </a:tblGrid>
              <a:tr h="370332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Narrative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Illustrative value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Probability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Downside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Key milestone slips or fails; partial recovery via asset sale or pivot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US$8M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Plan delivered roughly on time and on budget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US$25M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Upside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Faster validation, larger market capture, strategic interest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US$70M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Expected value  E[V]  =  0.30×8 + 0.50×25 + 0.20×70  ≈  US$28.9M  —  the mean sits above the base case.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Mapping uncertainty across the Golden Triangle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For each vertex, name the specific downside and the specific upside — do not leave risk abstract.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7967" y="1627632"/>
          <a:ext cx="11795760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846320"/>
                <a:gridCol w="4846320"/>
              </a:tblGrid>
              <a:tr h="37033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Vertex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Downside driver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Upside driver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Fails to reproduce or scale; blocked by third-party IP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Performance exceeds target; platform spawns multiple products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Organisation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Key person leaves; runs out of cash before next milestone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Senior hires land; non-dilutive grants extend the runway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Commercial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Slow adoption; reimbursement or regulation tightens; new entrant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Strategic partner or anchor customer; faster path to scale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Quantify, do not just list: attach a probability and a value impact to each driver so it feeds the scenario weights.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5  · 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Expected value and probability weighting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481328"/>
            <a:ext cx="9628632" cy="1481328"/>
          </a:xfrm>
          <a:prstGeom prst="roundRect">
            <a:avLst>
              <a:gd name="adj" fmla="val 8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591056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E[V]  =  p_down × V_down  +  p_base × V_base  +  p_up × V_up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08E2B"/>
                </a:solidFill>
                <a:latin typeface="Consolas"/>
              </a:rPr>
              <a:t>0.30 × 8  +  0.50 × 25  +  0.20 × 70   =   US$28.9M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F2A4A"/>
                </a:solidFill>
                <a:latin typeface="Calibri"/>
              </a:rPr>
              <a:t>where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p_x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probability of scenario x — grounded in the Golden-Triangle driver analysis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V_x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venture value in scenario x — each scenario fully narrated, not just a number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E[V]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probability-weighted expected value — the single figure, if one is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9496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39496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Report the range and the probabilities, not only E[V]. The spread between downside and upside is itself decision-useful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SIX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Stakeholders — Rights, Protections, Control &amp; Dilution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Enterprise value is not value received. Term-sheet rights, protections, controls and future dilution decide who actually gets what.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The cap table — who holds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capitalisation table records who owns the venture: founders, employees (the option pool), and investors by round.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headline valuation prices the whole company; the cap table and term sheet decide how that value is divided.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Two distinct dimensions are negotiated: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economic rights — who receives cash, and in what order, on an exit;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control rights — who can decide, veto or force key actions.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 scientist-founder must read both. The same headline valuation can leave founders with very different outcomes once rights and controls are applied.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Ownership percentage alone is an incomplete picture — a minority investor with strong protective provisions can hold decisive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The headline valuation sizes the pie. Rights, controls and dilution decide the slice each stakeholder actually eats.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Investor rights, protections and controls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Common term-sheet provisions — and how each one changes the value you actually receive.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5167" y="1627632"/>
          <a:ext cx="108813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840480"/>
                <a:gridCol w="4023360"/>
              </a:tblGrid>
              <a:tr h="36837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Provision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Effect on founder value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1× liquidation preference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Investor recovers capital first on exit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Reduces common-share value at low/mid exits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Participating preferred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Preference AND a share of the remainder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'Double dip' — materially cuts founder proceeds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Anti-dilution (weighted-avg.)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Re-prices investor shares if a later round is lower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Shifts down-round dilution onto founders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Pro-rata / pre-emptive rights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Investor may keep its % in future rounds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Constrains who you can admit later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Board seats &amp; protective provisions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Veto over budget, hiring, financing, sale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Control independent of ownership %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Founder vesting &amp; drag-along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Re-earn your shares; can be forced into a sale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Aligns — and limits — founder economics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Two ventures can carry an identical headline valuation yet deliver very different value to founders — the terms decide.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Future development and dilution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Deep-tech ventures need several rounds to cross all milestones — so dilution is not a one-off event but a planned sequence.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Each new round issues new shares: existing holders' percentages fall, even as the value of their stake can rise.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option pool is usually created or topped up pre-money — so it dilutes the founders, not the incoming investor. Negotiate its size deliberately.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Plan the full financing path in advance: model how founder ownership evolves across seed, Series A and beyond, against the milestone roadmap.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The goal is not to minimise dilution — it is to maximise the value of the founders' retained stake. A smaller slice of a de-risked, larger company can be worth far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Dilution is the price of de-risking capital. Judge it by the value of the slice retained, never by the percentage given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6  ·  STAKEHOLDERS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Pre-money, post-money and the dilution math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1481328"/>
            <a:ext cx="9628632" cy="1481328"/>
          </a:xfrm>
          <a:prstGeom prst="roundRect">
            <a:avLst>
              <a:gd name="adj" fmla="val 8000"/>
            </a:avLst>
          </a:prstGeom>
          <a:solidFill>
            <a:srgbClr val="16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1591056"/>
            <a:ext cx="9235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onsolas"/>
              </a:rPr>
              <a:t>Post-money  =  Pre-money  +  New Investment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08E2B"/>
                </a:solidFill>
                <a:latin typeface="Consolas"/>
              </a:rPr>
              <a:t>Investor %  =  New Investment / Post-money        Founder stake after  =  Founder stake before × (Pre-money / Post-money)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0F2A4A"/>
                </a:solidFill>
                <a:latin typeface="Calibri"/>
              </a:rPr>
              <a:t>where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Pre-money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the venture's agreed value immediately before the new investment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Post-money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value immediately after — the basis for the investor's ownership %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Example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Pre US$4.4M + raise US$2.5M → Post US$6.9M → investor owns ≈ 36.2%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E08E2B"/>
                </a:solidFill>
                <a:latin typeface="Consolas"/>
              </a:rPr>
              <a:t>   Note  </a:t>
            </a:r>
            <a:r>
              <a:rPr sz="1300" b="0" i="0">
                <a:solidFill>
                  <a:srgbClr val="1F2A36"/>
                </a:solidFill>
                <a:latin typeface="Calibri"/>
              </a:rPr>
              <a:t>a pre-money option pool dilutes founders further — model it explicitly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9496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39496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Always confirm whether a quoted valuation is pre- or post-money — the same headline number implies different ownership depending on which it 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0" b="1" i="0">
                <a:solidFill>
                  <a:srgbClr val="163A5E"/>
                </a:solidFill>
                <a:latin typeface="Calibri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703320"/>
            <a:ext cx="1554480" cy="109728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E08E2B"/>
                </a:solidFill>
                <a:latin typeface="Calibri"/>
              </a:rPr>
              <a:t>SECTION SEVEN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88620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Calibri"/>
              </a:rPr>
              <a:t>The Master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AEC2D6"/>
                </a:solidFill>
                <a:latin typeface="Calibri"/>
              </a:rPr>
              <a:t>Assembling the six methods into one integrated model — and comparing it with the other financial approaches.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7  ·  THE MASTER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The master model — integrating the six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Layer 1 — Milestone roadmap: defines the value-inflection timeline and the exit horizon.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Layer 2 — Use of funds / rNPV: the bottom-up intrinsic value of reaching the next milestones.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Layer 3 — Benchmarking: the top-down, market-anchored exit value and reference valuations.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Layer 4 — Matching: reconciles Layers 2 and 3 into one defensible valuation range.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Layer 5 — Uncertainty: Golden-Triangle scenarios convert the range into a probability-weighted distribution.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Layer 6 — Stakeholder terms: convert enterprise value into value per stakeholder, after rights and dilution.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Output: a valuation range, with an explicit risk profile and a resulting ownership outcome — not a single unexplained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The master model is not a seventh method — it is the disciplined assembly of the previous six into one defensible argument.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7  ·  THE MASTER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Master model walkthrough — one venture,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Illustrative: a diagnostic-imaging venture carried through all six layers.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8007" y="1627632"/>
          <a:ext cx="111556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937760"/>
                <a:gridCol w="4023360"/>
              </a:tblGrid>
              <a:tr h="36837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Method applied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1  Roadmap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TRL 4 → 9; four milestones to exit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exit horizon: Year 5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2  Use of funds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US$2.5M funds M1+M2; CPOS 16.8%; r 25%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intrinsic pre-money ≈ US$4.4M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3  Benchmarking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Liver-diagnostics TAM US$30.6B; comparable exits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exit value ≈ US$80M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4  Matching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Bottom-up vs top-down reconciled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defensible pre-money US$4–6M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5  Uncertainty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Down/Base/Up = 8 / 25 / 70; E[V] ≈ US$29M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a range, not a point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6">
                <a:tc>
                  <a:txBody>
                    <a:bodyPr/>
                    <a:lstStyle/>
                    <a:p>
                      <a:r>
                        <a:rPr sz="1050" b="1" i="0">
                          <a:solidFill>
                            <a:srgbClr val="1F2A36"/>
                          </a:solidFill>
                          <a:latin typeface="Calibri"/>
                        </a:rPr>
                        <a:t>6  Stakeholder terms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US$2.5M at US$4.5M pre; 1× pref; pool pre-money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i="0">
                          <a:solidFill>
                            <a:srgbClr val="1F2A36"/>
                          </a:solidFill>
                          <a:latin typeface="Calibri"/>
                        </a:rPr>
                        <a:t>investors ≈ 36%; founders retain majority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Six layers, one argument: a valuation range, its risk profile, and the cap-table outcome — all traceable to stated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7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Comparison — other financial valuation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The master model is the spine; these established methods are cross-checks for different stages.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6567" y="1627632"/>
          <a:ext cx="1133856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926080"/>
                <a:gridCol w="3291840"/>
              </a:tblGrid>
              <a:tr h="368372">
                <a:tc>
                  <a:txBody>
                    <a:bodyPr/>
                    <a:lstStyle/>
                    <a:p>
                      <a:r>
                        <a:rPr sz="1030" b="1" i="0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 i="0">
                          <a:solidFill>
                            <a:srgbClr val="FFFFFF"/>
                          </a:solidFill>
                          <a:latin typeface="Calibri"/>
                        </a:rPr>
                        <a:t>Essence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 i="0">
                          <a:solidFill>
                            <a:srgbClr val="FFFFFF"/>
                          </a:solidFill>
                          <a:latin typeface="Calibri"/>
                        </a:rPr>
                        <a:t>Best used when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30" b="1" i="0">
                          <a:solidFill>
                            <a:srgbClr val="FFFFFF"/>
                          </a:solidFill>
                          <a:latin typeface="Calibri"/>
                        </a:rPr>
                        <a:t>Caveat for deep tech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980" b="1" i="0">
                          <a:solidFill>
                            <a:srgbClr val="1F2A36"/>
                          </a:solidFill>
                          <a:latin typeface="Calibri"/>
                        </a:rPr>
                        <a:t>Revenue multiple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EV = Revenue × sector multiple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Early commercial revenue exists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Silent pre-revenue; multiples volatile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980" b="1" i="0">
                          <a:solidFill>
                            <a:srgbClr val="1F2A36"/>
                          </a:solidFill>
                          <a:latin typeface="Calibri"/>
                        </a:rPr>
                        <a:t>Earnings / P/E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Equity = Net profit × P/E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Profitable, comparable listed peers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Not applicable while pre-profit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980" b="1" i="0">
                          <a:solidFill>
                            <a:srgbClr val="1F2A36"/>
                          </a:solidFill>
                          <a:latin typeface="Calibri"/>
                        </a:rPr>
                        <a:t>EV/EBITDA &amp; market multiples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EV = EBITDA × peer multiple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Scaling, near-peer financials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Needs illiquidity &amp; stage discounts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980" b="1" i="0">
                          <a:solidFill>
                            <a:srgbClr val="1F2A36"/>
                          </a:solidFill>
                          <a:latin typeface="Calibri"/>
                        </a:rPr>
                        <a:t>DCF / rNPV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Σ risk-adjusted CF ÷ (1+r)ₜ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Any stage — the intrinsic anchor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Highly sensitive to assumptions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372">
                <a:tc>
                  <a:txBody>
                    <a:bodyPr/>
                    <a:lstStyle/>
                    <a:p>
                      <a:r>
                        <a:rPr sz="980" b="1" i="0">
                          <a:solidFill>
                            <a:srgbClr val="1F2A36"/>
                          </a:solidFill>
                          <a:latin typeface="Calibri"/>
                        </a:rPr>
                        <a:t>VC method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EV = Exit value ÷ target return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Pricing a priced round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Depends on exit &amp; target-multiple inputs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376">
                <a:tc>
                  <a:txBody>
                    <a:bodyPr/>
                    <a:lstStyle/>
                    <a:p>
                      <a:r>
                        <a:rPr sz="980" b="1" i="0">
                          <a:solidFill>
                            <a:srgbClr val="1F2A36"/>
                          </a:solidFill>
                          <a:latin typeface="Calibri"/>
                        </a:rPr>
                        <a:t>Comparable transactions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Apply observed deal metrics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Reference deals exist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80" b="0" i="0">
                          <a:solidFill>
                            <a:srgbClr val="1F2A36"/>
                          </a:solidFill>
                          <a:latin typeface="Calibri"/>
                        </a:rPr>
                        <a:t>Deal terms rarely fully disclosed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These methods are cross-checks, not rivals. WBI was valued by DCF (WACC 12%, terminal growth 3%) at US$55.6M, then sense-checked against an industry P/E of 50–60×.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SECTION 7  ·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Choosing the right method by venture 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5A6B7B"/>
                </a:solidFill>
                <a:latin typeface="Calibri"/>
              </a:rPr>
              <a:t>Method selection follows TRL stage — the same matrix introduced in Section 1.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447" y="1627632"/>
          <a:ext cx="10972800" cy="221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206240"/>
                <a:gridCol w="4023360"/>
              </a:tblGrid>
              <a:tr h="3688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Stage / TRL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Primary method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Secondary cross-check</a:t>
                      </a:r>
                    </a:p>
                  </a:txBody>
                  <a:tcPr anchor="ctr" marL="82296" marR="82296" marT="36576" marB="36576">
                    <a:solidFill>
                      <a:srgbClr val="0F2A4A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Concept (TRL 1–3)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Milestone roadmap + qualitative scorecard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Comparable seed rounds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Prototype (TRL 4–6)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Use-of-funds rNPV + VC method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Benchmarked exit value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Validation (TRL 7–8)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rNPV + comparable transactions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Revenue multiple, if pilot revenue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Early commercial (TRL 9)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Revenue &amp; EV/EBITDA multiples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DCF</a:t>
                      </a:r>
                    </a:p>
                  </a:txBody>
                  <a:tcPr anchor="ctr" marL="82296" marR="82296" marT="32004" marB="32004">
                    <a:solidFill>
                      <a:srgbClr val="EEF1F4"/>
                    </a:solidFill>
                  </a:tcPr>
                </a:tc>
              </a:tr>
              <a:tr h="36880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F2A36"/>
                          </a:solidFill>
                          <a:latin typeface="Calibri"/>
                        </a:rPr>
                        <a:t>Scaling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DCF + capital-market multiples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F2A36"/>
                          </a:solidFill>
                          <a:latin typeface="Calibri"/>
                        </a:rPr>
                        <a:t>P/E versus listed peers</a:t>
                      </a:r>
                    </a:p>
                  </a:txBody>
                  <a:tcPr anchor="ctr" marL="82296" marR="82296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5486400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77840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No single method is correct — the master model is correct because it uses the right method at each stage and reconciles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CLOSING  ·  CAVEATS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Common pitfalls and academic caveats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Single-point valuations — deep tech is a distribution; always present a range with its probabilities.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Confusing headline valuation with value received — terms and dilution can outweigh the price.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Double-counting risk — once a milestone is achieved, remove its POS from CPOS; do not also keep an inflated discount rate.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Optimistic POS — use base rates from comparable programmes, not the founder's confidence.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Stale benchmarks — venture references age quickly; date and adjust every comparable.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Ignoring the option pool — it is usually created pre-money and dilutes founders, not investors.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 valuation is only as honest as its weakest assumption. State assumptions explicitly so others can challenge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CLOSING  · 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Workshop exercise — build a valuation for your venture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Work with your own venture, or a DTL case provided by the facilitator.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1  —  Draw the milestone roadmap from today's TRL to a credible exit.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2  —  State the next round's use of funds and the milestones it buys.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3  —  Find three market references for the exit value.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4  —  Build the rNPV, then reconcile it with benchmarking (matching).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5  —  Write the downside and upside across the Golden Triangle.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6  —  Set a pre-money, a raise amount, and show the resulting cap 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Deliverable: a one-page valuation memo — a value range, the six layers behind it, and every assumption stated.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9264"/>
          </a:xfrm>
          <a:prstGeom prst="rect">
            <a:avLst/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50292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E08E2B"/>
                </a:solidFill>
                <a:latin typeface="Calibri"/>
              </a:rPr>
              <a:t>CLOSING  · 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201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Calibri"/>
              </a:rPr>
              <a:t>Key takeaways and further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11556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Valuation is an argument built from milestones, funds and market evidence — it is assembled, not guessed.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rNPV makes de-risking measurable; benchmarking anchors it to the market; matching reconciles the two.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Always express uncertainty as a downside/upside range across the Golden Triangle — technology, organisation, commercial.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600" b="1" i="0">
                <a:solidFill>
                  <a:srgbClr val="E08E2B"/>
                </a:solidFill>
                <a:latin typeface="Calibri"/>
              </a:rPr>
              <a:t>▪  </a:t>
            </a:r>
            <a:r>
              <a:rPr sz="1550" b="0" i="0">
                <a:solidFill>
                  <a:srgbClr val="1F2A36"/>
                </a:solidFill>
                <a:latin typeface="Calibri"/>
              </a:rPr>
              <a:t>Stakeholder terms decide who receives the value — read them as carefully as the headline number.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Damodaran, A. — Valuing Young, Start-up and Growth Companies (NYU Stern).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Metrick &amp; Yasuda — Venture Capital and the Finance of Innovation.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Razgaitis, R. — Valuation and Dealmaking of Technology-Based IP.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E08E2B"/>
                </a:solidFill>
                <a:latin typeface="Calibri"/>
              </a:rPr>
              <a:t>        –  </a:t>
            </a:r>
            <a:r>
              <a:rPr sz="1300" b="0" i="0">
                <a:solidFill>
                  <a:srgbClr val="5A6B7B"/>
                </a:solidFill>
                <a:latin typeface="Calibri"/>
              </a:rPr>
              <a:t>Deep-Tech Lab (DTL) venture files — internal references used in this session.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138928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EC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5138928"/>
            <a:ext cx="91440" cy="914400"/>
          </a:xfrm>
          <a:prstGeom prst="rect">
            <a:avLst/>
          </a:prstGeom>
          <a:solidFill>
            <a:srgbClr val="E08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230368"/>
            <a:ext cx="106984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E08E2B"/>
                </a:solidFill>
                <a:latin typeface="Calibri"/>
              </a:rPr>
              <a:t>KEY IDEA   </a:t>
            </a:r>
            <a:r>
              <a:rPr sz="1250" b="0" i="0">
                <a:solidFill>
                  <a:srgbClr val="1F2A36"/>
                </a:solidFill>
                <a:latin typeface="Calibri"/>
              </a:rPr>
              <a:t>All figures in this deck are illustrative worked examples for training purposes — they are not investment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37376"/>
            <a:ext cx="8686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5A6B7B"/>
                </a:solidFill>
                <a:latin typeface="Calibri"/>
              </a:rPr>
              <a:t>Valuing Deep-Tech Ventures  ·  Deep-Tech Lab (DTL)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38251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0F2A4A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