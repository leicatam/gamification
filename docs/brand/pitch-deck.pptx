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E2A47"/>
                </a:solidFill>
                <a:latin typeface="IBM Plex Serif"/>
              </a:rPr>
              <a:t>OPC TUTOR</a:t>
            </a:r>
          </a:p>
        </p:txBody>
      </p:sp>
      <p:sp>
        <p:nvSpPr>
          <p:cNvPr id="6" name="Oval 5"/>
          <p:cNvSpPr/>
          <p:nvPr/>
        </p:nvSpPr>
        <p:spPr>
          <a:xfrm>
            <a:off x="1481328" y="713232"/>
            <a:ext cx="146304" cy="146304"/>
          </a:xfrm>
          <a:prstGeom prst="ellipse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058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0E2A47"/>
                </a:solidFill>
                <a:latin typeface="IBM Plex Serif"/>
              </a:rPr>
              <a:t>From learner</a:t>
            </a:r>
          </a:p>
          <a:p>
            <a:pPr algn="l"/>
            <a:r>
              <a:rPr sz="6600" b="1">
                <a:solidFill>
                  <a:srgbClr val="0E2A47"/>
                </a:solidFill>
                <a:latin typeface="IBM Plex Serif"/>
              </a:rPr>
              <a:t>to operator.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Inter"/>
              </a:rPr>
              <a:t>Adaptive AI tutor and agent toolkit for the Hong Kong one-person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E7D6B"/>
                </a:solidFill>
                <a:latin typeface="IBM Plex Mono"/>
              </a:rPr>
              <a:t>Investor brief  ·  Phase 1 (Arc 1) shipping  ·  Hong Kong, Cap. 622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6B"/>
                </a:solidFill>
                <a:latin typeface="IBM Plex Mono"/>
              </a:rPr>
              <a:t>THE 30-SECOND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E2A47"/>
                </a:solidFill>
                <a:latin typeface="IBM Plex Serif"/>
              </a:rPr>
              <a:t>One human, one company, one agent stack.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94415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Inter"/>
              </a:rPr>
              <a:t>Hong Kong is the first super-aged Asian city with a clean one-person</a:t>
            </a:r>
          </a:p>
          <a:p>
            <a:pPr algn="l"/>
            <a:r>
              <a:rPr sz="2000" b="0">
                <a:solidFill>
                  <a:srgbClr val="1A1A1A"/>
                </a:solidFill>
                <a:latin typeface="Inter"/>
              </a:rPr>
              <a:t>private-company framework and a two-tier profits tax that rewards small</a:t>
            </a:r>
          </a:p>
          <a:p>
            <a:pPr algn="l"/>
            <a:r>
              <a:rPr sz="2000" b="0">
                <a:solidFill>
                  <a:srgbClr val="1A1A1A"/>
                </a:solidFill>
                <a:latin typeface="Inter"/>
              </a:rPr>
              <a:t>incorporation. Agentic AI has collapsed the cost of running a company</a:t>
            </a:r>
          </a:p>
          <a:p>
            <a:pPr algn="l"/>
            <a:r>
              <a:rPr sz="2000" b="0">
                <a:solidFill>
                  <a:srgbClr val="1A1A1A"/>
                </a:solidFill>
                <a:latin typeface="Inter"/>
              </a:rPr>
              <a:t>without collapsing the cost of deciding what it does.</a:t>
            </a:r>
          </a:p>
          <a:p>
            <a:pPr algn="l"/>
            <a:r>
              <a:rPr sz="2000" b="0">
                <a:solidFill>
                  <a:srgbClr val="1A1A1A"/>
                </a:solidFill>
                <a:latin typeface="Inter"/>
              </a:rPr>
              <a:t/>
            </a:r>
          </a:p>
          <a:p>
            <a:pPr algn="l"/>
            <a:r>
              <a:rPr sz="2000" b="0">
                <a:solidFill>
                  <a:srgbClr val="1A1A1A"/>
                </a:solidFill>
                <a:latin typeface="Inter"/>
              </a:rPr>
              <a:t>OPC Tutor takes a Hong Kong professional from “what is an OPC” to</a:t>
            </a:r>
          </a:p>
          <a:p>
            <a:pPr algn="l"/>
            <a:r>
              <a:rPr sz="2000" b="0">
                <a:solidFill>
                  <a:srgbClr val="1A1A1A"/>
                </a:solidFill>
                <a:latin typeface="Inter"/>
              </a:rPr>
              <a:t>operating one — adaptively, in six arcs — then ships the draft-only</a:t>
            </a:r>
          </a:p>
          <a:p>
            <a:pPr algn="l"/>
            <a:r>
              <a:rPr sz="2000" b="0">
                <a:solidFill>
                  <a:srgbClr val="1A1A1A"/>
                </a:solidFill>
                <a:latin typeface="Inter"/>
              </a:rPr>
              <a:t>agent stack that runs the books, the calendar, and the paperwork.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0180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6F1E7"/>
                </a:solidFill>
                <a:latin typeface="Inter"/>
              </a:rPr>
              <a:t>OPC Tutor — Investor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5653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6F1E7"/>
                </a:solidFill>
                <a:latin typeface="IBM Plex Mono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6B"/>
                </a:solidFill>
                <a:latin typeface="IBM Plex Mono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E2A47"/>
                </a:solidFill>
                <a:latin typeface="IBM Plex Serif"/>
              </a:rPr>
              <a:t>Two waves are meeting in Hong Kong.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5364327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09728" cy="384048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E2A47"/>
                </a:solidFill>
                <a:latin typeface="IBM Plex Serif"/>
              </a:rPr>
              <a:t>Aging society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4815687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Inter"/>
              </a:rPr>
              <a:t>Hong Kong crossed the super-aged line (&gt;20% over 65) around 2024, on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Inter"/>
              </a:rPr>
              <a:t>track for ~30% by the mid-2030s. MPF replaces only a fraction of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Inter"/>
              </a:rPr>
              <a:t>pre-retirement income for most professionals.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Inter"/>
              </a:rPr>
              <a:t/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Inter"/>
              </a:rPr>
              <a:t>A large cohort holds 20–35 years of expensive expertise the city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Inter"/>
              </a:rPr>
              <a:t>needs to keep productive.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2194560"/>
            <a:ext cx="5364327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109728" cy="3840480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4487" y="2377440"/>
            <a:ext cx="48156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E2A47"/>
                </a:solidFill>
                <a:latin typeface="IBM Plex Serif"/>
              </a:rPr>
              <a:t>Agentic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4487" y="3017520"/>
            <a:ext cx="4815687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Inter"/>
              </a:rPr>
              <a:t>A company is mostly a coordination structure: books, billing,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Inter"/>
              </a:rPr>
              <a:t>drafting, calendar, filings. Agents now perform draft-quality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Inter"/>
              </a:rPr>
              <a:t>versions of all of it.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Inter"/>
              </a:rPr>
              <a:t/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Inter"/>
              </a:rPr>
              <a:t>The smallest unit of viable incorporation has shrunk. One human,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Inter"/>
              </a:rPr>
              <a:t>plus a stack, can do what used to need a small firm.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65392"/>
            <a:ext cx="10180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6F1E7"/>
                </a:solidFill>
                <a:latin typeface="Inter"/>
              </a:rPr>
              <a:t>OPC Tutor — Investor 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5653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6F1E7"/>
                </a:solidFill>
                <a:latin typeface="IBM Plex Mono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6B"/>
                </a:solidFill>
                <a:latin typeface="IBM Plex Mono"/>
              </a:rPr>
              <a:t>HONG KONG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E2A47"/>
                </a:solidFill>
                <a:latin typeface="IBM Plex Serif"/>
              </a:rPr>
              <a:t>The numbers that frame the wedge.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5272887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72424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E2A47"/>
                </a:solidFill>
                <a:latin typeface="IBM Plex Serif"/>
              </a:rPr>
              <a:t>20%+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4724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7D6B"/>
                </a:solidFill>
                <a:latin typeface="IBM Plex Mono"/>
              </a:rPr>
              <a:t>of HK residents are over 65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Crossed the super-aged threshold around 2024.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0167" y="2194560"/>
            <a:ext cx="5272887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5927" y="2331720"/>
            <a:ext cx="472424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E2A47"/>
                </a:solidFill>
                <a:latin typeface="IBM Plex Serif"/>
              </a:rPr>
              <a:t>8.25%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5927" y="3063240"/>
            <a:ext cx="4724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7D6B"/>
                </a:solidFill>
                <a:latin typeface="IBM Plex Mono"/>
              </a:rPr>
              <a:t>profits tax on the first HK$2M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383280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Two-tier rate; 16.5% above. Structurally favours small Ltd.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06240"/>
            <a:ext cx="5272887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472424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E2A47"/>
                </a:solidFill>
                <a:latin typeface="IBM Plex Serif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4724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7D6B"/>
                </a:solidFill>
                <a:latin typeface="IBM Plex Mono"/>
              </a:rPr>
              <a:t>director and 1 shareholder permitted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Cap. 622 explicitly allows a single-person private Ltd.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0167" y="4206240"/>
            <a:ext cx="5272887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5927" y="4343400"/>
            <a:ext cx="472424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E2A47"/>
                </a:solidFill>
                <a:latin typeface="IBM Plex Serif"/>
              </a:rPr>
              <a:t>42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5927" y="5074920"/>
            <a:ext cx="47242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7D6B"/>
                </a:solidFill>
                <a:latin typeface="IBM Plex Mono"/>
              </a:rPr>
              <a:t>to file the NAR1 each year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5927" y="5394960"/>
            <a:ext cx="472424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The product tracks every CR / IRD / MPFA deadline.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65392"/>
            <a:ext cx="10180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6F1E7"/>
                </a:solidFill>
                <a:latin typeface="Inter"/>
              </a:rPr>
              <a:t>OPC Tutor — Investor brief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5653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6F1E7"/>
                </a:solidFill>
                <a:latin typeface="IBM Plex Mono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6B"/>
                </a:solidFill>
                <a:latin typeface="IBM Plex Mono"/>
              </a:rPr>
              <a:t>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E2A47"/>
                </a:solidFill>
                <a:latin typeface="IBM Plex Serif"/>
              </a:rPr>
              <a:t>The unit of viable incorporation just shrank.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IBM Plex Mono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Inter"/>
              </a:rPr>
              <a:t>A small firm = 3–8 people: a partner, an accountant, a secretary,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Inter"/>
              </a:rPr>
              <a:t>a paralegal, a junior or two. Overhead and coordination set a floor.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89B3A"/>
                </a:solidFill>
                <a:latin typeface="IBM Plex Mono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1109441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Inter"/>
              </a:rPr>
              <a:t>One human + a draft-only agent stack: books, billing, calendar,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Inter"/>
              </a:rPr>
              <a:t>research, filings drafted. Human decides, reviews, approves.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Inter"/>
              </a:rPr>
              <a:t>The floor moved. The opportunity is to teach the human to use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65392"/>
            <a:ext cx="10180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6F1E7"/>
                </a:solidFill>
                <a:latin typeface="Inter"/>
              </a:rPr>
              <a:t>OPC Tutor — Investor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5653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6F1E7"/>
                </a:solidFill>
                <a:latin typeface="IBM Plex Mono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6B"/>
                </a:solidFill>
                <a:latin typeface="IBM Plex Mono"/>
              </a:rPr>
              <a:t>THE OPC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E2A47"/>
                </a:solidFill>
                <a:latin typeface="IBM Plex Serif"/>
              </a:rPr>
              <a:t>A Hong Kong private Ltd, one human, one agent stack.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377440" cy="41148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F1E7"/>
                </a:solidFill>
                <a:latin typeface="IBM Plex Mono"/>
              </a:rPr>
              <a:t>Dimension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94560"/>
            <a:ext cx="4206240" cy="41148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24028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F1E7"/>
                </a:solidFill>
                <a:latin typeface="IBM Plex Mono"/>
              </a:rPr>
              <a:t>Sole proprietor (BR only)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2194560"/>
            <a:ext cx="4480560" cy="41148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224028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F1E7"/>
                </a:solidFill>
                <a:latin typeface="IBM Plex Mono"/>
              </a:rPr>
              <a:t>HK private Ltd (Cap. 622)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06040"/>
            <a:ext cx="23774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5176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2A47"/>
                </a:solidFill>
                <a:latin typeface="Inter"/>
              </a:rPr>
              <a:t>Legal personality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606040"/>
            <a:ext cx="42062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265176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None — you are the business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606040"/>
            <a:ext cx="4480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265176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Separate legal person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17520"/>
            <a:ext cx="2377440" cy="411480"/>
          </a:xfrm>
          <a:prstGeom prst="rect">
            <a:avLst/>
          </a:prstGeom>
          <a:solidFill>
            <a:srgbClr val="E4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06324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2A47"/>
                </a:solidFill>
                <a:latin typeface="Inter"/>
              </a:rPr>
              <a:t>Liability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017520"/>
            <a:ext cx="4206240" cy="411480"/>
          </a:xfrm>
          <a:prstGeom prst="rect">
            <a:avLst/>
          </a:prstGeom>
          <a:solidFill>
            <a:srgbClr val="E4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306324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Personal, unlimited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3017520"/>
            <a:ext cx="4480560" cy="411480"/>
          </a:xfrm>
          <a:prstGeom prst="rect">
            <a:avLst/>
          </a:prstGeom>
          <a:solidFill>
            <a:srgbClr val="E4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306324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Limited to share capital + director duties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29000"/>
            <a:ext cx="23774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4747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2A47"/>
                </a:solidFill>
                <a:latin typeface="Inter"/>
              </a:rPr>
              <a:t>Tax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3429000"/>
            <a:ext cx="42062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347472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Personal salaries-tax bands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3429000"/>
            <a:ext cx="4480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347472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8.25% on first HK$2M, 16.5% above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40480"/>
            <a:ext cx="2377440" cy="411480"/>
          </a:xfrm>
          <a:prstGeom prst="rect">
            <a:avLst/>
          </a:prstGeom>
          <a:solidFill>
            <a:srgbClr val="E4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88620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2A47"/>
                </a:solidFill>
                <a:latin typeface="Inter"/>
              </a:rPr>
              <a:t>Compliance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3840480"/>
            <a:ext cx="4206240" cy="411480"/>
          </a:xfrm>
          <a:prstGeom prst="rect">
            <a:avLst/>
          </a:prstGeom>
          <a:solidFill>
            <a:srgbClr val="E4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388620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BR + IRD individual return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3840480"/>
            <a:ext cx="4480560" cy="411480"/>
          </a:xfrm>
          <a:prstGeom prst="rect">
            <a:avLst/>
          </a:prstGeom>
          <a:solidFill>
            <a:srgbClr val="E4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388620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BR + NNC1/NAR1/SCR + BIR51 + audit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251960"/>
            <a:ext cx="23774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29768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2A47"/>
                </a:solidFill>
                <a:latin typeface="Inter"/>
              </a:rPr>
              <a:t>Succession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4251960"/>
            <a:ext cx="420624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63240" y="429768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Ends with you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4251960"/>
            <a:ext cx="44805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429768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Shares transferable; company continues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663440"/>
            <a:ext cx="2377440" cy="411480"/>
          </a:xfrm>
          <a:prstGeom prst="rect">
            <a:avLst/>
          </a:prstGeom>
          <a:solidFill>
            <a:srgbClr val="E4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70916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2A47"/>
                </a:solidFill>
                <a:latin typeface="Inter"/>
              </a:rPr>
              <a:t>Perception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26080" y="4663440"/>
            <a:ext cx="4206240" cy="411480"/>
          </a:xfrm>
          <a:prstGeom prst="rect">
            <a:avLst/>
          </a:prstGeom>
          <a:solidFill>
            <a:srgbClr val="E4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63240" y="470916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Freelancer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0" y="4663440"/>
            <a:ext cx="4480560" cy="411480"/>
          </a:xfrm>
          <a:prstGeom prst="rect">
            <a:avLst/>
          </a:prstGeom>
          <a:solidFill>
            <a:srgbClr val="E4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9480" y="470916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Company — matters for some clients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565392"/>
            <a:ext cx="10180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6F1E7"/>
                </a:solidFill>
                <a:latin typeface="Inter"/>
              </a:rPr>
              <a:t>OPC Tutor — Investor brief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28655" y="65653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6F1E7"/>
                </a:solidFill>
                <a:latin typeface="IBM Plex Mono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6B"/>
                </a:solidFill>
                <a:latin typeface="IBM Plex Mono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E2A47"/>
                </a:solidFill>
                <a:latin typeface="IBM Plex Serif"/>
              </a:rPr>
              <a:t>Six arcs. One adaptive tutor. A draft-only toolkit.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3454298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09728" cy="155448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7D6B"/>
                </a:solidFill>
                <a:latin typeface="IBM Plex Mono"/>
              </a:rPr>
              <a:t>Arc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308853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IBM Plex Serif"/>
              </a:rPr>
              <a:t>Why an OPC, why now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291840"/>
            <a:ext cx="1097280" cy="292608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6F1E7"/>
                </a:solidFill>
                <a:latin typeface="IBM Plex Mono"/>
              </a:rPr>
              <a:t>SHIPPED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8698" y="2194560"/>
            <a:ext cx="3454298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8698" y="2194560"/>
            <a:ext cx="109728" cy="155448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8738" y="237744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7D6B"/>
                </a:solidFill>
                <a:latin typeface="IBM Plex Mono"/>
              </a:rPr>
              <a:t>Arc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8738" y="2697480"/>
            <a:ext cx="308853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IBM Plex Serif"/>
              </a:rPr>
              <a:t>Incorporating in HK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8738" y="3291840"/>
            <a:ext cx="1097280" cy="292608"/>
          </a:xfrm>
          <a:prstGeom prst="rect">
            <a:avLst/>
          </a:prstGeom>
          <a:solidFill>
            <a:srgbClr val="E4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4458" y="33284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IBM Plex Mono"/>
              </a:rPr>
              <a:t>OUTLINE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8756" y="2194560"/>
            <a:ext cx="3454298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8756" y="2194560"/>
            <a:ext cx="109728" cy="155448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8796" y="237744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7D6B"/>
                </a:solidFill>
                <a:latin typeface="IBM Plex Mono"/>
              </a:rPr>
              <a:t>Arc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8796" y="2697480"/>
            <a:ext cx="308853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IBM Plex Serif"/>
              </a:rPr>
              <a:t>Running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8796" y="3291840"/>
            <a:ext cx="1097280" cy="292608"/>
          </a:xfrm>
          <a:prstGeom prst="rect">
            <a:avLst/>
          </a:prstGeom>
          <a:solidFill>
            <a:srgbClr val="E4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54516" y="33284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IBM Plex Mono"/>
              </a:rPr>
              <a:t>OUTLINE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023360"/>
            <a:ext cx="3454298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023360"/>
            <a:ext cx="109728" cy="155448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20624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7D6B"/>
                </a:solidFill>
                <a:latin typeface="IBM Plex Mono"/>
              </a:rPr>
              <a:t>Arc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526280"/>
            <a:ext cx="308853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IBM Plex Serif"/>
              </a:rPr>
              <a:t>The agent stack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5120640"/>
            <a:ext cx="1097280" cy="292608"/>
          </a:xfrm>
          <a:prstGeom prst="rect">
            <a:avLst/>
          </a:prstGeom>
          <a:solidFill>
            <a:srgbClr val="E4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1572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IBM Plex Mono"/>
              </a:rPr>
              <a:t>OUTLINE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68698" y="4023360"/>
            <a:ext cx="3454298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68698" y="4023360"/>
            <a:ext cx="109728" cy="155448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8738" y="420624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7D6B"/>
                </a:solidFill>
                <a:latin typeface="IBM Plex Mono"/>
              </a:rPr>
              <a:t>Arc 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8738" y="4526280"/>
            <a:ext cx="308853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IBM Plex Serif"/>
              </a:rPr>
              <a:t>Risk, liability, insurance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88738" y="5120640"/>
            <a:ext cx="1097280" cy="292608"/>
          </a:xfrm>
          <a:prstGeom prst="rect">
            <a:avLst/>
          </a:prstGeom>
          <a:solidFill>
            <a:srgbClr val="E4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34458" y="51572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IBM Plex Mono"/>
              </a:rPr>
              <a:t>OUTLINE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8756" y="4023360"/>
            <a:ext cx="3454298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88756" y="4023360"/>
            <a:ext cx="109728" cy="155448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8796" y="420624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7D6B"/>
                </a:solidFill>
                <a:latin typeface="IBM Plex Mono"/>
              </a:rPr>
              <a:t>Arc 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8796" y="4526280"/>
            <a:ext cx="308853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IBM Plex Serif"/>
              </a:rPr>
              <a:t>Succession &amp; exit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08796" y="5120640"/>
            <a:ext cx="1097280" cy="292608"/>
          </a:xfrm>
          <a:prstGeom prst="rect">
            <a:avLst/>
          </a:prstGeom>
          <a:solidFill>
            <a:srgbClr val="E4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54516" y="51572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IBM Plex Mono"/>
              </a:rPr>
              <a:t>OUTLINE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565392"/>
            <a:ext cx="10180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6F1E7"/>
                </a:solidFill>
                <a:latin typeface="Inter"/>
              </a:rPr>
              <a:t>OPC Tutor — Investor brief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28655" y="65653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6F1E7"/>
                </a:solidFill>
                <a:latin typeface="IBM Plex Mono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6B"/>
                </a:solidFill>
                <a:latin typeface="IBM Plex Mono"/>
              </a:rPr>
              <a:t>ADAPTS TO THE LEARNER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E2A47"/>
                </a:solidFill>
                <a:latin typeface="IBM Plex Serif"/>
              </a:rPr>
              <a:t>Three personas, three pacing defaults.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3454298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3454298" cy="45720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67712"/>
            <a:ext cx="30885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F1E7"/>
                </a:solidFill>
                <a:latin typeface="IBM Plex Mono"/>
              </a:rPr>
              <a:t>MID-CAREER PIVOT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30885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7D6B"/>
                </a:solidFill>
                <a:latin typeface="IBM Plex Mono"/>
              </a:rPr>
              <a:t>Age 35–50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308853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Inter"/>
              </a:rPr>
              <a:t>AI-native, time-poor, mobile-first.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308853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E7D6B"/>
                </a:solidFill>
                <a:latin typeface="Inter"/>
              </a:rPr>
              <a:t>●  </a:t>
            </a:r>
            <a:r>
              <a:rPr sz="1300">
                <a:solidFill>
                  <a:srgbClr val="1A1A1A"/>
                </a:solidFill>
                <a:latin typeface="Inter"/>
              </a:rPr>
              <a:t>Terse, peer-to-peer tone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E7D6B"/>
                </a:solidFill>
                <a:latin typeface="Inter"/>
              </a:rPr>
              <a:t>●  </a:t>
            </a:r>
            <a:r>
              <a:rPr sz="1300">
                <a:solidFill>
                  <a:srgbClr val="1A1A1A"/>
                </a:solidFill>
                <a:latin typeface="Inter"/>
              </a:rPr>
              <a:t>Brisk pacing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E7D6B"/>
                </a:solidFill>
                <a:latin typeface="Inter"/>
              </a:rPr>
              <a:t>●  </a:t>
            </a:r>
            <a:r>
              <a:rPr sz="1300">
                <a:solidFill>
                  <a:srgbClr val="1A1A1A"/>
                </a:solidFill>
                <a:latin typeface="Inter"/>
              </a:rPr>
              <a:t>Wants tax + agent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8698" y="2194560"/>
            <a:ext cx="3454298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8698" y="2194560"/>
            <a:ext cx="3454298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3018" y="2267712"/>
            <a:ext cx="30885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F1E7"/>
                </a:solidFill>
                <a:latin typeface="IBM Plex Mono"/>
              </a:rPr>
              <a:t>PRE-RETIREMENT PROFESSIONAL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3018" y="2834640"/>
            <a:ext cx="30885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7D6B"/>
                </a:solidFill>
                <a:latin typeface="IBM Plex Mono"/>
              </a:rPr>
              <a:t>Age 50–65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3018" y="3200400"/>
            <a:ext cx="308853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Inter"/>
              </a:rPr>
              <a:t>20–35 years of expertise. Skeptical of hype.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3018" y="4389120"/>
            <a:ext cx="308853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E2A47"/>
                </a:solidFill>
                <a:latin typeface="Inter"/>
              </a:rPr>
              <a:t>●  </a:t>
            </a:r>
            <a:r>
              <a:rPr sz="1300">
                <a:solidFill>
                  <a:srgbClr val="1A1A1A"/>
                </a:solidFill>
                <a:latin typeface="Inter"/>
              </a:rPr>
              <a:t>Substantive paragraphs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E2A47"/>
                </a:solidFill>
                <a:latin typeface="Inter"/>
              </a:rPr>
              <a:t>●  </a:t>
            </a:r>
            <a:r>
              <a:rPr sz="1300">
                <a:solidFill>
                  <a:srgbClr val="1A1A1A"/>
                </a:solidFill>
                <a:latin typeface="Inter"/>
              </a:rPr>
              <a:t>Measured pacing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E2A47"/>
                </a:solidFill>
                <a:latin typeface="Inter"/>
              </a:rPr>
              <a:t>●  </a:t>
            </a:r>
            <a:r>
              <a:rPr sz="1300">
                <a:solidFill>
                  <a:srgbClr val="1A1A1A"/>
                </a:solidFill>
                <a:latin typeface="Inter"/>
              </a:rPr>
              <a:t>Wants depth on tax + audit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8756" y="2194560"/>
            <a:ext cx="3454298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8756" y="2194560"/>
            <a:ext cx="3454298" cy="457200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3076" y="2267712"/>
            <a:ext cx="30885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F1E7"/>
                </a:solidFill>
                <a:latin typeface="IBM Plex Mono"/>
              </a:rPr>
              <a:t>ACTIVE RETIREE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3076" y="2834640"/>
            <a:ext cx="30885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7D6B"/>
                </a:solidFill>
                <a:latin typeface="IBM Plex Mono"/>
              </a:rPr>
              <a:t>Age 65+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3076" y="3200400"/>
            <a:ext cx="308853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Inter"/>
              </a:rPr>
              <a:t>Accessibility-first. Often referred by family.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3076" y="4389120"/>
            <a:ext cx="3088538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89B3A"/>
                </a:solidFill>
                <a:latin typeface="Inter"/>
              </a:rPr>
              <a:t>●  </a:t>
            </a:r>
            <a:r>
              <a:rPr sz="1300">
                <a:solidFill>
                  <a:srgbClr val="1A1A1A"/>
                </a:solidFill>
                <a:latin typeface="Inter"/>
              </a:rPr>
              <a:t>Warm, plain English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D89B3A"/>
                </a:solidFill>
                <a:latin typeface="Inter"/>
              </a:rPr>
              <a:t>●  </a:t>
            </a:r>
            <a:r>
              <a:rPr sz="1300">
                <a:solidFill>
                  <a:srgbClr val="1A1A1A"/>
                </a:solidFill>
                <a:latin typeface="Inter"/>
              </a:rPr>
              <a:t>Voice I/O on, extra-large type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D89B3A"/>
                </a:solidFill>
                <a:latin typeface="Inter"/>
              </a:rPr>
              <a:t>●  </a:t>
            </a:r>
            <a:r>
              <a:rPr sz="1300">
                <a:solidFill>
                  <a:srgbClr val="1A1A1A"/>
                </a:solidFill>
                <a:latin typeface="Inter"/>
              </a:rPr>
              <a:t>Human escalation always offered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565392"/>
            <a:ext cx="10180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6F1E7"/>
                </a:solidFill>
                <a:latin typeface="Inter"/>
              </a:rPr>
              <a:t>OPC Tutor — Investor brief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5653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6F1E7"/>
                </a:solidFill>
                <a:latin typeface="IBM Plex Mono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6B"/>
                </a:solidFill>
                <a:latin typeface="IBM Plex Mono"/>
              </a:rPr>
              <a:t>PHASE 2 —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E2A47"/>
                </a:solidFill>
                <a:latin typeface="IBM Plex Serif"/>
              </a:rPr>
              <a:t>Six draft-only agents around the human.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5364327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09728" cy="100584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9985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IBM Plex Serif"/>
              </a:rPr>
              <a:t>Incorporation drafter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49985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Generates NNC1, articles, first-board resolutions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2194560"/>
            <a:ext cx="5364327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109728" cy="100584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2331720"/>
            <a:ext cx="49985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IBM Plex Serif"/>
              </a:rPr>
              <a:t>Compliance calendar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2743200"/>
            <a:ext cx="49985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NAR1, BR, BIR51, audit, SCR — tracked and drafted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37560"/>
            <a:ext cx="5364327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337560"/>
            <a:ext cx="109728" cy="100584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74720"/>
            <a:ext cx="49985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IBM Plex Serif"/>
              </a:rPr>
              <a:t>Bookkeeping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86200"/>
            <a:ext cx="49985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Categorises transactions; prepares working papers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8727" y="3337560"/>
            <a:ext cx="5364327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727" y="3337560"/>
            <a:ext cx="109728" cy="100584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8767" y="3474720"/>
            <a:ext cx="49985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IBM Plex Serif"/>
              </a:rPr>
              <a:t>Profits-tax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8767" y="3886200"/>
            <a:ext cx="49985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Provisional tax, BIR51 drafts, offshore-source flags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480560"/>
            <a:ext cx="5364327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480560"/>
            <a:ext cx="109728" cy="100584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617720"/>
            <a:ext cx="49985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IBM Plex Serif"/>
              </a:rPr>
              <a:t>Document vault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029200"/>
            <a:ext cx="49985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Versioned articles, contracts, minutes, filings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78727" y="4480560"/>
            <a:ext cx="5364327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8727" y="4480560"/>
            <a:ext cx="109728" cy="100584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98767" y="4617720"/>
            <a:ext cx="4998567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IBM Plex Serif"/>
              </a:rPr>
              <a:t>Decision 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8767" y="5029200"/>
            <a:ext cx="49985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Every agent action with input, output, approver, 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062472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6F1E7"/>
                </a:solidFill>
                <a:latin typeface="IBM Plex Mono"/>
              </a:rPr>
              <a:t>Hard rule: no agent submits to CR, IRD, MPFA, or a bank. Drafts only. Every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65392"/>
            <a:ext cx="10180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6F1E7"/>
                </a:solidFill>
                <a:latin typeface="Inter"/>
              </a:rPr>
              <a:t>OPC Tutor — Investor brief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5653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6F1E7"/>
                </a:solidFill>
                <a:latin typeface="IBM Plex Mono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6B"/>
                </a:solidFill>
                <a:latin typeface="IBM Plex Mono"/>
              </a:rPr>
              <a:t>DEFENSIBILITY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E2A47"/>
                </a:solidFill>
                <a:latin typeface="IBM Plex Serif"/>
              </a:rPr>
              <a:t>Where the moat sits.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9441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D89B3A"/>
                </a:solidFill>
                <a:latin typeface="Inter"/>
              </a:rPr>
              <a:t>●  </a:t>
            </a:r>
            <a:r>
              <a:rPr sz="1600">
                <a:solidFill>
                  <a:srgbClr val="1A1A1A"/>
                </a:solidFill>
                <a:latin typeface="Inter"/>
              </a:rPr>
              <a:t>HK-anchored curriculum  —  Cap. 622, IRD, MPFA, two-tier tax — sourced and persona-adapted, not generic.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D89B3A"/>
                </a:solidFill>
                <a:latin typeface="Inter"/>
              </a:rPr>
              <a:t>●  </a:t>
            </a:r>
            <a:r>
              <a:rPr sz="1600">
                <a:solidFill>
                  <a:srgbClr val="1A1A1A"/>
                </a:solidFill>
                <a:latin typeface="Inter"/>
              </a:rPr>
              <a:t>Adaptive pedagogy at three personas  —  Same content, three pacings, three vocabularies, three accessibility defaults.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D89B3A"/>
                </a:solidFill>
                <a:latin typeface="Inter"/>
              </a:rPr>
              <a:t>●  </a:t>
            </a:r>
            <a:r>
              <a:rPr sz="1600">
                <a:solidFill>
                  <a:srgbClr val="1A1A1A"/>
                </a:solidFill>
                <a:latin typeface="Inter"/>
              </a:rPr>
              <a:t>Human-in-charge guardrails  —  Drafts only. Decision log on every agent action. CPA-friendly, not CPA-replacing.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D89B3A"/>
                </a:solidFill>
                <a:latin typeface="Inter"/>
              </a:rPr>
              <a:t>●  </a:t>
            </a:r>
            <a:r>
              <a:rPr sz="1600">
                <a:solidFill>
                  <a:srgbClr val="1A1A1A"/>
                </a:solidFill>
                <a:latin typeface="Inter"/>
              </a:rPr>
              <a:t>Compounding artifacts  —  Each learner produces NNC1, NAR1, audit pack, runbook — reusable, exportable, theirs.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D89B3A"/>
                </a:solidFill>
                <a:latin typeface="Inter"/>
              </a:rPr>
              <a:t>●  </a:t>
            </a:r>
            <a:r>
              <a:rPr sz="1600">
                <a:solidFill>
                  <a:srgbClr val="1A1A1A"/>
                </a:solidFill>
                <a:latin typeface="Inter"/>
              </a:rPr>
              <a:t>Distribution wedge  —  Pre-retirement professionals reached via professional bodies, banks, and family referral.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10180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6F1E7"/>
                </a:solidFill>
                <a:latin typeface="Inter"/>
              </a:rPr>
              <a:t>OPC Tutor — Investor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5653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6F1E7"/>
                </a:solidFill>
                <a:latin typeface="IBM Plex Mono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6B"/>
                </a:solidFill>
                <a:latin typeface="IBM Plex Mono"/>
              </a:rPr>
              <a:t>BRAND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E2A47"/>
                </a:solidFill>
                <a:latin typeface="IBM Plex Serif"/>
              </a:rPr>
              <a:t>What you'll see, hear, and feel.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IBM Plex Mono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5943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Inter"/>
              </a:rPr>
              <a:t>Precise, warm, direct.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Inter"/>
              </a:rPr>
              <a:t>Like a respected, patient teacher.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Inter"/>
              </a:rPr>
              <a:t>Not a chatbot mascot.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Inter"/>
              </a:rPr>
              <a:t>Never streaks, never shame, never autofiling.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IBM Plex Mono"/>
              </a:rPr>
              <a:t>Promise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3212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E2A47"/>
                </a:solidFill>
                <a:latin typeface="IBM Plex Serif"/>
              </a:rPr>
              <a:t>From learner to operator.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945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IBM Plex Mono"/>
              </a:rPr>
              <a:t>Palette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651760"/>
            <a:ext cx="548640" cy="5486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697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Inter"/>
              </a:rPr>
              <a:t>Ink Blue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926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IBM Plex Mono"/>
              </a:rPr>
              <a:t>#0E2A47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3310128"/>
            <a:ext cx="548640" cy="54864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33558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Inter"/>
              </a:rPr>
              <a:t>Jade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5844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IBM Plex Mono"/>
              </a:rPr>
              <a:t>#2E7D6B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3968496"/>
            <a:ext cx="548640" cy="548640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401421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Inter"/>
              </a:rPr>
              <a:t>Amber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24281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IBM Plex Mono"/>
              </a:rPr>
              <a:t>#D89B3A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4626864"/>
            <a:ext cx="548640" cy="548640"/>
          </a:xfrm>
          <a:prstGeom prst="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46725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Inter"/>
              </a:rPr>
              <a:t>Bone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9011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IBM Plex Mono"/>
              </a:rPr>
              <a:t>#F6F1E7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5285232"/>
            <a:ext cx="548640" cy="548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53309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Inter"/>
              </a:rPr>
              <a:t>Charcoal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5595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IBM Plex Mono"/>
              </a:rPr>
              <a:t>#1A1A1A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565392"/>
            <a:ext cx="10180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6F1E7"/>
                </a:solidFill>
                <a:latin typeface="Inter"/>
              </a:rPr>
              <a:t>OPC Tutor — Investor brief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5653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6F1E7"/>
                </a:solidFill>
                <a:latin typeface="IBM Plex Mono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6B"/>
                </a:solidFill>
                <a:latin typeface="IBM Plex Mono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E2A47"/>
                </a:solidFill>
                <a:latin typeface="IBM Plex Serif"/>
              </a:rPr>
              <a:t>Subscription + per-artifact, never per-filing.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3454298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3454298" cy="45720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67712"/>
            <a:ext cx="34542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6F1E7"/>
                </a:solidFill>
                <a:latin typeface="IBM Plex Mono"/>
              </a:rPr>
              <a:t>LEARNER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308853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IBM Plex Serif"/>
              </a:rPr>
              <a:t>HK$ 88 / 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3088538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D6B"/>
                </a:solidFill>
                <a:latin typeface="Inter"/>
              </a:rPr>
              <a:t>●  </a:t>
            </a:r>
            <a:r>
              <a:rPr sz="1300">
                <a:solidFill>
                  <a:srgbClr val="1A1A1A"/>
                </a:solidFill>
                <a:latin typeface="Inter"/>
              </a:rPr>
              <a:t>All six arcs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D6B"/>
                </a:solidFill>
                <a:latin typeface="Inter"/>
              </a:rPr>
              <a:t>●  </a:t>
            </a:r>
            <a:r>
              <a:rPr sz="1300">
                <a:solidFill>
                  <a:srgbClr val="1A1A1A"/>
                </a:solidFill>
                <a:latin typeface="Inter"/>
              </a:rPr>
              <a:t>Adaptive tutor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D6B"/>
                </a:solidFill>
                <a:latin typeface="Inter"/>
              </a:rPr>
              <a:t>●  </a:t>
            </a:r>
            <a:r>
              <a:rPr sz="1300">
                <a:solidFill>
                  <a:srgbClr val="1A1A1A"/>
                </a:solidFill>
                <a:latin typeface="Inter"/>
              </a:rPr>
              <a:t>Readiness score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D6B"/>
                </a:solidFill>
                <a:latin typeface="Inter"/>
              </a:rPr>
              <a:t>●  </a:t>
            </a:r>
            <a:r>
              <a:rPr sz="1300">
                <a:solidFill>
                  <a:srgbClr val="1A1A1A"/>
                </a:solidFill>
                <a:latin typeface="Inter"/>
              </a:rPr>
              <a:t>Personal artifacts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698" y="2194560"/>
            <a:ext cx="3454298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8698" y="2194560"/>
            <a:ext cx="3454298" cy="4572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3018" y="2267712"/>
            <a:ext cx="34542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6F1E7"/>
                </a:solidFill>
                <a:latin typeface="IBM Plex Mono"/>
              </a:rPr>
              <a:t>OPERATOR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3018" y="2834640"/>
            <a:ext cx="308853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IBM Plex Serif"/>
              </a:rPr>
              <a:t>HK$ 388 /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3018" y="3749040"/>
            <a:ext cx="3088538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2A47"/>
                </a:solidFill>
                <a:latin typeface="Inter"/>
              </a:rPr>
              <a:t>●  </a:t>
            </a:r>
            <a:r>
              <a:rPr sz="1300">
                <a:solidFill>
                  <a:srgbClr val="1A1A1A"/>
                </a:solidFill>
                <a:latin typeface="Inter"/>
              </a:rPr>
              <a:t>Everything in Learner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E2A47"/>
                </a:solidFill>
                <a:latin typeface="Inter"/>
              </a:rPr>
              <a:t>●  </a:t>
            </a:r>
            <a:r>
              <a:rPr sz="1300">
                <a:solidFill>
                  <a:srgbClr val="1A1A1A"/>
                </a:solidFill>
                <a:latin typeface="Inter"/>
              </a:rPr>
              <a:t>Phase 2 toolkit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E2A47"/>
                </a:solidFill>
                <a:latin typeface="Inter"/>
              </a:rPr>
              <a:t>●  </a:t>
            </a:r>
            <a:r>
              <a:rPr sz="1300">
                <a:solidFill>
                  <a:srgbClr val="1A1A1A"/>
                </a:solidFill>
                <a:latin typeface="Inter"/>
              </a:rPr>
              <a:t>Decision log + vault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E2A47"/>
                </a:solidFill>
                <a:latin typeface="Inter"/>
              </a:rPr>
              <a:t>●  </a:t>
            </a:r>
            <a:r>
              <a:rPr sz="1300">
                <a:solidFill>
                  <a:srgbClr val="1A1A1A"/>
                </a:solidFill>
                <a:latin typeface="Inter"/>
              </a:rPr>
              <a:t>Compliance calendar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8756" y="2194560"/>
            <a:ext cx="3454298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8756" y="2194560"/>
            <a:ext cx="3454298" cy="457200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3076" y="2267712"/>
            <a:ext cx="34542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6F1E7"/>
                </a:solidFill>
                <a:latin typeface="IBM Plex Mono"/>
              </a:rPr>
              <a:t>OPERATOR + CPA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3076" y="2834640"/>
            <a:ext cx="308853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IBM Plex Serif"/>
              </a:rPr>
              <a:t>HK$ 988 / 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749040"/>
            <a:ext cx="3088538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89B3A"/>
                </a:solidFill>
                <a:latin typeface="Inter"/>
              </a:rPr>
              <a:t>●  </a:t>
            </a:r>
            <a:r>
              <a:rPr sz="1300">
                <a:solidFill>
                  <a:srgbClr val="1A1A1A"/>
                </a:solidFill>
                <a:latin typeface="Inter"/>
              </a:rPr>
              <a:t>Everything in Operator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D89B3A"/>
                </a:solidFill>
                <a:latin typeface="Inter"/>
              </a:rPr>
              <a:t>●  </a:t>
            </a:r>
            <a:r>
              <a:rPr sz="1300">
                <a:solidFill>
                  <a:srgbClr val="1A1A1A"/>
                </a:solidFill>
                <a:latin typeface="Inter"/>
              </a:rPr>
              <a:t>HK-CPA audit-pack review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D89B3A"/>
                </a:solidFill>
                <a:latin typeface="Inter"/>
              </a:rPr>
              <a:t>●  </a:t>
            </a:r>
            <a:r>
              <a:rPr sz="1300">
                <a:solidFill>
                  <a:srgbClr val="1A1A1A"/>
                </a:solidFill>
                <a:latin typeface="Inter"/>
              </a:rPr>
              <a:t>Annual filing checklist sign-off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D89B3A"/>
                </a:solidFill>
                <a:latin typeface="Inter"/>
              </a:rPr>
              <a:t>●  </a:t>
            </a:r>
            <a:r>
              <a:rPr sz="1300">
                <a:solidFill>
                  <a:srgbClr val="1A1A1A"/>
                </a:solidFill>
                <a:latin typeface="Inter"/>
              </a:rPr>
              <a:t>Priority human escalation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6B"/>
                </a:solidFill>
                <a:latin typeface="IBM Plex Mono"/>
              </a:rPr>
              <a:t>Pricing is never per-filing. We never bill on an action we can't take ourselves.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65392"/>
            <a:ext cx="10180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6F1E7"/>
                </a:solidFill>
                <a:latin typeface="Inter"/>
              </a:rPr>
              <a:t>OPC Tutor — Investor brief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5653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6F1E7"/>
                </a:solidFill>
                <a:latin typeface="IBM Plex Mono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6B"/>
                </a:solidFill>
                <a:latin typeface="IBM Plex Mono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E2A47"/>
                </a:solidFill>
                <a:latin typeface="IBM Plex Serif"/>
              </a:rPr>
              <a:t>Top-down, HK-anchored.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94415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09728" cy="118872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IBM Plex Mono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3317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E2A47"/>
                </a:solidFill>
                <a:latin typeface="IBM Plex Serif"/>
              </a:rPr>
              <a:t>HK$ 4.8B / 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377440"/>
            <a:ext cx="6156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All HK professionals 35–75 who could plausibly run a one-person Ltd.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20440"/>
            <a:ext cx="11094415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520440"/>
            <a:ext cx="109728" cy="118872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033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IBM Plex Mono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65760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E2A47"/>
                </a:solidFill>
                <a:latin typeface="IBM Plex Serif"/>
              </a:rPr>
              <a:t>HK$ 720M / 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703320"/>
            <a:ext cx="6156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HK professionals with existing client revenue, pre-retirement cohort, and active retirees with marketable expertise.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46320"/>
            <a:ext cx="11094415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09728" cy="1188720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0292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IBM Plex Mono"/>
              </a:rPr>
              <a:t>SOM (yr 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9834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E2A47"/>
                </a:solidFill>
                <a:latin typeface="IBM Plex Serif"/>
              </a:rPr>
              <a:t>HK$ 36M / yr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5029200"/>
            <a:ext cx="6156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5% of SAM at blended HK$ 300/mo. Conservative on conversion; assumes professional-body and bank distribution partnerships.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65392"/>
            <a:ext cx="10180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6F1E7"/>
                </a:solidFill>
                <a:latin typeface="Inter"/>
              </a:rPr>
              <a:t>OPC Tutor — Investor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5653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6F1E7"/>
                </a:solidFill>
                <a:latin typeface="IBM Plex Mono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6B"/>
                </a:solidFill>
                <a:latin typeface="IBM Plex Mono"/>
              </a:rPr>
              <a:t>TRACTION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E2A47"/>
                </a:solidFill>
                <a:latin typeface="IBM Plex Serif"/>
              </a:rPr>
              <a:t>Where we are. Where the next dollar goes.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9441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914400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5059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6F1E7"/>
                </a:solidFill>
                <a:latin typeface="IBM Plex Mono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0428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IBM Plex Serif"/>
              </a:rPr>
              <a:t>Phase 1 — Arc 1 shipped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06040"/>
            <a:ext cx="9814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Adaptive tutor prototype runs end-to-end. Persona classifier, onboarding dialogue, six-arc spec, canonical Cap. 622 reference, decision-log scaffolding.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54680"/>
            <a:ext cx="1109441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154680"/>
            <a:ext cx="914400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107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6F1E7"/>
                </a:solidFill>
                <a:latin typeface="IBM Plex Mono"/>
              </a:rPr>
              <a:t>Q+1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6440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IBM Plex Serif"/>
              </a:rPr>
              <a:t>Arcs 2–3 + closed beta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566160"/>
            <a:ext cx="9814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Incorporating in HK and Running It. 100 hand-picked learners across the three personas. NPS + readiness-score telemetry.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914400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7083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6F1E7"/>
                </a:solidFill>
                <a:latin typeface="IBM Plex Mono"/>
              </a:rPr>
              <a:t>Q+2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2452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IBM Plex Serif"/>
              </a:rPr>
              <a:t>Arcs 4–6 + toolkit alpha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526280"/>
            <a:ext cx="9814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Agent stack, risk/insurance, succession. Compliance calendar and bookkeeping agent in alpha with 20 paid operators.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74920"/>
            <a:ext cx="1109441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074920"/>
            <a:ext cx="914400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3095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6F1E7"/>
                </a:solidFill>
                <a:latin typeface="IBM Plex Mono"/>
              </a:rPr>
              <a:t>Q+3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18464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IBM Plex Serif"/>
              </a:rPr>
              <a:t>Toolkit GA + CPA partner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486400"/>
            <a:ext cx="9814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Audit-pack review with two HK CPA firms. Bank partnership for KYC narrative.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565392"/>
            <a:ext cx="10180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6F1E7"/>
                </a:solidFill>
                <a:latin typeface="Inter"/>
              </a:rPr>
              <a:t>OPC Tutor — Investor brief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5653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6F1E7"/>
                </a:solidFill>
                <a:latin typeface="IBM Plex Mono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6B"/>
                </a:solidFill>
                <a:latin typeface="IBM Plex Mono"/>
              </a:rPr>
              <a:t>TEAM &amp;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E2A47"/>
                </a:solidFill>
                <a:latin typeface="IBM Plex Serif"/>
              </a:rPr>
              <a:t>What we are raising, and why 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IBM Plex Mono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5669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2E7D6B"/>
                </a:solidFill>
                <a:latin typeface="Inter"/>
              </a:rPr>
              <a:t>●  </a:t>
            </a:r>
            <a:r>
              <a:rPr sz="1400">
                <a:solidFill>
                  <a:srgbClr val="1A1A1A"/>
                </a:solidFill>
                <a:latin typeface="Inter"/>
              </a:rPr>
              <a:t>Founder — product lead. HK-based. Built the Phase-1 prototype end-to-end.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2E7D6B"/>
                </a:solidFill>
                <a:latin typeface="Inter"/>
              </a:rPr>
              <a:t>●  </a:t>
            </a:r>
            <a:r>
              <a:rPr sz="1400">
                <a:solidFill>
                  <a:srgbClr val="1A1A1A"/>
                </a:solidFill>
                <a:latin typeface="Inter"/>
              </a:rPr>
              <a:t>Advisory — HK CPA, HK company secretary, HK pension specialist.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2E7D6B"/>
                </a:solidFill>
                <a:latin typeface="Inter"/>
              </a:rPr>
              <a:t>●  </a:t>
            </a:r>
            <a:r>
              <a:rPr sz="1400">
                <a:solidFill>
                  <a:srgbClr val="1A1A1A"/>
                </a:solidFill>
                <a:latin typeface="Inter"/>
              </a:rPr>
              <a:t>Hiring with the raise: senior content lead (HK), staff engineer (agents), designer (accessibility).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89B3A"/>
                </a:solidFill>
                <a:latin typeface="IBM Plex Mono"/>
              </a:rPr>
              <a:t>The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E2A47"/>
                </a:solidFill>
                <a:latin typeface="IBM Plex Serif"/>
              </a:rPr>
              <a:t>USD 1.5M 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5029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D89B3A"/>
                </a:solidFill>
                <a:latin typeface="Inter"/>
              </a:rPr>
              <a:t>●  </a:t>
            </a:r>
            <a:r>
              <a:rPr sz="1400">
                <a:solidFill>
                  <a:srgbClr val="1A1A1A"/>
                </a:solidFill>
                <a:latin typeface="Inter"/>
              </a:rPr>
              <a:t>18 months runway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89B3A"/>
                </a:solidFill>
                <a:latin typeface="Inter"/>
              </a:rPr>
              <a:t>●  </a:t>
            </a:r>
            <a:r>
              <a:rPr sz="1400">
                <a:solidFill>
                  <a:srgbClr val="1A1A1A"/>
                </a:solidFill>
                <a:latin typeface="Inter"/>
              </a:rPr>
              <a:t>Ship Arcs 2–6 with closed-beta cohorts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89B3A"/>
                </a:solidFill>
                <a:latin typeface="Inter"/>
              </a:rPr>
              <a:t>●  </a:t>
            </a:r>
            <a:r>
              <a:rPr sz="1400">
                <a:solidFill>
                  <a:srgbClr val="1A1A1A"/>
                </a:solidFill>
                <a:latin typeface="Inter"/>
              </a:rPr>
              <a:t>Toolkit alpha → GA with 2 HK CPA partners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D89B3A"/>
                </a:solidFill>
                <a:latin typeface="Inter"/>
              </a:rPr>
              <a:t>●  </a:t>
            </a:r>
            <a:r>
              <a:rPr sz="1400">
                <a:solidFill>
                  <a:srgbClr val="1A1A1A"/>
                </a:solidFill>
                <a:latin typeface="Inter"/>
              </a:rPr>
              <a:t>1 bank distribution pilot in HK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65392"/>
            <a:ext cx="10180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6F1E7"/>
                </a:solidFill>
                <a:latin typeface="Inter"/>
              </a:rPr>
              <a:t>OPC Tutor — Investor brief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5653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F6F1E7"/>
                </a:solidFill>
                <a:latin typeface="IBM Plex Mono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89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6F1E7"/>
                </a:solidFill>
                <a:latin typeface="IBM Plex Serif"/>
              </a:rPr>
              <a:t>From learner</a:t>
            </a:r>
          </a:p>
          <a:p>
            <a:pPr algn="l"/>
            <a:r>
              <a:rPr sz="7200" b="1">
                <a:solidFill>
                  <a:srgbClr val="F6F1E7"/>
                </a:solidFill>
                <a:latin typeface="IBM Plex Serif"/>
              </a:rPr>
              <a:t>to operator.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6F1E7"/>
                </a:solidFill>
                <a:latin typeface="Inter"/>
              </a:rPr>
              <a:t>OPC Tutor — adaptive AI tutor and agent toolkit for the Hong Kong one-person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89B3A"/>
                </a:solidFill>
                <a:latin typeface="IBM Plex Mono"/>
              </a:rPr>
              <a:t>opc.tutor  ·  Hong Kong  ·  Cap. 622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