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af096c29ef4aed" /><Relationship Type="http://schemas.openxmlformats.org/officeDocument/2006/relationships/extended-properties" Target="/docProps/app.xml" Id="R39f945d8269946a6" /><Relationship Type="http://schemas.openxmlformats.org/officeDocument/2006/relationships/officeDocument" Target="/ppt/presentation.xml" Id="Rc6506bf2aca3429b" /></Relationships>
</file>

<file path=ppt/presentation.xml><?xml version="1.0" encoding="utf-8"?>
<p:presentation xmlns:p="http://schemas.openxmlformats.org/presentationml/2006/main">
  <p:sldMasterIdLst>
    <p:sldMasterId xmlns:r="http://schemas.openxmlformats.org/officeDocument/2006/relationships" id="2147483648" r:id="Rf92e5e497838494d"/>
  </p:sldMasterIdLst>
  <p:notesMasterIdLst>
    <p:notesMasterId xmlns:r="http://schemas.openxmlformats.org/officeDocument/2006/relationships" r:id="Rebd3d6ba610f4dbc"/>
  </p:notesMasterIdLst>
  <p:sldIdLst>
    <p:sldId xmlns:r="http://schemas.openxmlformats.org/officeDocument/2006/relationships" id="256" r:id="R8fa5ed8ac74245c4"/>
    <p:sldId xmlns:r="http://schemas.openxmlformats.org/officeDocument/2006/relationships" id="257" r:id="R135d25318e244979"/>
    <p:sldId xmlns:r="http://schemas.openxmlformats.org/officeDocument/2006/relationships" id="258" r:id="R785d81d9d32345da"/>
    <p:sldId xmlns:r="http://schemas.openxmlformats.org/officeDocument/2006/relationships" id="259" r:id="Rc19855ff52504f52"/>
    <p:sldId xmlns:r="http://schemas.openxmlformats.org/officeDocument/2006/relationships" id="260" r:id="R64a0b9026a79457b"/>
    <p:sldId xmlns:r="http://schemas.openxmlformats.org/officeDocument/2006/relationships" id="261" r:id="R01ca5cf95e4f4e9c"/>
    <p:sldId xmlns:r="http://schemas.openxmlformats.org/officeDocument/2006/relationships" id="262" r:id="R8a2958e2a21f4bd6"/>
    <p:sldId xmlns:r="http://schemas.openxmlformats.org/officeDocument/2006/relationships" id="263" r:id="R991932b7782644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7fdb9a77eb4eb3" /><Relationship Type="http://schemas.openxmlformats.org/officeDocument/2006/relationships/slideMaster" Target="/ppt/slideMasters/slideMaster1.xml" Id="Rf92e5e497838494d" /><Relationship Type="http://schemas.openxmlformats.org/officeDocument/2006/relationships/notesMaster" Target="/ppt/notesMasters/notesMaster1.xml" Id="Rebd3d6ba610f4dbc" /><Relationship Type="http://schemas.openxmlformats.org/officeDocument/2006/relationships/presProps" Target="/ppt/presProps.xml" Id="R3c6d8c3d48ef4523" /><Relationship Type="http://schemas.openxmlformats.org/officeDocument/2006/relationships/tableStyles" Target="/ppt/tableStyles.xml" Id="R0737818e4eab4842" /><Relationship Type="http://schemas.openxmlformats.org/officeDocument/2006/relationships/slide" Target="/ppt/slides/slide1.xml" Id="R8fa5ed8ac74245c4" /><Relationship Type="http://schemas.openxmlformats.org/officeDocument/2006/relationships/slide" Target="/ppt/slides/slide2.xml" Id="R135d25318e244979" /><Relationship Type="http://schemas.openxmlformats.org/officeDocument/2006/relationships/slide" Target="/ppt/slides/slide3.xml" Id="R785d81d9d32345da" /><Relationship Type="http://schemas.openxmlformats.org/officeDocument/2006/relationships/slide" Target="/ppt/slides/slide4.xml" Id="Rc19855ff52504f52" /><Relationship Type="http://schemas.openxmlformats.org/officeDocument/2006/relationships/slide" Target="/ppt/slides/slide5.xml" Id="R64a0b9026a79457b" /><Relationship Type="http://schemas.openxmlformats.org/officeDocument/2006/relationships/slide" Target="/ppt/slides/slide6.xml" Id="R01ca5cf95e4f4e9c" /><Relationship Type="http://schemas.openxmlformats.org/officeDocument/2006/relationships/slide" Target="/ppt/slides/slide7.xml" Id="R8a2958e2a21f4bd6" /><Relationship Type="http://schemas.openxmlformats.org/officeDocument/2006/relationships/slide" Target="/ppt/slides/slide8.xml" Id="R991932b7782644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e4d9c203354b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258070d0d04562" /><Relationship Type="http://schemas.openxmlformats.org/officeDocument/2006/relationships/notesMaster" Target="/ppt/notesMasters/notesMaster1.xml" Id="Raacb4090770048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e532e07c1a48dd" /><Relationship Type="http://schemas.openxmlformats.org/officeDocument/2006/relationships/notesMaster" Target="/ppt/notesMasters/notesMaster1.xml" Id="R9119dd9521b140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445973a3544aed" /><Relationship Type="http://schemas.openxmlformats.org/officeDocument/2006/relationships/notesMaster" Target="/ppt/notesMasters/notesMaster1.xml" Id="R48de4a1300e8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ae643735414c51" /><Relationship Type="http://schemas.openxmlformats.org/officeDocument/2006/relationships/notesMaster" Target="/ppt/notesMasters/notesMaster1.xml" Id="R9988c0e2cc474e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15013591684bb7" /><Relationship Type="http://schemas.openxmlformats.org/officeDocument/2006/relationships/notesMaster" Target="/ppt/notesMasters/notesMaster1.xml" Id="R5d2a7aa57da34c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fab8d5ec0740f9" /><Relationship Type="http://schemas.openxmlformats.org/officeDocument/2006/relationships/notesMaster" Target="/ppt/notesMasters/notesMaster1.xml" Id="R8a4f6351555f45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0d2f6e9ef648aa" /><Relationship Type="http://schemas.openxmlformats.org/officeDocument/2006/relationships/notesMaster" Target="/ppt/notesMasters/notesMaster1.xml" Id="R032219d39c4844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eef3d5461a4aef" /><Relationship Type="http://schemas.openxmlformats.org/officeDocument/2006/relationships/notesMaster" Target="/ppt/notesMasters/notesMaster1.xml" Id="R4080c9d2674248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MMStudio Brand Book v3 Global Partner Edition.pptx, slides 5, 6, 7, 13 and 17, covering WBI's Korean R&amp;D, formulation and manufacturing responsibilities, the London and Seoul demonstration studios, and partnership models. The original London opening photo is image4.jpg embedded on slides 1/7 of that brand book. Funding and equity allocation follow the user's proposed UK programme and are not final transaction terms. The deck contains eight slides; this cover also carries the “Why Us”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Brand book slides 5, 6, 11, 13 and 17 for WBI CEO Theresa Jang and Korean R&amp;D, manufacturing and training support. NeuNova's proposed UK course planning and operational role follows MM Studio Incubation Program(1).pdf, pages 2–3, and the Sources &amp; Notes and Neunova P&amp;L sheets of Neunova_Founding_Partnership_Investor_Model_v2.xlsx. The course is a proposal; the certification body, accreditation, internship roles and employment terms are not confirmed. Private investors' unit-based funding and equity allocation follow the user's instructions. The team photo is original image1.jpg from brand book slide 1; no individual roles are inferred from the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Brand book slides 6, 9 and 10. IT-EXO® is an exosome research and formulation platform. SYN-EXO is a biomimetic extracellular vesicle platform; the brand materials describe its HLA-G design. RetroEV ExoShot is a needle-free device and care platform. The brand book distinguishes mechanism education from established clinical evidence. HLA-G concepts, research mechanisms and ingredient information are not presented as proven clinical efficacy, and no absolute claims of zero redness, risk or downtime are made. Original EXO DERMA and EXO HAIR product images come from RetroEV One Pager.pdf; package artwork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Brand book slides 3, 10, 11, 13, 16 and 17. AI-assisted scanning supports care assessment and consultation. Head spa, needle-free care and facials are studio services. Membership and homecare products support ongoing management. The four steps summarise the brand materials and do not establish individual treatment efficacy. AI analysis is not a medical diagnosis; medical diagnosis, prescriptions and medical procedures are the responsibility of appropriately qualified medical professionals. The care photograph is original image3.jpg from brand book slides 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Brand book slides 5, 10, 13, 16 and 17 for flagship, in-clinic and partner/distribution models, membership, packages, retail, training and supply support. Launch equipment packages and reorders follow MM studio EXO SHOT PRO and products supply price.xlsx (dated 8 September 2026; USD; EXW) and WBI Exo Shot Distribution Term Sheet.pdf. Service fees depend on individual partner agreements; US and 555 project fees are not automatically applied to the UK programme. Course revenue and equity subscriptions are different in nature. Equity returns depend on the issuer's actual operations and the shareholder agreement. WBI factory revenue, UK studio revenue and third-party 555 project revenue are not consolidated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Brand book slides 5, 6, 9 and 10 describe WBI's Korean R&amp;D, formulation, manufacturing and supply role. RetroEV One Pager.pdf identifies EXO DERMA and EXO HAIR as freeze-dried products, with ACTIVA as a companion product. The supply price table lists professional vials at 100 mg, several liquid serums at 5 mL, and re'mirae and MORIMANA ranges. The slide summarises documented product forms and supply processes; it does not invent cell-culture, purification, filling or sterilisation parameters, GMP/ISO certifications, batch test results or factory capacity. Detailed production processes, testing and release standards, and capacity require technical documentation. Supply table Table 1!B11 lists 10 hours of theory and 5 hours of hands-on training as an example of partner launch training; this is separate from the proposed UK 12-month certificate course. Original product images come from RetroEV and Re'Mirae One Pager.pdf.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Neunova_Founding_Partnership_Investor_Model_v2.xlsx. London initial investment of £50,000 and first-year sales of £46,000 come from Sources &amp; Notes!B5, are management-provided and unaudited, and do not identify the exact first-year period. The five-year table uses Route 1 Operator!C6:G6 (revenue) and C17:G17 (EBITDA). Underlying values, recalculated and checked against cached results, are: 148104/-13742.532; 188496/20342.232; 228888/52986.996; 269280/85631.76; 282744/94593.348. Displayed figures are rounded to whole pounds. Incorrect references in Investor Summary!B27:B30 were not used. Base assumptions come from Assumptions!C17:C22, C31:C38 and B44:F45: 20 mature members spending £300 per month in total, 36 monthly non-member visits at £400, 10% retail uplift, consumables at 12.05% of revenue, annual rent of £75,000, therapist costs of £24,000, reception costs of £30,000, plus utilities, amenities, insurance and marketing. The single-studio illustration excludes UK head-office costs and the proposed 12-month internship/work budget. Its EBITDA is not consolidated company profit, a cash dividend or a return per funding unit. Unit Economics!C43/C42 shows 56 projected monthly visits and capacity for 44 treatments; reconcile the definitions, scheduling and staffing costs. The existing 49% SPV structure, 3× Year-5 EBITDA valuation and earlier tuition prices have not been adopted as terms for this funding proposal. The ReadMe in MM_Studio_Entity_PL_Consolidated.xlsx identifies actual-data gaps and restrictions on investment valuation use, so its consolidated profit figures are not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user's programme instructions and explicit choice to retain unspecified figures as placeholders. Each unit is £XXX. Study visits, training and practice cost £15,000, excluding travel, hotel accommodation and transport. The 12-month professional certificate course starts at £25,000. The 12-month internship/work budget is £XXXX. Each unit includes MM Studio equity valued at £50,000, calculated against its 2026 baseline/original value of £XXXX. All amounts are in GBP. Earlier family-route totals of £165k/£275k/£395k are not adopted. The allocation provisionally treats the equity element as an equal £50,000 cash subscription. The minimum listed components total £15,000 + £25,000 + £50,000 = £90,000, plus the internship/work budget and any course cost above the starting price. If equity is allocated by transfer, non-cash arrangement or another mechanism, fundraising and cash flows must be recalculated. The meaning of “original value”, the 2026 baseline value, share issuer, share class, subscription or transfer mechanism, fully diluted ownership percentage and shareholder rights remain unconfirmed. No pre-money/post-money formula or Year-5 exit value is applied. Total fundraising equals N units multiplied by the final amount paid per unit; N is unconfirmed. The two 12-month elements are not assumed to run consecutively or concurrently. No recognised qualification, job, visa, immigration outcome or investment return is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06749fad374a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03c093252648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611dc9c9104f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e43de52e444e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b1dbdd20ba4d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b8a0fde1f745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274A7BC-48EB-4582-9A93-256B7890C83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2026384-E8A8-4ACD-9B62-27D5677DFD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2FCB256-4E72-4FFE-8BE0-53B720EE0B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036D487-ADA7-4F9E-894F-62EE4B59B385}"/>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FCD0979-591B-4203-9F95-1CED5DEAD6F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3C8D486-E97E-4741-8FE8-BFE16D1964A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7957B1E-FA17-496A-BAAB-F7889141AB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A70C31E1-EE82-43F7-AD5B-7D204FABDE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1E3161A-64EF-4896-9AC3-BB4F1ACDEFA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401DCCB-20BF-49C4-99C6-722E9F06B8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1A61406-0119-405B-B554-0B4F88717E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33655BE-8F0B-4604-9190-E74B88C394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AED8700-8FE6-4714-A8DC-364D0B590B7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6974D42-777E-48E5-A33A-00268413C6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4B10810-4666-4924-A4D2-F15C20BBAF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fe3a81cd1b4377" /><Relationship Type="http://schemas.openxmlformats.org/officeDocument/2006/relationships/slideLayout" Target="/ppt/slideLayouts/slideLayout1.xml" Id="R5d14d1d32400479c" /><Relationship Type="http://schemas.openxmlformats.org/officeDocument/2006/relationships/slideLayout" Target="/ppt/slideLayouts/slideLayout2.xml" Id="R22f25491763f4325" /><Relationship Type="http://schemas.openxmlformats.org/officeDocument/2006/relationships/slideLayout" Target="/ppt/slideLayouts/slideLayout3.xml" Id="R4e5237907b6a45b0" /><Relationship Type="http://schemas.openxmlformats.org/officeDocument/2006/relationships/slideLayout" Target="/ppt/slideLayouts/slideLayout4.xml" Id="Rbf6a820ef7144f1c" /><Relationship Type="http://schemas.openxmlformats.org/officeDocument/2006/relationships/slideLayout" Target="/ppt/slideLayouts/slideLayout5.xml" Id="R77e95f8e048245a9" /><Relationship Type="http://schemas.openxmlformats.org/officeDocument/2006/relationships/slideLayout" Target="/ppt/slideLayouts/slideLayout6.xml" Id="Re80560ceeb2d42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14d1d32400479c"/>
    <p:sldLayoutId xmlns:r="http://schemas.openxmlformats.org/officeDocument/2006/relationships" id="2147483650" r:id="R22f25491763f4325"/>
    <p:sldLayoutId xmlns:r="http://schemas.openxmlformats.org/officeDocument/2006/relationships" id="2147483651" r:id="R4e5237907b6a45b0"/>
    <p:sldLayoutId xmlns:r="http://schemas.openxmlformats.org/officeDocument/2006/relationships" id="2147483652" r:id="Rbf6a820ef7144f1c"/>
    <p:sldLayoutId xmlns:r="http://schemas.openxmlformats.org/officeDocument/2006/relationships" id="2147483653" r:id="R77e95f8e048245a9"/>
    <p:sldLayoutId xmlns:r="http://schemas.openxmlformats.org/officeDocument/2006/relationships" id="2147483654" r:id="Re80560ceeb2d42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8b86f15fb64c59" /><Relationship Type="http://schemas.openxmlformats.org/officeDocument/2006/relationships/image" Target="/ppt/media/image.jpeg" Id="Rc25c81422fb84bb9" /><Relationship Type="http://schemas.openxmlformats.org/officeDocument/2006/relationships/notesSlide" Target="/ppt/notesSlides/notesSlide1.xml" Id="Rdc4c674e934d47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8a26093a5a4600" /><Relationship Type="http://schemas.openxmlformats.org/officeDocument/2006/relationships/image" Target="/ppt/media/image2.jpeg" Id="Red1093c880f245fe" /><Relationship Type="http://schemas.openxmlformats.org/officeDocument/2006/relationships/notesSlide" Target="/ppt/notesSlides/notesSlide2.xml" Id="R2ac8416f2b1344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d7df4050d34874" /><Relationship Type="http://schemas.openxmlformats.org/officeDocument/2006/relationships/image" Target="/ppt/media/image.png" Id="Re0510c31df1a452f" /><Relationship Type="http://schemas.openxmlformats.org/officeDocument/2006/relationships/image" Target="/ppt/media/image2.png" Id="R67c9028f3e6b47c1" /><Relationship Type="http://schemas.openxmlformats.org/officeDocument/2006/relationships/notesSlide" Target="/ppt/notesSlides/notesSlide3.xml" Id="Rd48e90b6ffb844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c23b8faaf24430" /><Relationship Type="http://schemas.openxmlformats.org/officeDocument/2006/relationships/image" Target="/ppt/media/image3.jpeg" Id="R9c8d2fea77c8414d" /><Relationship Type="http://schemas.openxmlformats.org/officeDocument/2006/relationships/notesSlide" Target="/ppt/notesSlides/notesSlide4.xml" Id="R9f4b289447ad43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0d13b01b1c4f66" /><Relationship Type="http://schemas.openxmlformats.org/officeDocument/2006/relationships/notesSlide" Target="/ppt/notesSlides/notesSlide5.xml" Id="Rb74033e05a8e45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0ed102437c4699" /><Relationship Type="http://schemas.openxmlformats.org/officeDocument/2006/relationships/image" Target="/ppt/media/image3.png" Id="Rfbcc437d71684ede" /><Relationship Type="http://schemas.openxmlformats.org/officeDocument/2006/relationships/image" Target="/ppt/media/image4.png" Id="R5d7c1954eb634e57" /><Relationship Type="http://schemas.openxmlformats.org/officeDocument/2006/relationships/image" Target="/ppt/media/image5.png" Id="Rec3537ef5d734be3" /><Relationship Type="http://schemas.openxmlformats.org/officeDocument/2006/relationships/notesSlide" Target="/ppt/notesSlides/notesSlide6.xml" Id="R88be63456e7344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f1f35420964d5a" /><Relationship Type="http://schemas.openxmlformats.org/officeDocument/2006/relationships/notesSlide" Target="/ppt/notesSlides/notesSlide7.xml" Id="R2c88139f61b448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af7f011853455e" /><Relationship Type="http://schemas.openxmlformats.org/officeDocument/2006/relationships/notesSlide" Target="/ppt/notesSlides/notesSlide8.xml" Id="Radd0c580e80545b9" /></Relationships>
</file>

<file path=ppt/slides/slide1.xml><?xml version="1.0" encoding="utf-8"?>
<p:sld xmlns:p="http://schemas.openxmlformats.org/presentationml/2006/main">
  <p:cSld>
    <p:bg>
      <p:bgPr>
        <a:solidFill xmlns:a="http://schemas.openxmlformats.org/drawingml/2006/main">
          <a:srgbClr val="1B2233"/>
        </a:solidFill>
      </p:bgPr>
    </p:bg>
    <p:spTree>
      <p:nvGrpSpPr>
        <p:cNvPr id="1" name=""/>
        <p:cNvGrpSpPr/>
        <p:nvPr/>
      </p:nvGrpSpPr>
      <p:grpSpPr>
        <a:xfrm xmlns:a="http://schemas.openxmlformats.org/drawingml/2006/main"/>
      </p:grpSpPr>
      <p:sp>
        <p:nvSpPr>
          <p:cNvPr id="9" name="s1-text-1">
            <a:extLst xmlns:a="http://schemas.openxmlformats.org/drawingml/2006/main">
              <a:ext uri="{FF2B5EF4-FFF2-40B4-BE49-F238E27FC236}">
                <a16:creationId xmlns:a16="http://schemas.microsoft.com/office/drawing/2014/main" id="{DF201953-0A8C-4E73-BD47-12224F785A5F}"/>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C9CEDA"/>
                </a:solidFill>
                <a:latin typeface="Nimbus Sans"/>
                <a:ea typeface="Nimbus Sans"/>
                <a:cs typeface="Nimbus Sans"/>
              </a:defRPr>
            </a:pPr>
            <a:r>
              <a:rPr sz="1200" b="0">
                <a:solidFill>
                  <a:srgbClr val="C9CEDA"/>
                </a:solidFill>
                <a:latin typeface="Nimbus Sans"/>
                <a:ea typeface="Nimbus Sans"/>
                <a:cs typeface="Nimbus Sans"/>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25c81422fb84bb9"/>
          <a:srcRect xmlns:a="http://schemas.openxmlformats.org/drawingml/2006/main" l="0" t="2632" r="0" b="2632"/>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ect">
            <a:avLst/>
          </a:prstGeom>
        </p:spPr>
      </p:pic>
      <p:sp>
        <p:nvSpPr>
          <p:cNvPr id="3" name="s1-text-2">
            <a:extLst xmlns:a="http://schemas.openxmlformats.org/drawingml/2006/main">
              <a:ext uri="{FF2B5EF4-FFF2-40B4-BE49-F238E27FC236}">
                <a16:creationId xmlns:a16="http://schemas.microsoft.com/office/drawing/2014/main" id="{443ABB1E-053C-437F-AF81-0D52CE6EFFB3}"/>
              </a:ext>
            </a:extLst>
          </p:cNvPr>
          <p:cNvSpPr>
            <a:spLocks xmlns:a="http://schemas.openxmlformats.org/drawingml/2006/main" noGrp="1"/>
          </p:cNvSpPr>
          <p:nvPr/>
        </p:nvSpPr>
        <p:spPr>
          <a:xfrm xmlns:a="http://schemas.openxmlformats.org/drawingml/2006/main">
            <a:off x="533400" y="876300"/>
            <a:ext cx="600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650" b="1">
                <a:solidFill>
                  <a:srgbClr val="F4F2ED"/>
                </a:solidFill>
                <a:latin typeface="Nimbus Sans"/>
                <a:ea typeface="Nimbus Sans"/>
                <a:cs typeface="Nimbus Sans"/>
              </a:defRPr>
            </a:pPr>
            <a:r>
              <a:rPr sz="4650" b="1">
                <a:solidFill>
                  <a:srgbClr val="F4F2ED"/>
                </a:solidFill>
                <a:latin typeface="Nimbus Sans"/>
                <a:ea typeface="Nimbus Sans"/>
                <a:cs typeface="Nimbus Sans"/>
              </a:rPr>
              <a:t>MM STUDIO</a:t>
            </a:r>
          </a:p>
        </p:txBody>
      </p:sp>
      <p:sp>
        <p:nvSpPr>
          <p:cNvPr id="4" name="s1-text-3">
            <a:extLst xmlns:a="http://schemas.openxmlformats.org/drawingml/2006/main">
              <a:ext uri="{FF2B5EF4-FFF2-40B4-BE49-F238E27FC236}">
                <a16:creationId xmlns:a16="http://schemas.microsoft.com/office/drawing/2014/main" id="{5C1076DA-3505-4BFA-96A0-5A5A2420F460}"/>
              </a:ext>
            </a:extLst>
          </p:cNvPr>
          <p:cNvSpPr>
            <a:spLocks xmlns:a="http://schemas.openxmlformats.org/drawingml/2006/main" noGrp="1"/>
          </p:cNvSpPr>
          <p:nvPr/>
        </p:nvSpPr>
        <p:spPr>
          <a:xfrm xmlns:a="http://schemas.openxmlformats.org/drawingml/2006/main">
            <a:off x="533400" y="1762125"/>
            <a:ext cx="581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825" b="1">
                <a:solidFill>
                  <a:srgbClr val="F4F2ED"/>
                </a:solidFill>
                <a:latin typeface="Noto Sans CJK SC"/>
                <a:ea typeface="Noto Sans CJK SC"/>
                <a:cs typeface="Noto Sans CJK SC"/>
              </a:defRPr>
            </a:pPr>
            <a:r>
              <a:rPr sz="3825" b="1">
                <a:solidFill>
                  <a:srgbClr val="F4F2ED"/>
                </a:solidFill>
                <a:latin typeface="Noto Sans CJK SC"/>
                <a:ea typeface="Noto Sans CJK SC"/>
                <a:cs typeface="Noto Sans CJK SC"/>
              </a:rPr>
              <a:t>Investor Brief</a:t>
            </a:r>
          </a:p>
        </p:txBody>
      </p:sp>
      <p:sp>
        <p:nvSpPr>
          <p:cNvPr id="5" name="s1-text-4">
            <a:extLst xmlns:a="http://schemas.openxmlformats.org/drawingml/2006/main">
              <a:ext uri="{FF2B5EF4-FFF2-40B4-BE49-F238E27FC236}">
                <a16:creationId xmlns:a16="http://schemas.microsoft.com/office/drawing/2014/main" id="{79472712-E4D9-4E34-A596-BD46A2B3B04F}"/>
              </a:ext>
            </a:extLst>
          </p:cNvPr>
          <p:cNvSpPr>
            <a:spLocks xmlns:a="http://schemas.openxmlformats.org/drawingml/2006/main" noGrp="1"/>
          </p:cNvSpPr>
          <p:nvPr/>
        </p:nvSpPr>
        <p:spPr>
          <a:xfrm xmlns:a="http://schemas.openxmlformats.org/drawingml/2006/main">
            <a:off x="533400" y="3190875"/>
            <a:ext cx="5715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F4F2ED"/>
                </a:solidFill>
                <a:latin typeface="Noto Sans CJK SC"/>
                <a:ea typeface="Noto Sans CJK SC"/>
                <a:cs typeface="Noto Sans CJK SC"/>
              </a:defRPr>
            </a:pPr>
            <a:r>
              <a:rPr sz="2625" b="1">
                <a:solidFill>
                  <a:srgbClr val="F4F2ED"/>
                </a:solidFill>
                <a:latin typeface="Noto Sans CJK SC"/>
                <a:ea typeface="Noto Sans CJK SC"/>
                <a:cs typeface="Noto Sans CJK SC"/>
              </a:rPr>
              <a:t>Why Us</a:t>
            </a:r>
          </a:p>
        </p:txBody>
      </p:sp>
      <p:sp>
        <p:nvSpPr>
          <p:cNvPr id="6" name="s1-text-5">
            <a:extLst xmlns:a="http://schemas.openxmlformats.org/drawingml/2006/main">
              <a:ext uri="{FF2B5EF4-FFF2-40B4-BE49-F238E27FC236}">
                <a16:creationId xmlns:a16="http://schemas.microsoft.com/office/drawing/2014/main" id="{45936575-5A92-49F2-B7CD-4AC8AA1B25E6}"/>
              </a:ext>
            </a:extLst>
          </p:cNvPr>
          <p:cNvSpPr>
            <a:spLocks xmlns:a="http://schemas.openxmlformats.org/drawingml/2006/main" noGrp="1"/>
          </p:cNvSpPr>
          <p:nvPr/>
        </p:nvSpPr>
        <p:spPr>
          <a:xfrm xmlns:a="http://schemas.openxmlformats.org/drawingml/2006/main">
            <a:off x="533400" y="398145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4F2ED"/>
                </a:solidFill>
                <a:latin typeface="Noto Sans CJK SC"/>
                <a:ea typeface="Noto Sans CJK SC"/>
                <a:cs typeface="Noto Sans CJK SC"/>
              </a:defRPr>
            </a:pPr>
            <a:r>
              <a:rPr sz="2100" b="0">
                <a:solidFill>
                  <a:srgbClr val="F4F2ED"/>
                </a:solidFill>
                <a:latin typeface="Noto Sans CJK SC"/>
                <a:ea typeface="Noto Sans CJK SC"/>
                <a:cs typeface="Noto Sans CJK SC"/>
              </a:rPr>
              <a:t>Korean R&amp;D and manufacturing</a:t>
            </a:r>
          </a:p>
          <a:p xmlns:a="http://schemas.openxmlformats.org/drawingml/2006/main">
            <a:pPr algn="l">
              <a:lnSpc>
                <a:spcPct val="112000"/>
              </a:lnSpc>
              <a:buNone/>
              <a:defRPr sz="2100" b="0">
                <a:solidFill>
                  <a:srgbClr val="F4F2ED"/>
                </a:solidFill>
                <a:latin typeface="Noto Sans CJK SC"/>
                <a:ea typeface="Noto Sans CJK SC"/>
                <a:cs typeface="Noto Sans CJK SC"/>
              </a:defRPr>
            </a:pPr>
            <a:r>
              <a:rPr sz="2100" b="0">
                <a:solidFill>
                  <a:srgbClr val="F4F2ED"/>
                </a:solidFill>
                <a:latin typeface="Noto Sans CJK SC"/>
                <a:ea typeface="Noto Sans CJK SC"/>
                <a:cs typeface="Noto Sans CJK SC"/>
              </a:rPr>
              <a:t>working with UK operations</a:t>
            </a:r>
          </a:p>
        </p:txBody>
      </p:sp>
      <p:sp>
        <p:nvSpPr>
          <p:cNvPr id="7" name="s1-text-6">
            <a:extLst xmlns:a="http://schemas.openxmlformats.org/drawingml/2006/main">
              <a:ext uri="{FF2B5EF4-FFF2-40B4-BE49-F238E27FC236}">
                <a16:creationId xmlns:a16="http://schemas.microsoft.com/office/drawing/2014/main" id="{6AD8C12C-F14C-4E37-A995-B90C96DDE456}"/>
              </a:ext>
            </a:extLst>
          </p:cNvPr>
          <p:cNvSpPr>
            <a:spLocks xmlns:a="http://schemas.openxmlformats.org/drawingml/2006/main" noGrp="1"/>
          </p:cNvSpPr>
          <p:nvPr/>
        </p:nvSpPr>
        <p:spPr>
          <a:xfrm xmlns:a="http://schemas.openxmlformats.org/drawingml/2006/main">
            <a:off x="533400" y="4829175"/>
            <a:ext cx="5753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C9CEDA"/>
                </a:solidFill>
                <a:latin typeface="Noto Sans CJK SC"/>
                <a:ea typeface="Noto Sans CJK SC"/>
                <a:cs typeface="Noto Sans CJK SC"/>
              </a:defRPr>
            </a:pPr>
            <a:r>
              <a:rPr sz="2025" b="0">
                <a:solidFill>
                  <a:srgbClr val="C9CEDA"/>
                </a:solidFill>
                <a:latin typeface="Noto Sans CJK SC"/>
                <a:ea typeface="Noto Sans CJK SC"/>
                <a:cs typeface="Noto Sans CJK SC"/>
              </a:rPr>
              <a:t>Skin and scalp care, professional training</a:t>
            </a:r>
          </a:p>
          <a:p xmlns:a="http://schemas.openxmlformats.org/drawingml/2006/main">
            <a:pPr algn="l">
              <a:lnSpc>
                <a:spcPct val="112000"/>
              </a:lnSpc>
              <a:buNone/>
              <a:defRPr sz="2025" b="0">
                <a:solidFill>
                  <a:srgbClr val="C9CEDA"/>
                </a:solidFill>
                <a:latin typeface="Noto Sans CJK SC"/>
                <a:ea typeface="Noto Sans CJK SC"/>
                <a:cs typeface="Noto Sans CJK SC"/>
              </a:defRPr>
            </a:pPr>
            <a:r>
              <a:rPr sz="2025" b="0">
                <a:solidFill>
                  <a:srgbClr val="C9CEDA"/>
                </a:solidFill>
                <a:latin typeface="Noto Sans CJK SC"/>
                <a:ea typeface="Noto Sans CJK SC"/>
                <a:cs typeface="Noto Sans CJK SC"/>
              </a:rPr>
              <a:t>and a proposed MM Studio shareholding</a:t>
            </a:r>
          </a:p>
        </p:txBody>
      </p:sp>
      <p:sp>
        <p:nvSpPr>
          <p:cNvPr id="8" name="s1-text-7">
            <a:extLst xmlns:a="http://schemas.openxmlformats.org/drawingml/2006/main">
              <a:ext uri="{FF2B5EF4-FFF2-40B4-BE49-F238E27FC236}">
                <a16:creationId xmlns:a16="http://schemas.microsoft.com/office/drawing/2014/main" id="{07F0AF7C-3FDF-4614-85DC-B8DBBEC9ED7A}"/>
              </a:ext>
            </a:extLst>
          </p:cNvPr>
          <p:cNvSpPr>
            <a:spLocks xmlns:a="http://schemas.openxmlformats.org/drawingml/2006/main" noGrp="1"/>
          </p:cNvSpPr>
          <p:nvPr/>
        </p:nvSpPr>
        <p:spPr>
          <a:xfrm xmlns:a="http://schemas.openxmlformats.org/drawingml/2006/main">
            <a:off x="533400" y="6010275"/>
            <a:ext cx="596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9CEDA"/>
                </a:solidFill>
                <a:latin typeface="Noto Sans CJK SC"/>
                <a:ea typeface="Noto Sans CJK SC"/>
                <a:cs typeface="Noto Sans CJK SC"/>
              </a:defRPr>
            </a:pPr>
            <a:r>
              <a:rPr sz="1500" b="0">
                <a:solidFill>
                  <a:srgbClr val="C9CEDA"/>
                </a:solidFill>
                <a:latin typeface="Noto Sans CJK SC"/>
                <a:ea typeface="Noto Sans CJK SC"/>
                <a:cs typeface="Noto Sans CJK SC"/>
              </a:rPr>
              <a:t>UK programme  /  Discussion draft  /  October 2026</a:t>
            </a:r>
          </a:p>
        </p:txBody>
      </p:sp>
    </p:spTree>
    <p:extLst>
      <p:ext uri="{BB962C8B-B14F-4D97-AF65-F5344CB8AC3E}">
        <p14:creationId xmlns:p14="http://schemas.microsoft.com/office/powerpoint/2010/main" val="1290418617"/>
      </p:ext>
    </p:extLst>
  </p:cSld>
</p:sld>
</file>

<file path=ppt/slides/slide2.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3" name="s2-text-1">
            <a:extLst xmlns:a="http://schemas.openxmlformats.org/drawingml/2006/main">
              <a:ext uri="{FF2B5EF4-FFF2-40B4-BE49-F238E27FC236}">
                <a16:creationId xmlns:a16="http://schemas.microsoft.com/office/drawing/2014/main" id="{0E071F52-EDE5-4225-BCA7-2B8A0C71D9BD}"/>
              </a:ext>
            </a:extLst>
          </p:cNvPr>
          <p:cNvSpPr>
            <a:spLocks xmlns:a="http://schemas.openxmlformats.org/drawingml/2006/main" noGrp="1"/>
          </p:cNvSpPr>
          <p:nvPr/>
        </p:nvSpPr>
        <p:spPr>
          <a:xfrm xmlns:a="http://schemas.openxmlformats.org/drawingml/2006/main">
            <a:off x="533400" y="45720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B2233"/>
                </a:solidFill>
                <a:latin typeface="Noto Sans CJK SC"/>
                <a:ea typeface="Noto Sans CJK SC"/>
                <a:cs typeface="Noto Sans CJK SC"/>
              </a:defRPr>
            </a:pPr>
            <a:r>
              <a:rPr sz="3225" b="1">
                <a:solidFill>
                  <a:srgbClr val="1B2233"/>
                </a:solidFill>
                <a:latin typeface="Noto Sans CJK SC"/>
                <a:ea typeface="Noto Sans CJK SC"/>
                <a:cs typeface="Noto Sans CJK SC"/>
              </a:rPr>
              <a:t>Team Collaboration</a:t>
            </a:r>
          </a:p>
        </p:txBody>
      </p:sp>
      <p:sp>
        <p:nvSpPr>
          <p:cNvPr id="2" name="s2-text-2">
            <a:extLst xmlns:a="http://schemas.openxmlformats.org/drawingml/2006/main">
              <a:ext uri="{FF2B5EF4-FFF2-40B4-BE49-F238E27FC236}">
                <a16:creationId xmlns:a16="http://schemas.microsoft.com/office/drawing/2014/main" id="{11F073C6-5CF0-435D-BB4A-619BCD0D796C}"/>
              </a:ext>
            </a:extLst>
          </p:cNvPr>
          <p:cNvSpPr>
            <a:spLocks xmlns:a="http://schemas.openxmlformats.org/drawingml/2006/main" noGrp="1"/>
          </p:cNvSpPr>
          <p:nvPr/>
        </p:nvSpPr>
        <p:spPr>
          <a:xfrm xmlns:a="http://schemas.openxmlformats.org/drawingml/2006/main">
            <a:off x="533400" y="1095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C6270"/>
                </a:solidFill>
                <a:latin typeface="Noto Sans CJK SC"/>
                <a:ea typeface="Noto Sans CJK SC"/>
                <a:cs typeface="Noto Sans CJK SC"/>
              </a:defRPr>
            </a:pPr>
            <a:r>
              <a:rPr sz="1875" b="0">
                <a:solidFill>
                  <a:srgbClr val="5C6270"/>
                </a:solidFill>
                <a:latin typeface="Noto Sans CJK SC"/>
                <a:ea typeface="Noto Sans CJK SC"/>
                <a:cs typeface="Noto Sans CJK SC"/>
              </a:rPr>
              <a:t>Clear responsibilities for Korean R&amp;D and UK studio operations</a:t>
            </a:r>
          </a:p>
        </p:txBody>
      </p:sp>
      <p:sp>
        <p:nvSpPr>
          <p:cNvPr id="3" name="s2-text-3">
            <a:extLst xmlns:a="http://schemas.openxmlformats.org/drawingml/2006/main">
              <a:ext uri="{FF2B5EF4-FFF2-40B4-BE49-F238E27FC236}">
                <a16:creationId xmlns:a16="http://schemas.microsoft.com/office/drawing/2014/main" id="{5F8AE263-1FE0-489D-A27A-EACD37154C45}"/>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5C6270"/>
                </a:solidFill>
                <a:latin typeface="Nimbus Sans"/>
                <a:ea typeface="Nimbus Sans"/>
                <a:cs typeface="Nimbus Sans"/>
              </a:defRPr>
            </a:pPr>
            <a:r>
              <a:rPr sz="1200" b="0">
                <a:solidFill>
                  <a:srgbClr val="5C6270"/>
                </a:solidFill>
                <a:latin typeface="Nimbus Sans"/>
                <a:ea typeface="Nimbus Sans"/>
                <a:cs typeface="Nimbus Sans"/>
              </a:rPr>
              <a:t>02</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d1093c880f245fe"/>
          <a:stretch xmlns:a="http://schemas.openxmlformats.org/drawingml/2006/main"/>
        </p:blipFill>
        <p:spPr>
          <a:xfrm xmlns:a="http://schemas.openxmlformats.org/drawingml/2006/main">
            <a:off x="5381625" y="1790700"/>
            <a:ext cx="6286500" cy="4191000"/>
          </a:xfrm>
          <a:prstGeom xmlns:a="http://schemas.openxmlformats.org/drawingml/2006/main" prst="rect">
            <a:avLst/>
          </a:prstGeom>
        </p:spPr>
      </p:pic>
      <p:sp>
        <p:nvSpPr>
          <p:cNvPr id="5" name="s2-text-4">
            <a:extLst xmlns:a="http://schemas.openxmlformats.org/drawingml/2006/main">
              <a:ext uri="{FF2B5EF4-FFF2-40B4-BE49-F238E27FC236}">
                <a16:creationId xmlns:a16="http://schemas.microsoft.com/office/drawing/2014/main" id="{DFE029A1-C11A-4DF5-A316-13AFEB313B34}"/>
              </a:ext>
            </a:extLst>
          </p:cNvPr>
          <p:cNvSpPr>
            <a:spLocks xmlns:a="http://schemas.openxmlformats.org/drawingml/2006/main" noGrp="1"/>
          </p:cNvSpPr>
          <p:nvPr/>
        </p:nvSpPr>
        <p:spPr>
          <a:xfrm xmlns:a="http://schemas.openxmlformats.org/drawingml/2006/main">
            <a:off x="533400" y="175260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WBI Korea Technical Team</a:t>
            </a:r>
          </a:p>
        </p:txBody>
      </p:sp>
      <p:sp>
        <p:nvSpPr>
          <p:cNvPr id="6" name="s2-text-5">
            <a:extLst xmlns:a="http://schemas.openxmlformats.org/drawingml/2006/main">
              <a:ext uri="{FF2B5EF4-FFF2-40B4-BE49-F238E27FC236}">
                <a16:creationId xmlns:a16="http://schemas.microsoft.com/office/drawing/2014/main" id="{A5CA9B8F-8394-4654-9821-200E076B4BA6}"/>
              </a:ext>
            </a:extLst>
          </p:cNvPr>
          <p:cNvSpPr>
            <a:spLocks xmlns:a="http://schemas.openxmlformats.org/drawingml/2006/main" noGrp="1"/>
          </p:cNvSpPr>
          <p:nvPr/>
        </p:nvSpPr>
        <p:spPr>
          <a:xfrm xmlns:a="http://schemas.openxmlformats.org/drawingml/2006/main">
            <a:off x="533400" y="2171700"/>
            <a:ext cx="4524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CEO Theresa Jang</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Product development and formulation</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Manufacturing and supply</a:t>
            </a:r>
          </a:p>
        </p:txBody>
      </p:sp>
      <p:sp>
        <p:nvSpPr>
          <p:cNvPr id="7" name="s2-text-6">
            <a:extLst xmlns:a="http://schemas.openxmlformats.org/drawingml/2006/main">
              <a:ext uri="{FF2B5EF4-FFF2-40B4-BE49-F238E27FC236}">
                <a16:creationId xmlns:a16="http://schemas.microsoft.com/office/drawing/2014/main" id="{7313BD73-0452-4CC0-A7CA-0419DA38C746}"/>
              </a:ext>
            </a:extLst>
          </p:cNvPr>
          <p:cNvSpPr>
            <a:spLocks xmlns:a="http://schemas.openxmlformats.org/drawingml/2006/main" noGrp="1"/>
          </p:cNvSpPr>
          <p:nvPr/>
        </p:nvSpPr>
        <p:spPr>
          <a:xfrm xmlns:a="http://schemas.openxmlformats.org/drawingml/2006/main">
            <a:off x="533400" y="3171825"/>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NeuNova UK Team</a:t>
            </a:r>
          </a:p>
        </p:txBody>
      </p:sp>
      <p:sp>
        <p:nvSpPr>
          <p:cNvPr id="8" name="s2-text-7">
            <a:extLst xmlns:a="http://schemas.openxmlformats.org/drawingml/2006/main">
              <a:ext uri="{FF2B5EF4-FFF2-40B4-BE49-F238E27FC236}">
                <a16:creationId xmlns:a16="http://schemas.microsoft.com/office/drawing/2014/main" id="{4C219318-4044-4F7A-BE81-1B0E241F3CD9}"/>
              </a:ext>
            </a:extLst>
          </p:cNvPr>
          <p:cNvSpPr>
            <a:spLocks xmlns:a="http://schemas.openxmlformats.org/drawingml/2006/main" noGrp="1"/>
          </p:cNvSpPr>
          <p:nvPr/>
        </p:nvSpPr>
        <p:spPr>
          <a:xfrm xmlns:a="http://schemas.openxmlformats.org/drawingml/2006/main">
            <a:off x="533400" y="359092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London operations and course planning</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Support for studio partners</a:t>
            </a:r>
          </a:p>
        </p:txBody>
      </p:sp>
      <p:sp>
        <p:nvSpPr>
          <p:cNvPr id="9" name="s2-text-8">
            <a:extLst xmlns:a="http://schemas.openxmlformats.org/drawingml/2006/main">
              <a:ext uri="{FF2B5EF4-FFF2-40B4-BE49-F238E27FC236}">
                <a16:creationId xmlns:a16="http://schemas.microsoft.com/office/drawing/2014/main" id="{ADB5EB21-E887-45FE-90C5-10CF4F11A79A}"/>
              </a:ext>
            </a:extLst>
          </p:cNvPr>
          <p:cNvSpPr>
            <a:spLocks xmlns:a="http://schemas.openxmlformats.org/drawingml/2006/main" noGrp="1"/>
          </p:cNvSpPr>
          <p:nvPr/>
        </p:nvSpPr>
        <p:spPr>
          <a:xfrm xmlns:a="http://schemas.openxmlformats.org/drawingml/2006/main">
            <a:off x="533400" y="43243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MM Studio Service Team</a:t>
            </a:r>
          </a:p>
        </p:txBody>
      </p:sp>
      <p:sp>
        <p:nvSpPr>
          <p:cNvPr id="10" name="s2-text-9">
            <a:extLst xmlns:a="http://schemas.openxmlformats.org/drawingml/2006/main">
              <a:ext uri="{FF2B5EF4-FFF2-40B4-BE49-F238E27FC236}">
                <a16:creationId xmlns:a16="http://schemas.microsoft.com/office/drawing/2014/main" id="{E5A407DE-0ED4-435D-94FC-46BDDAB1BBDC}"/>
              </a:ext>
            </a:extLst>
          </p:cNvPr>
          <p:cNvSpPr>
            <a:spLocks xmlns:a="http://schemas.openxmlformats.org/drawingml/2006/main" noGrp="1"/>
          </p:cNvSpPr>
          <p:nvPr/>
        </p:nvSpPr>
        <p:spPr>
          <a:xfrm xmlns:a="http://schemas.openxmlformats.org/drawingml/2006/main">
            <a:off x="533400" y="4743450"/>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Client consultation and professional care</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Ongoing service management</a:t>
            </a:r>
          </a:p>
        </p:txBody>
      </p:sp>
      <p:sp>
        <p:nvSpPr>
          <p:cNvPr id="11" name="s2-text-10">
            <a:extLst xmlns:a="http://schemas.openxmlformats.org/drawingml/2006/main">
              <a:ext uri="{FF2B5EF4-FFF2-40B4-BE49-F238E27FC236}">
                <a16:creationId xmlns:a16="http://schemas.microsoft.com/office/drawing/2014/main" id="{10101BE3-7F60-499D-8F41-730B9B520461}"/>
              </a:ext>
            </a:extLst>
          </p:cNvPr>
          <p:cNvSpPr>
            <a:spLocks xmlns:a="http://schemas.openxmlformats.org/drawingml/2006/main" noGrp="1"/>
          </p:cNvSpPr>
          <p:nvPr/>
        </p:nvSpPr>
        <p:spPr>
          <a:xfrm xmlns:a="http://schemas.openxmlformats.org/drawingml/2006/main">
            <a:off x="533400" y="5591175"/>
            <a:ext cx="4524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B2233"/>
                </a:solidFill>
                <a:latin typeface="Noto Sans CJK SC"/>
                <a:ea typeface="Noto Sans CJK SC"/>
                <a:cs typeface="Noto Sans CJK SC"/>
              </a:defRPr>
            </a:pPr>
            <a:r>
              <a:rPr sz="2025" b="1">
                <a:solidFill>
                  <a:srgbClr val="1B2233"/>
                </a:solidFill>
                <a:latin typeface="Noto Sans CJK SC"/>
                <a:ea typeface="Noto Sans CJK SC"/>
                <a:cs typeface="Noto Sans CJK SC"/>
              </a:rPr>
              <a:t>Private Investors</a:t>
            </a:r>
          </a:p>
        </p:txBody>
      </p:sp>
      <p:sp>
        <p:nvSpPr>
          <p:cNvPr id="12" name="s2-text-11">
            <a:extLst xmlns:a="http://schemas.openxmlformats.org/drawingml/2006/main">
              <a:ext uri="{FF2B5EF4-FFF2-40B4-BE49-F238E27FC236}">
                <a16:creationId xmlns:a16="http://schemas.microsoft.com/office/drawing/2014/main" id="{4F26C719-E0A5-4AC0-A2DE-F23AE3268663}"/>
              </a:ext>
            </a:extLst>
          </p:cNvPr>
          <p:cNvSpPr>
            <a:spLocks xmlns:a="http://schemas.openxmlformats.org/drawingml/2006/main" noGrp="1"/>
          </p:cNvSpPr>
          <p:nvPr/>
        </p:nvSpPr>
        <p:spPr>
          <a:xfrm xmlns:a="http://schemas.openxmlformats.org/drawingml/2006/main">
            <a:off x="533400" y="6000750"/>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Programme funding through units with an agreed MM Studio equity allocation</a:t>
            </a:r>
          </a:p>
        </p:txBody>
      </p:sp>
    </p:spTree>
    <p:extLst>
      <p:ext uri="{BB962C8B-B14F-4D97-AF65-F5344CB8AC3E}">
        <p14:creationId xmlns:p14="http://schemas.microsoft.com/office/powerpoint/2010/main" val="1324496627"/>
      </p:ext>
    </p:extLst>
  </p:cSld>
</p:sld>
</file>

<file path=ppt/slides/slide3.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8" name="s3-text-1">
            <a:extLst xmlns:a="http://schemas.openxmlformats.org/drawingml/2006/main">
              <a:ext uri="{FF2B5EF4-FFF2-40B4-BE49-F238E27FC236}">
                <a16:creationId xmlns:a16="http://schemas.microsoft.com/office/drawing/2014/main" id="{E9CDE91F-C72E-4D62-AF48-2F05836C60F8}"/>
              </a:ext>
            </a:extLst>
          </p:cNvPr>
          <p:cNvSpPr>
            <a:spLocks xmlns:a="http://schemas.openxmlformats.org/drawingml/2006/main" noGrp="1"/>
          </p:cNvSpPr>
          <p:nvPr/>
        </p:nvSpPr>
        <p:spPr>
          <a:xfrm xmlns:a="http://schemas.openxmlformats.org/drawingml/2006/main">
            <a:off x="533400" y="45720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B2233"/>
                </a:solidFill>
                <a:latin typeface="Noto Sans CJK SC"/>
                <a:ea typeface="Noto Sans CJK SC"/>
                <a:cs typeface="Noto Sans CJK SC"/>
              </a:defRPr>
            </a:pPr>
            <a:r>
              <a:rPr sz="3225" b="1">
                <a:solidFill>
                  <a:srgbClr val="1B2233"/>
                </a:solidFill>
                <a:latin typeface="Noto Sans CJK SC"/>
                <a:ea typeface="Noto Sans CJK SC"/>
                <a:cs typeface="Noto Sans CJK SC"/>
              </a:rPr>
              <a:t>Technology Innovation</a:t>
            </a:r>
          </a:p>
        </p:txBody>
      </p:sp>
      <p:sp>
        <p:nvSpPr>
          <p:cNvPr id="2" name="s3-text-2">
            <a:extLst xmlns:a="http://schemas.openxmlformats.org/drawingml/2006/main">
              <a:ext uri="{FF2B5EF4-FFF2-40B4-BE49-F238E27FC236}">
                <a16:creationId xmlns:a16="http://schemas.microsoft.com/office/drawing/2014/main" id="{D5D4B8F2-1832-4D80-9F7A-EF65E7BF5D76}"/>
              </a:ext>
            </a:extLst>
          </p:cNvPr>
          <p:cNvSpPr>
            <a:spLocks xmlns:a="http://schemas.openxmlformats.org/drawingml/2006/main" noGrp="1"/>
          </p:cNvSpPr>
          <p:nvPr/>
        </p:nvSpPr>
        <p:spPr>
          <a:xfrm xmlns:a="http://schemas.openxmlformats.org/drawingml/2006/main">
            <a:off x="533400" y="1095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C6270"/>
                </a:solidFill>
                <a:latin typeface="Noto Sans CJK SC"/>
                <a:ea typeface="Noto Sans CJK SC"/>
                <a:cs typeface="Noto Sans CJK SC"/>
              </a:defRPr>
            </a:pPr>
            <a:r>
              <a:rPr sz="1875" b="0">
                <a:solidFill>
                  <a:srgbClr val="5C6270"/>
                </a:solidFill>
                <a:latin typeface="Noto Sans CJK SC"/>
                <a:ea typeface="Noto Sans CJK SC"/>
                <a:cs typeface="Noto Sans CJK SC"/>
              </a:rPr>
              <a:t>Exosome and biomimetic platforms for professional skin and scalp care</a:t>
            </a:r>
          </a:p>
        </p:txBody>
      </p:sp>
      <p:sp>
        <p:nvSpPr>
          <p:cNvPr id="3" name="s3-text-3">
            <a:extLst xmlns:a="http://schemas.openxmlformats.org/drawingml/2006/main">
              <a:ext uri="{FF2B5EF4-FFF2-40B4-BE49-F238E27FC236}">
                <a16:creationId xmlns:a16="http://schemas.microsoft.com/office/drawing/2014/main" id="{CE9F204C-7338-4CF4-A6D8-13C5958B2E6D}"/>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5C6270"/>
                </a:solidFill>
                <a:latin typeface="Nimbus Sans"/>
                <a:ea typeface="Nimbus Sans"/>
                <a:cs typeface="Nimbus Sans"/>
              </a:defRPr>
            </a:pPr>
            <a:r>
              <a:rPr sz="1200" b="0">
                <a:solidFill>
                  <a:srgbClr val="5C6270"/>
                </a:solidFill>
                <a:latin typeface="Nimbus Sans"/>
                <a:ea typeface="Nimbus Sans"/>
                <a:cs typeface="Nimbus Sans"/>
              </a:rPr>
              <a:t>03</a:t>
            </a:r>
          </a:p>
        </p:txBody>
      </p:sp>
      <p:sp>
        <p:nvSpPr>
          <p:cNvPr id="4" name="s3-text-4">
            <a:extLst xmlns:a="http://schemas.openxmlformats.org/drawingml/2006/main">
              <a:ext uri="{FF2B5EF4-FFF2-40B4-BE49-F238E27FC236}">
                <a16:creationId xmlns:a16="http://schemas.microsoft.com/office/drawing/2014/main" id="{E1937079-32AA-4322-936C-B6410CAA1BAC}"/>
              </a:ext>
            </a:extLst>
          </p:cNvPr>
          <p:cNvSpPr>
            <a:spLocks xmlns:a="http://schemas.openxmlformats.org/drawingml/2006/main" noGrp="1"/>
          </p:cNvSpPr>
          <p:nvPr/>
        </p:nvSpPr>
        <p:spPr>
          <a:xfrm xmlns:a="http://schemas.openxmlformats.org/drawingml/2006/main">
            <a:off x="533400" y="188595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6F9A78"/>
                </a:solidFill>
                <a:latin typeface="Nimbus Sans"/>
                <a:ea typeface="Nimbus Sans"/>
                <a:cs typeface="Nimbus Sans"/>
              </a:defRPr>
            </a:pPr>
            <a:r>
              <a:rPr sz="2550" b="0">
                <a:solidFill>
                  <a:srgbClr val="6F9A78"/>
                </a:solidFill>
                <a:latin typeface="Nimbus Sans"/>
                <a:ea typeface="Nimbus Sans"/>
                <a:cs typeface="Nimbus Sans"/>
              </a:rPr>
              <a:t>01</a:t>
            </a:r>
          </a:p>
        </p:txBody>
      </p:sp>
      <p:sp>
        <p:nvSpPr>
          <p:cNvPr id="5" name="s3-text-5">
            <a:extLst xmlns:a="http://schemas.openxmlformats.org/drawingml/2006/main">
              <a:ext uri="{FF2B5EF4-FFF2-40B4-BE49-F238E27FC236}">
                <a16:creationId xmlns:a16="http://schemas.microsoft.com/office/drawing/2014/main" id="{527288F7-B1DC-4DBE-A013-5E5AA7B5DA67}"/>
              </a:ext>
            </a:extLst>
          </p:cNvPr>
          <p:cNvSpPr>
            <a:spLocks xmlns:a="http://schemas.openxmlformats.org/drawingml/2006/main" noGrp="1"/>
          </p:cNvSpPr>
          <p:nvPr/>
        </p:nvSpPr>
        <p:spPr>
          <a:xfrm xmlns:a="http://schemas.openxmlformats.org/drawingml/2006/main">
            <a:off x="1247775" y="189547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IT-EXO®</a:t>
            </a:r>
          </a:p>
        </p:txBody>
      </p:sp>
      <p:sp>
        <p:nvSpPr>
          <p:cNvPr id="6" name="s3-text-6">
            <a:extLst xmlns:a="http://schemas.openxmlformats.org/drawingml/2006/main">
              <a:ext uri="{FF2B5EF4-FFF2-40B4-BE49-F238E27FC236}">
                <a16:creationId xmlns:a16="http://schemas.microsoft.com/office/drawing/2014/main" id="{2242EEA2-E308-48C6-BEE4-F534E4332754}"/>
              </a:ext>
            </a:extLst>
          </p:cNvPr>
          <p:cNvSpPr>
            <a:spLocks xmlns:a="http://schemas.openxmlformats.org/drawingml/2006/main" noGrp="1"/>
          </p:cNvSpPr>
          <p:nvPr/>
        </p:nvSpPr>
        <p:spPr>
          <a:xfrm xmlns:a="http://schemas.openxmlformats.org/drawingml/2006/main">
            <a:off x="1247775" y="2352675"/>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Exosome research and formulation</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for professional aesthetic products</a:t>
            </a:r>
          </a:p>
        </p:txBody>
      </p:sp>
      <p:sp>
        <p:nvSpPr>
          <p:cNvPr id="7" name="s3-text-7">
            <a:extLst xmlns:a="http://schemas.openxmlformats.org/drawingml/2006/main">
              <a:ext uri="{FF2B5EF4-FFF2-40B4-BE49-F238E27FC236}">
                <a16:creationId xmlns:a16="http://schemas.microsoft.com/office/drawing/2014/main" id="{2D38EAEB-EADC-4E68-85EC-FA8BB5210A66}"/>
              </a:ext>
            </a:extLst>
          </p:cNvPr>
          <p:cNvSpPr>
            <a:spLocks xmlns:a="http://schemas.openxmlformats.org/drawingml/2006/main" noGrp="1"/>
          </p:cNvSpPr>
          <p:nvPr/>
        </p:nvSpPr>
        <p:spPr>
          <a:xfrm xmlns:a="http://schemas.openxmlformats.org/drawingml/2006/main">
            <a:off x="533400" y="3362325"/>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6F9A78"/>
                </a:solidFill>
                <a:latin typeface="Nimbus Sans"/>
                <a:ea typeface="Nimbus Sans"/>
                <a:cs typeface="Nimbus Sans"/>
              </a:defRPr>
            </a:pPr>
            <a:r>
              <a:rPr sz="2550" b="0">
                <a:solidFill>
                  <a:srgbClr val="6F9A78"/>
                </a:solidFill>
                <a:latin typeface="Nimbus Sans"/>
                <a:ea typeface="Nimbus Sans"/>
                <a:cs typeface="Nimbus Sans"/>
              </a:rPr>
              <a:t>02</a:t>
            </a:r>
          </a:p>
        </p:txBody>
      </p:sp>
      <p:sp>
        <p:nvSpPr>
          <p:cNvPr id="8" name="s3-text-8">
            <a:extLst xmlns:a="http://schemas.openxmlformats.org/drawingml/2006/main">
              <a:ext uri="{FF2B5EF4-FFF2-40B4-BE49-F238E27FC236}">
                <a16:creationId xmlns:a16="http://schemas.microsoft.com/office/drawing/2014/main" id="{CC853A68-6D48-4B89-A4A8-4425E908FB41}"/>
              </a:ext>
            </a:extLst>
          </p:cNvPr>
          <p:cNvSpPr>
            <a:spLocks xmlns:a="http://schemas.openxmlformats.org/drawingml/2006/main" noGrp="1"/>
          </p:cNvSpPr>
          <p:nvPr/>
        </p:nvSpPr>
        <p:spPr>
          <a:xfrm xmlns:a="http://schemas.openxmlformats.org/drawingml/2006/main">
            <a:off x="1247775" y="3371850"/>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SYN-EXO</a:t>
            </a:r>
          </a:p>
        </p:txBody>
      </p:sp>
      <p:sp>
        <p:nvSpPr>
          <p:cNvPr id="9" name="s3-text-9">
            <a:extLst xmlns:a="http://schemas.openxmlformats.org/drawingml/2006/main">
              <a:ext uri="{FF2B5EF4-FFF2-40B4-BE49-F238E27FC236}">
                <a16:creationId xmlns:a16="http://schemas.microsoft.com/office/drawing/2014/main" id="{51B96C01-82EF-42D7-9345-0FC2C3219933}"/>
              </a:ext>
            </a:extLst>
          </p:cNvPr>
          <p:cNvSpPr>
            <a:spLocks xmlns:a="http://schemas.openxmlformats.org/drawingml/2006/main" noGrp="1"/>
          </p:cNvSpPr>
          <p:nvPr/>
        </p:nvSpPr>
        <p:spPr>
          <a:xfrm xmlns:a="http://schemas.openxmlformats.org/drawingml/2006/main">
            <a:off x="1247775" y="3829050"/>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Biomimetic extracellular vesicles</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combining carriers, actives and HLA-G design</a:t>
            </a:r>
          </a:p>
        </p:txBody>
      </p:sp>
      <p:sp>
        <p:nvSpPr>
          <p:cNvPr id="10" name="s3-text-10">
            <a:extLst xmlns:a="http://schemas.openxmlformats.org/drawingml/2006/main">
              <a:ext uri="{FF2B5EF4-FFF2-40B4-BE49-F238E27FC236}">
                <a16:creationId xmlns:a16="http://schemas.microsoft.com/office/drawing/2014/main" id="{2957795A-54ED-4B7B-A4FD-2CF478A49797}"/>
              </a:ext>
            </a:extLst>
          </p:cNvPr>
          <p:cNvSpPr>
            <a:spLocks xmlns:a="http://schemas.openxmlformats.org/drawingml/2006/main" noGrp="1"/>
          </p:cNvSpPr>
          <p:nvPr/>
        </p:nvSpPr>
        <p:spPr>
          <a:xfrm xmlns:a="http://schemas.openxmlformats.org/drawingml/2006/main">
            <a:off x="533400" y="48387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6F9A78"/>
                </a:solidFill>
                <a:latin typeface="Nimbus Sans"/>
                <a:ea typeface="Nimbus Sans"/>
                <a:cs typeface="Nimbus Sans"/>
              </a:defRPr>
            </a:pPr>
            <a:r>
              <a:rPr sz="2550" b="0">
                <a:solidFill>
                  <a:srgbClr val="6F9A78"/>
                </a:solidFill>
                <a:latin typeface="Nimbus Sans"/>
                <a:ea typeface="Nimbus Sans"/>
                <a:cs typeface="Nimbus Sans"/>
              </a:rPr>
              <a:t>03</a:t>
            </a:r>
          </a:p>
        </p:txBody>
      </p:sp>
      <p:sp>
        <p:nvSpPr>
          <p:cNvPr id="11" name="s3-text-11">
            <a:extLst xmlns:a="http://schemas.openxmlformats.org/drawingml/2006/main">
              <a:ext uri="{FF2B5EF4-FFF2-40B4-BE49-F238E27FC236}">
                <a16:creationId xmlns:a16="http://schemas.microsoft.com/office/drawing/2014/main" id="{EDD30993-70B0-4FA0-BB69-A647BD4256A8}"/>
              </a:ext>
            </a:extLst>
          </p:cNvPr>
          <p:cNvSpPr>
            <a:spLocks xmlns:a="http://schemas.openxmlformats.org/drawingml/2006/main" noGrp="1"/>
          </p:cNvSpPr>
          <p:nvPr/>
        </p:nvSpPr>
        <p:spPr>
          <a:xfrm xmlns:a="http://schemas.openxmlformats.org/drawingml/2006/main">
            <a:off x="1247775" y="484822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RetroEV ExoShot</a:t>
            </a:r>
          </a:p>
        </p:txBody>
      </p:sp>
      <p:sp>
        <p:nvSpPr>
          <p:cNvPr id="12" name="s3-text-12">
            <a:extLst xmlns:a="http://schemas.openxmlformats.org/drawingml/2006/main">
              <a:ext uri="{FF2B5EF4-FFF2-40B4-BE49-F238E27FC236}">
                <a16:creationId xmlns:a16="http://schemas.microsoft.com/office/drawing/2014/main" id="{4829EE4A-E08E-4E6F-9AA8-8A543A9CA55F}"/>
              </a:ext>
            </a:extLst>
          </p:cNvPr>
          <p:cNvSpPr>
            <a:spLocks xmlns:a="http://schemas.openxmlformats.org/drawingml/2006/main" noGrp="1"/>
          </p:cNvSpPr>
          <p:nvPr/>
        </p:nvSpPr>
        <p:spPr>
          <a:xfrm xmlns:a="http://schemas.openxmlformats.org/drawingml/2006/main">
            <a:off x="1247775" y="5305425"/>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Needle-free device platform</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with compatible formulations and care protocols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0510c31df1a452f"/>
          <a:srcRect xmlns:a="http://schemas.openxmlformats.org/drawingml/2006/main" l="15000" t="12000" r="15000" b="12000"/>
          <a:stretch xmlns:a="http://schemas.openxmlformats.org/drawingml/2006/main"/>
        </p:blipFill>
        <p:spPr>
          <a:xfrm xmlns:a="http://schemas.openxmlformats.org/drawingml/2006/main">
            <a:off x="7439025" y="1838325"/>
            <a:ext cx="1905000" cy="31908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7c9028f3e6b47c1"/>
          <a:srcRect xmlns:a="http://schemas.openxmlformats.org/drawingml/2006/main" l="15000" t="12000" r="15000" b="12000"/>
          <a:stretch xmlns:a="http://schemas.openxmlformats.org/drawingml/2006/main"/>
        </p:blipFill>
        <p:spPr>
          <a:xfrm xmlns:a="http://schemas.openxmlformats.org/drawingml/2006/main">
            <a:off x="9639300" y="1838325"/>
            <a:ext cx="1905000" cy="3190875"/>
          </a:xfrm>
          <a:prstGeom xmlns:a="http://schemas.openxmlformats.org/drawingml/2006/main" prst="rect">
            <a:avLst/>
          </a:prstGeom>
        </p:spPr>
      </p:pic>
      <p:sp>
        <p:nvSpPr>
          <p:cNvPr id="15" name="s3-text-13">
            <a:extLst xmlns:a="http://schemas.openxmlformats.org/drawingml/2006/main">
              <a:ext uri="{FF2B5EF4-FFF2-40B4-BE49-F238E27FC236}">
                <a16:creationId xmlns:a16="http://schemas.microsoft.com/office/drawing/2014/main" id="{4A9DB671-D741-45FD-B078-9F0E589DD2D8}"/>
              </a:ext>
            </a:extLst>
          </p:cNvPr>
          <p:cNvSpPr>
            <a:spLocks xmlns:a="http://schemas.openxmlformats.org/drawingml/2006/main" noGrp="1"/>
          </p:cNvSpPr>
          <p:nvPr/>
        </p:nvSpPr>
        <p:spPr>
          <a:xfrm xmlns:a="http://schemas.openxmlformats.org/drawingml/2006/main">
            <a:off x="7353300" y="52673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800" b="1">
                <a:solidFill>
                  <a:srgbClr val="1B2233"/>
                </a:solidFill>
                <a:latin typeface="Nimbus Sans"/>
                <a:ea typeface="Nimbus Sans"/>
                <a:cs typeface="Nimbus Sans"/>
              </a:defRPr>
            </a:pPr>
            <a:r>
              <a:rPr sz="1800" b="1">
                <a:solidFill>
                  <a:srgbClr val="1B2233"/>
                </a:solidFill>
                <a:latin typeface="Nimbus Sans"/>
                <a:ea typeface="Nimbus Sans"/>
                <a:cs typeface="Nimbus Sans"/>
              </a:rPr>
              <a:t>EXO DERMA</a:t>
            </a:r>
          </a:p>
        </p:txBody>
      </p:sp>
      <p:sp>
        <p:nvSpPr>
          <p:cNvPr id="16" name="s3-text-14">
            <a:extLst xmlns:a="http://schemas.openxmlformats.org/drawingml/2006/main">
              <a:ext uri="{FF2B5EF4-FFF2-40B4-BE49-F238E27FC236}">
                <a16:creationId xmlns:a16="http://schemas.microsoft.com/office/drawing/2014/main" id="{851C5BC7-3E7B-43C3-9045-FF8C3CA4844C}"/>
              </a:ext>
            </a:extLst>
          </p:cNvPr>
          <p:cNvSpPr>
            <a:spLocks xmlns:a="http://schemas.openxmlformats.org/drawingml/2006/main" noGrp="1"/>
          </p:cNvSpPr>
          <p:nvPr/>
        </p:nvSpPr>
        <p:spPr>
          <a:xfrm xmlns:a="http://schemas.openxmlformats.org/drawingml/2006/main">
            <a:off x="9582150" y="52673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800" b="1">
                <a:solidFill>
                  <a:srgbClr val="1B2233"/>
                </a:solidFill>
                <a:latin typeface="Nimbus Sans"/>
                <a:ea typeface="Nimbus Sans"/>
                <a:cs typeface="Nimbus Sans"/>
              </a:defRPr>
            </a:pPr>
            <a:r>
              <a:rPr sz="1800" b="1">
                <a:solidFill>
                  <a:srgbClr val="1B2233"/>
                </a:solidFill>
                <a:latin typeface="Nimbus Sans"/>
                <a:ea typeface="Nimbus Sans"/>
                <a:cs typeface="Nimbus Sans"/>
              </a:rPr>
              <a:t>EXO HAIR</a:t>
            </a:r>
          </a:p>
        </p:txBody>
      </p:sp>
      <p:sp>
        <p:nvSpPr>
          <p:cNvPr id="17" name="s3-text-15">
            <a:extLst xmlns:a="http://schemas.openxmlformats.org/drawingml/2006/main">
              <a:ext uri="{FF2B5EF4-FFF2-40B4-BE49-F238E27FC236}">
                <a16:creationId xmlns:a16="http://schemas.microsoft.com/office/drawing/2014/main" id="{683280AC-D07E-4083-B713-E8A4D5B5D900}"/>
              </a:ext>
            </a:extLst>
          </p:cNvPr>
          <p:cNvSpPr>
            <a:spLocks xmlns:a="http://schemas.openxmlformats.org/drawingml/2006/main" noGrp="1"/>
          </p:cNvSpPr>
          <p:nvPr/>
        </p:nvSpPr>
        <p:spPr>
          <a:xfrm xmlns:a="http://schemas.openxmlformats.org/drawingml/2006/main">
            <a:off x="533400" y="625792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C6270"/>
                </a:solidFill>
                <a:latin typeface="Noto Sans CJK SC"/>
                <a:ea typeface="Noto Sans CJK SC"/>
                <a:cs typeface="Noto Sans CJK SC"/>
              </a:defRPr>
            </a:pPr>
            <a:r>
              <a:rPr sz="1425" b="0">
                <a:solidFill>
                  <a:srgbClr val="5C6270"/>
                </a:solidFill>
                <a:latin typeface="Noto Sans CJK SC"/>
                <a:ea typeface="Noto Sans CJK SC"/>
                <a:cs typeface="Noto Sans CJK SC"/>
              </a:rPr>
              <a:t>Mechanisms and clinical outcomes need separate evidence. Product documentation defines the intended use.</a:t>
            </a:r>
          </a:p>
        </p:txBody>
      </p:sp>
    </p:spTree>
    <p:extLst>
      <p:ext uri="{BB962C8B-B14F-4D97-AF65-F5344CB8AC3E}">
        <p14:creationId xmlns:p14="http://schemas.microsoft.com/office/powerpoint/2010/main" val="870961251"/>
      </p:ext>
    </p:extLst>
  </p:cSld>
</p:sld>
</file>

<file path=ppt/slides/slide4.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7" name="s4-text-1">
            <a:extLst xmlns:a="http://schemas.openxmlformats.org/drawingml/2006/main">
              <a:ext uri="{FF2B5EF4-FFF2-40B4-BE49-F238E27FC236}">
                <a16:creationId xmlns:a16="http://schemas.microsoft.com/office/drawing/2014/main" id="{2742BC35-083E-4BDA-91B3-438156264C61}"/>
              </a:ext>
            </a:extLst>
          </p:cNvPr>
          <p:cNvSpPr>
            <a:spLocks xmlns:a="http://schemas.openxmlformats.org/drawingml/2006/main" noGrp="1"/>
          </p:cNvSpPr>
          <p:nvPr/>
        </p:nvSpPr>
        <p:spPr>
          <a:xfrm xmlns:a="http://schemas.openxmlformats.org/drawingml/2006/main">
            <a:off x="533400" y="45720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B2233"/>
                </a:solidFill>
                <a:latin typeface="Noto Sans CJK SC"/>
                <a:ea typeface="Noto Sans CJK SC"/>
                <a:cs typeface="Noto Sans CJK SC"/>
              </a:defRPr>
            </a:pPr>
            <a:r>
              <a:rPr sz="3225" b="1">
                <a:solidFill>
                  <a:srgbClr val="1B2233"/>
                </a:solidFill>
                <a:latin typeface="Noto Sans CJK SC"/>
                <a:ea typeface="Noto Sans CJK SC"/>
                <a:cs typeface="Noto Sans CJK SC"/>
              </a:rPr>
              <a:t>Technology Applications</a:t>
            </a:r>
          </a:p>
        </p:txBody>
      </p:sp>
      <p:sp>
        <p:nvSpPr>
          <p:cNvPr id="2" name="s4-text-2">
            <a:extLst xmlns:a="http://schemas.openxmlformats.org/drawingml/2006/main">
              <a:ext uri="{FF2B5EF4-FFF2-40B4-BE49-F238E27FC236}">
                <a16:creationId xmlns:a16="http://schemas.microsoft.com/office/drawing/2014/main" id="{D5BCA33C-DB34-4FF7-BEF0-3C461503B4CC}"/>
              </a:ext>
            </a:extLst>
          </p:cNvPr>
          <p:cNvSpPr>
            <a:spLocks xmlns:a="http://schemas.openxmlformats.org/drawingml/2006/main" noGrp="1"/>
          </p:cNvSpPr>
          <p:nvPr/>
        </p:nvSpPr>
        <p:spPr>
          <a:xfrm xmlns:a="http://schemas.openxmlformats.org/drawingml/2006/main">
            <a:off x="533400" y="1095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C6270"/>
                </a:solidFill>
                <a:latin typeface="Noto Sans CJK SC"/>
                <a:ea typeface="Noto Sans CJK SC"/>
                <a:cs typeface="Noto Sans CJK SC"/>
              </a:defRPr>
            </a:pPr>
            <a:r>
              <a:rPr sz="1875" b="0">
                <a:solidFill>
                  <a:srgbClr val="5C6270"/>
                </a:solidFill>
                <a:latin typeface="Noto Sans CJK SC"/>
                <a:ea typeface="Noto Sans CJK SC"/>
                <a:cs typeface="Noto Sans CJK SC"/>
              </a:rPr>
              <a:t>The Mirae Method® client care process</a:t>
            </a:r>
          </a:p>
        </p:txBody>
      </p:sp>
      <p:sp>
        <p:nvSpPr>
          <p:cNvPr id="3" name="s4-text-3">
            <a:extLst xmlns:a="http://schemas.openxmlformats.org/drawingml/2006/main">
              <a:ext uri="{FF2B5EF4-FFF2-40B4-BE49-F238E27FC236}">
                <a16:creationId xmlns:a16="http://schemas.microsoft.com/office/drawing/2014/main" id="{D5B58CDD-6487-409B-96CE-6AD6310A5518}"/>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5C6270"/>
                </a:solidFill>
                <a:latin typeface="Nimbus Sans"/>
                <a:ea typeface="Nimbus Sans"/>
                <a:cs typeface="Nimbus Sans"/>
              </a:defRPr>
            </a:pPr>
            <a:r>
              <a:rPr sz="1200" b="0">
                <a:solidFill>
                  <a:srgbClr val="5C6270"/>
                </a:solidFill>
                <a:latin typeface="Nimbus Sans"/>
                <a:ea typeface="Nimbus Sans"/>
                <a:cs typeface="Nimbus Sans"/>
              </a:rPr>
              <a:t>04</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c8d2fea77c8414d"/>
          <a:stretch xmlns:a="http://schemas.openxmlformats.org/drawingml/2006/main"/>
        </p:blipFill>
        <p:spPr>
          <a:xfrm xmlns:a="http://schemas.openxmlformats.org/drawingml/2006/main">
            <a:off x="534591" y="1676400"/>
            <a:ext cx="3607594" cy="4810125"/>
          </a:xfrm>
          <a:prstGeom xmlns:a="http://schemas.openxmlformats.org/drawingml/2006/main" prst="rect">
            <a:avLst/>
          </a:prstGeom>
        </p:spPr>
      </p:pic>
      <p:sp>
        <p:nvSpPr>
          <p:cNvPr id="5" name="s4-text-4">
            <a:extLst xmlns:a="http://schemas.openxmlformats.org/drawingml/2006/main">
              <a:ext uri="{FF2B5EF4-FFF2-40B4-BE49-F238E27FC236}">
                <a16:creationId xmlns:a16="http://schemas.microsoft.com/office/drawing/2014/main" id="{A944D4D4-6475-4A5A-8F86-B765A8B6EAE8}"/>
              </a:ext>
            </a:extLst>
          </p:cNvPr>
          <p:cNvSpPr>
            <a:spLocks xmlns:a="http://schemas.openxmlformats.org/drawingml/2006/main" noGrp="1"/>
          </p:cNvSpPr>
          <p:nvPr/>
        </p:nvSpPr>
        <p:spPr>
          <a:xfrm xmlns:a="http://schemas.openxmlformats.org/drawingml/2006/main">
            <a:off x="4724400" y="1781175"/>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6F9A78"/>
                </a:solidFill>
                <a:latin typeface="Nimbus Sans"/>
                <a:ea typeface="Nimbus Sans"/>
                <a:cs typeface="Nimbus Sans"/>
              </a:defRPr>
            </a:pPr>
            <a:r>
              <a:rPr sz="2550" b="0">
                <a:solidFill>
                  <a:srgbClr val="6F9A78"/>
                </a:solidFill>
                <a:latin typeface="Nimbus Sans"/>
                <a:ea typeface="Nimbus Sans"/>
                <a:cs typeface="Nimbus Sans"/>
              </a:rPr>
              <a:t>01</a:t>
            </a:r>
          </a:p>
        </p:txBody>
      </p:sp>
      <p:sp>
        <p:nvSpPr>
          <p:cNvPr id="6" name="s4-text-5">
            <a:extLst xmlns:a="http://schemas.openxmlformats.org/drawingml/2006/main">
              <a:ext uri="{FF2B5EF4-FFF2-40B4-BE49-F238E27FC236}">
                <a16:creationId xmlns:a16="http://schemas.microsoft.com/office/drawing/2014/main" id="{9E5374CA-BC2A-4101-9754-64FAF7A4B410}"/>
              </a:ext>
            </a:extLst>
          </p:cNvPr>
          <p:cNvSpPr>
            <a:spLocks xmlns:a="http://schemas.openxmlformats.org/drawingml/2006/main" noGrp="1"/>
          </p:cNvSpPr>
          <p:nvPr/>
        </p:nvSpPr>
        <p:spPr>
          <a:xfrm xmlns:a="http://schemas.openxmlformats.org/drawingml/2006/main">
            <a:off x="5438775" y="17907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Imaging Assessment</a:t>
            </a:r>
          </a:p>
        </p:txBody>
      </p:sp>
      <p:sp>
        <p:nvSpPr>
          <p:cNvPr id="7" name="s4-text-6">
            <a:extLst xmlns:a="http://schemas.openxmlformats.org/drawingml/2006/main">
              <a:ext uri="{FF2B5EF4-FFF2-40B4-BE49-F238E27FC236}">
                <a16:creationId xmlns:a16="http://schemas.microsoft.com/office/drawing/2014/main" id="{667DDD78-DB23-49B3-B1F4-DDE5D6BBD7E8}"/>
              </a:ext>
            </a:extLst>
          </p:cNvPr>
          <p:cNvSpPr>
            <a:spLocks xmlns:a="http://schemas.openxmlformats.org/drawingml/2006/main" noGrp="1"/>
          </p:cNvSpPr>
          <p:nvPr/>
        </p:nvSpPr>
        <p:spPr>
          <a:xfrm xmlns:a="http://schemas.openxmlformats.org/drawingml/2006/main">
            <a:off x="5438775" y="2247900"/>
            <a:ext cx="619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AI-assisted scans record skin and scalp condition</a:t>
            </a:r>
          </a:p>
        </p:txBody>
      </p:sp>
      <p:sp>
        <p:nvSpPr>
          <p:cNvPr id="8" name="s4-text-7">
            <a:extLst xmlns:a="http://schemas.openxmlformats.org/drawingml/2006/main">
              <a:ext uri="{FF2B5EF4-FFF2-40B4-BE49-F238E27FC236}">
                <a16:creationId xmlns:a16="http://schemas.microsoft.com/office/drawing/2014/main" id="{EB5C02EE-087C-4B6B-8440-8ADD3B5803C1}"/>
              </a:ext>
            </a:extLst>
          </p:cNvPr>
          <p:cNvSpPr>
            <a:spLocks xmlns:a="http://schemas.openxmlformats.org/drawingml/2006/main" noGrp="1"/>
          </p:cNvSpPr>
          <p:nvPr/>
        </p:nvSpPr>
        <p:spPr>
          <a:xfrm xmlns:a="http://schemas.openxmlformats.org/drawingml/2006/main">
            <a:off x="4724400" y="2943225"/>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6F9A78"/>
                </a:solidFill>
                <a:latin typeface="Nimbus Sans"/>
                <a:ea typeface="Nimbus Sans"/>
                <a:cs typeface="Nimbus Sans"/>
              </a:defRPr>
            </a:pPr>
            <a:r>
              <a:rPr sz="2550" b="0">
                <a:solidFill>
                  <a:srgbClr val="6F9A78"/>
                </a:solidFill>
                <a:latin typeface="Nimbus Sans"/>
                <a:ea typeface="Nimbus Sans"/>
                <a:cs typeface="Nimbus Sans"/>
              </a:rPr>
              <a:t>02</a:t>
            </a:r>
          </a:p>
        </p:txBody>
      </p:sp>
      <p:sp>
        <p:nvSpPr>
          <p:cNvPr id="9" name="s4-text-8">
            <a:extLst xmlns:a="http://schemas.openxmlformats.org/drawingml/2006/main">
              <a:ext uri="{FF2B5EF4-FFF2-40B4-BE49-F238E27FC236}">
                <a16:creationId xmlns:a16="http://schemas.microsoft.com/office/drawing/2014/main" id="{9E29D9C0-FB14-4CCB-96DB-CFBD30399105}"/>
              </a:ext>
            </a:extLst>
          </p:cNvPr>
          <p:cNvSpPr>
            <a:spLocks xmlns:a="http://schemas.openxmlformats.org/drawingml/2006/main" noGrp="1"/>
          </p:cNvSpPr>
          <p:nvPr/>
        </p:nvSpPr>
        <p:spPr>
          <a:xfrm xmlns:a="http://schemas.openxmlformats.org/drawingml/2006/main">
            <a:off x="5438775" y="29527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Personalised Consultation</a:t>
            </a:r>
          </a:p>
        </p:txBody>
      </p:sp>
      <p:sp>
        <p:nvSpPr>
          <p:cNvPr id="10" name="s4-text-9">
            <a:extLst xmlns:a="http://schemas.openxmlformats.org/drawingml/2006/main">
              <a:ext uri="{FF2B5EF4-FFF2-40B4-BE49-F238E27FC236}">
                <a16:creationId xmlns:a16="http://schemas.microsoft.com/office/drawing/2014/main" id="{83A116F0-B55A-4E79-B425-0254E286AACF}"/>
              </a:ext>
            </a:extLst>
          </p:cNvPr>
          <p:cNvSpPr>
            <a:spLocks xmlns:a="http://schemas.openxmlformats.org/drawingml/2006/main" noGrp="1"/>
          </p:cNvSpPr>
          <p:nvPr/>
        </p:nvSpPr>
        <p:spPr>
          <a:xfrm xmlns:a="http://schemas.openxmlformats.org/drawingml/2006/main">
            <a:off x="5438775" y="3409950"/>
            <a:ext cx="619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Care plans reflect individual needs and goals</a:t>
            </a:r>
          </a:p>
        </p:txBody>
      </p:sp>
      <p:sp>
        <p:nvSpPr>
          <p:cNvPr id="11" name="s4-text-10">
            <a:extLst xmlns:a="http://schemas.openxmlformats.org/drawingml/2006/main">
              <a:ext uri="{FF2B5EF4-FFF2-40B4-BE49-F238E27FC236}">
                <a16:creationId xmlns:a16="http://schemas.microsoft.com/office/drawing/2014/main" id="{92E93D25-DE6C-4424-BA4C-80E283DB5ABB}"/>
              </a:ext>
            </a:extLst>
          </p:cNvPr>
          <p:cNvSpPr>
            <a:spLocks xmlns:a="http://schemas.openxmlformats.org/drawingml/2006/main" noGrp="1"/>
          </p:cNvSpPr>
          <p:nvPr/>
        </p:nvSpPr>
        <p:spPr>
          <a:xfrm xmlns:a="http://schemas.openxmlformats.org/drawingml/2006/main">
            <a:off x="4724400" y="4105275"/>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6F9A78"/>
                </a:solidFill>
                <a:latin typeface="Nimbus Sans"/>
                <a:ea typeface="Nimbus Sans"/>
                <a:cs typeface="Nimbus Sans"/>
              </a:defRPr>
            </a:pPr>
            <a:r>
              <a:rPr sz="2550" b="0">
                <a:solidFill>
                  <a:srgbClr val="6F9A78"/>
                </a:solidFill>
                <a:latin typeface="Nimbus Sans"/>
                <a:ea typeface="Nimbus Sans"/>
                <a:cs typeface="Nimbus Sans"/>
              </a:rPr>
              <a:t>03</a:t>
            </a:r>
          </a:p>
        </p:txBody>
      </p:sp>
      <p:sp>
        <p:nvSpPr>
          <p:cNvPr id="12" name="s4-text-11">
            <a:extLst xmlns:a="http://schemas.openxmlformats.org/drawingml/2006/main">
              <a:ext uri="{FF2B5EF4-FFF2-40B4-BE49-F238E27FC236}">
                <a16:creationId xmlns:a16="http://schemas.microsoft.com/office/drawing/2014/main" id="{853DE81C-D7D0-4CD3-9A4F-2B3F5C84F33B}"/>
              </a:ext>
            </a:extLst>
          </p:cNvPr>
          <p:cNvSpPr>
            <a:spLocks xmlns:a="http://schemas.openxmlformats.org/drawingml/2006/main" noGrp="1"/>
          </p:cNvSpPr>
          <p:nvPr/>
        </p:nvSpPr>
        <p:spPr>
          <a:xfrm xmlns:a="http://schemas.openxmlformats.org/drawingml/2006/main">
            <a:off x="5438775" y="41148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Professional Care</a:t>
            </a:r>
          </a:p>
        </p:txBody>
      </p:sp>
      <p:sp>
        <p:nvSpPr>
          <p:cNvPr id="13" name="s4-text-12">
            <a:extLst xmlns:a="http://schemas.openxmlformats.org/drawingml/2006/main">
              <a:ext uri="{FF2B5EF4-FFF2-40B4-BE49-F238E27FC236}">
                <a16:creationId xmlns:a16="http://schemas.microsoft.com/office/drawing/2014/main" id="{81218CDD-CA26-48AF-B9F5-48E66C2FD939}"/>
              </a:ext>
            </a:extLst>
          </p:cNvPr>
          <p:cNvSpPr>
            <a:spLocks xmlns:a="http://schemas.openxmlformats.org/drawingml/2006/main" noGrp="1"/>
          </p:cNvSpPr>
          <p:nvPr/>
        </p:nvSpPr>
        <p:spPr>
          <a:xfrm xmlns:a="http://schemas.openxmlformats.org/drawingml/2006/main">
            <a:off x="5438775" y="4572000"/>
            <a:ext cx="619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Korean head spa, needle-free care and facials</a:t>
            </a:r>
          </a:p>
        </p:txBody>
      </p:sp>
      <p:sp>
        <p:nvSpPr>
          <p:cNvPr id="14" name="s4-text-13">
            <a:extLst xmlns:a="http://schemas.openxmlformats.org/drawingml/2006/main">
              <a:ext uri="{FF2B5EF4-FFF2-40B4-BE49-F238E27FC236}">
                <a16:creationId xmlns:a16="http://schemas.microsoft.com/office/drawing/2014/main" id="{F4022F62-B6EE-4076-B335-6D7DFE891718}"/>
              </a:ext>
            </a:extLst>
          </p:cNvPr>
          <p:cNvSpPr>
            <a:spLocks xmlns:a="http://schemas.openxmlformats.org/drawingml/2006/main" noGrp="1"/>
          </p:cNvSpPr>
          <p:nvPr/>
        </p:nvSpPr>
        <p:spPr>
          <a:xfrm xmlns:a="http://schemas.openxmlformats.org/drawingml/2006/main">
            <a:off x="4724400" y="5267325"/>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6F9A78"/>
                </a:solidFill>
                <a:latin typeface="Nimbus Sans"/>
                <a:ea typeface="Nimbus Sans"/>
                <a:cs typeface="Nimbus Sans"/>
              </a:defRPr>
            </a:pPr>
            <a:r>
              <a:rPr sz="2550" b="0">
                <a:solidFill>
                  <a:srgbClr val="6F9A78"/>
                </a:solidFill>
                <a:latin typeface="Nimbus Sans"/>
                <a:ea typeface="Nimbus Sans"/>
                <a:cs typeface="Nimbus Sans"/>
              </a:rPr>
              <a:t>04</a:t>
            </a:r>
          </a:p>
        </p:txBody>
      </p:sp>
      <p:sp>
        <p:nvSpPr>
          <p:cNvPr id="15" name="s4-text-14">
            <a:extLst xmlns:a="http://schemas.openxmlformats.org/drawingml/2006/main">
              <a:ext uri="{FF2B5EF4-FFF2-40B4-BE49-F238E27FC236}">
                <a16:creationId xmlns:a16="http://schemas.microsoft.com/office/drawing/2014/main" id="{31DFC3CD-0BDB-4059-A38B-5A62492B038D}"/>
              </a:ext>
            </a:extLst>
          </p:cNvPr>
          <p:cNvSpPr>
            <a:spLocks xmlns:a="http://schemas.openxmlformats.org/drawingml/2006/main" noGrp="1"/>
          </p:cNvSpPr>
          <p:nvPr/>
        </p:nvSpPr>
        <p:spPr>
          <a:xfrm xmlns:a="http://schemas.openxmlformats.org/drawingml/2006/main">
            <a:off x="5438775" y="52768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Regular Follow-up</a:t>
            </a:r>
          </a:p>
        </p:txBody>
      </p:sp>
      <p:sp>
        <p:nvSpPr>
          <p:cNvPr id="16" name="s4-text-15">
            <a:extLst xmlns:a="http://schemas.openxmlformats.org/drawingml/2006/main">
              <a:ext uri="{FF2B5EF4-FFF2-40B4-BE49-F238E27FC236}">
                <a16:creationId xmlns:a16="http://schemas.microsoft.com/office/drawing/2014/main" id="{B2959D71-63AA-44B3-B91C-CB6D40D9B93C}"/>
              </a:ext>
            </a:extLst>
          </p:cNvPr>
          <p:cNvSpPr>
            <a:spLocks xmlns:a="http://schemas.openxmlformats.org/drawingml/2006/main" noGrp="1"/>
          </p:cNvSpPr>
          <p:nvPr/>
        </p:nvSpPr>
        <p:spPr>
          <a:xfrm xmlns:a="http://schemas.openxmlformats.org/drawingml/2006/main">
            <a:off x="5438775" y="5734050"/>
            <a:ext cx="619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Compare follow-up images and review homecare</a:t>
            </a:r>
          </a:p>
          <a:p xmlns:a="http://schemas.openxmlformats.org/drawingml/2006/main">
            <a:pPr algn="l">
              <a:lnSpc>
                <a:spcPct val="112000"/>
              </a:lnSpc>
              <a:buNone/>
              <a:defRPr sz="1725" b="0">
                <a:solidFill>
                  <a:srgbClr val="5C6270"/>
                </a:solidFill>
                <a:latin typeface="Noto Sans CJK SC"/>
                <a:ea typeface="Noto Sans CJK SC"/>
                <a:cs typeface="Noto Sans CJK SC"/>
              </a:defRPr>
            </a:pPr>
            <a:r>
              <a:rPr sz="1725" b="0">
                <a:solidFill>
                  <a:srgbClr val="5C6270"/>
                </a:solidFill>
                <a:latin typeface="Noto Sans CJK SC"/>
                <a:ea typeface="Noto Sans CJK SC"/>
                <a:cs typeface="Noto Sans CJK SC"/>
              </a:rPr>
              <a:t>within membership programmes</a:t>
            </a:r>
          </a:p>
        </p:txBody>
      </p:sp>
    </p:spTree>
    <p:extLst>
      <p:ext uri="{BB962C8B-B14F-4D97-AF65-F5344CB8AC3E}">
        <p14:creationId xmlns:p14="http://schemas.microsoft.com/office/powerpoint/2010/main" val="1437804112"/>
      </p:ext>
    </p:extLst>
  </p:cSld>
</p:sld>
</file>

<file path=ppt/slides/slide5.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7" name="s5-text-1">
            <a:extLst xmlns:a="http://schemas.openxmlformats.org/drawingml/2006/main">
              <a:ext uri="{FF2B5EF4-FFF2-40B4-BE49-F238E27FC236}">
                <a16:creationId xmlns:a16="http://schemas.microsoft.com/office/drawing/2014/main" id="{449BAECF-5CB3-4516-9054-A8113DE0148C}"/>
              </a:ext>
            </a:extLst>
          </p:cNvPr>
          <p:cNvSpPr>
            <a:spLocks xmlns:a="http://schemas.openxmlformats.org/drawingml/2006/main" noGrp="1"/>
          </p:cNvSpPr>
          <p:nvPr/>
        </p:nvSpPr>
        <p:spPr>
          <a:xfrm xmlns:a="http://schemas.openxmlformats.org/drawingml/2006/main">
            <a:off x="533400" y="45720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B2233"/>
                </a:solidFill>
                <a:latin typeface="Noto Sans CJK SC"/>
                <a:ea typeface="Noto Sans CJK SC"/>
                <a:cs typeface="Noto Sans CJK SC"/>
              </a:defRPr>
            </a:pPr>
            <a:r>
              <a:rPr sz="3225" b="1">
                <a:solidFill>
                  <a:srgbClr val="1B2233"/>
                </a:solidFill>
                <a:latin typeface="Noto Sans CJK SC"/>
                <a:ea typeface="Noto Sans CJK SC"/>
                <a:cs typeface="Noto Sans CJK SC"/>
              </a:rPr>
              <a:t>Business Models</a:t>
            </a:r>
          </a:p>
        </p:txBody>
      </p:sp>
      <p:sp>
        <p:nvSpPr>
          <p:cNvPr id="2" name="s5-text-2">
            <a:extLst xmlns:a="http://schemas.openxmlformats.org/drawingml/2006/main">
              <a:ext uri="{FF2B5EF4-FFF2-40B4-BE49-F238E27FC236}">
                <a16:creationId xmlns:a16="http://schemas.microsoft.com/office/drawing/2014/main" id="{A227FAE4-5B57-4CED-BB2A-371031BE1CC7}"/>
              </a:ext>
            </a:extLst>
          </p:cNvPr>
          <p:cNvSpPr>
            <a:spLocks xmlns:a="http://schemas.openxmlformats.org/drawingml/2006/main" noGrp="1"/>
          </p:cNvSpPr>
          <p:nvPr/>
        </p:nvSpPr>
        <p:spPr>
          <a:xfrm xmlns:a="http://schemas.openxmlformats.org/drawingml/2006/main">
            <a:off x="533400" y="1095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C6270"/>
                </a:solidFill>
                <a:latin typeface="Noto Sans CJK SC"/>
                <a:ea typeface="Noto Sans CJK SC"/>
                <a:cs typeface="Noto Sans CJK SC"/>
              </a:defRPr>
            </a:pPr>
            <a:r>
              <a:rPr sz="1875" b="0">
                <a:solidFill>
                  <a:srgbClr val="5C6270"/>
                </a:solidFill>
                <a:latin typeface="Noto Sans CJK SC"/>
                <a:ea typeface="Noto Sans CJK SC"/>
                <a:cs typeface="Noto Sans CJK SC"/>
              </a:rPr>
              <a:t>Three operating formats share MM Studio brand and product standards</a:t>
            </a:r>
          </a:p>
        </p:txBody>
      </p:sp>
      <p:sp>
        <p:nvSpPr>
          <p:cNvPr id="3" name="s5-text-3">
            <a:extLst xmlns:a="http://schemas.openxmlformats.org/drawingml/2006/main">
              <a:ext uri="{FF2B5EF4-FFF2-40B4-BE49-F238E27FC236}">
                <a16:creationId xmlns:a16="http://schemas.microsoft.com/office/drawing/2014/main" id="{BA9890FC-4BDB-491A-A9B8-0A2C20B88997}"/>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5C6270"/>
                </a:solidFill>
                <a:latin typeface="Nimbus Sans"/>
                <a:ea typeface="Nimbus Sans"/>
                <a:cs typeface="Nimbus Sans"/>
              </a:defRPr>
            </a:pPr>
            <a:r>
              <a:rPr sz="1200" b="0">
                <a:solidFill>
                  <a:srgbClr val="5C6270"/>
                </a:solidFill>
                <a:latin typeface="Nimbus Sans"/>
                <a:ea typeface="Nimbus Sans"/>
                <a:cs typeface="Nimbus Sans"/>
              </a:rPr>
              <a:t>05</a:t>
            </a:r>
          </a:p>
        </p:txBody>
      </p:sp>
      <p:graphicFrame>
        <p:nvGraphicFramePr>
          <p:cNvPr id="12" name=""/>
          <p:cNvGraphicFramePr/>
          <p:nvPr/>
        </p:nvGraphicFramePr>
        <p:xfrm>
          <a:off xmlns:a="http://schemas.openxmlformats.org/drawingml/2006/main" x="533400" y="1781175"/>
          <a:ext xmlns:a="http://schemas.openxmlformats.org/drawingml/2006/main" cx="11125200" cy="3086100"/>
        </p:xfrm>
        <a:graphic xmlns:a="http://schemas.openxmlformats.org/drawingml/2006/main">
          <a:graphicData uri="http://schemas.openxmlformats.org/drawingml/2006/table">
            <a:tbl>
              <a:tblPr firstRow="1" bandRow="0"/>
              <a:tblGrid>
                <a:gridCol w="2524125"/>
                <a:gridCol w="4600575"/>
                <a:gridCol w="4000500"/>
              </a:tblGrid>
              <a:tr h="771525">
                <a:tc>
                  <a:txBody>
                    <a:bodyPr wrap="square">
                      <a:noAutofit/>
                    </a:bodyPr>
                    <a:lstStyle/>
                    <a:p>
                      <a:pPr algn="l">
                        <a:buNone/>
                      </a:pPr>
                      <a:r>
                        <a:rPr sz="1800" b="1">
                          <a:solidFill>
                            <a:srgbClr val="F4F2ED"/>
                          </a:solidFill>
                          <a:latin typeface="Noto Sans CJK SC"/>
                          <a:ea typeface="Noto Sans CJK SC"/>
                          <a:cs typeface="Noto Sans CJK SC"/>
                        </a:rPr>
                        <a:t>Format</a:t>
                      </a:r>
                    </a:p>
                  </a:txBody>
                  <a:tcPr marL="152400" marR="152400" marT="95250" marB="95250" anchor="ctr">
                    <a:solidFill>
                      <a:srgbClr val="1B2233"/>
                    </a:solidFill>
                  </a:tcPr>
                </a:tc>
                <a:tc>
                  <a:txBody>
                    <a:bodyPr wrap="square">
                      <a:noAutofit/>
                    </a:bodyPr>
                    <a:lstStyle/>
                    <a:p>
                      <a:pPr algn="l">
                        <a:buNone/>
                      </a:pPr>
                      <a:r>
                        <a:rPr sz="1800" b="1">
                          <a:solidFill>
                            <a:srgbClr val="F4F2ED"/>
                          </a:solidFill>
                          <a:latin typeface="Noto Sans CJK SC"/>
                          <a:ea typeface="Noto Sans CJK SC"/>
                          <a:cs typeface="Noto Sans CJK SC"/>
                        </a:rPr>
                        <a:t>Operating Model</a:t>
                      </a:r>
                    </a:p>
                  </a:txBody>
                  <a:tcPr marL="152400" marR="152400" marT="95250" marB="95250" anchor="ctr">
                    <a:solidFill>
                      <a:srgbClr val="1B2233"/>
                    </a:solidFill>
                  </a:tcPr>
                </a:tc>
                <a:tc>
                  <a:txBody>
                    <a:bodyPr wrap="square">
                      <a:noAutofit/>
                    </a:bodyPr>
                    <a:lstStyle/>
                    <a:p>
                      <a:pPr algn="l">
                        <a:buNone/>
                      </a:pPr>
                      <a:r>
                        <a:rPr sz="1800" b="1">
                          <a:solidFill>
                            <a:srgbClr val="F4F2ED"/>
                          </a:solidFill>
                          <a:latin typeface="Noto Sans CJK SC"/>
                          <a:ea typeface="Noto Sans CJK SC"/>
                          <a:cs typeface="Noto Sans CJK SC"/>
                        </a:rPr>
                        <a:t>Revenue Sources</a:t>
                      </a:r>
                    </a:p>
                  </a:txBody>
                  <a:tcPr marL="152400" marR="152400" marT="95250" marB="95250" anchor="ctr">
                    <a:solidFill>
                      <a:srgbClr val="1B2233"/>
                    </a:solidFill>
                  </a:tcPr>
                </a:tc>
              </a:tr>
              <a:tr h="771525">
                <a:tc>
                  <a:txBody>
                    <a:bodyPr wrap="square">
                      <a:noAutofit/>
                    </a:bodyPr>
                    <a:lstStyle/>
                    <a:p>
                      <a:pPr algn="l">
                        <a:buNone/>
                      </a:pPr>
                      <a:r>
                        <a:rPr sz="1800" b="0">
                          <a:solidFill>
                            <a:srgbClr val="1B2233"/>
                          </a:solidFill>
                          <a:latin typeface="Noto Sans CJK SC"/>
                          <a:ea typeface="Noto Sans CJK SC"/>
                          <a:cs typeface="Noto Sans CJK SC"/>
                        </a:rPr>
                        <a:t>Flagship Studio</a:t>
                      </a:r>
                    </a:p>
                  </a:txBody>
                  <a:tcPr marL="152400" marR="152400" marT="95250" marB="95250" anchor="ctr">
                    <a:solidFill>
                      <a:srgbClr val="FFFFFF"/>
                    </a:solidFill>
                  </a:tcPr>
                </a:tc>
                <a:tc>
                  <a:txBody>
                    <a:bodyPr wrap="square">
                      <a:noAutofit/>
                    </a:bodyPr>
                    <a:lstStyle/>
                    <a:p>
                      <a:pPr algn="l">
                        <a:buNone/>
                      </a:pPr>
                      <a:r>
                        <a:rPr sz="1800" b="0">
                          <a:solidFill>
                            <a:srgbClr val="1B2233"/>
                          </a:solidFill>
                          <a:latin typeface="Noto Sans CJK SC"/>
                          <a:ea typeface="Noto Sans CJK SC"/>
                          <a:cs typeface="Noto Sans CJK SC"/>
                        </a:rPr>
                        <a:t>Demonstration studios</a:t>
                      </a:r>
                    </a:p>
                    <a:p>
                      <a:pPr algn="l">
                        <a:buNone/>
                      </a:pPr>
                      <a:r>
                        <a:rPr sz="1800" b="0">
                          <a:solidFill>
                            <a:srgbClr val="1B2233"/>
                          </a:solidFill>
                          <a:latin typeface="Noto Sans CJK SC"/>
                          <a:ea typeface="Noto Sans CJK SC"/>
                          <a:cs typeface="Noto Sans CJK SC"/>
                        </a:rPr>
                        <a:t>in Seoul and London</a:t>
                      </a:r>
                    </a:p>
                  </a:txBody>
                  <a:tcPr marL="152400" marR="152400" marT="95250" marB="95250" anchor="ctr">
                    <a:solidFill>
                      <a:srgbClr val="FFFFFF"/>
                    </a:solidFill>
                  </a:tcPr>
                </a:tc>
                <a:tc>
                  <a:txBody>
                    <a:bodyPr wrap="square">
                      <a:noAutofit/>
                    </a:bodyPr>
                    <a:lstStyle/>
                    <a:p>
                      <a:pPr algn="l">
                        <a:buNone/>
                      </a:pPr>
                      <a:r>
                        <a:rPr sz="1800" b="0">
                          <a:solidFill>
                            <a:srgbClr val="1B2233"/>
                          </a:solidFill>
                          <a:latin typeface="Noto Sans CJK SC"/>
                          <a:ea typeface="Noto Sans CJK SC"/>
                          <a:cs typeface="Noto Sans CJK SC"/>
                        </a:rPr>
                        <a:t>Care services, memberships</a:t>
                      </a:r>
                    </a:p>
                    <a:p>
                      <a:pPr algn="l">
                        <a:buNone/>
                      </a:pPr>
                      <a:r>
                        <a:rPr sz="1800" b="0">
                          <a:solidFill>
                            <a:srgbClr val="1B2233"/>
                          </a:solidFill>
                          <a:latin typeface="Noto Sans CJK SC"/>
                          <a:ea typeface="Noto Sans CJK SC"/>
                          <a:cs typeface="Noto Sans CJK SC"/>
                        </a:rPr>
                        <a:t>and product sales</a:t>
                      </a:r>
                    </a:p>
                  </a:txBody>
                  <a:tcPr marL="152400" marR="152400" marT="95250" marB="95250" anchor="ctr">
                    <a:solidFill>
                      <a:srgbClr val="FFFFFF"/>
                    </a:solidFill>
                  </a:tcPr>
                </a:tc>
              </a:tr>
              <a:tr h="771525">
                <a:tc>
                  <a:txBody>
                    <a:bodyPr wrap="square">
                      <a:noAutofit/>
                    </a:bodyPr>
                    <a:lstStyle/>
                    <a:p>
                      <a:pPr algn="l">
                        <a:buNone/>
                      </a:pPr>
                      <a:r>
                        <a:rPr sz="1800" b="0">
                          <a:solidFill>
                            <a:srgbClr val="1B2233"/>
                          </a:solidFill>
                          <a:latin typeface="Noto Sans CJK SC"/>
                          <a:ea typeface="Noto Sans CJK SC"/>
                          <a:cs typeface="Noto Sans CJK SC"/>
                        </a:rPr>
                        <a:t>Studio in a Clinic</a:t>
                      </a:r>
                    </a:p>
                  </a:txBody>
                  <a:tcPr marL="152400" marR="152400" marT="95250" marB="95250" anchor="ctr">
                    <a:solidFill>
                      <a:srgbClr val="E9E6DF"/>
                    </a:solidFill>
                  </a:tcPr>
                </a:tc>
                <a:tc>
                  <a:txBody>
                    <a:bodyPr wrap="square">
                      <a:noAutofit/>
                    </a:bodyPr>
                    <a:lstStyle/>
                    <a:p>
                      <a:pPr algn="l">
                        <a:buNone/>
                      </a:pPr>
                      <a:r>
                        <a:rPr sz="1800" b="0">
                          <a:solidFill>
                            <a:srgbClr val="1B2233"/>
                          </a:solidFill>
                          <a:latin typeface="Noto Sans CJK SC"/>
                          <a:ea typeface="Noto Sans CJK SC"/>
                          <a:cs typeface="Noto Sans CJK SC"/>
                        </a:rPr>
                        <a:t>Agreed responsibilities with</a:t>
                      </a:r>
                    </a:p>
                    <a:p>
                      <a:pPr algn="l">
                        <a:buNone/>
                      </a:pPr>
                      <a:r>
                        <a:rPr sz="1800" b="0">
                          <a:solidFill>
                            <a:srgbClr val="1B2233"/>
                          </a:solidFill>
                          <a:latin typeface="Noto Sans CJK SC"/>
                          <a:ea typeface="Noto Sans CJK SC"/>
                          <a:cs typeface="Noto Sans CJK SC"/>
                        </a:rPr>
                        <a:t>doctors and healthcare providers</a:t>
                      </a:r>
                    </a:p>
                  </a:txBody>
                  <a:tcPr marL="152400" marR="152400" marT="95250" marB="95250" anchor="ctr">
                    <a:solidFill>
                      <a:srgbClr val="E9E6DF"/>
                    </a:solidFill>
                  </a:tcPr>
                </a:tc>
                <a:tc>
                  <a:txBody>
                    <a:bodyPr wrap="square">
                      <a:noAutofit/>
                    </a:bodyPr>
                    <a:lstStyle/>
                    <a:p>
                      <a:pPr algn="l">
                        <a:buNone/>
                      </a:pPr>
                      <a:r>
                        <a:rPr sz="1800" b="0">
                          <a:solidFill>
                            <a:srgbClr val="1B2233"/>
                          </a:solidFill>
                          <a:latin typeface="Noto Sans CJK SC"/>
                          <a:ea typeface="Noto Sans CJK SC"/>
                          <a:cs typeface="Noto Sans CJK SC"/>
                        </a:rPr>
                        <a:t>Care packages and</a:t>
                      </a:r>
                    </a:p>
                    <a:p>
                      <a:pPr algn="l">
                        <a:buNone/>
                      </a:pPr>
                      <a:r>
                        <a:rPr sz="1800" b="0">
                          <a:solidFill>
                            <a:srgbClr val="1B2233"/>
                          </a:solidFill>
                          <a:latin typeface="Noto Sans CJK SC"/>
                          <a:ea typeface="Noto Sans CJK SC"/>
                          <a:cs typeface="Noto Sans CJK SC"/>
                        </a:rPr>
                        <a:t>product sales</a:t>
                      </a:r>
                    </a:p>
                  </a:txBody>
                  <a:tcPr marL="152400" marR="152400" marT="95250" marB="95250" anchor="ctr">
                    <a:solidFill>
                      <a:srgbClr val="E9E6DF"/>
                    </a:solidFill>
                  </a:tcPr>
                </a:tc>
              </a:tr>
              <a:tr h="771525">
                <a:tc>
                  <a:txBody>
                    <a:bodyPr wrap="square">
                      <a:noAutofit/>
                    </a:bodyPr>
                    <a:lstStyle/>
                    <a:p>
                      <a:pPr algn="l">
                        <a:buNone/>
                      </a:pPr>
                      <a:r>
                        <a:rPr sz="1800" b="0">
                          <a:solidFill>
                            <a:srgbClr val="1B2233"/>
                          </a:solidFill>
                          <a:latin typeface="Noto Sans CJK SC"/>
                          <a:ea typeface="Noto Sans CJK SC"/>
                          <a:cs typeface="Noto Sans CJK SC"/>
                        </a:rPr>
                        <a:t>Partner Studio /</a:t>
                      </a:r>
                    </a:p>
                    <a:p>
                      <a:pPr algn="l">
                        <a:buNone/>
                      </a:pPr>
                      <a:r>
                        <a:rPr sz="1800" b="0">
                          <a:solidFill>
                            <a:srgbClr val="1B2233"/>
                          </a:solidFill>
                          <a:latin typeface="Noto Sans CJK SC"/>
                          <a:ea typeface="Noto Sans CJK SC"/>
                          <a:cs typeface="Noto Sans CJK SC"/>
                        </a:rPr>
                        <a:t>Distribution</a:t>
                      </a:r>
                    </a:p>
                  </a:txBody>
                  <a:tcPr marL="152400" marR="152400" marT="95250" marB="95250" anchor="ctr">
                    <a:solidFill>
                      <a:srgbClr val="FFFFFF"/>
                    </a:solidFill>
                  </a:tcPr>
                </a:tc>
                <a:tc>
                  <a:txBody>
                    <a:bodyPr wrap="square">
                      <a:noAutofit/>
                    </a:bodyPr>
                    <a:lstStyle/>
                    <a:p>
                      <a:pPr algn="l">
                        <a:buNone/>
                      </a:pPr>
                      <a:r>
                        <a:rPr sz="1800" b="0">
                          <a:solidFill>
                            <a:srgbClr val="1B2233"/>
                          </a:solidFill>
                          <a:latin typeface="Noto Sans CJK SC"/>
                          <a:ea typeface="Noto Sans CJK SC"/>
                          <a:cs typeface="Noto Sans CJK SC"/>
                        </a:rPr>
                        <a:t>Training, brand standards</a:t>
                      </a:r>
                    </a:p>
                    <a:p>
                      <a:pPr algn="l">
                        <a:buNone/>
                      </a:pPr>
                      <a:r>
                        <a:rPr sz="1800" b="0">
                          <a:solidFill>
                            <a:srgbClr val="1B2233"/>
                          </a:solidFill>
                          <a:latin typeface="Noto Sans CJK SC"/>
                          <a:ea typeface="Noto Sans CJK SC"/>
                          <a:cs typeface="Noto Sans CJK SC"/>
                        </a:rPr>
                        <a:t>and product supply support</a:t>
                      </a:r>
                    </a:p>
                  </a:txBody>
                  <a:tcPr marL="152400" marR="152400" marT="95250" marB="95250" anchor="ctr">
                    <a:solidFill>
                      <a:srgbClr val="FFFFFF"/>
                    </a:solidFill>
                  </a:tcPr>
                </a:tc>
                <a:tc>
                  <a:txBody>
                    <a:bodyPr wrap="square">
                      <a:noAutofit/>
                    </a:bodyPr>
                    <a:lstStyle/>
                    <a:p>
                      <a:pPr algn="l">
                        <a:buNone/>
                      </a:pPr>
                      <a:r>
                        <a:rPr sz="1800" b="0">
                          <a:solidFill>
                            <a:srgbClr val="1B2233"/>
                          </a:solidFill>
                          <a:latin typeface="Noto Sans CJK SC"/>
                          <a:ea typeface="Noto Sans CJK SC"/>
                          <a:cs typeface="Noto Sans CJK SC"/>
                        </a:rPr>
                        <a:t>Startup packages and reorders</a:t>
                      </a:r>
                    </a:p>
                    <a:p>
                      <a:pPr algn="l">
                        <a:buNone/>
                      </a:pPr>
                      <a:r>
                        <a:rPr sz="1800" b="0">
                          <a:solidFill>
                            <a:srgbClr val="1B2233"/>
                          </a:solidFill>
                          <a:latin typeface="Noto Sans CJK SC"/>
                          <a:ea typeface="Noto Sans CJK SC"/>
                          <a:cs typeface="Noto Sans CJK SC"/>
                        </a:rPr>
                        <a:t>plus agreed service fees</a:t>
                      </a:r>
                    </a:p>
                  </a:txBody>
                  <a:tcPr marL="152400" marR="152400" marT="95250" marB="95250" anchor="ctr">
                    <a:solidFill>
                      <a:srgbClr val="FFFFFF"/>
                    </a:solidFill>
                  </a:tcPr>
                </a:tc>
              </a:tr>
            </a:tbl>
          </a:graphicData>
        </a:graphic>
      </p:graphicFrame>
      <p:sp>
        <p:nvSpPr>
          <p:cNvPr id="5" name="s5-text-4">
            <a:extLst xmlns:a="http://schemas.openxmlformats.org/drawingml/2006/main">
              <a:ext uri="{FF2B5EF4-FFF2-40B4-BE49-F238E27FC236}">
                <a16:creationId xmlns:a16="http://schemas.microsoft.com/office/drawing/2014/main" id="{BF0930D5-7419-4B58-BEB6-16409DD9ED9A}"/>
              </a:ext>
            </a:extLst>
          </p:cNvPr>
          <p:cNvSpPr>
            <a:spLocks xmlns:a="http://schemas.openxmlformats.org/drawingml/2006/main" noGrp="1"/>
          </p:cNvSpPr>
          <p:nvPr/>
        </p:nvSpPr>
        <p:spPr>
          <a:xfrm xmlns:a="http://schemas.openxmlformats.org/drawingml/2006/main">
            <a:off x="533400" y="531495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B2233"/>
                </a:solidFill>
                <a:latin typeface="Noto Sans CJK SC"/>
                <a:ea typeface="Noto Sans CJK SC"/>
                <a:cs typeface="Noto Sans CJK SC"/>
              </a:defRPr>
            </a:pPr>
            <a:r>
              <a:rPr sz="2325" b="1">
                <a:solidFill>
                  <a:srgbClr val="1B2233"/>
                </a:solidFill>
                <a:latin typeface="Noto Sans CJK SC"/>
                <a:ea typeface="Noto Sans CJK SC"/>
                <a:cs typeface="Noto Sans CJK SC"/>
              </a:rPr>
              <a:t>Ongoing care and homecare support repeat business</a:t>
            </a:r>
          </a:p>
        </p:txBody>
      </p:sp>
      <p:sp>
        <p:nvSpPr>
          <p:cNvPr id="6" name="s5-text-5">
            <a:extLst xmlns:a="http://schemas.openxmlformats.org/drawingml/2006/main">
              <a:ext uri="{FF2B5EF4-FFF2-40B4-BE49-F238E27FC236}">
                <a16:creationId xmlns:a16="http://schemas.microsoft.com/office/drawing/2014/main" id="{16821D27-CBCF-429B-B828-C7575007F7A0}"/>
              </a:ext>
            </a:extLst>
          </p:cNvPr>
          <p:cNvSpPr>
            <a:spLocks xmlns:a="http://schemas.openxmlformats.org/drawingml/2006/main" noGrp="1"/>
          </p:cNvSpPr>
          <p:nvPr/>
        </p:nvSpPr>
        <p:spPr>
          <a:xfrm xmlns:a="http://schemas.openxmlformats.org/drawingml/2006/main">
            <a:off x="533400" y="5905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C6270"/>
                </a:solidFill>
                <a:latin typeface="Noto Sans CJK SC"/>
                <a:ea typeface="Noto Sans CJK SC"/>
                <a:cs typeface="Noto Sans CJK SC"/>
              </a:defRPr>
            </a:pPr>
            <a:r>
              <a:rPr sz="1875" b="0">
                <a:solidFill>
                  <a:srgbClr val="5C6270"/>
                </a:solidFill>
                <a:latin typeface="Noto Sans CJK SC"/>
                <a:ea typeface="Noto Sans CJK SC"/>
                <a:cs typeface="Noto Sans CJK SC"/>
              </a:rPr>
              <a:t>Partners complete training, follow shared care standards and order products as needed</a:t>
            </a:r>
          </a:p>
        </p:txBody>
      </p:sp>
    </p:spTree>
    <p:extLst>
      <p:ext uri="{BB962C8B-B14F-4D97-AF65-F5344CB8AC3E}">
        <p14:creationId xmlns:p14="http://schemas.microsoft.com/office/powerpoint/2010/main" val="1803248409"/>
      </p:ext>
    </p:extLst>
  </p:cSld>
</p:sld>
</file>

<file path=ppt/slides/slide6.xml><?xml version="1.0" encoding="utf-8"?>
<p:sld xmlns:p="http://schemas.openxmlformats.org/presentationml/2006/main">
  <p:cSld>
    <p:bg>
      <p:bgPr>
        <a:solidFill xmlns:a="http://schemas.openxmlformats.org/drawingml/2006/main">
          <a:srgbClr val="1B2233"/>
        </a:solidFill>
      </p:bgPr>
    </p:bg>
    <p:spTree>
      <p:nvGrpSpPr>
        <p:cNvPr id="1" name=""/>
        <p:cNvGrpSpPr/>
        <p:nvPr/>
      </p:nvGrpSpPr>
      <p:grpSpPr>
        <a:xfrm xmlns:a="http://schemas.openxmlformats.org/drawingml/2006/main"/>
      </p:grpSpPr>
      <p:sp>
        <p:nvSpPr>
          <p:cNvPr id="17" name="s6-text-1">
            <a:extLst xmlns:a="http://schemas.openxmlformats.org/drawingml/2006/main">
              <a:ext uri="{FF2B5EF4-FFF2-40B4-BE49-F238E27FC236}">
                <a16:creationId xmlns:a16="http://schemas.microsoft.com/office/drawing/2014/main" id="{423C1267-91C4-41C3-BE74-90DA249D1490}"/>
              </a:ext>
            </a:extLst>
          </p:cNvPr>
          <p:cNvSpPr>
            <a:spLocks xmlns:a="http://schemas.openxmlformats.org/drawingml/2006/main" noGrp="1"/>
          </p:cNvSpPr>
          <p:nvPr/>
        </p:nvSpPr>
        <p:spPr>
          <a:xfrm xmlns:a="http://schemas.openxmlformats.org/drawingml/2006/main">
            <a:off x="533400" y="45720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F4F2ED"/>
                </a:solidFill>
                <a:latin typeface="Noto Sans CJK SC"/>
                <a:ea typeface="Noto Sans CJK SC"/>
                <a:cs typeface="Noto Sans CJK SC"/>
              </a:defRPr>
            </a:pPr>
            <a:r>
              <a:rPr sz="3225" b="1">
                <a:solidFill>
                  <a:srgbClr val="F4F2ED"/>
                </a:solidFill>
                <a:latin typeface="Noto Sans CJK SC"/>
                <a:ea typeface="Noto Sans CJK SC"/>
                <a:cs typeface="Noto Sans CJK SC"/>
              </a:rPr>
              <a:t>Manufacturing and Product Supply</a:t>
            </a:r>
          </a:p>
        </p:txBody>
      </p:sp>
      <p:sp>
        <p:nvSpPr>
          <p:cNvPr id="2" name="s6-text-2">
            <a:extLst xmlns:a="http://schemas.openxmlformats.org/drawingml/2006/main">
              <a:ext uri="{FF2B5EF4-FFF2-40B4-BE49-F238E27FC236}">
                <a16:creationId xmlns:a16="http://schemas.microsoft.com/office/drawing/2014/main" id="{0769945C-712C-4FE1-8412-7EFCBDD6EDD2}"/>
              </a:ext>
            </a:extLst>
          </p:cNvPr>
          <p:cNvSpPr>
            <a:spLocks xmlns:a="http://schemas.openxmlformats.org/drawingml/2006/main" noGrp="1"/>
          </p:cNvSpPr>
          <p:nvPr/>
        </p:nvSpPr>
        <p:spPr>
          <a:xfrm xmlns:a="http://schemas.openxmlformats.org/drawingml/2006/main">
            <a:off x="533400" y="1095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C9CEDA"/>
                </a:solidFill>
                <a:latin typeface="Noto Sans CJK SC"/>
                <a:ea typeface="Noto Sans CJK SC"/>
                <a:cs typeface="Noto Sans CJK SC"/>
              </a:defRPr>
            </a:pPr>
            <a:r>
              <a:rPr sz="1875" b="0">
                <a:solidFill>
                  <a:srgbClr val="C9CEDA"/>
                </a:solidFill>
                <a:latin typeface="Noto Sans CJK SC"/>
                <a:ea typeface="Noto Sans CJK SC"/>
                <a:cs typeface="Noto Sans CJK SC"/>
              </a:rPr>
              <a:t>WBI's Korean R&amp;D and manufacturing support the studio's product ranges</a:t>
            </a:r>
          </a:p>
        </p:txBody>
      </p:sp>
      <p:sp>
        <p:nvSpPr>
          <p:cNvPr id="3" name="s6-text-3">
            <a:extLst xmlns:a="http://schemas.openxmlformats.org/drawingml/2006/main">
              <a:ext uri="{FF2B5EF4-FFF2-40B4-BE49-F238E27FC236}">
                <a16:creationId xmlns:a16="http://schemas.microsoft.com/office/drawing/2014/main" id="{9F404407-7F97-49D9-A7F0-2386A297E032}"/>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C9CEDA"/>
                </a:solidFill>
                <a:latin typeface="Nimbus Sans"/>
                <a:ea typeface="Nimbus Sans"/>
                <a:cs typeface="Nimbus Sans"/>
              </a:defRPr>
            </a:pPr>
            <a:r>
              <a:rPr sz="1200" b="0">
                <a:solidFill>
                  <a:srgbClr val="C9CEDA"/>
                </a:solidFill>
                <a:latin typeface="Nimbus Sans"/>
                <a:ea typeface="Nimbus Sans"/>
                <a:cs typeface="Nimbus Sans"/>
              </a:rPr>
              <a:t>06</a:t>
            </a:r>
          </a:p>
        </p:txBody>
      </p:sp>
      <p:sp>
        <p:nvSpPr>
          <p:cNvPr id="4" name="s6-text-4">
            <a:extLst xmlns:a="http://schemas.openxmlformats.org/drawingml/2006/main">
              <a:ext uri="{FF2B5EF4-FFF2-40B4-BE49-F238E27FC236}">
                <a16:creationId xmlns:a16="http://schemas.microsoft.com/office/drawing/2014/main" id="{A53BF6E7-B476-4FA5-B9EE-8B9D29702C59}"/>
              </a:ext>
            </a:extLst>
          </p:cNvPr>
          <p:cNvSpPr>
            <a:spLocks xmlns:a="http://schemas.openxmlformats.org/drawingml/2006/main" noGrp="1"/>
          </p:cNvSpPr>
          <p:nvPr/>
        </p:nvSpPr>
        <p:spPr>
          <a:xfrm xmlns:a="http://schemas.openxmlformats.org/drawingml/2006/main">
            <a:off x="533400" y="188595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C9CEDA"/>
                </a:solidFill>
                <a:latin typeface="Nimbus Sans"/>
                <a:ea typeface="Nimbus Sans"/>
                <a:cs typeface="Nimbus Sans"/>
              </a:defRPr>
            </a:pPr>
            <a:r>
              <a:rPr sz="2550" b="0">
                <a:solidFill>
                  <a:srgbClr val="C9CEDA"/>
                </a:solidFill>
                <a:latin typeface="Nimbus Sans"/>
                <a:ea typeface="Nimbus Sans"/>
                <a:cs typeface="Nimbus Sans"/>
              </a:rPr>
              <a:t>01</a:t>
            </a:r>
          </a:p>
        </p:txBody>
      </p:sp>
      <p:sp>
        <p:nvSpPr>
          <p:cNvPr id="5" name="s6-text-5">
            <a:extLst xmlns:a="http://schemas.openxmlformats.org/drawingml/2006/main">
              <a:ext uri="{FF2B5EF4-FFF2-40B4-BE49-F238E27FC236}">
                <a16:creationId xmlns:a16="http://schemas.microsoft.com/office/drawing/2014/main" id="{AE8C9CB0-06A8-4592-9838-068C7DCDCD85}"/>
              </a:ext>
            </a:extLst>
          </p:cNvPr>
          <p:cNvSpPr>
            <a:spLocks xmlns:a="http://schemas.openxmlformats.org/drawingml/2006/main" noGrp="1"/>
          </p:cNvSpPr>
          <p:nvPr/>
        </p:nvSpPr>
        <p:spPr>
          <a:xfrm xmlns:a="http://schemas.openxmlformats.org/drawingml/2006/main">
            <a:off x="1247775" y="1895475"/>
            <a:ext cx="516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F4F2ED"/>
                </a:solidFill>
                <a:latin typeface="Noto Sans CJK SC"/>
                <a:ea typeface="Noto Sans CJK SC"/>
                <a:cs typeface="Noto Sans CJK SC"/>
              </a:defRPr>
            </a:pPr>
            <a:r>
              <a:rPr sz="2100" b="1">
                <a:solidFill>
                  <a:srgbClr val="F4F2ED"/>
                </a:solidFill>
                <a:latin typeface="Noto Sans CJK SC"/>
                <a:ea typeface="Noto Sans CJK SC"/>
                <a:cs typeface="Noto Sans CJK SC"/>
              </a:rPr>
              <a:t>Formulation Development</a:t>
            </a:r>
          </a:p>
        </p:txBody>
      </p:sp>
      <p:sp>
        <p:nvSpPr>
          <p:cNvPr id="6" name="s6-text-6">
            <a:extLst xmlns:a="http://schemas.openxmlformats.org/drawingml/2006/main">
              <a:ext uri="{FF2B5EF4-FFF2-40B4-BE49-F238E27FC236}">
                <a16:creationId xmlns:a16="http://schemas.microsoft.com/office/drawing/2014/main" id="{7C77264A-2592-4C5E-B9E8-DE4A8B0A0A79}"/>
              </a:ext>
            </a:extLst>
          </p:cNvPr>
          <p:cNvSpPr>
            <a:spLocks xmlns:a="http://schemas.openxmlformats.org/drawingml/2006/main" noGrp="1"/>
          </p:cNvSpPr>
          <p:nvPr/>
        </p:nvSpPr>
        <p:spPr>
          <a:xfrm xmlns:a="http://schemas.openxmlformats.org/drawingml/2006/main">
            <a:off x="1247775" y="2352675"/>
            <a:ext cx="5162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C9CEDA"/>
                </a:solidFill>
                <a:latin typeface="Noto Sans CJK SC"/>
                <a:ea typeface="Noto Sans CJK SC"/>
                <a:cs typeface="Noto Sans CJK SC"/>
              </a:defRPr>
            </a:pPr>
            <a:r>
              <a:rPr sz="1725" b="0">
                <a:solidFill>
                  <a:srgbClr val="C9CEDA"/>
                </a:solidFill>
                <a:latin typeface="Noto Sans CJK SC"/>
                <a:ea typeface="Noto Sans CJK SC"/>
                <a:cs typeface="Noto Sans CJK SC"/>
              </a:rPr>
              <a:t>Vesicle platforms, peptides and actives</a:t>
            </a:r>
          </a:p>
          <a:p xmlns:a="http://schemas.openxmlformats.org/drawingml/2006/main">
            <a:pPr algn="l">
              <a:lnSpc>
                <a:spcPct val="112000"/>
              </a:lnSpc>
              <a:buNone/>
              <a:defRPr sz="1725" b="0">
                <a:solidFill>
                  <a:srgbClr val="C9CEDA"/>
                </a:solidFill>
                <a:latin typeface="Noto Sans CJK SC"/>
                <a:ea typeface="Noto Sans CJK SC"/>
                <a:cs typeface="Noto Sans CJK SC"/>
              </a:defRPr>
            </a:pPr>
            <a:r>
              <a:rPr sz="1725" b="0">
                <a:solidFill>
                  <a:srgbClr val="C9CEDA"/>
                </a:solidFill>
                <a:latin typeface="Noto Sans CJK SC"/>
                <a:ea typeface="Noto Sans CJK SC"/>
                <a:cs typeface="Noto Sans CJK SC"/>
              </a:rPr>
              <a:t>for skin and scalp care needs</a:t>
            </a:r>
          </a:p>
        </p:txBody>
      </p:sp>
      <p:sp>
        <p:nvSpPr>
          <p:cNvPr id="7" name="s6-text-7">
            <a:extLst xmlns:a="http://schemas.openxmlformats.org/drawingml/2006/main">
              <a:ext uri="{FF2B5EF4-FFF2-40B4-BE49-F238E27FC236}">
                <a16:creationId xmlns:a16="http://schemas.microsoft.com/office/drawing/2014/main" id="{3ECC8533-3EF9-4B8F-80F5-1EC4E236E19B}"/>
              </a:ext>
            </a:extLst>
          </p:cNvPr>
          <p:cNvSpPr>
            <a:spLocks xmlns:a="http://schemas.openxmlformats.org/drawingml/2006/main" noGrp="1"/>
          </p:cNvSpPr>
          <p:nvPr/>
        </p:nvSpPr>
        <p:spPr>
          <a:xfrm xmlns:a="http://schemas.openxmlformats.org/drawingml/2006/main">
            <a:off x="533400" y="33147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C9CEDA"/>
                </a:solidFill>
                <a:latin typeface="Nimbus Sans"/>
                <a:ea typeface="Nimbus Sans"/>
                <a:cs typeface="Nimbus Sans"/>
              </a:defRPr>
            </a:pPr>
            <a:r>
              <a:rPr sz="2550" b="0">
                <a:solidFill>
                  <a:srgbClr val="C9CEDA"/>
                </a:solidFill>
                <a:latin typeface="Nimbus Sans"/>
                <a:ea typeface="Nimbus Sans"/>
                <a:cs typeface="Nimbus Sans"/>
              </a:rPr>
              <a:t>02</a:t>
            </a:r>
          </a:p>
        </p:txBody>
      </p:sp>
      <p:sp>
        <p:nvSpPr>
          <p:cNvPr id="8" name="s6-text-8">
            <a:extLst xmlns:a="http://schemas.openxmlformats.org/drawingml/2006/main">
              <a:ext uri="{FF2B5EF4-FFF2-40B4-BE49-F238E27FC236}">
                <a16:creationId xmlns:a16="http://schemas.microsoft.com/office/drawing/2014/main" id="{78072095-FC19-4F20-B2FD-A6C78C0BB362}"/>
              </a:ext>
            </a:extLst>
          </p:cNvPr>
          <p:cNvSpPr>
            <a:spLocks xmlns:a="http://schemas.openxmlformats.org/drawingml/2006/main" noGrp="1"/>
          </p:cNvSpPr>
          <p:nvPr/>
        </p:nvSpPr>
        <p:spPr>
          <a:xfrm xmlns:a="http://schemas.openxmlformats.org/drawingml/2006/main">
            <a:off x="1247775" y="3324225"/>
            <a:ext cx="516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F4F2ED"/>
                </a:solidFill>
                <a:latin typeface="Noto Sans CJK SC"/>
                <a:ea typeface="Noto Sans CJK SC"/>
                <a:cs typeface="Noto Sans CJK SC"/>
              </a:defRPr>
            </a:pPr>
            <a:r>
              <a:rPr sz="2100" b="1">
                <a:solidFill>
                  <a:srgbClr val="F4F2ED"/>
                </a:solidFill>
                <a:latin typeface="Noto Sans CJK SC"/>
                <a:ea typeface="Noto Sans CJK SC"/>
                <a:cs typeface="Noto Sans CJK SC"/>
              </a:rPr>
              <a:t>Freeze-dried and Liquid Products</a:t>
            </a:r>
          </a:p>
        </p:txBody>
      </p:sp>
      <p:sp>
        <p:nvSpPr>
          <p:cNvPr id="9" name="s6-text-9">
            <a:extLst xmlns:a="http://schemas.openxmlformats.org/drawingml/2006/main">
              <a:ext uri="{FF2B5EF4-FFF2-40B4-BE49-F238E27FC236}">
                <a16:creationId xmlns:a16="http://schemas.microsoft.com/office/drawing/2014/main" id="{57C0AA55-F44D-4F3D-A581-9B6FFD2417DB}"/>
              </a:ext>
            </a:extLst>
          </p:cNvPr>
          <p:cNvSpPr>
            <a:spLocks xmlns:a="http://schemas.openxmlformats.org/drawingml/2006/main" noGrp="1"/>
          </p:cNvSpPr>
          <p:nvPr/>
        </p:nvSpPr>
        <p:spPr>
          <a:xfrm xmlns:a="http://schemas.openxmlformats.org/drawingml/2006/main">
            <a:off x="1247775" y="3781425"/>
            <a:ext cx="5162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C9CEDA"/>
                </a:solidFill>
                <a:latin typeface="Noto Sans CJK SC"/>
                <a:ea typeface="Noto Sans CJK SC"/>
                <a:cs typeface="Noto Sans CJK SC"/>
              </a:defRPr>
            </a:pPr>
            <a:r>
              <a:rPr sz="1725" b="0">
                <a:solidFill>
                  <a:srgbClr val="C9CEDA"/>
                </a:solidFill>
                <a:latin typeface="Noto Sans CJK SC"/>
                <a:ea typeface="Noto Sans CJK SC"/>
                <a:cs typeface="Noto Sans CJK SC"/>
              </a:rPr>
              <a:t>RetroEV professional vials and active serums</a:t>
            </a:r>
          </a:p>
          <a:p xmlns:a="http://schemas.openxmlformats.org/drawingml/2006/main">
            <a:pPr algn="l">
              <a:lnSpc>
                <a:spcPct val="112000"/>
              </a:lnSpc>
              <a:buNone/>
              <a:defRPr sz="1725" b="0">
                <a:solidFill>
                  <a:srgbClr val="C9CEDA"/>
                </a:solidFill>
                <a:latin typeface="Noto Sans CJK SC"/>
                <a:ea typeface="Noto Sans CJK SC"/>
                <a:cs typeface="Noto Sans CJK SC"/>
              </a:defRPr>
            </a:pPr>
            <a:r>
              <a:rPr sz="1725" b="0">
                <a:solidFill>
                  <a:srgbClr val="C9CEDA"/>
                </a:solidFill>
                <a:latin typeface="Noto Sans CJK SC"/>
                <a:ea typeface="Noto Sans CJK SC"/>
                <a:cs typeface="Noto Sans CJK SC"/>
              </a:rPr>
              <a:t>with re'mirae and MORIMANA product lines</a:t>
            </a:r>
          </a:p>
        </p:txBody>
      </p:sp>
      <p:sp>
        <p:nvSpPr>
          <p:cNvPr id="10" name="s6-text-10">
            <a:extLst xmlns:a="http://schemas.openxmlformats.org/drawingml/2006/main">
              <a:ext uri="{FF2B5EF4-FFF2-40B4-BE49-F238E27FC236}">
                <a16:creationId xmlns:a16="http://schemas.microsoft.com/office/drawing/2014/main" id="{B04109E4-CC75-4F32-B24E-040CAF1C8250}"/>
              </a:ext>
            </a:extLst>
          </p:cNvPr>
          <p:cNvSpPr>
            <a:spLocks xmlns:a="http://schemas.openxmlformats.org/drawingml/2006/main" noGrp="1"/>
          </p:cNvSpPr>
          <p:nvPr/>
        </p:nvSpPr>
        <p:spPr>
          <a:xfrm xmlns:a="http://schemas.openxmlformats.org/drawingml/2006/main">
            <a:off x="533400" y="474345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a:solidFill>
                  <a:srgbClr val="C9CEDA"/>
                </a:solidFill>
                <a:latin typeface="Nimbus Sans"/>
                <a:ea typeface="Nimbus Sans"/>
                <a:cs typeface="Nimbus Sans"/>
              </a:defRPr>
            </a:pPr>
            <a:r>
              <a:rPr sz="2550" b="0">
                <a:solidFill>
                  <a:srgbClr val="C9CEDA"/>
                </a:solidFill>
                <a:latin typeface="Nimbus Sans"/>
                <a:ea typeface="Nimbus Sans"/>
                <a:cs typeface="Nimbus Sans"/>
              </a:rPr>
              <a:t>03</a:t>
            </a:r>
          </a:p>
        </p:txBody>
      </p:sp>
      <p:sp>
        <p:nvSpPr>
          <p:cNvPr id="11" name="s6-text-11">
            <a:extLst xmlns:a="http://schemas.openxmlformats.org/drawingml/2006/main">
              <a:ext uri="{FF2B5EF4-FFF2-40B4-BE49-F238E27FC236}">
                <a16:creationId xmlns:a16="http://schemas.microsoft.com/office/drawing/2014/main" id="{4358DA9A-D208-43A6-AEA1-9CE2DACB2684}"/>
              </a:ext>
            </a:extLst>
          </p:cNvPr>
          <p:cNvSpPr>
            <a:spLocks xmlns:a="http://schemas.openxmlformats.org/drawingml/2006/main" noGrp="1"/>
          </p:cNvSpPr>
          <p:nvPr/>
        </p:nvSpPr>
        <p:spPr>
          <a:xfrm xmlns:a="http://schemas.openxmlformats.org/drawingml/2006/main">
            <a:off x="1247775" y="4752975"/>
            <a:ext cx="516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F4F2ED"/>
                </a:solidFill>
                <a:latin typeface="Noto Sans CJK SC"/>
                <a:ea typeface="Noto Sans CJK SC"/>
                <a:cs typeface="Noto Sans CJK SC"/>
              </a:defRPr>
            </a:pPr>
            <a:r>
              <a:rPr sz="2100" b="1">
                <a:solidFill>
                  <a:srgbClr val="F4F2ED"/>
                </a:solidFill>
                <a:latin typeface="Noto Sans CJK SC"/>
                <a:ea typeface="Noto Sans CJK SC"/>
                <a:cs typeface="Noto Sans CJK SC"/>
              </a:rPr>
              <a:t>Professional Training and Supply</a:t>
            </a:r>
          </a:p>
        </p:txBody>
      </p:sp>
      <p:sp>
        <p:nvSpPr>
          <p:cNvPr id="12" name="s6-text-12">
            <a:extLst xmlns:a="http://schemas.openxmlformats.org/drawingml/2006/main">
              <a:ext uri="{FF2B5EF4-FFF2-40B4-BE49-F238E27FC236}">
                <a16:creationId xmlns:a16="http://schemas.microsoft.com/office/drawing/2014/main" id="{94B40AC9-F653-4BD4-A518-19487263394F}"/>
              </a:ext>
            </a:extLst>
          </p:cNvPr>
          <p:cNvSpPr>
            <a:spLocks xmlns:a="http://schemas.openxmlformats.org/drawingml/2006/main" noGrp="1"/>
          </p:cNvSpPr>
          <p:nvPr/>
        </p:nvSpPr>
        <p:spPr>
          <a:xfrm xmlns:a="http://schemas.openxmlformats.org/drawingml/2006/main">
            <a:off x="1247775" y="5210175"/>
            <a:ext cx="5162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C9CEDA"/>
                </a:solidFill>
                <a:latin typeface="Noto Sans CJK SC"/>
                <a:ea typeface="Noto Sans CJK SC"/>
                <a:cs typeface="Noto Sans CJK SC"/>
              </a:defRPr>
            </a:pPr>
            <a:r>
              <a:rPr sz="1725" b="0">
                <a:solidFill>
                  <a:srgbClr val="C9CEDA"/>
                </a:solidFill>
                <a:latin typeface="Noto Sans CJK SC"/>
                <a:ea typeface="Noto Sans CJK SC"/>
                <a:cs typeface="Noto Sans CJK SC"/>
              </a:rPr>
              <a:t>Equipment, products, theory and practice</a:t>
            </a:r>
          </a:p>
          <a:p xmlns:a="http://schemas.openxmlformats.org/drawingml/2006/main">
            <a:pPr algn="l">
              <a:lnSpc>
                <a:spcPct val="112000"/>
              </a:lnSpc>
              <a:buNone/>
              <a:defRPr sz="1725" b="0">
                <a:solidFill>
                  <a:srgbClr val="C9CEDA"/>
                </a:solidFill>
                <a:latin typeface="Noto Sans CJK SC"/>
                <a:ea typeface="Noto Sans CJK SC"/>
                <a:cs typeface="Noto Sans CJK SC"/>
              </a:defRPr>
            </a:pPr>
            <a:r>
              <a:rPr sz="1725" b="0">
                <a:solidFill>
                  <a:srgbClr val="C9CEDA"/>
                </a:solidFill>
                <a:latin typeface="Noto Sans CJK SC"/>
                <a:ea typeface="Noto Sans CJK SC"/>
                <a:cs typeface="Noto Sans CJK SC"/>
              </a:rPr>
              <a:t>Reorders support studio operations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bcc437d71684ede"/>
          <a:stretch xmlns:a="http://schemas.openxmlformats.org/drawingml/2006/main"/>
        </p:blipFill>
        <p:spPr>
          <a:xfrm xmlns:a="http://schemas.openxmlformats.org/drawingml/2006/main">
            <a:off x="6783221" y="1847850"/>
            <a:ext cx="4816808" cy="240982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d7c1954eb634e57"/>
          <a:stretch xmlns:a="http://schemas.openxmlformats.org/drawingml/2006/main"/>
        </p:blipFill>
        <p:spPr>
          <a:xfrm xmlns:a="http://schemas.openxmlformats.org/drawingml/2006/main">
            <a:off x="7363778" y="4371975"/>
            <a:ext cx="1055370" cy="1828800"/>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c3537ef5d734be3"/>
          <a:stretch xmlns:a="http://schemas.openxmlformats.org/drawingml/2006/main"/>
        </p:blipFill>
        <p:spPr>
          <a:xfrm xmlns:a="http://schemas.openxmlformats.org/drawingml/2006/main">
            <a:off x="9703118" y="4371975"/>
            <a:ext cx="1120140" cy="1828800"/>
          </a:xfrm>
          <a:prstGeom xmlns:a="http://schemas.openxmlformats.org/drawingml/2006/main" prst="rect">
            <a:avLst/>
          </a:prstGeom>
        </p:spPr>
      </p:pic>
      <p:sp>
        <p:nvSpPr>
          <p:cNvPr id="16" name="s6-text-13">
            <a:extLst xmlns:a="http://schemas.openxmlformats.org/drawingml/2006/main">
              <a:ext uri="{FF2B5EF4-FFF2-40B4-BE49-F238E27FC236}">
                <a16:creationId xmlns:a16="http://schemas.microsoft.com/office/drawing/2014/main" id="{6653A62C-47C8-4003-8E76-60110A0E47BC}"/>
              </a:ext>
            </a:extLst>
          </p:cNvPr>
          <p:cNvSpPr>
            <a:spLocks xmlns:a="http://schemas.openxmlformats.org/drawingml/2006/main" noGrp="1"/>
          </p:cNvSpPr>
          <p:nvPr/>
        </p:nvSpPr>
        <p:spPr>
          <a:xfrm xmlns:a="http://schemas.openxmlformats.org/drawingml/2006/main">
            <a:off x="533400" y="626745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C9CEDA"/>
                </a:solidFill>
                <a:latin typeface="Noto Sans CJK SC"/>
                <a:ea typeface="Noto Sans CJK SC"/>
                <a:cs typeface="Noto Sans CJK SC"/>
              </a:defRPr>
            </a:pPr>
            <a:r>
              <a:rPr sz="1425" b="0">
                <a:solidFill>
                  <a:srgbClr val="C9CEDA"/>
                </a:solidFill>
                <a:latin typeface="Noto Sans CJK SC"/>
                <a:ea typeface="Noto Sans CJK SC"/>
                <a:cs typeface="Noto Sans CJK SC"/>
              </a:rPr>
              <a:t>Technical documentation must confirm production parameters, testing standards and capacity</a:t>
            </a:r>
          </a:p>
        </p:txBody>
      </p:sp>
    </p:spTree>
    <p:extLst>
      <p:ext uri="{BB962C8B-B14F-4D97-AF65-F5344CB8AC3E}">
        <p14:creationId xmlns:p14="http://schemas.microsoft.com/office/powerpoint/2010/main" val="39723897"/>
      </p:ext>
    </p:extLst>
  </p:cSld>
</p:sld>
</file>

<file path=ppt/slides/slide7.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3" name="s7-text-1">
            <a:extLst xmlns:a="http://schemas.openxmlformats.org/drawingml/2006/main">
              <a:ext uri="{FF2B5EF4-FFF2-40B4-BE49-F238E27FC236}">
                <a16:creationId xmlns:a16="http://schemas.microsoft.com/office/drawing/2014/main" id="{D85061AF-3BA2-4C65-B677-43CAF1FA81D9}"/>
              </a:ext>
            </a:extLst>
          </p:cNvPr>
          <p:cNvSpPr>
            <a:spLocks xmlns:a="http://schemas.openxmlformats.org/drawingml/2006/main" noGrp="1"/>
          </p:cNvSpPr>
          <p:nvPr/>
        </p:nvSpPr>
        <p:spPr>
          <a:xfrm xmlns:a="http://schemas.openxmlformats.org/drawingml/2006/main">
            <a:off x="533400" y="45720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B2233"/>
                </a:solidFill>
                <a:latin typeface="Noto Sans CJK SC"/>
                <a:ea typeface="Noto Sans CJK SC"/>
                <a:cs typeface="Noto Sans CJK SC"/>
              </a:defRPr>
            </a:pPr>
            <a:r>
              <a:rPr sz="3225" b="1">
                <a:solidFill>
                  <a:srgbClr val="1B2233"/>
                </a:solidFill>
                <a:latin typeface="Noto Sans CJK SC"/>
                <a:ea typeface="Noto Sans CJK SC"/>
                <a:cs typeface="Noto Sans CJK SC"/>
              </a:rPr>
              <a:t>Financial Position</a:t>
            </a:r>
          </a:p>
        </p:txBody>
      </p:sp>
      <p:sp>
        <p:nvSpPr>
          <p:cNvPr id="2" name="s7-text-2">
            <a:extLst xmlns:a="http://schemas.openxmlformats.org/drawingml/2006/main">
              <a:ext uri="{FF2B5EF4-FFF2-40B4-BE49-F238E27FC236}">
                <a16:creationId xmlns:a16="http://schemas.microsoft.com/office/drawing/2014/main" id="{7AF1C07C-D75E-4B68-8301-21809862348E}"/>
              </a:ext>
            </a:extLst>
          </p:cNvPr>
          <p:cNvSpPr>
            <a:spLocks xmlns:a="http://schemas.openxmlformats.org/drawingml/2006/main" noGrp="1"/>
          </p:cNvSpPr>
          <p:nvPr/>
        </p:nvSpPr>
        <p:spPr>
          <a:xfrm xmlns:a="http://schemas.openxmlformats.org/drawingml/2006/main">
            <a:off x="533400" y="1095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C6270"/>
                </a:solidFill>
                <a:latin typeface="Noto Sans CJK SC"/>
                <a:ea typeface="Noto Sans CJK SC"/>
                <a:cs typeface="Noto Sans CJK SC"/>
              </a:defRPr>
            </a:pPr>
            <a:r>
              <a:rPr sz="1875" b="0">
                <a:solidFill>
                  <a:srgbClr val="5C6270"/>
                </a:solidFill>
                <a:latin typeface="Noto Sans CJK SC"/>
                <a:ea typeface="Noto Sans CJK SC"/>
                <a:cs typeface="Noto Sans CJK SC"/>
              </a:rPr>
              <a:t>London pilot figures and an illustrative five-year UK studio model</a:t>
            </a:r>
          </a:p>
        </p:txBody>
      </p:sp>
      <p:sp>
        <p:nvSpPr>
          <p:cNvPr id="3" name="s7-text-3">
            <a:extLst xmlns:a="http://schemas.openxmlformats.org/drawingml/2006/main">
              <a:ext uri="{FF2B5EF4-FFF2-40B4-BE49-F238E27FC236}">
                <a16:creationId xmlns:a16="http://schemas.microsoft.com/office/drawing/2014/main" id="{0734EE53-6164-4643-B1F3-6ADF0021BB25}"/>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5C6270"/>
                </a:solidFill>
                <a:latin typeface="Nimbus Sans"/>
                <a:ea typeface="Nimbus Sans"/>
                <a:cs typeface="Nimbus Sans"/>
              </a:defRPr>
            </a:pPr>
            <a:r>
              <a:rPr sz="1200" b="0">
                <a:solidFill>
                  <a:srgbClr val="5C6270"/>
                </a:solidFill>
                <a:latin typeface="Nimbus Sans"/>
                <a:ea typeface="Nimbus Sans"/>
                <a:cs typeface="Nimbus Sans"/>
              </a:rPr>
              <a:t>07</a:t>
            </a:r>
          </a:p>
        </p:txBody>
      </p:sp>
      <p:sp>
        <p:nvSpPr>
          <p:cNvPr id="4" name="s7-text-4">
            <a:extLst xmlns:a="http://schemas.openxmlformats.org/drawingml/2006/main">
              <a:ext uri="{FF2B5EF4-FFF2-40B4-BE49-F238E27FC236}">
                <a16:creationId xmlns:a16="http://schemas.microsoft.com/office/drawing/2014/main" id="{5D90C099-787D-47CC-AB07-48CFD78F9A72}"/>
              </a:ext>
            </a:extLst>
          </p:cNvPr>
          <p:cNvSpPr>
            <a:spLocks xmlns:a="http://schemas.openxmlformats.org/drawingml/2006/main" noGrp="1"/>
          </p:cNvSpPr>
          <p:nvPr/>
        </p:nvSpPr>
        <p:spPr>
          <a:xfrm xmlns:a="http://schemas.openxmlformats.org/drawingml/2006/main">
            <a:off x="533400" y="1704975"/>
            <a:ext cx="357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B2233"/>
                </a:solidFill>
                <a:latin typeface="Noto Sans CJK SC"/>
                <a:ea typeface="Noto Sans CJK SC"/>
                <a:cs typeface="Noto Sans CJK SC"/>
              </a:defRPr>
            </a:pPr>
            <a:r>
              <a:rPr sz="2100" b="1">
                <a:solidFill>
                  <a:srgbClr val="1B2233"/>
                </a:solidFill>
                <a:latin typeface="Noto Sans CJK SC"/>
                <a:ea typeface="Noto Sans CJK SC"/>
                <a:cs typeface="Noto Sans CJK SC"/>
              </a:rPr>
              <a:t>London Pilot</a:t>
            </a:r>
          </a:p>
        </p:txBody>
      </p:sp>
      <p:sp>
        <p:nvSpPr>
          <p:cNvPr id="5" name="s7-text-5">
            <a:extLst xmlns:a="http://schemas.openxmlformats.org/drawingml/2006/main">
              <a:ext uri="{FF2B5EF4-FFF2-40B4-BE49-F238E27FC236}">
                <a16:creationId xmlns:a16="http://schemas.microsoft.com/office/drawing/2014/main" id="{D4607935-5B44-4F1E-84AB-83EED043657E}"/>
              </a:ext>
            </a:extLst>
          </p:cNvPr>
          <p:cNvSpPr>
            <a:spLocks xmlns:a="http://schemas.openxmlformats.org/drawingml/2006/main" noGrp="1"/>
          </p:cNvSpPr>
          <p:nvPr/>
        </p:nvSpPr>
        <p:spPr>
          <a:xfrm xmlns:a="http://schemas.openxmlformats.org/drawingml/2006/main">
            <a:off x="533400" y="2276475"/>
            <a:ext cx="3581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050" b="1">
                <a:solidFill>
                  <a:srgbClr val="1B2233"/>
                </a:solidFill>
                <a:latin typeface="Nimbus Sans"/>
                <a:ea typeface="Nimbus Sans"/>
                <a:cs typeface="Nimbus Sans"/>
              </a:defRPr>
            </a:pPr>
            <a:r>
              <a:rPr sz="4050" b="1">
                <a:solidFill>
                  <a:srgbClr val="1B2233"/>
                </a:solidFill>
                <a:latin typeface="Nimbus Sans"/>
                <a:ea typeface="Nimbus Sans"/>
                <a:cs typeface="Nimbus Sans"/>
              </a:rPr>
              <a:t>£50,000</a:t>
            </a:r>
          </a:p>
        </p:txBody>
      </p:sp>
      <p:sp>
        <p:nvSpPr>
          <p:cNvPr id="6" name="s7-text-6">
            <a:extLst xmlns:a="http://schemas.openxmlformats.org/drawingml/2006/main">
              <a:ext uri="{FF2B5EF4-FFF2-40B4-BE49-F238E27FC236}">
                <a16:creationId xmlns:a16="http://schemas.microsoft.com/office/drawing/2014/main" id="{89046B08-006F-4D30-ACBE-20B5EC79F8DB}"/>
              </a:ext>
            </a:extLst>
          </p:cNvPr>
          <p:cNvSpPr>
            <a:spLocks xmlns:a="http://schemas.openxmlformats.org/drawingml/2006/main" noGrp="1"/>
          </p:cNvSpPr>
          <p:nvPr/>
        </p:nvSpPr>
        <p:spPr>
          <a:xfrm xmlns:a="http://schemas.openxmlformats.org/drawingml/2006/main">
            <a:off x="533400" y="3019425"/>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C6270"/>
                </a:solidFill>
                <a:latin typeface="Noto Sans CJK SC"/>
                <a:ea typeface="Noto Sans CJK SC"/>
                <a:cs typeface="Noto Sans CJK SC"/>
              </a:defRPr>
            </a:pPr>
            <a:r>
              <a:rPr sz="1800" b="0">
                <a:solidFill>
                  <a:srgbClr val="5C6270"/>
                </a:solidFill>
                <a:latin typeface="Noto Sans CJK SC"/>
                <a:ea typeface="Noto Sans CJK SC"/>
                <a:cs typeface="Noto Sans CJK SC"/>
              </a:rPr>
              <a:t>Initial Investment</a:t>
            </a:r>
          </a:p>
        </p:txBody>
      </p:sp>
      <p:sp>
        <p:nvSpPr>
          <p:cNvPr id="7" name="s7-text-7">
            <a:extLst xmlns:a="http://schemas.openxmlformats.org/drawingml/2006/main">
              <a:ext uri="{FF2B5EF4-FFF2-40B4-BE49-F238E27FC236}">
                <a16:creationId xmlns:a16="http://schemas.microsoft.com/office/drawing/2014/main" id="{F6650CBD-8613-4F90-A1E4-C658347E97E6}"/>
              </a:ext>
            </a:extLst>
          </p:cNvPr>
          <p:cNvSpPr>
            <a:spLocks xmlns:a="http://schemas.openxmlformats.org/drawingml/2006/main" noGrp="1"/>
          </p:cNvSpPr>
          <p:nvPr/>
        </p:nvSpPr>
        <p:spPr>
          <a:xfrm xmlns:a="http://schemas.openxmlformats.org/drawingml/2006/main">
            <a:off x="533400" y="3543300"/>
            <a:ext cx="3581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050" b="1">
                <a:solidFill>
                  <a:srgbClr val="1B2233"/>
                </a:solidFill>
                <a:latin typeface="Nimbus Sans"/>
                <a:ea typeface="Nimbus Sans"/>
                <a:cs typeface="Nimbus Sans"/>
              </a:defRPr>
            </a:pPr>
            <a:r>
              <a:rPr sz="4050" b="1">
                <a:solidFill>
                  <a:srgbClr val="1B2233"/>
                </a:solidFill>
                <a:latin typeface="Nimbus Sans"/>
                <a:ea typeface="Nimbus Sans"/>
                <a:cs typeface="Nimbus Sans"/>
              </a:rPr>
              <a:t>£46,000</a:t>
            </a:r>
          </a:p>
        </p:txBody>
      </p:sp>
      <p:sp>
        <p:nvSpPr>
          <p:cNvPr id="8" name="s7-text-8">
            <a:extLst xmlns:a="http://schemas.openxmlformats.org/drawingml/2006/main">
              <a:ext uri="{FF2B5EF4-FFF2-40B4-BE49-F238E27FC236}">
                <a16:creationId xmlns:a16="http://schemas.microsoft.com/office/drawing/2014/main" id="{C38124C8-9A75-41C5-84D0-A621AA27D318}"/>
              </a:ext>
            </a:extLst>
          </p:cNvPr>
          <p:cNvSpPr>
            <a:spLocks xmlns:a="http://schemas.openxmlformats.org/drawingml/2006/main" noGrp="1"/>
          </p:cNvSpPr>
          <p:nvPr/>
        </p:nvSpPr>
        <p:spPr>
          <a:xfrm xmlns:a="http://schemas.openxmlformats.org/drawingml/2006/main">
            <a:off x="533400" y="42862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C6270"/>
                </a:solidFill>
                <a:latin typeface="Noto Sans CJK SC"/>
                <a:ea typeface="Noto Sans CJK SC"/>
                <a:cs typeface="Noto Sans CJK SC"/>
              </a:defRPr>
            </a:pPr>
            <a:r>
              <a:rPr sz="1800" b="0">
                <a:solidFill>
                  <a:srgbClr val="5C6270"/>
                </a:solidFill>
                <a:latin typeface="Noto Sans CJK SC"/>
                <a:ea typeface="Noto Sans CJK SC"/>
                <a:cs typeface="Noto Sans CJK SC"/>
              </a:rPr>
              <a:t>First-year Sales Revenue</a:t>
            </a:r>
          </a:p>
        </p:txBody>
      </p:sp>
      <p:sp>
        <p:nvSpPr>
          <p:cNvPr id="9" name="s7-text-9">
            <a:extLst xmlns:a="http://schemas.openxmlformats.org/drawingml/2006/main">
              <a:ext uri="{FF2B5EF4-FFF2-40B4-BE49-F238E27FC236}">
                <a16:creationId xmlns:a16="http://schemas.microsoft.com/office/drawing/2014/main" id="{739D027F-DFAD-43D2-BF66-59F5F889089A}"/>
              </a:ext>
            </a:extLst>
          </p:cNvPr>
          <p:cNvSpPr>
            <a:spLocks xmlns:a="http://schemas.openxmlformats.org/drawingml/2006/main" noGrp="1"/>
          </p:cNvSpPr>
          <p:nvPr/>
        </p:nvSpPr>
        <p:spPr>
          <a:xfrm xmlns:a="http://schemas.openxmlformats.org/drawingml/2006/main">
            <a:off x="533400" y="4762500"/>
            <a:ext cx="3667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5C6270"/>
                </a:solidFill>
                <a:latin typeface="Noto Sans CJK SC"/>
                <a:ea typeface="Noto Sans CJK SC"/>
                <a:cs typeface="Noto Sans CJK SC"/>
              </a:defRPr>
            </a:pPr>
            <a:r>
              <a:rPr sz="1575" b="0">
                <a:solidFill>
                  <a:srgbClr val="5C6270"/>
                </a:solidFill>
                <a:latin typeface="Noto Sans CJK SC"/>
                <a:ea typeface="Noto Sans CJK SC"/>
                <a:cs typeface="Noto Sans CJK SC"/>
              </a:rPr>
              <a:t>Management data, unaudited.</a:t>
            </a:r>
          </a:p>
          <a:p xmlns:a="http://schemas.openxmlformats.org/drawingml/2006/main">
            <a:pPr algn="l">
              <a:lnSpc>
                <a:spcPct val="112000"/>
              </a:lnSpc>
              <a:buNone/>
              <a:defRPr sz="1575" b="0">
                <a:solidFill>
                  <a:srgbClr val="5C6270"/>
                </a:solidFill>
                <a:latin typeface="Noto Sans CJK SC"/>
                <a:ea typeface="Noto Sans CJK SC"/>
                <a:cs typeface="Noto Sans CJK SC"/>
              </a:defRPr>
            </a:pPr>
            <a:r>
              <a:rPr sz="1575" b="0">
                <a:solidFill>
                  <a:srgbClr val="5C6270"/>
                </a:solidFill>
                <a:latin typeface="Noto Sans CJK SC"/>
                <a:ea typeface="Noto Sans CJK SC"/>
                <a:cs typeface="Noto Sans CJK SC"/>
              </a:rPr>
              <a:t>First-year period and profitability</a:t>
            </a:r>
          </a:p>
          <a:p xmlns:a="http://schemas.openxmlformats.org/drawingml/2006/main">
            <a:pPr algn="l">
              <a:lnSpc>
                <a:spcPct val="112000"/>
              </a:lnSpc>
              <a:buNone/>
              <a:defRPr sz="1575" b="0">
                <a:solidFill>
                  <a:srgbClr val="5C6270"/>
                </a:solidFill>
                <a:latin typeface="Noto Sans CJK SC"/>
                <a:ea typeface="Noto Sans CJK SC"/>
                <a:cs typeface="Noto Sans CJK SC"/>
              </a:defRPr>
            </a:pPr>
            <a:r>
              <a:rPr sz="1575" b="0">
                <a:solidFill>
                  <a:srgbClr val="5C6270"/>
                </a:solidFill>
                <a:latin typeface="Noto Sans CJK SC"/>
                <a:ea typeface="Noto Sans CJK SC"/>
                <a:cs typeface="Noto Sans CJK SC"/>
              </a:rPr>
              <a:t>to be confirmed.</a:t>
            </a:r>
          </a:p>
        </p:txBody>
      </p:sp>
      <p:graphicFrame>
        <p:nvGraphicFramePr>
          <p:cNvPr id="24" name=""/>
          <p:cNvGraphicFramePr/>
          <p:nvPr/>
        </p:nvGraphicFramePr>
        <p:xfrm>
          <a:off xmlns:a="http://schemas.openxmlformats.org/drawingml/2006/main" x="4505325" y="1752600"/>
          <a:ext xmlns:a="http://schemas.openxmlformats.org/drawingml/2006/main" cx="7153275" cy="3257550"/>
        </p:xfrm>
        <a:graphic xmlns:a="http://schemas.openxmlformats.org/drawingml/2006/main">
          <a:graphicData uri="http://schemas.openxmlformats.org/drawingml/2006/table">
            <a:tbl>
              <a:tblPr firstRow="1" bandRow="0"/>
              <a:tblGrid>
                <a:gridCol w="1333500"/>
                <a:gridCol w="2714625"/>
                <a:gridCol w="3105150"/>
              </a:tblGrid>
              <a:tr h="542925">
                <a:tc>
                  <a:txBody>
                    <a:bodyPr wrap="square">
                      <a:noAutofit/>
                    </a:bodyPr>
                    <a:lstStyle/>
                    <a:p>
                      <a:pPr algn="l">
                        <a:buNone/>
                      </a:pPr>
                      <a:r>
                        <a:rPr sz="1800" b="1">
                          <a:solidFill>
                            <a:srgbClr val="F4F2ED"/>
                          </a:solidFill>
                          <a:latin typeface="Noto Sans CJK SC"/>
                          <a:ea typeface="Noto Sans CJK SC"/>
                          <a:cs typeface="Noto Sans CJK SC"/>
                        </a:rPr>
                        <a:t>Year</a:t>
                      </a:r>
                    </a:p>
                  </a:txBody>
                  <a:tcPr marL="152400" marR="152400" marT="95250" marB="95250" anchor="ctr">
                    <a:solidFill>
                      <a:srgbClr val="1B2233"/>
                    </a:solidFill>
                  </a:tcPr>
                </a:tc>
                <a:tc>
                  <a:txBody>
                    <a:bodyPr wrap="square">
                      <a:noAutofit/>
                    </a:bodyPr>
                    <a:lstStyle/>
                    <a:p>
                      <a:pPr algn="l">
                        <a:buNone/>
                      </a:pPr>
                      <a:r>
                        <a:rPr sz="1800" b="1">
                          <a:solidFill>
                            <a:srgbClr val="F4F2ED"/>
                          </a:solidFill>
                          <a:latin typeface="Noto Sans CJK SC"/>
                          <a:ea typeface="Noto Sans CJK SC"/>
                          <a:cs typeface="Noto Sans CJK SC"/>
                        </a:rPr>
                        <a:t>Revenue (GBP)</a:t>
                      </a:r>
                    </a:p>
                  </a:txBody>
                  <a:tcPr marL="152400" marR="152400" marT="95250" marB="95250" anchor="ctr">
                    <a:solidFill>
                      <a:srgbClr val="1B2233"/>
                    </a:solidFill>
                  </a:tcPr>
                </a:tc>
                <a:tc>
                  <a:txBody>
                    <a:bodyPr wrap="square">
                      <a:noAutofit/>
                    </a:bodyPr>
                    <a:lstStyle/>
                    <a:p>
                      <a:pPr algn="r">
                        <a:buNone/>
                      </a:pPr>
                      <a:r>
                        <a:rPr sz="1800" b="1">
                          <a:solidFill>
                            <a:srgbClr val="F4F2ED"/>
                          </a:solidFill>
                          <a:latin typeface="Noto Sans CJK SC"/>
                          <a:ea typeface="Noto Sans CJK SC"/>
                          <a:cs typeface="Noto Sans CJK SC"/>
                        </a:rPr>
                        <a:t>EBITDA (GBP)</a:t>
                      </a:r>
                    </a:p>
                  </a:txBody>
                  <a:tcPr marL="152400" marR="152400" marT="95250" marB="95250" anchor="ctr">
                    <a:solidFill>
                      <a:srgbClr val="1B2233"/>
                    </a:solidFill>
                  </a:tcPr>
                </a:tc>
              </a:tr>
              <a:tr h="542925">
                <a:tc>
                  <a:txBody>
                    <a:bodyPr wrap="square">
                      <a:noAutofit/>
                    </a:bodyPr>
                    <a:lstStyle/>
                    <a:p>
                      <a:pPr algn="l">
                        <a:buNone/>
                      </a:pPr>
                      <a:r>
                        <a:rPr sz="1800" b="0">
                          <a:solidFill>
                            <a:srgbClr val="1B2233"/>
                          </a:solidFill>
                          <a:latin typeface="Noto Sans CJK SC"/>
                          <a:ea typeface="Noto Sans CJK SC"/>
                          <a:cs typeface="Noto Sans CJK SC"/>
                        </a:rPr>
                        <a:t>Year 1</a:t>
                      </a:r>
                    </a:p>
                  </a:txBody>
                  <a:tcPr marL="152400" marR="152400" marT="95250" marB="95250" anchor="ctr">
                    <a:solidFill>
                      <a:srgbClr val="FFFFFF"/>
                    </a:solidFill>
                  </a:tcPr>
                </a:tc>
                <a:tc>
                  <a:txBody>
                    <a:bodyPr wrap="square">
                      <a:noAutofit/>
                    </a:bodyPr>
                    <a:lstStyle/>
                    <a:p>
                      <a:pPr algn="l">
                        <a:buNone/>
                      </a:pPr>
                      <a:r>
                        <a:rPr sz="1800" b="0">
                          <a:solidFill>
                            <a:srgbClr val="1B2233"/>
                          </a:solidFill>
                          <a:latin typeface="Noto Sans CJK SC"/>
                          <a:ea typeface="Noto Sans CJK SC"/>
                          <a:cs typeface="Noto Sans CJK SC"/>
                        </a:rPr>
                        <a:t>148,104</a:t>
                      </a:r>
                    </a:p>
                  </a:txBody>
                  <a:tcPr marL="152400" marR="152400" marT="95250" marB="95250" anchor="ctr">
                    <a:solidFill>
                      <a:srgbClr val="FFFFFF"/>
                    </a:solidFill>
                  </a:tcPr>
                </a:tc>
                <a:tc>
                  <a:txBody>
                    <a:bodyPr wrap="square">
                      <a:noAutofit/>
                    </a:bodyPr>
                    <a:lstStyle/>
                    <a:p>
                      <a:pPr algn="r">
                        <a:buNone/>
                      </a:pPr>
                      <a:r>
                        <a:rPr sz="1800" b="0">
                          <a:solidFill>
                            <a:srgbClr val="1B2233"/>
                          </a:solidFill>
                          <a:latin typeface="Noto Sans CJK SC"/>
                          <a:ea typeface="Noto Sans CJK SC"/>
                          <a:cs typeface="Noto Sans CJK SC"/>
                        </a:rPr>
                        <a:t>-13,743</a:t>
                      </a:r>
                    </a:p>
                  </a:txBody>
                  <a:tcPr marL="152400" marR="152400" marT="95250" marB="95250" anchor="ctr">
                    <a:solidFill>
                      <a:srgbClr val="FFFFFF"/>
                    </a:solidFill>
                  </a:tcPr>
                </a:tc>
              </a:tr>
              <a:tr h="542925">
                <a:tc>
                  <a:txBody>
                    <a:bodyPr wrap="square">
                      <a:noAutofit/>
                    </a:bodyPr>
                    <a:lstStyle/>
                    <a:p>
                      <a:pPr algn="l">
                        <a:buNone/>
                      </a:pPr>
                      <a:r>
                        <a:rPr sz="1800" b="0">
                          <a:solidFill>
                            <a:srgbClr val="1B2233"/>
                          </a:solidFill>
                          <a:latin typeface="Noto Sans CJK SC"/>
                          <a:ea typeface="Noto Sans CJK SC"/>
                          <a:cs typeface="Noto Sans CJK SC"/>
                        </a:rPr>
                        <a:t>Year 2</a:t>
                      </a:r>
                    </a:p>
                  </a:txBody>
                  <a:tcPr marL="152400" marR="152400" marT="95250" marB="95250" anchor="ctr">
                    <a:solidFill>
                      <a:srgbClr val="E9E6DF"/>
                    </a:solidFill>
                  </a:tcPr>
                </a:tc>
                <a:tc>
                  <a:txBody>
                    <a:bodyPr wrap="square">
                      <a:noAutofit/>
                    </a:bodyPr>
                    <a:lstStyle/>
                    <a:p>
                      <a:pPr algn="l">
                        <a:buNone/>
                      </a:pPr>
                      <a:r>
                        <a:rPr sz="1800" b="0">
                          <a:solidFill>
                            <a:srgbClr val="1B2233"/>
                          </a:solidFill>
                          <a:latin typeface="Noto Sans CJK SC"/>
                          <a:ea typeface="Noto Sans CJK SC"/>
                          <a:cs typeface="Noto Sans CJK SC"/>
                        </a:rPr>
                        <a:t>188,496</a:t>
                      </a:r>
                    </a:p>
                  </a:txBody>
                  <a:tcPr marL="152400" marR="152400" marT="95250" marB="95250" anchor="ctr">
                    <a:solidFill>
                      <a:srgbClr val="E9E6DF"/>
                    </a:solidFill>
                  </a:tcPr>
                </a:tc>
                <a:tc>
                  <a:txBody>
                    <a:bodyPr wrap="square">
                      <a:noAutofit/>
                    </a:bodyPr>
                    <a:lstStyle/>
                    <a:p>
                      <a:pPr algn="r">
                        <a:buNone/>
                      </a:pPr>
                      <a:r>
                        <a:rPr sz="1800" b="0">
                          <a:solidFill>
                            <a:srgbClr val="1B2233"/>
                          </a:solidFill>
                          <a:latin typeface="Noto Sans CJK SC"/>
                          <a:ea typeface="Noto Sans CJK SC"/>
                          <a:cs typeface="Noto Sans CJK SC"/>
                        </a:rPr>
                        <a:t>20,342</a:t>
                      </a:r>
                    </a:p>
                  </a:txBody>
                  <a:tcPr marL="152400" marR="152400" marT="95250" marB="95250" anchor="ctr">
                    <a:solidFill>
                      <a:srgbClr val="E9E6DF"/>
                    </a:solidFill>
                  </a:tcPr>
                </a:tc>
              </a:tr>
              <a:tr h="542925">
                <a:tc>
                  <a:txBody>
                    <a:bodyPr wrap="square">
                      <a:noAutofit/>
                    </a:bodyPr>
                    <a:lstStyle/>
                    <a:p>
                      <a:pPr algn="l">
                        <a:buNone/>
                      </a:pPr>
                      <a:r>
                        <a:rPr sz="1800" b="0">
                          <a:solidFill>
                            <a:srgbClr val="1B2233"/>
                          </a:solidFill>
                          <a:latin typeface="Noto Sans CJK SC"/>
                          <a:ea typeface="Noto Sans CJK SC"/>
                          <a:cs typeface="Noto Sans CJK SC"/>
                        </a:rPr>
                        <a:t>Year 3</a:t>
                      </a:r>
                    </a:p>
                  </a:txBody>
                  <a:tcPr marL="152400" marR="152400" marT="95250" marB="95250" anchor="ctr">
                    <a:solidFill>
                      <a:srgbClr val="FFFFFF"/>
                    </a:solidFill>
                  </a:tcPr>
                </a:tc>
                <a:tc>
                  <a:txBody>
                    <a:bodyPr wrap="square">
                      <a:noAutofit/>
                    </a:bodyPr>
                    <a:lstStyle/>
                    <a:p>
                      <a:pPr algn="l">
                        <a:buNone/>
                      </a:pPr>
                      <a:r>
                        <a:rPr sz="1800" b="0">
                          <a:solidFill>
                            <a:srgbClr val="1B2233"/>
                          </a:solidFill>
                          <a:latin typeface="Noto Sans CJK SC"/>
                          <a:ea typeface="Noto Sans CJK SC"/>
                          <a:cs typeface="Noto Sans CJK SC"/>
                        </a:rPr>
                        <a:t>228,888</a:t>
                      </a:r>
                    </a:p>
                  </a:txBody>
                  <a:tcPr marL="152400" marR="152400" marT="95250" marB="95250" anchor="ctr">
                    <a:solidFill>
                      <a:srgbClr val="FFFFFF"/>
                    </a:solidFill>
                  </a:tcPr>
                </a:tc>
                <a:tc>
                  <a:txBody>
                    <a:bodyPr wrap="square">
                      <a:noAutofit/>
                    </a:bodyPr>
                    <a:lstStyle/>
                    <a:p>
                      <a:pPr algn="r">
                        <a:buNone/>
                      </a:pPr>
                      <a:r>
                        <a:rPr sz="1800" b="0">
                          <a:solidFill>
                            <a:srgbClr val="1B2233"/>
                          </a:solidFill>
                          <a:latin typeface="Noto Sans CJK SC"/>
                          <a:ea typeface="Noto Sans CJK SC"/>
                          <a:cs typeface="Noto Sans CJK SC"/>
                        </a:rPr>
                        <a:t>52,987</a:t>
                      </a:r>
                    </a:p>
                  </a:txBody>
                  <a:tcPr marL="152400" marR="152400" marT="95250" marB="95250" anchor="ctr">
                    <a:solidFill>
                      <a:srgbClr val="FFFFFF"/>
                    </a:solidFill>
                  </a:tcPr>
                </a:tc>
              </a:tr>
              <a:tr h="542925">
                <a:tc>
                  <a:txBody>
                    <a:bodyPr wrap="square">
                      <a:noAutofit/>
                    </a:bodyPr>
                    <a:lstStyle/>
                    <a:p>
                      <a:pPr algn="l">
                        <a:buNone/>
                      </a:pPr>
                      <a:r>
                        <a:rPr sz="1800" b="0">
                          <a:solidFill>
                            <a:srgbClr val="1B2233"/>
                          </a:solidFill>
                          <a:latin typeface="Noto Sans CJK SC"/>
                          <a:ea typeface="Noto Sans CJK SC"/>
                          <a:cs typeface="Noto Sans CJK SC"/>
                        </a:rPr>
                        <a:t>Year 4</a:t>
                      </a:r>
                    </a:p>
                  </a:txBody>
                  <a:tcPr marL="152400" marR="152400" marT="95250" marB="95250" anchor="ctr">
                    <a:solidFill>
                      <a:srgbClr val="E9E6DF"/>
                    </a:solidFill>
                  </a:tcPr>
                </a:tc>
                <a:tc>
                  <a:txBody>
                    <a:bodyPr wrap="square">
                      <a:noAutofit/>
                    </a:bodyPr>
                    <a:lstStyle/>
                    <a:p>
                      <a:pPr algn="l">
                        <a:buNone/>
                      </a:pPr>
                      <a:r>
                        <a:rPr sz="1800" b="0">
                          <a:solidFill>
                            <a:srgbClr val="1B2233"/>
                          </a:solidFill>
                          <a:latin typeface="Noto Sans CJK SC"/>
                          <a:ea typeface="Noto Sans CJK SC"/>
                          <a:cs typeface="Noto Sans CJK SC"/>
                        </a:rPr>
                        <a:t>269,280</a:t>
                      </a:r>
                    </a:p>
                  </a:txBody>
                  <a:tcPr marL="152400" marR="152400" marT="95250" marB="95250" anchor="ctr">
                    <a:solidFill>
                      <a:srgbClr val="E9E6DF"/>
                    </a:solidFill>
                  </a:tcPr>
                </a:tc>
                <a:tc>
                  <a:txBody>
                    <a:bodyPr wrap="square">
                      <a:noAutofit/>
                    </a:bodyPr>
                    <a:lstStyle/>
                    <a:p>
                      <a:pPr algn="r">
                        <a:buNone/>
                      </a:pPr>
                      <a:r>
                        <a:rPr sz="1800" b="0">
                          <a:solidFill>
                            <a:srgbClr val="1B2233"/>
                          </a:solidFill>
                          <a:latin typeface="Noto Sans CJK SC"/>
                          <a:ea typeface="Noto Sans CJK SC"/>
                          <a:cs typeface="Noto Sans CJK SC"/>
                        </a:rPr>
                        <a:t>85,632</a:t>
                      </a:r>
                    </a:p>
                  </a:txBody>
                  <a:tcPr marL="152400" marR="152400" marT="95250" marB="95250" anchor="ctr">
                    <a:solidFill>
                      <a:srgbClr val="E9E6DF"/>
                    </a:solidFill>
                  </a:tcPr>
                </a:tc>
              </a:tr>
              <a:tr h="542925">
                <a:tc>
                  <a:txBody>
                    <a:bodyPr wrap="square">
                      <a:noAutofit/>
                    </a:bodyPr>
                    <a:lstStyle/>
                    <a:p>
                      <a:pPr algn="l">
                        <a:buNone/>
                      </a:pPr>
                      <a:r>
                        <a:rPr sz="1800" b="0">
                          <a:solidFill>
                            <a:srgbClr val="1B2233"/>
                          </a:solidFill>
                          <a:latin typeface="Noto Sans CJK SC"/>
                          <a:ea typeface="Noto Sans CJK SC"/>
                          <a:cs typeface="Noto Sans CJK SC"/>
                        </a:rPr>
                        <a:t>Year 5</a:t>
                      </a:r>
                    </a:p>
                  </a:txBody>
                  <a:tcPr marL="152400" marR="152400" marT="95250" marB="95250" anchor="ctr">
                    <a:solidFill>
                      <a:srgbClr val="FFFFFF"/>
                    </a:solidFill>
                  </a:tcPr>
                </a:tc>
                <a:tc>
                  <a:txBody>
                    <a:bodyPr wrap="square">
                      <a:noAutofit/>
                    </a:bodyPr>
                    <a:lstStyle/>
                    <a:p>
                      <a:pPr algn="l">
                        <a:buNone/>
                      </a:pPr>
                      <a:r>
                        <a:rPr sz="1800" b="0">
                          <a:solidFill>
                            <a:srgbClr val="1B2233"/>
                          </a:solidFill>
                          <a:latin typeface="Noto Sans CJK SC"/>
                          <a:ea typeface="Noto Sans CJK SC"/>
                          <a:cs typeface="Noto Sans CJK SC"/>
                        </a:rPr>
                        <a:t>282,744</a:t>
                      </a:r>
                    </a:p>
                  </a:txBody>
                  <a:tcPr marL="152400" marR="152400" marT="95250" marB="95250" anchor="ctr">
                    <a:solidFill>
                      <a:srgbClr val="FFFFFF"/>
                    </a:solidFill>
                  </a:tcPr>
                </a:tc>
                <a:tc>
                  <a:txBody>
                    <a:bodyPr wrap="square">
                      <a:noAutofit/>
                    </a:bodyPr>
                    <a:lstStyle/>
                    <a:p>
                      <a:pPr algn="r">
                        <a:buNone/>
                      </a:pPr>
                      <a:r>
                        <a:rPr sz="1800" b="0">
                          <a:solidFill>
                            <a:srgbClr val="1B2233"/>
                          </a:solidFill>
                          <a:latin typeface="Noto Sans CJK SC"/>
                          <a:ea typeface="Noto Sans CJK SC"/>
                          <a:cs typeface="Noto Sans CJK SC"/>
                        </a:rPr>
                        <a:t>94,593</a:t>
                      </a:r>
                    </a:p>
                  </a:txBody>
                  <a:tcPr marL="152400" marR="152400" marT="95250" marB="95250" anchor="ctr">
                    <a:solidFill>
                      <a:srgbClr val="FFFFFF"/>
                    </a:solidFill>
                  </a:tcPr>
                </a:tc>
              </a:tr>
            </a:tbl>
          </a:graphicData>
        </a:graphic>
      </p:graphicFrame>
      <p:sp>
        <p:nvSpPr>
          <p:cNvPr id="11" name="s7-text-10">
            <a:extLst xmlns:a="http://schemas.openxmlformats.org/drawingml/2006/main">
              <a:ext uri="{FF2B5EF4-FFF2-40B4-BE49-F238E27FC236}">
                <a16:creationId xmlns:a16="http://schemas.microsoft.com/office/drawing/2014/main" id="{024046B3-5097-4A70-A282-F73B9A757BA9}"/>
              </a:ext>
            </a:extLst>
          </p:cNvPr>
          <p:cNvSpPr>
            <a:spLocks xmlns:a="http://schemas.openxmlformats.org/drawingml/2006/main" noGrp="1"/>
          </p:cNvSpPr>
          <p:nvPr/>
        </p:nvSpPr>
        <p:spPr>
          <a:xfrm xmlns:a="http://schemas.openxmlformats.org/drawingml/2006/main">
            <a:off x="533400" y="5667375"/>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5C6270"/>
                </a:solidFill>
                <a:latin typeface="Noto Sans CJK SC"/>
                <a:ea typeface="Noto Sans CJK SC"/>
                <a:cs typeface="Noto Sans CJK SC"/>
              </a:defRPr>
            </a:pPr>
            <a:r>
              <a:rPr sz="1575" b="0">
                <a:solidFill>
                  <a:srgbClr val="5C6270"/>
                </a:solidFill>
                <a:latin typeface="Noto Sans CJK SC"/>
                <a:ea typeface="Noto Sans CJK SC"/>
                <a:cs typeface="Noto Sans CJK SC"/>
              </a:rPr>
              <a:t>The model excludes UK head-office costs and the proposed internship/work budget.</a:t>
            </a:r>
          </a:p>
          <a:p xmlns:a="http://schemas.openxmlformats.org/drawingml/2006/main">
            <a:pPr algn="l">
              <a:lnSpc>
                <a:spcPct val="112000"/>
              </a:lnSpc>
              <a:buNone/>
              <a:defRPr sz="1575" b="0">
                <a:solidFill>
                  <a:srgbClr val="5C6270"/>
                </a:solidFill>
                <a:latin typeface="Noto Sans CJK SC"/>
                <a:ea typeface="Noto Sans CJK SC"/>
                <a:cs typeface="Noto Sans CJK SC"/>
              </a:defRPr>
            </a:pPr>
            <a:r>
              <a:rPr sz="1575" b="0">
                <a:solidFill>
                  <a:srgbClr val="5C6270"/>
                </a:solidFill>
                <a:latin typeface="Noto Sans CJK SC"/>
                <a:ea typeface="Noto Sans CJK SC"/>
                <a:cs typeface="Noto Sans CJK SC"/>
              </a:rPr>
              <a:t>Capacity assumptions need review: 56 monthly visits versus capacity for 44 treatments.</a:t>
            </a:r>
          </a:p>
        </p:txBody>
      </p:sp>
      <p:sp>
        <p:nvSpPr>
          <p:cNvPr id="12" name="s7-text-11">
            <a:extLst xmlns:a="http://schemas.openxmlformats.org/drawingml/2006/main">
              <a:ext uri="{FF2B5EF4-FFF2-40B4-BE49-F238E27FC236}">
                <a16:creationId xmlns:a16="http://schemas.microsoft.com/office/drawing/2014/main" id="{3FE920FE-0D6F-43F5-8DA9-A7CC645E23EA}"/>
              </a:ext>
            </a:extLst>
          </p:cNvPr>
          <p:cNvSpPr>
            <a:spLocks xmlns:a="http://schemas.openxmlformats.org/drawingml/2006/main" noGrp="1"/>
          </p:cNvSpPr>
          <p:nvPr/>
        </p:nvSpPr>
        <p:spPr>
          <a:xfrm xmlns:a="http://schemas.openxmlformats.org/drawingml/2006/main">
            <a:off x="533400" y="619125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C6270"/>
                </a:solidFill>
                <a:latin typeface="Noto Sans CJK SC"/>
                <a:ea typeface="Noto Sans CJK SC"/>
                <a:cs typeface="Noto Sans CJK SC"/>
              </a:defRPr>
            </a:pPr>
            <a:r>
              <a:rPr sz="1425" b="0">
                <a:solidFill>
                  <a:srgbClr val="5C6270"/>
                </a:solidFill>
                <a:latin typeface="Noto Sans CJK SC"/>
                <a:ea typeface="Noto Sans CJK SC"/>
                <a:cs typeface="Noto Sans CJK SC"/>
              </a:rPr>
              <a:t>EBITDA = earnings before interest, tax, depreciation and amortisation.</a:t>
            </a:r>
          </a:p>
          <a:p xmlns:a="http://schemas.openxmlformats.org/drawingml/2006/main">
            <a:pPr algn="l">
              <a:lnSpc>
                <a:spcPct val="112000"/>
              </a:lnSpc>
              <a:buNone/>
              <a:defRPr sz="1425" b="0">
                <a:solidFill>
                  <a:srgbClr val="5C6270"/>
                </a:solidFill>
                <a:latin typeface="Noto Sans CJK SC"/>
                <a:ea typeface="Noto Sans CJK SC"/>
                <a:cs typeface="Noto Sans CJK SC"/>
              </a:defRPr>
            </a:pPr>
            <a:r>
              <a:rPr sz="1425" b="0">
                <a:solidFill>
                  <a:srgbClr val="5C6270"/>
                </a:solidFill>
                <a:latin typeface="Noto Sans CJK SC"/>
                <a:ea typeface="Noto Sans CJK SC"/>
                <a:cs typeface="Noto Sans CJK SC"/>
              </a:rPr>
              <a:t>Full P&amp;L and cash balances remain pending. Sales alone do not establish an investment return.</a:t>
            </a:r>
          </a:p>
        </p:txBody>
      </p:sp>
    </p:spTree>
    <p:extLst>
      <p:ext uri="{BB962C8B-B14F-4D97-AF65-F5344CB8AC3E}">
        <p14:creationId xmlns:p14="http://schemas.microsoft.com/office/powerpoint/2010/main" val="541471634"/>
      </p:ext>
    </p:extLst>
  </p:cSld>
</p:sld>
</file>

<file path=ppt/slides/slide8.xml><?xml version="1.0" encoding="utf-8"?>
<p:sld xmlns:p="http://schemas.openxmlformats.org/presentationml/2006/main">
  <p:cSld>
    <p:bg>
      <p:bgPr>
        <a:solidFill xmlns:a="http://schemas.openxmlformats.org/drawingml/2006/main">
          <a:srgbClr val="1B2233"/>
        </a:solidFill>
      </p:bgPr>
    </p:bg>
    <p:spTree>
      <p:nvGrpSpPr>
        <p:cNvPr id="1" name=""/>
        <p:cNvGrpSpPr/>
        <p:nvPr/>
      </p:nvGrpSpPr>
      <p:grpSpPr>
        <a:xfrm xmlns:a="http://schemas.openxmlformats.org/drawingml/2006/main"/>
      </p:grpSpPr>
      <p:sp>
        <p:nvSpPr>
          <p:cNvPr id="13" name="s8-text-1">
            <a:extLst xmlns:a="http://schemas.openxmlformats.org/drawingml/2006/main">
              <a:ext uri="{FF2B5EF4-FFF2-40B4-BE49-F238E27FC236}">
                <a16:creationId xmlns:a16="http://schemas.microsoft.com/office/drawing/2014/main" id="{342BA6CE-631E-4A69-84C6-25E0FA5D6F39}"/>
              </a:ext>
            </a:extLst>
          </p:cNvPr>
          <p:cNvSpPr>
            <a:spLocks xmlns:a="http://schemas.openxmlformats.org/drawingml/2006/main" noGrp="1"/>
          </p:cNvSpPr>
          <p:nvPr/>
        </p:nvSpPr>
        <p:spPr>
          <a:xfrm xmlns:a="http://schemas.openxmlformats.org/drawingml/2006/main">
            <a:off x="533400" y="45720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F4F2ED"/>
                </a:solidFill>
                <a:latin typeface="Noto Sans CJK SC"/>
                <a:ea typeface="Noto Sans CJK SC"/>
                <a:cs typeface="Noto Sans CJK SC"/>
              </a:defRPr>
            </a:pPr>
            <a:r>
              <a:rPr sz="3225" b="1">
                <a:solidFill>
                  <a:srgbClr val="F4F2ED"/>
                </a:solidFill>
                <a:latin typeface="Noto Sans CJK SC"/>
                <a:ea typeface="Noto Sans CJK SC"/>
                <a:cs typeface="Noto Sans CJK SC"/>
              </a:rPr>
              <a:t>UK Team Funding Requirements</a:t>
            </a:r>
          </a:p>
        </p:txBody>
      </p:sp>
      <p:sp>
        <p:nvSpPr>
          <p:cNvPr id="2" name="s8-text-2">
            <a:extLst xmlns:a="http://schemas.openxmlformats.org/drawingml/2006/main">
              <a:ext uri="{FF2B5EF4-FFF2-40B4-BE49-F238E27FC236}">
                <a16:creationId xmlns:a16="http://schemas.microsoft.com/office/drawing/2014/main" id="{DDCF9F77-D2D2-4134-AC1C-DD593A40C06A}"/>
              </a:ext>
            </a:extLst>
          </p:cNvPr>
          <p:cNvSpPr>
            <a:spLocks xmlns:a="http://schemas.openxmlformats.org/drawingml/2006/main" noGrp="1"/>
          </p:cNvSpPr>
          <p:nvPr/>
        </p:nvSpPr>
        <p:spPr>
          <a:xfrm xmlns:a="http://schemas.openxmlformats.org/drawingml/2006/main">
            <a:off x="533400" y="1095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C9CEDA"/>
                </a:solidFill>
                <a:latin typeface="Noto Sans CJK SC"/>
                <a:ea typeface="Noto Sans CJK SC"/>
                <a:cs typeface="Noto Sans CJK SC"/>
              </a:defRPr>
            </a:pPr>
            <a:r>
              <a:rPr sz="1875" b="0">
                <a:solidFill>
                  <a:srgbClr val="C9CEDA"/>
                </a:solidFill>
                <a:latin typeface="Noto Sans CJK SC"/>
                <a:ea typeface="Noto Sans CJK SC"/>
                <a:cs typeface="Noto Sans CJK SC"/>
              </a:rPr>
              <a:t>Multiple private investors fund the UK programme through participation units</a:t>
            </a:r>
          </a:p>
        </p:txBody>
      </p:sp>
      <p:sp>
        <p:nvSpPr>
          <p:cNvPr id="3" name="s8-text-3">
            <a:extLst xmlns:a="http://schemas.openxmlformats.org/drawingml/2006/main">
              <a:ext uri="{FF2B5EF4-FFF2-40B4-BE49-F238E27FC236}">
                <a16:creationId xmlns:a16="http://schemas.microsoft.com/office/drawing/2014/main" id="{76FD6442-0B1F-40B1-9E22-6CB80665416E}"/>
              </a:ext>
            </a:extLst>
          </p:cNvPr>
          <p:cNvSpPr>
            <a:spLocks xmlns:a="http://schemas.openxmlformats.org/drawingml/2006/main" noGrp="1"/>
          </p:cNvSpPr>
          <p:nvPr/>
        </p:nvSpPr>
        <p:spPr>
          <a:xfrm xmlns:a="http://schemas.openxmlformats.org/drawingml/2006/main">
            <a:off x="11382375" y="64770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200" b="0">
                <a:solidFill>
                  <a:srgbClr val="C9CEDA"/>
                </a:solidFill>
                <a:latin typeface="Nimbus Sans"/>
                <a:ea typeface="Nimbus Sans"/>
                <a:cs typeface="Nimbus Sans"/>
              </a:defRPr>
            </a:pPr>
            <a:r>
              <a:rPr sz="1200" b="0">
                <a:solidFill>
                  <a:srgbClr val="C9CEDA"/>
                </a:solidFill>
                <a:latin typeface="Nimbus Sans"/>
                <a:ea typeface="Nimbus Sans"/>
                <a:cs typeface="Nimbus Sans"/>
              </a:rPr>
              <a:t>08</a:t>
            </a:r>
          </a:p>
        </p:txBody>
      </p:sp>
      <p:sp>
        <p:nvSpPr>
          <p:cNvPr id="4" name="s8-text-4">
            <a:extLst xmlns:a="http://schemas.openxmlformats.org/drawingml/2006/main">
              <a:ext uri="{FF2B5EF4-FFF2-40B4-BE49-F238E27FC236}">
                <a16:creationId xmlns:a16="http://schemas.microsoft.com/office/drawing/2014/main" id="{46271851-86B2-4E13-8BBC-EA3F7CAC3D5F}"/>
              </a:ext>
            </a:extLst>
          </p:cNvPr>
          <p:cNvSpPr>
            <a:spLocks xmlns:a="http://schemas.openxmlformats.org/drawingml/2006/main" noGrp="1"/>
          </p:cNvSpPr>
          <p:nvPr/>
        </p:nvSpPr>
        <p:spPr>
          <a:xfrm xmlns:a="http://schemas.openxmlformats.org/drawingml/2006/main">
            <a:off x="533400" y="1752600"/>
            <a:ext cx="3381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C9CEDA"/>
                </a:solidFill>
                <a:latin typeface="Noto Sans CJK SC"/>
                <a:ea typeface="Noto Sans CJK SC"/>
                <a:cs typeface="Noto Sans CJK SC"/>
              </a:defRPr>
            </a:pPr>
            <a:r>
              <a:rPr sz="2175" b="0">
                <a:solidFill>
                  <a:srgbClr val="C9CEDA"/>
                </a:solidFill>
                <a:latin typeface="Noto Sans CJK SC"/>
                <a:ea typeface="Noto Sans CJK SC"/>
                <a:cs typeface="Noto Sans CJK SC"/>
              </a:rPr>
              <a:t>Per Funding Unit</a:t>
            </a:r>
          </a:p>
        </p:txBody>
      </p:sp>
      <p:sp>
        <p:nvSpPr>
          <p:cNvPr id="5" name="s8-text-5">
            <a:extLst xmlns:a="http://schemas.openxmlformats.org/drawingml/2006/main">
              <a:ext uri="{FF2B5EF4-FFF2-40B4-BE49-F238E27FC236}">
                <a16:creationId xmlns:a16="http://schemas.microsoft.com/office/drawing/2014/main" id="{98BC1EF7-B3E8-465E-B8DC-1522C69E8DD0}"/>
              </a:ext>
            </a:extLst>
          </p:cNvPr>
          <p:cNvSpPr>
            <a:spLocks xmlns:a="http://schemas.openxmlformats.org/drawingml/2006/main" noGrp="1"/>
          </p:cNvSpPr>
          <p:nvPr/>
        </p:nvSpPr>
        <p:spPr>
          <a:xfrm xmlns:a="http://schemas.openxmlformats.org/drawingml/2006/main">
            <a:off x="533400" y="23431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575" b="1">
                <a:solidFill>
                  <a:srgbClr val="F4F2ED"/>
                </a:solidFill>
                <a:latin typeface="Nimbus Sans"/>
                <a:ea typeface="Nimbus Sans"/>
                <a:cs typeface="Nimbus Sans"/>
              </a:defRPr>
            </a:pPr>
            <a:r>
              <a:rPr sz="4575" b="1">
                <a:solidFill>
                  <a:srgbClr val="F4F2ED"/>
                </a:solidFill>
                <a:latin typeface="Nimbus Sans"/>
                <a:ea typeface="Nimbus Sans"/>
                <a:cs typeface="Nimbus Sans"/>
              </a:rPr>
              <a:t>£XXX</a:t>
            </a:r>
          </a:p>
        </p:txBody>
      </p:sp>
      <p:sp>
        <p:nvSpPr>
          <p:cNvPr id="6" name="s8-text-6">
            <a:extLst xmlns:a="http://schemas.openxmlformats.org/drawingml/2006/main">
              <a:ext uri="{FF2B5EF4-FFF2-40B4-BE49-F238E27FC236}">
                <a16:creationId xmlns:a16="http://schemas.microsoft.com/office/drawing/2014/main" id="{3D6B5B33-CA3D-4683-9D39-057A2C5971B0}"/>
              </a:ext>
            </a:extLst>
          </p:cNvPr>
          <p:cNvSpPr>
            <a:spLocks xmlns:a="http://schemas.openxmlformats.org/drawingml/2006/main" noGrp="1"/>
          </p:cNvSpPr>
          <p:nvPr/>
        </p:nvSpPr>
        <p:spPr>
          <a:xfrm xmlns:a="http://schemas.openxmlformats.org/drawingml/2006/main">
            <a:off x="533400" y="3667125"/>
            <a:ext cx="338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F4F2ED"/>
                </a:solidFill>
                <a:latin typeface="Noto Sans CJK SC"/>
                <a:ea typeface="Noto Sans CJK SC"/>
                <a:cs typeface="Noto Sans CJK SC"/>
              </a:defRPr>
            </a:pPr>
            <a:r>
              <a:rPr sz="1950" b="1">
                <a:solidFill>
                  <a:srgbClr val="F4F2ED"/>
                </a:solidFill>
                <a:latin typeface="Noto Sans CJK SC"/>
                <a:ea typeface="Noto Sans CJK SC"/>
                <a:cs typeface="Noto Sans CJK SC"/>
              </a:rPr>
              <a:t>Total Funding Target</a:t>
            </a:r>
          </a:p>
        </p:txBody>
      </p:sp>
      <p:sp>
        <p:nvSpPr>
          <p:cNvPr id="7" name="s8-text-7">
            <a:extLst xmlns:a="http://schemas.openxmlformats.org/drawingml/2006/main">
              <a:ext uri="{FF2B5EF4-FFF2-40B4-BE49-F238E27FC236}">
                <a16:creationId xmlns:a16="http://schemas.microsoft.com/office/drawing/2014/main" id="{FC104EE7-736C-455D-AB07-94E4171524A3}"/>
              </a:ext>
            </a:extLst>
          </p:cNvPr>
          <p:cNvSpPr>
            <a:spLocks xmlns:a="http://schemas.openxmlformats.org/drawingml/2006/main" noGrp="1"/>
          </p:cNvSpPr>
          <p:nvPr/>
        </p:nvSpPr>
        <p:spPr>
          <a:xfrm xmlns:a="http://schemas.openxmlformats.org/drawingml/2006/main">
            <a:off x="533400" y="4162425"/>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C9CEDA"/>
                </a:solidFill>
                <a:latin typeface="Noto Sans CJK SC"/>
                <a:ea typeface="Noto Sans CJK SC"/>
                <a:cs typeface="Noto Sans CJK SC"/>
              </a:defRPr>
            </a:pPr>
            <a:r>
              <a:rPr sz="1875" b="0">
                <a:solidFill>
                  <a:srgbClr val="C9CEDA"/>
                </a:solidFill>
                <a:latin typeface="Noto Sans CJK SC"/>
                <a:ea typeface="Noto Sans CJK SC"/>
                <a:cs typeface="Noto Sans CJK SC"/>
              </a:rPr>
              <a:t>N units × £XXX</a:t>
            </a:r>
          </a:p>
          <a:p xmlns:a="http://schemas.openxmlformats.org/drawingml/2006/main">
            <a:pPr algn="l">
              <a:lnSpc>
                <a:spcPct val="112000"/>
              </a:lnSpc>
              <a:buNone/>
              <a:defRPr sz="1875" b="0">
                <a:solidFill>
                  <a:srgbClr val="C9CEDA"/>
                </a:solidFill>
                <a:latin typeface="Noto Sans CJK SC"/>
                <a:ea typeface="Noto Sans CJK SC"/>
                <a:cs typeface="Noto Sans CJK SC"/>
              </a:defRPr>
            </a:pPr>
            <a:r>
              <a:rPr sz="1875" b="0">
                <a:solidFill>
                  <a:srgbClr val="C9CEDA"/>
                </a:solidFill>
                <a:latin typeface="Noto Sans CJK SC"/>
                <a:ea typeface="Noto Sans CJK SC"/>
                <a:cs typeface="Noto Sans CJK SC"/>
              </a:rPr>
              <a:t>Unit count: to be confirmed</a:t>
            </a:r>
          </a:p>
        </p:txBody>
      </p:sp>
      <p:graphicFrame>
        <p:nvGraphicFramePr>
          <p:cNvPr id="22" name=""/>
          <p:cNvGraphicFramePr/>
          <p:nvPr/>
        </p:nvGraphicFramePr>
        <p:xfrm>
          <a:off xmlns:a="http://schemas.openxmlformats.org/drawingml/2006/main" x="4143375" y="1685925"/>
          <a:ext xmlns:a="http://schemas.openxmlformats.org/drawingml/2006/main" cx="7515225" cy="3086100"/>
        </p:xfrm>
        <a:graphic xmlns:a="http://schemas.openxmlformats.org/drawingml/2006/main">
          <a:graphicData uri="http://schemas.openxmlformats.org/drawingml/2006/table">
            <a:tbl>
              <a:tblPr firstRow="1" bandRow="0"/>
              <a:tblGrid>
                <a:gridCol w="5124450"/>
                <a:gridCol w="2390775"/>
              </a:tblGrid>
              <a:tr h="617220">
                <a:tc>
                  <a:txBody>
                    <a:bodyPr wrap="square">
                      <a:noAutofit/>
                    </a:bodyPr>
                    <a:lstStyle/>
                    <a:p>
                      <a:pPr algn="l">
                        <a:buNone/>
                      </a:pPr>
                      <a:r>
                        <a:rPr sz="1725" b="1">
                          <a:solidFill>
                            <a:srgbClr val="1B2233"/>
                          </a:solidFill>
                          <a:latin typeface="Noto Sans CJK SC"/>
                          <a:ea typeface="Noto Sans CJK SC"/>
                          <a:cs typeface="Noto Sans CJK SC"/>
                        </a:rPr>
                        <a:t>Use of Funds per Unit</a:t>
                      </a:r>
                    </a:p>
                  </a:txBody>
                  <a:tcPr marL="152400" marR="152400" marT="95250" marB="95250" anchor="ctr">
                    <a:solidFill>
                      <a:srgbClr val="E9E6DF"/>
                    </a:solidFill>
                  </a:tcPr>
                </a:tc>
                <a:tc>
                  <a:txBody>
                    <a:bodyPr wrap="square">
                      <a:noAutofit/>
                    </a:bodyPr>
                    <a:lstStyle/>
                    <a:p>
                      <a:pPr algn="r">
                        <a:buNone/>
                      </a:pPr>
                      <a:r>
                        <a:rPr sz="1725" b="1">
                          <a:solidFill>
                            <a:srgbClr val="1B2233"/>
                          </a:solidFill>
                          <a:latin typeface="Noto Sans CJK SC"/>
                          <a:ea typeface="Noto Sans CJK SC"/>
                          <a:cs typeface="Noto Sans CJK SC"/>
                        </a:rPr>
                        <a:t>Amount (GBP)</a:t>
                      </a:r>
                    </a:p>
                  </a:txBody>
                  <a:tcPr marL="152400" marR="152400" marT="95250" marB="95250" anchor="ctr">
                    <a:solidFill>
                      <a:srgbClr val="E9E6DF"/>
                    </a:solidFill>
                  </a:tcPr>
                </a:tc>
              </a:tr>
              <a:tr h="617220">
                <a:tc>
                  <a:txBody>
                    <a:bodyPr wrap="square">
                      <a:noAutofit/>
                    </a:bodyPr>
                    <a:lstStyle/>
                    <a:p>
                      <a:pPr algn="l">
                        <a:buNone/>
                      </a:pPr>
                      <a:r>
                        <a:rPr sz="1725" b="0">
                          <a:solidFill>
                            <a:srgbClr val="1B2233"/>
                          </a:solidFill>
                          <a:latin typeface="Noto Sans CJK SC"/>
                          <a:ea typeface="Noto Sans CJK SC"/>
                          <a:cs typeface="Noto Sans CJK SC"/>
                        </a:rPr>
                        <a:t>Study visits, training and practical sessions</a:t>
                      </a:r>
                    </a:p>
                  </a:txBody>
                  <a:tcPr marL="152400" marR="152400" marT="95250" marB="95250" anchor="ctr">
                    <a:solidFill>
                      <a:srgbClr val="FFFFFF"/>
                    </a:solidFill>
                  </a:tcPr>
                </a:tc>
                <a:tc>
                  <a:txBody>
                    <a:bodyPr wrap="square">
                      <a:noAutofit/>
                    </a:bodyPr>
                    <a:lstStyle/>
                    <a:p>
                      <a:pPr algn="r">
                        <a:buNone/>
                      </a:pPr>
                      <a:r>
                        <a:rPr sz="1725" b="0">
                          <a:solidFill>
                            <a:srgbClr val="1B2233"/>
                          </a:solidFill>
                          <a:latin typeface="Noto Sans CJK SC"/>
                          <a:ea typeface="Noto Sans CJK SC"/>
                          <a:cs typeface="Noto Sans CJK SC"/>
                        </a:rPr>
                        <a:t>£15,000</a:t>
                      </a:r>
                    </a:p>
                  </a:txBody>
                  <a:tcPr marL="152400" marR="152400" marT="95250" marB="95250" anchor="ctr">
                    <a:solidFill>
                      <a:srgbClr val="FFFFFF"/>
                    </a:solidFill>
                  </a:tcPr>
                </a:tc>
              </a:tr>
              <a:tr h="617220">
                <a:tc>
                  <a:txBody>
                    <a:bodyPr wrap="square">
                      <a:noAutofit/>
                    </a:bodyPr>
                    <a:lstStyle/>
                    <a:p>
                      <a:pPr algn="l">
                        <a:buNone/>
                      </a:pPr>
                      <a:r>
                        <a:rPr sz="1725" b="0">
                          <a:solidFill>
                            <a:srgbClr val="1B2233"/>
                          </a:solidFill>
                          <a:latin typeface="Noto Sans CJK SC"/>
                          <a:ea typeface="Noto Sans CJK SC"/>
                          <a:cs typeface="Noto Sans CJK SC"/>
                        </a:rPr>
                        <a:t>12-month professional certificate course</a:t>
                      </a:r>
                    </a:p>
                  </a:txBody>
                  <a:tcPr marL="152400" marR="152400" marT="95250" marB="95250" anchor="ctr">
                    <a:solidFill>
                      <a:srgbClr val="E9E6DF"/>
                    </a:solidFill>
                  </a:tcPr>
                </a:tc>
                <a:tc>
                  <a:txBody>
                    <a:bodyPr wrap="square">
                      <a:noAutofit/>
                    </a:bodyPr>
                    <a:lstStyle/>
                    <a:p>
                      <a:pPr algn="r">
                        <a:buNone/>
                      </a:pPr>
                      <a:r>
                        <a:rPr sz="1725" b="0">
                          <a:solidFill>
                            <a:srgbClr val="1B2233"/>
                          </a:solidFill>
                          <a:latin typeface="Noto Sans CJK SC"/>
                          <a:ea typeface="Noto Sans CJK SC"/>
                          <a:cs typeface="Noto Sans CJK SC"/>
                        </a:rPr>
                        <a:t>From £25,000</a:t>
                      </a:r>
                    </a:p>
                  </a:txBody>
                  <a:tcPr marL="152400" marR="152400" marT="95250" marB="95250" anchor="ctr">
                    <a:solidFill>
                      <a:srgbClr val="E9E6DF"/>
                    </a:solidFill>
                  </a:tcPr>
                </a:tc>
              </a:tr>
              <a:tr h="617220">
                <a:tc>
                  <a:txBody>
                    <a:bodyPr wrap="square">
                      <a:noAutofit/>
                    </a:bodyPr>
                    <a:lstStyle/>
                    <a:p>
                      <a:pPr algn="l">
                        <a:buNone/>
                      </a:pPr>
                      <a:r>
                        <a:rPr sz="1725" b="0">
                          <a:solidFill>
                            <a:srgbClr val="1B2233"/>
                          </a:solidFill>
                          <a:latin typeface="Noto Sans CJK SC"/>
                          <a:ea typeface="Noto Sans CJK SC"/>
                          <a:cs typeface="Noto Sans CJK SC"/>
                        </a:rPr>
                        <a:t>12-month internship and work programme</a:t>
                      </a:r>
                    </a:p>
                  </a:txBody>
                  <a:tcPr marL="152400" marR="152400" marT="95250" marB="95250" anchor="ctr">
                    <a:solidFill>
                      <a:srgbClr val="FFFFFF"/>
                    </a:solidFill>
                  </a:tcPr>
                </a:tc>
                <a:tc>
                  <a:txBody>
                    <a:bodyPr wrap="square">
                      <a:noAutofit/>
                    </a:bodyPr>
                    <a:lstStyle/>
                    <a:p>
                      <a:pPr algn="r">
                        <a:buNone/>
                      </a:pPr>
                      <a:r>
                        <a:rPr sz="1725" b="0">
                          <a:solidFill>
                            <a:srgbClr val="1B2233"/>
                          </a:solidFill>
                          <a:latin typeface="Noto Sans CJK SC"/>
                          <a:ea typeface="Noto Sans CJK SC"/>
                          <a:cs typeface="Noto Sans CJK SC"/>
                        </a:rPr>
                        <a:t>£XXXX</a:t>
                      </a:r>
                    </a:p>
                  </a:txBody>
                  <a:tcPr marL="152400" marR="152400" marT="95250" marB="95250" anchor="ctr">
                    <a:solidFill>
                      <a:srgbClr val="FFFFFF"/>
                    </a:solidFill>
                  </a:tcPr>
                </a:tc>
              </a:tr>
              <a:tr h="617220">
                <a:tc>
                  <a:txBody>
                    <a:bodyPr wrap="square">
                      <a:noAutofit/>
                    </a:bodyPr>
                    <a:lstStyle/>
                    <a:p>
                      <a:pPr algn="l">
                        <a:buNone/>
                      </a:pPr>
                      <a:r>
                        <a:rPr sz="1725" b="0">
                          <a:solidFill>
                            <a:srgbClr val="1B2233"/>
                          </a:solidFill>
                          <a:latin typeface="Noto Sans CJK SC"/>
                          <a:ea typeface="Noto Sans CJK SC"/>
                          <a:cs typeface="Noto Sans CJK SC"/>
                        </a:rPr>
                        <a:t>MM Studio equity allocation</a:t>
                      </a:r>
                    </a:p>
                  </a:txBody>
                  <a:tcPr marL="152400" marR="152400" marT="95250" marB="95250" anchor="ctr">
                    <a:solidFill>
                      <a:srgbClr val="E9E6DF"/>
                    </a:solidFill>
                  </a:tcPr>
                </a:tc>
                <a:tc>
                  <a:txBody>
                    <a:bodyPr wrap="square">
                      <a:noAutofit/>
                    </a:bodyPr>
                    <a:lstStyle/>
                    <a:p>
                      <a:pPr algn="r">
                        <a:buNone/>
                      </a:pPr>
                      <a:r>
                        <a:rPr sz="1725" b="0">
                          <a:solidFill>
                            <a:srgbClr val="1B2233"/>
                          </a:solidFill>
                          <a:latin typeface="Noto Sans CJK SC"/>
                          <a:ea typeface="Noto Sans CJK SC"/>
                          <a:cs typeface="Noto Sans CJK SC"/>
                        </a:rPr>
                        <a:t>£50,000</a:t>
                      </a:r>
                    </a:p>
                  </a:txBody>
                  <a:tcPr marL="152400" marR="152400" marT="95250" marB="95250" anchor="ctr">
                    <a:solidFill>
                      <a:srgbClr val="E9E6DF"/>
                    </a:solidFill>
                  </a:tcPr>
                </a:tc>
              </a:tr>
            </a:tbl>
          </a:graphicData>
        </a:graphic>
      </p:graphicFrame>
      <p:sp>
        <p:nvSpPr>
          <p:cNvPr id="9" name="s8-text-8">
            <a:extLst xmlns:a="http://schemas.openxmlformats.org/drawingml/2006/main">
              <a:ext uri="{FF2B5EF4-FFF2-40B4-BE49-F238E27FC236}">
                <a16:creationId xmlns:a16="http://schemas.microsoft.com/office/drawing/2014/main" id="{F91A78FE-13E1-4F5F-AA19-448F7C05FF61}"/>
              </a:ext>
            </a:extLst>
          </p:cNvPr>
          <p:cNvSpPr>
            <a:spLocks xmlns:a="http://schemas.openxmlformats.org/drawingml/2006/main" noGrp="1"/>
          </p:cNvSpPr>
          <p:nvPr/>
        </p:nvSpPr>
        <p:spPr>
          <a:xfrm xmlns:a="http://schemas.openxmlformats.org/drawingml/2006/main">
            <a:off x="4143375" y="4962525"/>
            <a:ext cx="7515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F4F2ED"/>
                </a:solidFill>
                <a:latin typeface="Noto Sans CJK SC"/>
                <a:ea typeface="Noto Sans CJK SC"/>
                <a:cs typeface="Noto Sans CJK SC"/>
              </a:defRPr>
            </a:pPr>
            <a:r>
              <a:rPr sz="1950" b="1">
                <a:solidFill>
                  <a:srgbClr val="F4F2ED"/>
                </a:solidFill>
                <a:latin typeface="Noto Sans CJK SC"/>
                <a:ea typeface="Noto Sans CJK SC"/>
                <a:cs typeface="Noto Sans CJK SC"/>
              </a:rPr>
              <a:t>Indicative minimum: £90,000 + internship/work budget</a:t>
            </a:r>
          </a:p>
        </p:txBody>
      </p:sp>
      <p:sp>
        <p:nvSpPr>
          <p:cNvPr id="10" name="s8-text-9">
            <a:extLst xmlns:a="http://schemas.openxmlformats.org/drawingml/2006/main">
              <a:ext uri="{FF2B5EF4-FFF2-40B4-BE49-F238E27FC236}">
                <a16:creationId xmlns:a16="http://schemas.microsoft.com/office/drawing/2014/main" id="{790D46A8-DC3C-41F2-AC5E-A8CC6435DC54}"/>
              </a:ext>
            </a:extLst>
          </p:cNvPr>
          <p:cNvSpPr>
            <a:spLocks xmlns:a="http://schemas.openxmlformats.org/drawingml/2006/main" noGrp="1"/>
          </p:cNvSpPr>
          <p:nvPr/>
        </p:nvSpPr>
        <p:spPr>
          <a:xfrm xmlns:a="http://schemas.openxmlformats.org/drawingml/2006/main">
            <a:off x="533400" y="55626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4F2ED"/>
                </a:solidFill>
                <a:latin typeface="Noto Sans CJK SC"/>
                <a:ea typeface="Noto Sans CJK SC"/>
                <a:cs typeface="Noto Sans CJK SC"/>
              </a:defRPr>
            </a:pPr>
            <a:r>
              <a:rPr sz="1875" b="0">
                <a:solidFill>
                  <a:srgbClr val="F4F2ED"/>
                </a:solidFill>
                <a:latin typeface="Noto Sans CJK SC"/>
                <a:ea typeface="Noto Sans CJK SC"/>
                <a:cs typeface="Noto Sans CJK SC"/>
              </a:rPr>
              <a:t>MM Studio's 2026 baseline value: £XXXX. Final ownership percentage: to be confirmed.</a:t>
            </a:r>
          </a:p>
        </p:txBody>
      </p:sp>
      <p:sp>
        <p:nvSpPr>
          <p:cNvPr id="11" name="s8-text-10">
            <a:extLst xmlns:a="http://schemas.openxmlformats.org/drawingml/2006/main">
              <a:ext uri="{FF2B5EF4-FFF2-40B4-BE49-F238E27FC236}">
                <a16:creationId xmlns:a16="http://schemas.microsoft.com/office/drawing/2014/main" id="{5FD57740-17B8-4F88-BFC0-D1E4D5D5C70B}"/>
              </a:ext>
            </a:extLst>
          </p:cNvPr>
          <p:cNvSpPr>
            <a:spLocks xmlns:a="http://schemas.openxmlformats.org/drawingml/2006/main" noGrp="1"/>
          </p:cNvSpPr>
          <p:nvPr/>
        </p:nvSpPr>
        <p:spPr>
          <a:xfrm xmlns:a="http://schemas.openxmlformats.org/drawingml/2006/main">
            <a:off x="533400" y="60483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C9CEDA"/>
                </a:solidFill>
                <a:latin typeface="Noto Sans CJK SC"/>
                <a:ea typeface="Noto Sans CJK SC"/>
                <a:cs typeface="Noto Sans CJK SC"/>
              </a:defRPr>
            </a:pPr>
            <a:r>
              <a:rPr sz="1425" b="0">
                <a:solidFill>
                  <a:srgbClr val="C9CEDA"/>
                </a:solidFill>
                <a:latin typeface="Noto Sans CJK SC"/>
                <a:ea typeface="Noto Sans CJK SC"/>
                <a:cs typeface="Noto Sans CJK SC"/>
              </a:rPr>
              <a:t>£15,000 excludes travel, hotel accommodation and transport. The equity budget provisionally assumes an equal cash subscription.</a:t>
            </a:r>
          </a:p>
        </p:txBody>
      </p:sp>
      <p:sp>
        <p:nvSpPr>
          <p:cNvPr id="12" name="s8-text-11">
            <a:extLst xmlns:a="http://schemas.openxmlformats.org/drawingml/2006/main">
              <a:ext uri="{FF2B5EF4-FFF2-40B4-BE49-F238E27FC236}">
                <a16:creationId xmlns:a16="http://schemas.microsoft.com/office/drawing/2014/main" id="{AE21F1A5-D43D-4F4A-AD6F-7E0C5E2AA64F}"/>
              </a:ext>
            </a:extLst>
          </p:cNvPr>
          <p:cNvSpPr>
            <a:spLocks xmlns:a="http://schemas.openxmlformats.org/drawingml/2006/main" noGrp="1"/>
          </p:cNvSpPr>
          <p:nvPr/>
        </p:nvSpPr>
        <p:spPr>
          <a:xfrm xmlns:a="http://schemas.openxmlformats.org/drawingml/2006/main">
            <a:off x="533400" y="639127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9CEDA"/>
                </a:solidFill>
                <a:latin typeface="Noto Sans CJK SC"/>
                <a:ea typeface="Noto Sans CJK SC"/>
                <a:cs typeface="Noto Sans CJK SC"/>
              </a:defRPr>
            </a:pPr>
            <a:r>
              <a:rPr sz="1350" b="0">
                <a:solidFill>
                  <a:srgbClr val="C9CEDA"/>
                </a:solidFill>
                <a:latin typeface="Noto Sans CJK SC"/>
                <a:ea typeface="Noto Sans CJK SC"/>
                <a:cs typeface="Noto Sans CJK SC"/>
              </a:rPr>
              <a:t>Certification, internship/work terms, timing, share issuer and shareholder rights require confirmation</a:t>
            </a:r>
          </a:p>
        </p:txBody>
      </p:sp>
    </p:spTree>
    <p:extLst>
      <p:ext uri="{BB962C8B-B14F-4D97-AF65-F5344CB8AC3E}">
        <p14:creationId xmlns:p14="http://schemas.microsoft.com/office/powerpoint/2010/main" val="68002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2026-10-04T18:11:17.5420000Z</dcterms:created>
  <dcterms:modified xsi:type="dcterms:W3CDTF">2026-10-04T18:11:17.5420000Z</dcterms:modified>
</coreProperties>
</file>