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3c427d-177e-ed3e-6f3a-f63ad24ea294}">
          <p14:sldIdLst>
            <p14:sldId id="256"/>
          </p14:sldIdLst>
        </p14:section>
        <p14:section name="Why MM Studio" id="{974ffb16-6700-a4a6-7156-dda90edafd35}">
          <p14:sldIdLst>
            <p14:sldId id="257"/>
            <p14:sldId id="258"/>
          </p14:sldIdLst>
        </p14:section>
        <p14:section name="Innovation" id="{1dda57c8-f12a-aa25-8c61-e4401ea17953}">
          <p14:sldIdLst>
            <p14:sldId id="259"/>
            <p14:sldId id="260"/>
            <p14:sldId id="261"/>
          </p14:sldIdLst>
        </p14:section>
        <p14:section name="Ecosystem" id="{47c456ce-66f7-af5c-fd49-df4605ef1074}">
          <p14:sldIdLst>
            <p14:sldId id="262"/>
            <p14:sldId id="263"/>
          </p14:sldIdLst>
        </p14:section>
        <p14:section name="UK and reach" id="{214b4f60-74a8-c65d-c46e-c16c9cfec1b1}">
          <p14:sldIdLst>
            <p14:sldId id="264"/>
          </p14:sldIdLst>
        </p14:section>
        <p14:section name="Future" id="{7482cfe4-7249-0fac-13a6-e58c081d74e1}">
          <p14:sldIdLst>
            <p14:sldId id="265"/>
          </p14:sldIdLst>
        </p14:section>
        <p14:section name="Commercial" id="{8e6d622e-dc12-2e87-a882-9b7cda0c04fa}">
          <p14:sldIdLst>
            <p14:sldId id="266"/>
            <p14:sldId id="267"/>
          </p14:sldIdLst>
        </p14:section>
        <p14:section name="Financials" id="{bf8370cc-00ff-b293-2fbb-c9250517f35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233"/>
                </a:solidFill>
                <a:latin typeface="+mn-lt"/>
              </a:defRPr>
            </a:pPr>
            <a:r>
              <a:rPr sz="1400" b="0" i="0" u="none" strike="noStrike">
                <a:solidFill>
                  <a:srgbClr val="1B2233"/>
                </a:solidFill>
                <a:latin typeface="+mn-lt"/>
              </a:rPr>
              <a:t>London pilot: revenue and EBITDA (GBP)</a:t>
            </a:r>
          </a:p>
        </c:rich>
      </c:tx>
      <c:layout/>
      <c:overlay val="0"/>
    </c:title>
    <c:autoTitleDeleted val="0"/>
    <c:plotArea>
      <c:layout/>
      <c:barChart>
        <c:barDir val="col"/>
        <c:grouping val="clustered"/>
        <c:varyColors val="0"/>
        <c:ser>
          <c:idx val="0"/>
          <c:order val="0"/>
          <c:tx>
            <c:strRef>
              <c:f>Sheet1!$B$1</c:f>
              <c:strCache>
                <c:ptCount val="1"/>
                <c:pt idx="0">
                  <c:v>Revenue (GBP)</c:v>
                </c:pt>
              </c:strCache>
            </c:strRef>
          </c:tx>
          <c:spPr>
            <a:solidFill>
              <a:srgbClr val="1B2233"/>
            </a:solidFill>
            <a:effectLst/>
          </c:spPr>
          <c:invertIfNegative val="0"/>
          <c:dLbls>
            <c:numFmt formatCode="#,##0" sourceLinked="0"/>
            <c:txPr>
              <a:bodyPr/>
              <a:lstStyle/>
              <a:p>
                <a:pPr>
                  <a:defRPr b="0" i="0" strike="noStrike" sz="1000" u="none">
                    <a:solidFill>
                      <a:srgbClr val="1B2233"/>
                    </a:solidFill>
                    <a:latin typeface="+mn-lt"/>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148104</c:v>
                </c:pt>
                <c:pt idx="1">
                  <c:v>188496</c:v>
                </c:pt>
                <c:pt idx="2">
                  <c:v>228888</c:v>
                </c:pt>
                <c:pt idx="3">
                  <c:v>269280</c:v>
                </c:pt>
                <c:pt idx="4">
                  <c:v>282744</c:v>
                </c:pt>
              </c:numCache>
            </c:numRef>
          </c:val>
        </c:ser>
        <c:ser>
          <c:idx val="1"/>
          <c:order val="1"/>
          <c:tx>
            <c:strRef>
              <c:f>Sheet1!$C$1</c:f>
              <c:strCache>
                <c:ptCount val="1"/>
                <c:pt idx="0">
                  <c:v>EBITDA (GBP)</c:v>
                </c:pt>
              </c:strCache>
            </c:strRef>
          </c:tx>
          <c:spPr>
            <a:solidFill>
              <a:srgbClr val="B08D57"/>
            </a:solidFill>
            <a:effectLst/>
          </c:spPr>
          <c:invertIfNegative val="0"/>
          <c:dLbls>
            <c:numFmt formatCode="#,##0" sourceLinked="0"/>
            <c:txPr>
              <a:bodyPr/>
              <a:lstStyle/>
              <a:p>
                <a:pPr>
                  <a:defRPr b="0" i="0" strike="noStrike" sz="1000" u="none">
                    <a:solidFill>
                      <a:srgbClr val="1B2233"/>
                    </a:solidFill>
                    <a:latin typeface="+mn-lt"/>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-13743</c:v>
                </c:pt>
                <c:pt idx="1">
                  <c:v>20342</c:v>
                </c:pt>
                <c:pt idx="2">
                  <c:v>52987</c:v>
                </c:pt>
                <c:pt idx="3">
                  <c:v>85632</c:v>
                </c:pt>
                <c:pt idx="4">
                  <c:v>94593</c:v>
                </c:pt>
              </c:numCache>
            </c:numRef>
          </c:val>
        </c:ser>
        <c:dLbls>
          <c:numFmt formatCode="#,##0" sourceLinked="0"/>
          <c:txPr>
            <a:bodyPr/>
            <a:lstStyle/>
            <a:p>
              <a:pPr>
                <a:defRPr b="0" i="0" strike="noStrike" sz="1000" u="none">
                  <a:solidFill>
                    <a:srgbClr val="1B22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2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6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2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2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headline reflects the owner's goal (digital cosmetics) and mission (personalised solutions as the deliverable to the world), 4 Oct 2026. Photo: London opening, from the v1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and mission are the owner's wording (key-elements archive, items 2 and 3). The four values are drafted from the brand book's stated approach and need owner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disciplines are the owner's wording (key-elements archive, item 1). Named leaders and titles come from WBI_Investor_Deck_2026.pptx (team slide). Mapping each person to one of the five disciplines is an inference from title and must be confirmed; the K-Doctor network is described there as physician shareholders and partner clinics. Add one proof point per person before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IT-EXO and SynExo as baseline innovations for resilience and regenerative biotech is the owner's wording (item 4). SynExo details (HLA-G, EGF/bFGF cargo, Korean patent 2026, manuscript under review at Biomolecules MDPI) and the in-vitro figures come from WBI_Investor_Deck_2026.pptx slides 6 and 8. These are cell-based results from a submitted manuscript, not clinical results. The WBI deck cites the human-derived exosomes as licensed technology; confirm that IT-EXO is that platform.
Sources: Brand book slides 6, 9 and 10. IT-EXO® is an exosome research and formulation platform. SYN-EXO is a biomimetic extracellular vesicle platform; the brand materials describe its HLA-G design. RetroEV ExoShot is a needle-free device and care platform. The brand book distinguishes mechanism education from established clinical evidence. HLA-G concepts, research mechanisms and ingredient information are not presented as proven clinical efficacy, and no absolute claims of zero redness, risk or downtime are made. Original EXO DERMA and EXO HAIR product images come from RetroEV One Pager.pdf; package artwork remains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years of product design through Korean supply chains is the owner's wording (item 5). Product forms come from the supply price table in the v1 notes. Owner to confirm which entities and factories the 30 years refer to. GMP/ISO production, QC labs and the 53 registrations in 20 markets come from WBI_Investor_Deck_2026.pptx (slides 4 and 15); certificates and capacity should sit in the data room.
Sources: Brand book slides 5, 6, 9 and 10 describe WBI's Korean R&amp;D, formulation, manufacturing and supply role. RetroEV One Pager.pdf identifies EXO DERMA and EXO HAIR as freeze-dried products, with ACTIVA as a companion product. The supply price table lists professional vials at 100 mg, several liquid serums at 5 mL, and re'mirae and MORIMANA ranges. The slide summarises documented product forms and supply processes; it does not invent cell-culture, purification, filling or sterilisation parameters, GMP/ISO certifications, batch test results or factory capacity. Detailed production processes, testing and release standards, and capacity require technical documentation. Supply table Table 1!B11 lists 10 hours of theory and 5 hours of hands-on training as an example of partner launch training; this is separate from the proposed UK 12-month certificate course. Original product images come from RetroEV and Re'Mirae One Pager.pdf.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WBI_Investor_Deck_2026.pptx slide 7 (named competitors, price tiers, market size) and slide 16 (moat). The 'about 2×' price comparison and the 'no competitor combines' statement are WBI management claims; verify against current public price lists before circulation. Cell-test equivalence is in vitro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Mirae Method steps summarise the brand materials. AI analysis is not a medical diagnosis; medical diagnosis, prescriptions and procedures remain with qualified medical professionals. Ecosystem framing (closed loop across studios, clinics, partners and R&amp;D) is the owner's request to articulate why the client-management ecosystem is unique.
Sources: Brand book slides 3, 10, 11, 13, 16 and 17. AI-assisted scanning supports care assessment and consultation. Head spa, needle-free care and facials are studio services. Membership and homecare products support ongoing management. The four steps summarise the brand materials and do not establish individual treatment efficacy. AI analysis is not a medical diagnosis; medical diagnosis, prescriptions and medical procedures are the responsibility of appropriately qualified medical professionals. The care photograph is original image3.jpg from brand book slides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 positioning table prepared to meet the 'no competitive advantages' feedback. It generalises about formats and should be validated with named competitor examples and customer evidence before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as global hair-care centre and world leader as coach and trainer, and the global sales network, are the owner's wording (items 6 and 7). Network facts (20 export countries, 53 registrations, SCPN 16, London Knightsbridge and Seoul Seongsu studios, HK Central and LA Century City mapped) come from WBI_Investor_Deck_2026.pptx slides 3, 4, 6, 10 and 15. Still needed: UK industry evidence for the trainer claim. The proposed UK certificate course is not confirmed: certification body, accreditation, internship roles and terms remain open.
Sources: Brand book slides 5, 6, 11, 13 and 17 for WBI CEO Theresa Jang and Korean R&amp;D, manufacturing and training support. NeuNova's proposed UK course planning and operational role follows MM Studio Incubation Program(1).pdf, pages 2–3, and the Sources &amp; Notes and Neunova P&amp;L sheets of Neunova_Founding_Partnership_Investor_Model_v2.xlsx. The course is a proposal; the certification body, accreditation, internship roles and employment terms are not confirmed. Private investors' unit-based funding and equity allocation follow the user's instructions. The team photo is original image1.jpg from brand book slide 1; no individual roles are inferred from the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the missing future-development gap: AI and data from the scanner, services and client experience. 'Today' reflects AI-assisted scanning and follow-up comparison described in the brand materials; 'Next' and 'Later' are proposed development, not shipped features. The client AI app (scan, protocol, homecare compliance, rebooking), the Engage-Capture-Learn-Compound loop, AI peptide design and the 25,000-user target are from WBI_Investor_Deck_2026.pptx slides 6 and 11; the app is described there as funded by WBI's own round, so confirm its timing for MM Studio UK. Skin and scalp images are personal data (possibly special-category); a consent, retention and DPIA plan is needed. Owner to confirm the current scanner hardware and what data it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Per-client spend (about US$3,800: skin programme $1,800, hair/scalp programme $1,200, homecare $800) is a management estimate from WBI_Investor_Deck_2026.pptx slide 9. WBI's 15% supplier capture is WBI revenue, not a return to MM Studio UK unit holders.
Sources: Brand book slides 5, 10, 13, 16 and 17 for flagship, in-clinic and partner/distribution models, membership, packages, retail, training and supply support. Launch equipment packages and reorders follow MM studio EXO SHOT PRO and products supply price.xlsx (dated 8 September 2026; USD; EXW) and WBI Exo Shot Distribution Term Sheet.pdf. Service fees depend on individual partner agreements; US and 555 project fees are not automatically applied to the UK programme. Course revenue and equity subscriptions are different in nature. Equity returns depend on the issuer's actual operations and the shareholder agreement. WBI factory revenue, UK studio revenue and third-party 555 project revenue are not consolidated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Brand book slides 5, 6, 11, 13 and 17 for WBI CEO Theresa Jang and Korean R&amp;D, manufacturing and training support. NeuNova's proposed UK course planning and operational role follows MM Studio Incubation Program(1).pdf, pages 2–3, and the Sources &amp; Notes and Neunova P&amp;L sheets of Neunova_Founding_Partnership_Investor_Model_v2.xlsx. The course is a proposal; the certification body, accreditation, internship roles and employment terms are not confirmed. Private investors' unit-based funding and equity allocation follow the user's instructions. The team photo is original image1.jpg from brand book slide 1; no individual roles are inferred from the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WBI group FY2025 combined revenue of ₩16.4bn (about US$11.7M) is from WBI_Investor_Deck_2026.pptx slide 13 (management data, with net income ₩291M, 5.1% margin). It describes the supplier group, not MM Studio UK. WBI's separate US$2.0M-for-10% round and its franchise forecasts are deliberately not part of this UK programme.
Source: Neunova_Founding_Partnership_Investor_Model_v2.xlsx. London initial investment of £50,000 and first-year sales of £46,000 come from Sources &amp; Notes!B5, are management-provided and unaudited, and do not identify the exact first-year period. The five-year table uses Route 1 Operator!C6:G6 (revenue) and C17:G17 (EBITDA). Underlying values, recalculated and checked against cached results, are: 148104/-13742.532; 188496/20342.232; 228888/52986.996; 269280/85631.76; 282744/94593.348. Displayed figures are rounded to whole pounds. Incorrect references in Investor Summary!B27:B30 were not used. Base assumptions come from Assumptions!C17:C22, C31:C38 and B44:F45: 20 mature members spending £300 per month in total, 36 monthly non-member visits at £400, 10% retail uplift, consumables at 12.05% of revenue, annual rent of £75,000, therapist costs of £24,000, reception costs of £30,000, plus utilities, amenities, insurance and marketing. The single-studio illustration excludes UK head-office costs and the proposed 12-month internship/work budget. Its EBITDA is not consolidated company profit, a cash dividend or a return per funding unit. Unit Economics!C43/C42 shows 56 projected monthly visits and capacity for 44 treatments; reconcile the definitions, scheduling and staffing costs. The existing 49% SPV structure, 3× Year-5 EBITDA valuation and earlier tuition prices have not been adopted as terms for this funding proposal. The ReadMe in MM_Studio_Entity_PL_Consolidated.xlsx identifies actual-data gaps and restrictions on investment valuation use, so its consolidated profit figures are not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user's programme instructions and explicit choice to retain unspecified figures as placeholders. Each unit is £XXX. Study visits, training and practice cost £15,000, excluding travel, hotel accommodation and transport. The 12-month professional certificate course starts at £25,000. The 12-month internship/work budget is £XXXX. Each unit includes MM Studio equity valued at £50,000, calculated against its 2026 baseline/original value of £XXXX. All amounts are in GBP. Earlier family-route totals of £165k/£275k/£395k are not adopted. The allocation provisionally treats the equity element as an equal £50,000 cash subscription. The minimum listed components total £15,000 + £25,000 + £50,000 = £90,000, plus the internship/work budget and any course cost above the starting price. If equity is allocated by transfer, non-cash arrangement or another mechanism, fundraising and cash flows must be recalculated. The meaning of “original value”, the 2026 baseline value, share issuer, share class, subscription or transfer mechanism, fully diluted ownership percentage and shareholder rights remain unconfirmed. No pre-money/post-money formula or Year-5 exit value is applied. Total fundraising equals N units multiplied by the final amount paid per unit; N is unconfirmed. The two 12-month elements are not assumed to run consecutively or concurrently. No recognised qualification, job, visa, immigration outcome or investment return is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of the four owner-supplied differentiators and the open items listed in the key-elements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chemeClr val="tx2"/>
                </a:solidFill>
              </a:rPr>
              <a:t>MM Studio  ·  Investor brief  ·  UK programme  ·  Discussion draft  ·  October 2026</a:t>
            </a:r>
            <a:endParaRPr lang="en-US" sz="1100" dirty="0"/>
          </a:p>
        </p:txBody>
      </p:sp>
      <p:sp>
        <p:nvSpPr>
          <p:cNvPr id="3" name="Text 1"/>
          <p:cNvSpPr/>
          <p:nvPr>
            <p:ph idx="101" type="title" hasCustomPrompt="1"/>
          </p:nvPr>
        </p:nvSpPr>
        <p:spPr>
          <a:xfrm>
            <a:off x="548640" y="365760"/>
            <a:ext cx="11094415"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2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ndon opening photo" descr="MM Studio London grand opening team">    </p:cNvPr>
          <p:cNvPicPr>
            <a:picLocks noChangeAspect="1"/>
          </p:cNvPicPr>
          <p:nvPr/>
        </p:nvPicPr>
        <p:blipFill>
          <a:blip r:embed="rId1"/>
          <a:stretch>
            <a:fillRect/>
          </a:stretch>
        </p:blipFill>
        <p:spPr>
          <a:xfrm>
            <a:off x="7711135" y="0"/>
            <a:ext cx="4480560" cy="6858000"/>
          </a:xfrm>
          <a:prstGeom prst="rect">
            <a:avLst/>
          </a:prstGeom>
        </p:spPr>
      </p:pic>
      <p:sp>
        <p:nvSpPr>
          <p:cNvPr id="3" name="Text 0"/>
          <p:cNvSpPr txBox="1"/>
          <p:nvPr/>
        </p:nvSpPr>
        <p:spPr>
          <a:xfrm>
            <a:off x="731520" y="640080"/>
            <a:ext cx="5486400" cy="365760"/>
          </a:xfrm>
          <a:prstGeom prst="rect">
            <a:avLst/>
          </a:prstGeom>
          <a:noFill/>
          <a:ln/>
        </p:spPr>
        <p:txBody>
          <a:bodyPr wrap="square" lIns="0" tIns="0" rIns="0" bIns="0" rtlCol="0" anchor="t"/>
          <a:lstStyle/>
          <a:p>
            <a:pPr indent="0" marL="0">
              <a:buNone/>
            </a:pPr>
            <a:r>
              <a:rPr lang="en-US" sz="1600" b="1" spc="600" kern="0" dirty="0">
                <a:solidFill>
                  <a:schemeClr val="accent1"/>
                </a:solidFill>
              </a:rPr>
              <a:t>MM STUDIO</a:t>
            </a:r>
            <a:endParaRPr lang="en-US" sz="1600" dirty="0"/>
          </a:p>
        </p:txBody>
      </p:sp>
      <p:sp>
        <p:nvSpPr>
          <p:cNvPr id="4" name="Text 1"/>
          <p:cNvSpPr txBox="1"/>
          <p:nvPr/>
        </p:nvSpPr>
        <p:spPr>
          <a:xfrm>
            <a:off x="731520" y="1737360"/>
            <a:ext cx="6766560" cy="21945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Digital cosmetics,</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personalised for the world.</a:t>
            </a:r>
            <a:endParaRPr lang="en-US" sz="4600" dirty="0"/>
          </a:p>
        </p:txBody>
      </p:sp>
      <p:sp>
        <p:nvSpPr>
          <p:cNvPr id="5" name="Text 2"/>
          <p:cNvSpPr txBox="1"/>
          <p:nvPr/>
        </p:nvSpPr>
        <p:spPr>
          <a:xfrm>
            <a:off x="731520" y="4160520"/>
            <a:ext cx="6309360" cy="914400"/>
          </a:xfrm>
          <a:prstGeom prst="rect">
            <a:avLst/>
          </a:prstGeom>
          <a:noFill/>
          <a:ln/>
        </p:spPr>
        <p:txBody>
          <a:bodyPr wrap="square" lIns="0" tIns="0" rIns="0" bIns="0" rtlCol="0" anchor="t"/>
          <a:lstStyle/>
          <a:p>
            <a:pPr indent="0" marL="0">
              <a:buNone/>
            </a:pPr>
            <a:r>
              <a:rPr lang="en-US" sz="2000" dirty="0">
                <a:solidFill>
                  <a:schemeClr val="bg2"/>
                </a:solidFill>
              </a:rPr>
              <a:t>Korean R&amp;D and 30+ years of product design, a UK training hub, and an AI-ready client ecosystem.</a:t>
            </a:r>
            <a:endParaRPr lang="en-US" sz="2000" dirty="0"/>
          </a:p>
        </p:txBody>
      </p:sp>
      <p:sp>
        <p:nvSpPr>
          <p:cNvPr id="6" name="Text 3"/>
          <p:cNvSpPr txBox="1"/>
          <p:nvPr/>
        </p:nvSpPr>
        <p:spPr>
          <a:xfrm>
            <a:off x="731520" y="6035040"/>
            <a:ext cx="6583680" cy="320040"/>
          </a:xfrm>
          <a:prstGeom prst="rect">
            <a:avLst/>
          </a:prstGeom>
          <a:noFill/>
          <a:ln/>
        </p:spPr>
        <p:txBody>
          <a:bodyPr wrap="square" lIns="0" tIns="0" rIns="0" bIns="0" rtlCol="0" anchor="t"/>
          <a:lstStyle/>
          <a:p>
            <a:pPr indent="0" marL="0">
              <a:buNone/>
            </a:pPr>
            <a:r>
              <a:rPr lang="en-US" sz="1300" dirty="0">
                <a:solidFill>
                  <a:schemeClr val="accent2"/>
                </a:solidFill>
              </a:rPr>
              <a:t>Investor brief  ·  UK programme  ·  Discussion draft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Digital cosmetics: where MM Studio is going</a:t>
            </a:r>
            <a:endParaRPr lang="en-US" sz="2800" dirty="0"/>
          </a:p>
        </p:txBody>
      </p:sp>
      <p:sp>
        <p:nvSpPr>
          <p:cNvPr id="3" name="Goal and mission panel"/>
          <p:cNvSpPr/>
          <p:nvPr/>
        </p:nvSpPr>
        <p:spPr>
          <a:xfrm>
            <a:off x="548640" y="1508760"/>
            <a:ext cx="4572000" cy="4617720"/>
          </a:xfrm>
          <a:prstGeom prst="roundRect">
            <a:avLst>
              <a:gd name="adj" fmla="val 1600"/>
            </a:avLst>
          </a:prstGeom>
          <a:solidFill>
            <a:schemeClr val="tx1"/>
          </a:solidFill>
          <a:ln w="12700">
            <a:solidFill>
              <a:schemeClr val="tx1"/>
            </a:solidFill>
            <a:prstDash val="solid"/>
          </a:ln>
        </p:spPr>
      </p:sp>
      <p:sp>
        <p:nvSpPr>
          <p:cNvPr id="4" name="Text 2"/>
          <p:cNvSpPr txBox="1"/>
          <p:nvPr/>
        </p:nvSpPr>
        <p:spPr>
          <a:xfrm>
            <a:off x="914400" y="1828800"/>
            <a:ext cx="3840480" cy="274320"/>
          </a:xfrm>
          <a:prstGeom prst="rect">
            <a:avLst/>
          </a:prstGeom>
          <a:noFill/>
          <a:ln/>
        </p:spPr>
        <p:txBody>
          <a:bodyPr wrap="square" lIns="0" tIns="0" rIns="0" bIns="0" rtlCol="0" anchor="t"/>
          <a:lstStyle/>
          <a:p>
            <a:pPr indent="0" marL="0">
              <a:buNone/>
            </a:pPr>
            <a:r>
              <a:rPr lang="en-US" sz="1200" b="1" spc="400" kern="0" dirty="0">
                <a:solidFill>
                  <a:schemeClr val="accent1"/>
                </a:solidFill>
              </a:rPr>
              <a:t>OUR GOAL</a:t>
            </a:r>
            <a:endParaRPr lang="en-US" sz="1200" dirty="0"/>
          </a:p>
        </p:txBody>
      </p:sp>
      <p:sp>
        <p:nvSpPr>
          <p:cNvPr id="5" name="Text 3"/>
          <p:cNvSpPr txBox="1"/>
          <p:nvPr/>
        </p:nvSpPr>
        <p:spPr>
          <a:xfrm>
            <a:off x="914400" y="2148840"/>
            <a:ext cx="384048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Digital cosmetics</a:t>
            </a:r>
            <a:endParaRPr lang="en-US" sz="3000" dirty="0"/>
          </a:p>
        </p:txBody>
      </p:sp>
      <p:sp>
        <p:nvSpPr>
          <p:cNvPr id="6" name="Text 4"/>
          <p:cNvSpPr txBox="1"/>
          <p:nvPr/>
        </p:nvSpPr>
        <p:spPr>
          <a:xfrm>
            <a:off x="914400" y="2834640"/>
            <a:ext cx="3840480" cy="1371600"/>
          </a:xfrm>
          <a:prstGeom prst="rect">
            <a:avLst/>
          </a:prstGeom>
          <a:noFill/>
          <a:ln/>
        </p:spPr>
        <p:txBody>
          <a:bodyPr wrap="square" lIns="0" tIns="0" rIns="0" bIns="0" rtlCol="0" anchor="t"/>
          <a:lstStyle/>
          <a:p>
            <a:pPr indent="0" marL="0">
              <a:buNone/>
            </a:pPr>
            <a:r>
              <a:rPr lang="en-US" sz="1500" dirty="0">
                <a:solidFill>
                  <a:schemeClr val="bg2"/>
                </a:solidFill>
              </a:rPr>
              <a:t>Cosmetic care that is measured, personalised and tracked over time, so every product and protocol is chosen from data about the individual.</a:t>
            </a:r>
            <a:endParaRPr lang="en-US" sz="1500" dirty="0"/>
          </a:p>
        </p:txBody>
      </p:sp>
      <p:sp>
        <p:nvSpPr>
          <p:cNvPr id="7" name="Text 5"/>
          <p:cNvSpPr txBox="1"/>
          <p:nvPr/>
        </p:nvSpPr>
        <p:spPr>
          <a:xfrm>
            <a:off x="914400" y="4343400"/>
            <a:ext cx="3840480" cy="274320"/>
          </a:xfrm>
          <a:prstGeom prst="rect">
            <a:avLst/>
          </a:prstGeom>
          <a:noFill/>
          <a:ln/>
        </p:spPr>
        <p:txBody>
          <a:bodyPr wrap="square" lIns="0" tIns="0" rIns="0" bIns="0" rtlCol="0" anchor="t"/>
          <a:lstStyle/>
          <a:p>
            <a:pPr indent="0" marL="0">
              <a:buNone/>
            </a:pPr>
            <a:r>
              <a:rPr lang="en-US" sz="1200" b="1" spc="400" kern="0" dirty="0">
                <a:solidFill>
                  <a:schemeClr val="accent1"/>
                </a:solidFill>
              </a:rPr>
              <a:t>OUR MISSION</a:t>
            </a:r>
            <a:endParaRPr lang="en-US" sz="1200" dirty="0"/>
          </a:p>
        </p:txBody>
      </p:sp>
      <p:sp>
        <p:nvSpPr>
          <p:cNvPr id="8" name="Text 6"/>
          <p:cNvSpPr txBox="1"/>
          <p:nvPr/>
        </p:nvSpPr>
        <p:spPr>
          <a:xfrm>
            <a:off x="914400" y="4663440"/>
            <a:ext cx="3840480" cy="118872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Deliver personalised solutions to the world.</a:t>
            </a:r>
            <a:endParaRPr lang="en-US" sz="2200" dirty="0"/>
          </a:p>
        </p:txBody>
      </p:sp>
      <p:sp>
        <p:nvSpPr>
          <p:cNvPr id="9" name="Value card 1"/>
          <p:cNvSpPr/>
          <p:nvPr/>
        </p:nvSpPr>
        <p:spPr>
          <a:xfrm>
            <a:off x="5440680" y="1508760"/>
            <a:ext cx="2986888" cy="2194560"/>
          </a:xfrm>
          <a:prstGeom prst="roundRect">
            <a:avLst>
              <a:gd name="adj" fmla="val 3333"/>
            </a:avLst>
          </a:prstGeom>
          <a:solidFill>
            <a:schemeClr val="bg2"/>
          </a:solidFill>
          <a:ln w="12700">
            <a:solidFill>
              <a:schemeClr val="bg2"/>
            </a:solidFill>
            <a:prstDash val="solid"/>
          </a:ln>
        </p:spPr>
      </p:sp>
      <p:sp>
        <p:nvSpPr>
          <p:cNvPr id="10" name="Value 1 circle"/>
          <p:cNvSpPr/>
          <p:nvPr/>
        </p:nvSpPr>
        <p:spPr>
          <a:xfrm>
            <a:off x="5715000" y="1783080"/>
            <a:ext cx="548640" cy="548640"/>
          </a:xfrm>
          <a:prstGeom prst="ellipse">
            <a:avLst/>
          </a:prstGeom>
          <a:solidFill>
            <a:schemeClr val="tx1"/>
          </a:solidFill>
          <a:ln w="12700">
            <a:solidFill>
              <a:schemeClr val="tx1"/>
            </a:solidFill>
            <a:prstDash val="solid"/>
          </a:ln>
        </p:spPr>
      </p:sp>
      <p:pic>
        <p:nvPicPr>
          <p:cNvPr id="11" name="Value 1 icon" descr="Value 1">    </p:cNvPr>
          <p:cNvPicPr>
            <a:picLocks noChangeAspect="1"/>
          </p:cNvPicPr>
          <p:nvPr/>
        </p:nvPicPr>
        <p:blipFill>
          <a:blip r:embed="rId1"/>
          <a:stretch>
            <a:fillRect/>
          </a:stretch>
        </p:blipFill>
        <p:spPr>
          <a:xfrm>
            <a:off x="5852160" y="1920240"/>
            <a:ext cx="274320" cy="274320"/>
          </a:xfrm>
          <a:prstGeom prst="rect">
            <a:avLst/>
          </a:prstGeom>
        </p:spPr>
      </p:pic>
      <p:sp>
        <p:nvSpPr>
          <p:cNvPr id="12" name="Text 9"/>
          <p:cNvSpPr txBox="1"/>
          <p:nvPr/>
        </p:nvSpPr>
        <p:spPr>
          <a:xfrm>
            <a:off x="5715000" y="2377440"/>
            <a:ext cx="2438248" cy="594360"/>
          </a:xfrm>
          <a:prstGeom prst="rect">
            <a:avLst/>
          </a:prstGeom>
          <a:noFill/>
          <a:ln/>
        </p:spPr>
        <p:txBody>
          <a:bodyPr wrap="square" lIns="0" tIns="0" rIns="0" bIns="0" rtlCol="0" anchor="t"/>
          <a:lstStyle/>
          <a:p>
            <a:pPr indent="0" marL="0">
              <a:buNone/>
            </a:pPr>
            <a:r>
              <a:rPr lang="en-US" sz="1600" b="1" dirty="0">
                <a:solidFill>
                  <a:schemeClr val="tx1"/>
                </a:solidFill>
              </a:rPr>
              <a:t>Personal, not generic</a:t>
            </a:r>
            <a:endParaRPr lang="en-US" sz="1600" dirty="0"/>
          </a:p>
        </p:txBody>
      </p:sp>
      <p:sp>
        <p:nvSpPr>
          <p:cNvPr id="13" name="Text 10"/>
          <p:cNvSpPr txBox="1"/>
          <p:nvPr/>
        </p:nvSpPr>
        <p:spPr>
          <a:xfrm>
            <a:off x="5715000" y="2926080"/>
            <a:ext cx="2438248" cy="731520"/>
          </a:xfrm>
          <a:prstGeom prst="rect">
            <a:avLst/>
          </a:prstGeom>
          <a:noFill/>
          <a:ln/>
        </p:spPr>
        <p:txBody>
          <a:bodyPr wrap="square" lIns="0" tIns="0" rIns="0" bIns="0" rtlCol="0" anchor="t"/>
          <a:lstStyle/>
          <a:p>
            <a:pPr indent="0" marL="0">
              <a:buNone/>
            </a:pPr>
            <a:r>
              <a:rPr lang="en-US" sz="1300" dirty="0">
                <a:solidFill>
                  <a:schemeClr val="tx2"/>
                </a:solidFill>
              </a:rPr>
              <a:t>Every plan starts from the individual's own scan, goals and history.</a:t>
            </a:r>
            <a:endParaRPr lang="en-US" sz="1300" dirty="0"/>
          </a:p>
        </p:txBody>
      </p:sp>
      <p:sp>
        <p:nvSpPr>
          <p:cNvPr id="14" name="Value card 2"/>
          <p:cNvSpPr/>
          <p:nvPr/>
        </p:nvSpPr>
        <p:spPr>
          <a:xfrm>
            <a:off x="8656168" y="1508760"/>
            <a:ext cx="2986888" cy="2194560"/>
          </a:xfrm>
          <a:prstGeom prst="roundRect">
            <a:avLst>
              <a:gd name="adj" fmla="val 3333"/>
            </a:avLst>
          </a:prstGeom>
          <a:solidFill>
            <a:schemeClr val="bg2"/>
          </a:solidFill>
          <a:ln w="12700">
            <a:solidFill>
              <a:schemeClr val="bg2"/>
            </a:solidFill>
            <a:prstDash val="solid"/>
          </a:ln>
        </p:spPr>
      </p:sp>
      <p:sp>
        <p:nvSpPr>
          <p:cNvPr id="15" name="Value 2 circle"/>
          <p:cNvSpPr/>
          <p:nvPr/>
        </p:nvSpPr>
        <p:spPr>
          <a:xfrm>
            <a:off x="8930488" y="1783080"/>
            <a:ext cx="548640" cy="548640"/>
          </a:xfrm>
          <a:prstGeom prst="ellipse">
            <a:avLst/>
          </a:prstGeom>
          <a:solidFill>
            <a:schemeClr val="tx1"/>
          </a:solidFill>
          <a:ln w="12700">
            <a:solidFill>
              <a:schemeClr val="tx1"/>
            </a:solidFill>
            <a:prstDash val="solid"/>
          </a:ln>
        </p:spPr>
      </p:sp>
      <p:pic>
        <p:nvPicPr>
          <p:cNvPr id="16" name="Value 2 icon" descr="Value 2">    </p:cNvPr>
          <p:cNvPicPr>
            <a:picLocks noChangeAspect="1"/>
          </p:cNvPicPr>
          <p:nvPr/>
        </p:nvPicPr>
        <p:blipFill>
          <a:blip r:embed="rId2"/>
          <a:stretch>
            <a:fillRect/>
          </a:stretch>
        </p:blipFill>
        <p:spPr>
          <a:xfrm>
            <a:off x="9067648" y="1920240"/>
            <a:ext cx="274320" cy="274320"/>
          </a:xfrm>
          <a:prstGeom prst="rect">
            <a:avLst/>
          </a:prstGeom>
        </p:spPr>
      </p:pic>
      <p:sp>
        <p:nvSpPr>
          <p:cNvPr id="17" name="Text 13"/>
          <p:cNvSpPr txBox="1"/>
          <p:nvPr/>
        </p:nvSpPr>
        <p:spPr>
          <a:xfrm>
            <a:off x="8930488" y="2377440"/>
            <a:ext cx="2438248" cy="594360"/>
          </a:xfrm>
          <a:prstGeom prst="rect">
            <a:avLst/>
          </a:prstGeom>
          <a:noFill/>
          <a:ln/>
        </p:spPr>
        <p:txBody>
          <a:bodyPr wrap="square" lIns="0" tIns="0" rIns="0" bIns="0" rtlCol="0" anchor="t"/>
          <a:lstStyle/>
          <a:p>
            <a:pPr indent="0" marL="0">
              <a:buNone/>
            </a:pPr>
            <a:r>
              <a:rPr lang="en-US" sz="1600" b="1" dirty="0">
                <a:solidFill>
                  <a:schemeClr val="tx1"/>
                </a:solidFill>
              </a:rPr>
              <a:t>Science with discipline</a:t>
            </a:r>
            <a:endParaRPr lang="en-US" sz="1600" dirty="0"/>
          </a:p>
        </p:txBody>
      </p:sp>
      <p:sp>
        <p:nvSpPr>
          <p:cNvPr id="18" name="Text 14"/>
          <p:cNvSpPr txBox="1"/>
          <p:nvPr/>
        </p:nvSpPr>
        <p:spPr>
          <a:xfrm>
            <a:off x="8930488" y="2926080"/>
            <a:ext cx="2438248" cy="731520"/>
          </a:xfrm>
          <a:prstGeom prst="rect">
            <a:avLst/>
          </a:prstGeom>
          <a:noFill/>
          <a:ln/>
        </p:spPr>
        <p:txBody>
          <a:bodyPr wrap="square" lIns="0" tIns="0" rIns="0" bIns="0" rtlCol="0" anchor="t"/>
          <a:lstStyle/>
          <a:p>
            <a:pPr indent="0" marL="0">
              <a:buNone/>
            </a:pPr>
            <a:r>
              <a:rPr lang="en-US" sz="1300" dirty="0">
                <a:solidFill>
                  <a:schemeClr val="tx2"/>
                </a:solidFill>
              </a:rPr>
              <a:t>We explain mechanisms and keep evidence separate from marketing claims.</a:t>
            </a:r>
            <a:endParaRPr lang="en-US" sz="1300" dirty="0"/>
          </a:p>
        </p:txBody>
      </p:sp>
      <p:sp>
        <p:nvSpPr>
          <p:cNvPr id="19" name="Value card 3"/>
          <p:cNvSpPr/>
          <p:nvPr/>
        </p:nvSpPr>
        <p:spPr>
          <a:xfrm>
            <a:off x="5440680" y="3931920"/>
            <a:ext cx="2986888" cy="2194560"/>
          </a:xfrm>
          <a:prstGeom prst="roundRect">
            <a:avLst>
              <a:gd name="adj" fmla="val 3333"/>
            </a:avLst>
          </a:prstGeom>
          <a:solidFill>
            <a:schemeClr val="bg2"/>
          </a:solidFill>
          <a:ln w="12700">
            <a:solidFill>
              <a:schemeClr val="bg2"/>
            </a:solidFill>
            <a:prstDash val="solid"/>
          </a:ln>
        </p:spPr>
      </p:sp>
      <p:sp>
        <p:nvSpPr>
          <p:cNvPr id="20" name="Value 3 circle"/>
          <p:cNvSpPr/>
          <p:nvPr/>
        </p:nvSpPr>
        <p:spPr>
          <a:xfrm>
            <a:off x="5715000" y="4206240"/>
            <a:ext cx="548640" cy="548640"/>
          </a:xfrm>
          <a:prstGeom prst="ellipse">
            <a:avLst/>
          </a:prstGeom>
          <a:solidFill>
            <a:schemeClr val="tx1"/>
          </a:solidFill>
          <a:ln w="12700">
            <a:solidFill>
              <a:schemeClr val="tx1"/>
            </a:solidFill>
            <a:prstDash val="solid"/>
          </a:ln>
        </p:spPr>
      </p:sp>
      <p:pic>
        <p:nvPicPr>
          <p:cNvPr id="21" name="Value 3 icon" descr="Value 3">    </p:cNvPr>
          <p:cNvPicPr>
            <a:picLocks noChangeAspect="1"/>
          </p:cNvPicPr>
          <p:nvPr/>
        </p:nvPicPr>
        <p:blipFill>
          <a:blip r:embed="rId3"/>
          <a:stretch>
            <a:fillRect/>
          </a:stretch>
        </p:blipFill>
        <p:spPr>
          <a:xfrm>
            <a:off x="5852160" y="4343400"/>
            <a:ext cx="274320" cy="274320"/>
          </a:xfrm>
          <a:prstGeom prst="rect">
            <a:avLst/>
          </a:prstGeom>
        </p:spPr>
      </p:pic>
      <p:sp>
        <p:nvSpPr>
          <p:cNvPr id="22" name="Text 17"/>
          <p:cNvSpPr txBox="1"/>
          <p:nvPr/>
        </p:nvSpPr>
        <p:spPr>
          <a:xfrm>
            <a:off x="5715000" y="4800600"/>
            <a:ext cx="2438248" cy="594360"/>
          </a:xfrm>
          <a:prstGeom prst="rect">
            <a:avLst/>
          </a:prstGeom>
          <a:noFill/>
          <a:ln/>
        </p:spPr>
        <p:txBody>
          <a:bodyPr wrap="square" lIns="0" tIns="0" rIns="0" bIns="0" rtlCol="0" anchor="t"/>
          <a:lstStyle/>
          <a:p>
            <a:pPr indent="0" marL="0">
              <a:buNone/>
            </a:pPr>
            <a:r>
              <a:rPr lang="en-US" sz="1600" b="1" dirty="0">
                <a:solidFill>
                  <a:schemeClr val="tx1"/>
                </a:solidFill>
              </a:rPr>
              <a:t>Craft guided by data</a:t>
            </a:r>
            <a:endParaRPr lang="en-US" sz="1600" dirty="0"/>
          </a:p>
        </p:txBody>
      </p:sp>
      <p:sp>
        <p:nvSpPr>
          <p:cNvPr id="23" name="Text 18"/>
          <p:cNvSpPr txBox="1"/>
          <p:nvPr/>
        </p:nvSpPr>
        <p:spPr>
          <a:xfrm>
            <a:off x="5715000" y="5349240"/>
            <a:ext cx="2438248" cy="731520"/>
          </a:xfrm>
          <a:prstGeom prst="rect">
            <a:avLst/>
          </a:prstGeom>
          <a:noFill/>
          <a:ln/>
        </p:spPr>
        <p:txBody>
          <a:bodyPr wrap="square" lIns="0" tIns="0" rIns="0" bIns="0" rtlCol="0" anchor="t"/>
          <a:lstStyle/>
          <a:p>
            <a:pPr indent="0" marL="0">
              <a:buNone/>
            </a:pPr>
            <a:r>
              <a:rPr lang="en-US" sz="1300" dirty="0">
                <a:solidFill>
                  <a:schemeClr val="tx2"/>
                </a:solidFill>
              </a:rPr>
              <a:t>Trained professional hands, supported by AI-assisted imaging, never replaced by it.</a:t>
            </a:r>
            <a:endParaRPr lang="en-US" sz="1300" dirty="0"/>
          </a:p>
        </p:txBody>
      </p:sp>
      <p:sp>
        <p:nvSpPr>
          <p:cNvPr id="24" name="Value card 4"/>
          <p:cNvSpPr/>
          <p:nvPr/>
        </p:nvSpPr>
        <p:spPr>
          <a:xfrm>
            <a:off x="8656168" y="3931920"/>
            <a:ext cx="2986888" cy="2194560"/>
          </a:xfrm>
          <a:prstGeom prst="roundRect">
            <a:avLst>
              <a:gd name="adj" fmla="val 3333"/>
            </a:avLst>
          </a:prstGeom>
          <a:solidFill>
            <a:schemeClr val="bg2"/>
          </a:solidFill>
          <a:ln w="12700">
            <a:solidFill>
              <a:schemeClr val="bg2"/>
            </a:solidFill>
            <a:prstDash val="solid"/>
          </a:ln>
        </p:spPr>
      </p:sp>
      <p:sp>
        <p:nvSpPr>
          <p:cNvPr id="25" name="Value 4 circle"/>
          <p:cNvSpPr/>
          <p:nvPr/>
        </p:nvSpPr>
        <p:spPr>
          <a:xfrm>
            <a:off x="8930488" y="4206240"/>
            <a:ext cx="548640" cy="548640"/>
          </a:xfrm>
          <a:prstGeom prst="ellipse">
            <a:avLst/>
          </a:prstGeom>
          <a:solidFill>
            <a:schemeClr val="tx1"/>
          </a:solidFill>
          <a:ln w="12700">
            <a:solidFill>
              <a:schemeClr val="tx1"/>
            </a:solidFill>
            <a:prstDash val="solid"/>
          </a:ln>
        </p:spPr>
      </p:sp>
      <p:pic>
        <p:nvPicPr>
          <p:cNvPr id="26" name="Value 4 icon" descr="Value 4">    </p:cNvPr>
          <p:cNvPicPr>
            <a:picLocks noChangeAspect="1"/>
          </p:cNvPicPr>
          <p:nvPr/>
        </p:nvPicPr>
        <p:blipFill>
          <a:blip r:embed="rId4"/>
          <a:stretch>
            <a:fillRect/>
          </a:stretch>
        </p:blipFill>
        <p:spPr>
          <a:xfrm>
            <a:off x="9067648" y="4343400"/>
            <a:ext cx="274320" cy="274320"/>
          </a:xfrm>
          <a:prstGeom prst="rect">
            <a:avLst/>
          </a:prstGeom>
        </p:spPr>
      </p:pic>
      <p:sp>
        <p:nvSpPr>
          <p:cNvPr id="27" name="Text 21"/>
          <p:cNvSpPr txBox="1"/>
          <p:nvPr/>
        </p:nvSpPr>
        <p:spPr>
          <a:xfrm>
            <a:off x="8930488" y="4800600"/>
            <a:ext cx="2438248" cy="594360"/>
          </a:xfrm>
          <a:prstGeom prst="rect">
            <a:avLst/>
          </a:prstGeom>
          <a:noFill/>
          <a:ln/>
        </p:spPr>
        <p:txBody>
          <a:bodyPr wrap="square" lIns="0" tIns="0" rIns="0" bIns="0" rtlCol="0" anchor="t"/>
          <a:lstStyle/>
          <a:p>
            <a:pPr indent="0" marL="0">
              <a:buNone/>
            </a:pPr>
            <a:r>
              <a:rPr lang="en-US" sz="1600" b="1" dirty="0">
                <a:solidFill>
                  <a:schemeClr val="tx1"/>
                </a:solidFill>
              </a:rPr>
              <a:t>One shared standard</a:t>
            </a:r>
            <a:endParaRPr lang="en-US" sz="1600" dirty="0"/>
          </a:p>
        </p:txBody>
      </p:sp>
      <p:sp>
        <p:nvSpPr>
          <p:cNvPr id="28" name="Text 22"/>
          <p:cNvSpPr txBox="1"/>
          <p:nvPr/>
        </p:nvSpPr>
        <p:spPr>
          <a:xfrm>
            <a:off x="8930488" y="5349240"/>
            <a:ext cx="2438248" cy="731520"/>
          </a:xfrm>
          <a:prstGeom prst="rect">
            <a:avLst/>
          </a:prstGeom>
          <a:noFill/>
          <a:ln/>
        </p:spPr>
        <p:txBody>
          <a:bodyPr wrap="square" lIns="0" tIns="0" rIns="0" bIns="0" rtlCol="0" anchor="t"/>
          <a:lstStyle/>
          <a:p>
            <a:pPr indent="0" marL="0">
              <a:buNone/>
            </a:pPr>
            <a:r>
              <a:rPr lang="en-US" sz="1300" dirty="0">
                <a:solidFill>
                  <a:schemeClr val="tx2"/>
                </a:solidFill>
              </a:rPr>
              <a:t>A single method, product range and training path across every studio.</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A leadership bench no single-discipline rival can match</a:t>
            </a:r>
            <a:endParaRPr lang="en-US" sz="2800" dirty="0"/>
          </a:p>
        </p:txBody>
      </p:sp>
      <p:sp>
        <p:nvSpPr>
          <p:cNvPr id="3" name="Leader card 1"/>
          <p:cNvSpPr/>
          <p:nvPr/>
        </p:nvSpPr>
        <p:spPr>
          <a:xfrm>
            <a:off x="548640" y="1508760"/>
            <a:ext cx="2036003" cy="3429000"/>
          </a:xfrm>
          <a:prstGeom prst="roundRect">
            <a:avLst>
              <a:gd name="adj" fmla="val 3593"/>
            </a:avLst>
          </a:prstGeom>
          <a:solidFill>
            <a:schemeClr val="bg2"/>
          </a:solidFill>
          <a:ln w="12700">
            <a:solidFill>
              <a:schemeClr val="bg2"/>
            </a:solidFill>
            <a:prstDash val="solid"/>
          </a:ln>
        </p:spPr>
      </p:sp>
      <p:sp>
        <p:nvSpPr>
          <p:cNvPr id="4" name="Scientists circle"/>
          <p:cNvSpPr/>
          <p:nvPr/>
        </p:nvSpPr>
        <p:spPr>
          <a:xfrm>
            <a:off x="777240" y="1691640"/>
            <a:ext cx="594360" cy="594360"/>
          </a:xfrm>
          <a:prstGeom prst="ellipse">
            <a:avLst/>
          </a:prstGeom>
          <a:solidFill>
            <a:schemeClr val="tx1"/>
          </a:solidFill>
          <a:ln w="12700">
            <a:solidFill>
              <a:schemeClr val="tx1"/>
            </a:solidFill>
            <a:prstDash val="solid"/>
          </a:ln>
        </p:spPr>
      </p:sp>
      <p:pic>
        <p:nvPicPr>
          <p:cNvPr id="5" name="Scientists icon" descr="Scientists">    </p:cNvPr>
          <p:cNvPicPr>
            <a:picLocks noChangeAspect="1"/>
          </p:cNvPicPr>
          <p:nvPr/>
        </p:nvPicPr>
        <p:blipFill>
          <a:blip r:embed="rId1"/>
          <a:stretch>
            <a:fillRect/>
          </a:stretch>
        </p:blipFill>
        <p:spPr>
          <a:xfrm>
            <a:off x="925830" y="1840230"/>
            <a:ext cx="297180" cy="297180"/>
          </a:xfrm>
          <a:prstGeom prst="rect">
            <a:avLst/>
          </a:prstGeom>
        </p:spPr>
      </p:pic>
      <p:sp>
        <p:nvSpPr>
          <p:cNvPr id="6" name="Text 3"/>
          <p:cNvSpPr txBox="1"/>
          <p:nvPr/>
        </p:nvSpPr>
        <p:spPr>
          <a:xfrm>
            <a:off x="777240"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Scientists</a:t>
            </a:r>
            <a:endParaRPr lang="en-US" sz="1500" dirty="0"/>
          </a:p>
        </p:txBody>
      </p:sp>
      <p:sp>
        <p:nvSpPr>
          <p:cNvPr id="7" name="Text 4"/>
          <p:cNvSpPr txBox="1"/>
          <p:nvPr/>
        </p:nvSpPr>
        <p:spPr>
          <a:xfrm>
            <a:off x="777240"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Formulation and vesicle research behind IT-EXO and SynExo.</a:t>
            </a:r>
            <a:endParaRPr lang="en-US" sz="1200" dirty="0"/>
          </a:p>
        </p:txBody>
      </p:sp>
      <p:sp>
        <p:nvSpPr>
          <p:cNvPr id="8" name="Text 5"/>
          <p:cNvSpPr txBox="1"/>
          <p:nvPr/>
        </p:nvSpPr>
        <p:spPr>
          <a:xfrm>
            <a:off x="777240"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Dr. Keith Kwong, Chief Scientist</a:t>
            </a:r>
            <a:endParaRPr lang="en-US" sz="1200" dirty="0"/>
          </a:p>
          <a:p>
            <a:pPr indent="0" marL="0">
              <a:buNone/>
            </a:pPr>
            <a:r>
              <a:rPr lang="en-US" sz="1200" b="1" dirty="0">
                <a:solidFill>
                  <a:schemeClr val="tx1"/>
                </a:solidFill>
              </a:rPr>
              <a:t>David Shim, VP R&amp;D</a:t>
            </a:r>
            <a:endParaRPr lang="en-US" sz="1200" dirty="0"/>
          </a:p>
        </p:txBody>
      </p:sp>
      <p:sp>
        <p:nvSpPr>
          <p:cNvPr id="9" name="Leader card 2"/>
          <p:cNvSpPr/>
          <p:nvPr/>
        </p:nvSpPr>
        <p:spPr>
          <a:xfrm>
            <a:off x="2813243" y="1508760"/>
            <a:ext cx="2036003" cy="3429000"/>
          </a:xfrm>
          <a:prstGeom prst="roundRect">
            <a:avLst>
              <a:gd name="adj" fmla="val 3593"/>
            </a:avLst>
          </a:prstGeom>
          <a:solidFill>
            <a:schemeClr val="bg2"/>
          </a:solidFill>
          <a:ln w="12700">
            <a:solidFill>
              <a:schemeClr val="bg2"/>
            </a:solidFill>
            <a:prstDash val="solid"/>
          </a:ln>
        </p:spPr>
      </p:sp>
      <p:sp>
        <p:nvSpPr>
          <p:cNvPr id="10" name="Physicians circle"/>
          <p:cNvSpPr/>
          <p:nvPr/>
        </p:nvSpPr>
        <p:spPr>
          <a:xfrm>
            <a:off x="3041843" y="1691640"/>
            <a:ext cx="594360" cy="594360"/>
          </a:xfrm>
          <a:prstGeom prst="ellipse">
            <a:avLst/>
          </a:prstGeom>
          <a:solidFill>
            <a:schemeClr val="tx1"/>
          </a:solidFill>
          <a:ln w="12700">
            <a:solidFill>
              <a:schemeClr val="tx1"/>
            </a:solidFill>
            <a:prstDash val="solid"/>
          </a:ln>
        </p:spPr>
      </p:sp>
      <p:pic>
        <p:nvPicPr>
          <p:cNvPr id="11" name="Physicians icon" descr="Physicians">    </p:cNvPr>
          <p:cNvPicPr>
            <a:picLocks noChangeAspect="1"/>
          </p:cNvPicPr>
          <p:nvPr/>
        </p:nvPicPr>
        <p:blipFill>
          <a:blip r:embed="rId2"/>
          <a:stretch>
            <a:fillRect/>
          </a:stretch>
        </p:blipFill>
        <p:spPr>
          <a:xfrm>
            <a:off x="3190433" y="1840230"/>
            <a:ext cx="297180" cy="297180"/>
          </a:xfrm>
          <a:prstGeom prst="rect">
            <a:avLst/>
          </a:prstGeom>
        </p:spPr>
      </p:pic>
      <p:sp>
        <p:nvSpPr>
          <p:cNvPr id="12" name="Text 8"/>
          <p:cNvSpPr txBox="1"/>
          <p:nvPr/>
        </p:nvSpPr>
        <p:spPr>
          <a:xfrm>
            <a:off x="3041843"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Physicians</a:t>
            </a:r>
            <a:endParaRPr lang="en-US" sz="1500" dirty="0"/>
          </a:p>
        </p:txBody>
      </p:sp>
      <p:sp>
        <p:nvSpPr>
          <p:cNvPr id="13" name="Text 9"/>
          <p:cNvSpPr txBox="1"/>
          <p:nvPr/>
        </p:nvSpPr>
        <p:spPr>
          <a:xfrm>
            <a:off x="3041843"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Clinical judgement and evidence from physician shareholders.</a:t>
            </a:r>
            <a:endParaRPr lang="en-US" sz="1200" dirty="0"/>
          </a:p>
        </p:txBody>
      </p:sp>
      <p:sp>
        <p:nvSpPr>
          <p:cNvPr id="14" name="Text 10"/>
          <p:cNvSpPr txBox="1"/>
          <p:nvPr/>
        </p:nvSpPr>
        <p:spPr>
          <a:xfrm>
            <a:off x="3041843"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K-Doctor network</a:t>
            </a:r>
            <a:endParaRPr lang="en-US" sz="1200" dirty="0"/>
          </a:p>
        </p:txBody>
      </p:sp>
      <p:sp>
        <p:nvSpPr>
          <p:cNvPr id="15" name="Leader card 3"/>
          <p:cNvSpPr/>
          <p:nvPr/>
        </p:nvSpPr>
        <p:spPr>
          <a:xfrm>
            <a:off x="5077846" y="1508760"/>
            <a:ext cx="2036003" cy="3429000"/>
          </a:xfrm>
          <a:prstGeom prst="roundRect">
            <a:avLst>
              <a:gd name="adj" fmla="val 3593"/>
            </a:avLst>
          </a:prstGeom>
          <a:solidFill>
            <a:schemeClr val="bg2"/>
          </a:solidFill>
          <a:ln w="12700">
            <a:solidFill>
              <a:schemeClr val="bg2"/>
            </a:solidFill>
            <a:prstDash val="solid"/>
          </a:ln>
        </p:spPr>
      </p:sp>
      <p:sp>
        <p:nvSpPr>
          <p:cNvPr id="16" name="Entrepreneurs circle"/>
          <p:cNvSpPr/>
          <p:nvPr/>
        </p:nvSpPr>
        <p:spPr>
          <a:xfrm>
            <a:off x="5306446" y="1691640"/>
            <a:ext cx="594360" cy="594360"/>
          </a:xfrm>
          <a:prstGeom prst="ellipse">
            <a:avLst/>
          </a:prstGeom>
          <a:solidFill>
            <a:schemeClr val="tx1"/>
          </a:solidFill>
          <a:ln w="12700">
            <a:solidFill>
              <a:schemeClr val="tx1"/>
            </a:solidFill>
            <a:prstDash val="solid"/>
          </a:ln>
        </p:spPr>
      </p:sp>
      <p:pic>
        <p:nvPicPr>
          <p:cNvPr id="17" name="Entrepreneurs icon" descr="Entrepreneurs">    </p:cNvPr>
          <p:cNvPicPr>
            <a:picLocks noChangeAspect="1"/>
          </p:cNvPicPr>
          <p:nvPr/>
        </p:nvPicPr>
        <p:blipFill>
          <a:blip r:embed="rId3"/>
          <a:stretch>
            <a:fillRect/>
          </a:stretch>
        </p:blipFill>
        <p:spPr>
          <a:xfrm>
            <a:off x="5455036" y="1840230"/>
            <a:ext cx="297180" cy="297180"/>
          </a:xfrm>
          <a:prstGeom prst="rect">
            <a:avLst/>
          </a:prstGeom>
        </p:spPr>
      </p:pic>
      <p:sp>
        <p:nvSpPr>
          <p:cNvPr id="18" name="Text 13"/>
          <p:cNvSpPr txBox="1"/>
          <p:nvPr/>
        </p:nvSpPr>
        <p:spPr>
          <a:xfrm>
            <a:off x="5306446"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Entrepreneurs</a:t>
            </a:r>
            <a:endParaRPr lang="en-US" sz="1500" dirty="0"/>
          </a:p>
        </p:txBody>
      </p:sp>
      <p:sp>
        <p:nvSpPr>
          <p:cNvPr id="19" name="Text 14"/>
          <p:cNvSpPr txBox="1"/>
          <p:nvPr/>
        </p:nvSpPr>
        <p:spPr>
          <a:xfrm>
            <a:off x="5306446"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Built a trading business into an R&amp;D-led biotech group.</a:t>
            </a:r>
            <a:endParaRPr lang="en-US" sz="1200" dirty="0"/>
          </a:p>
        </p:txBody>
      </p:sp>
      <p:sp>
        <p:nvSpPr>
          <p:cNvPr id="20" name="Text 15"/>
          <p:cNvSpPr txBox="1"/>
          <p:nvPr/>
        </p:nvSpPr>
        <p:spPr>
          <a:xfrm>
            <a:off x="5306446"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Theresa Jang, CEO</a:t>
            </a:r>
            <a:endParaRPr lang="en-US" sz="1200" dirty="0"/>
          </a:p>
        </p:txBody>
      </p:sp>
      <p:sp>
        <p:nvSpPr>
          <p:cNvPr id="21" name="Leader card 4"/>
          <p:cNvSpPr/>
          <p:nvPr/>
        </p:nvSpPr>
        <p:spPr>
          <a:xfrm>
            <a:off x="7342449" y="1508760"/>
            <a:ext cx="2036003" cy="3429000"/>
          </a:xfrm>
          <a:prstGeom prst="roundRect">
            <a:avLst>
              <a:gd name="adj" fmla="val 3593"/>
            </a:avLst>
          </a:prstGeom>
          <a:solidFill>
            <a:schemeClr val="bg2"/>
          </a:solidFill>
          <a:ln w="12700">
            <a:solidFill>
              <a:schemeClr val="bg2"/>
            </a:solidFill>
            <a:prstDash val="solid"/>
          </a:ln>
        </p:spPr>
      </p:sp>
      <p:sp>
        <p:nvSpPr>
          <p:cNvPr id="22" name="Corporate executives circle"/>
          <p:cNvSpPr/>
          <p:nvPr/>
        </p:nvSpPr>
        <p:spPr>
          <a:xfrm>
            <a:off x="7571049" y="1691640"/>
            <a:ext cx="594360" cy="594360"/>
          </a:xfrm>
          <a:prstGeom prst="ellipse">
            <a:avLst/>
          </a:prstGeom>
          <a:solidFill>
            <a:schemeClr val="tx1"/>
          </a:solidFill>
          <a:ln w="12700">
            <a:solidFill>
              <a:schemeClr val="tx1"/>
            </a:solidFill>
            <a:prstDash val="solid"/>
          </a:ln>
        </p:spPr>
      </p:sp>
      <p:pic>
        <p:nvPicPr>
          <p:cNvPr id="23" name="Corporate executives icon" descr="Corporate executives">    </p:cNvPr>
          <p:cNvPicPr>
            <a:picLocks noChangeAspect="1"/>
          </p:cNvPicPr>
          <p:nvPr/>
        </p:nvPicPr>
        <p:blipFill>
          <a:blip r:embed="rId4"/>
          <a:stretch>
            <a:fillRect/>
          </a:stretch>
        </p:blipFill>
        <p:spPr>
          <a:xfrm>
            <a:off x="7719639" y="1840230"/>
            <a:ext cx="297180" cy="297180"/>
          </a:xfrm>
          <a:prstGeom prst="rect">
            <a:avLst/>
          </a:prstGeom>
        </p:spPr>
      </p:pic>
      <p:sp>
        <p:nvSpPr>
          <p:cNvPr id="24" name="Text 18"/>
          <p:cNvSpPr txBox="1"/>
          <p:nvPr/>
        </p:nvSpPr>
        <p:spPr>
          <a:xfrm>
            <a:off x="7571049"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Corporate executives</a:t>
            </a:r>
            <a:endParaRPr lang="en-US" sz="1500" dirty="0"/>
          </a:p>
        </p:txBody>
      </p:sp>
      <p:sp>
        <p:nvSpPr>
          <p:cNvPr id="25" name="Text 19"/>
          <p:cNvSpPr txBox="1"/>
          <p:nvPr/>
        </p:nvSpPr>
        <p:spPr>
          <a:xfrm>
            <a:off x="7571049"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Technology, finance and brand leadership for global markets.</a:t>
            </a:r>
            <a:endParaRPr lang="en-US" sz="1200" dirty="0"/>
          </a:p>
        </p:txBody>
      </p:sp>
      <p:sp>
        <p:nvSpPr>
          <p:cNvPr id="26" name="Text 20"/>
          <p:cNvSpPr txBox="1"/>
          <p:nvPr/>
        </p:nvSpPr>
        <p:spPr>
          <a:xfrm>
            <a:off x="7571049"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Dr. Sidney Tam, CTO</a:t>
            </a:r>
            <a:endParaRPr lang="en-US" sz="1200" dirty="0"/>
          </a:p>
          <a:p>
            <a:pPr indent="0" marL="0">
              <a:buNone/>
            </a:pPr>
            <a:r>
              <a:rPr lang="en-US" sz="1200" b="1" dirty="0">
                <a:solidFill>
                  <a:schemeClr val="tx1"/>
                </a:solidFill>
              </a:rPr>
              <a:t>Sylvia Wong, CMO</a:t>
            </a:r>
            <a:endParaRPr lang="en-US" sz="1200" dirty="0"/>
          </a:p>
        </p:txBody>
      </p:sp>
      <p:sp>
        <p:nvSpPr>
          <p:cNvPr id="27" name="Leader card 5"/>
          <p:cNvSpPr/>
          <p:nvPr/>
        </p:nvSpPr>
        <p:spPr>
          <a:xfrm>
            <a:off x="9607052" y="1508760"/>
            <a:ext cx="2036003" cy="3429000"/>
          </a:xfrm>
          <a:prstGeom prst="roundRect">
            <a:avLst>
              <a:gd name="adj" fmla="val 3593"/>
            </a:avLst>
          </a:prstGeom>
          <a:solidFill>
            <a:schemeClr val="bg2"/>
          </a:solidFill>
          <a:ln w="12700">
            <a:solidFill>
              <a:schemeClr val="bg2"/>
            </a:solidFill>
            <a:prstDash val="solid"/>
          </a:ln>
        </p:spPr>
      </p:sp>
      <p:sp>
        <p:nvSpPr>
          <p:cNvPr id="28" name="Engineering experts circle"/>
          <p:cNvSpPr/>
          <p:nvPr/>
        </p:nvSpPr>
        <p:spPr>
          <a:xfrm>
            <a:off x="9835652" y="1691640"/>
            <a:ext cx="594360" cy="594360"/>
          </a:xfrm>
          <a:prstGeom prst="ellipse">
            <a:avLst/>
          </a:prstGeom>
          <a:solidFill>
            <a:schemeClr val="tx1"/>
          </a:solidFill>
          <a:ln w="12700">
            <a:solidFill>
              <a:schemeClr val="tx1"/>
            </a:solidFill>
            <a:prstDash val="solid"/>
          </a:ln>
        </p:spPr>
      </p:sp>
      <p:pic>
        <p:nvPicPr>
          <p:cNvPr id="29" name="Engineering experts icon" descr="Engineering experts">    </p:cNvPr>
          <p:cNvPicPr>
            <a:picLocks noChangeAspect="1"/>
          </p:cNvPicPr>
          <p:nvPr/>
        </p:nvPicPr>
        <p:blipFill>
          <a:blip r:embed="rId5"/>
          <a:stretch>
            <a:fillRect/>
          </a:stretch>
        </p:blipFill>
        <p:spPr>
          <a:xfrm>
            <a:off x="9984242" y="1840230"/>
            <a:ext cx="297180" cy="297180"/>
          </a:xfrm>
          <a:prstGeom prst="rect">
            <a:avLst/>
          </a:prstGeom>
        </p:spPr>
      </p:pic>
      <p:sp>
        <p:nvSpPr>
          <p:cNvPr id="30" name="Text 23"/>
          <p:cNvSpPr txBox="1"/>
          <p:nvPr/>
        </p:nvSpPr>
        <p:spPr>
          <a:xfrm>
            <a:off x="9835652" y="2423160"/>
            <a:ext cx="1578803" cy="548640"/>
          </a:xfrm>
          <a:prstGeom prst="rect">
            <a:avLst/>
          </a:prstGeom>
          <a:noFill/>
          <a:ln/>
        </p:spPr>
        <p:txBody>
          <a:bodyPr wrap="square" lIns="0" tIns="0" rIns="0" bIns="0" rtlCol="0" anchor="t"/>
          <a:lstStyle/>
          <a:p>
            <a:pPr indent="0" marL="0">
              <a:buNone/>
            </a:pPr>
            <a:r>
              <a:rPr lang="en-US" sz="1500" b="1" dirty="0">
                <a:solidFill>
                  <a:schemeClr val="tx1"/>
                </a:solidFill>
              </a:rPr>
              <a:t>Engineering experts</a:t>
            </a:r>
            <a:endParaRPr lang="en-US" sz="1500" dirty="0"/>
          </a:p>
        </p:txBody>
      </p:sp>
      <p:sp>
        <p:nvSpPr>
          <p:cNvPr id="31" name="Text 24"/>
          <p:cNvSpPr txBox="1"/>
          <p:nvPr/>
        </p:nvSpPr>
        <p:spPr>
          <a:xfrm>
            <a:off x="9835652" y="3017520"/>
            <a:ext cx="1578803" cy="1051560"/>
          </a:xfrm>
          <a:prstGeom prst="rect">
            <a:avLst/>
          </a:prstGeom>
          <a:noFill/>
          <a:ln/>
        </p:spPr>
        <p:txBody>
          <a:bodyPr wrap="square" lIns="0" tIns="0" rIns="0" bIns="0" rtlCol="0" anchor="t"/>
          <a:lstStyle/>
          <a:p>
            <a:pPr indent="0" marL="0">
              <a:buNone/>
            </a:pPr>
            <a:r>
              <a:rPr lang="en-US" sz="1200" dirty="0">
                <a:solidFill>
                  <a:schemeClr val="tx2"/>
                </a:solidFill>
              </a:rPr>
              <a:t>Production and development, from formula to tested product.</a:t>
            </a:r>
            <a:endParaRPr lang="en-US" sz="1200" dirty="0"/>
          </a:p>
        </p:txBody>
      </p:sp>
      <p:sp>
        <p:nvSpPr>
          <p:cNvPr id="32" name="Text 25"/>
          <p:cNvSpPr txBox="1"/>
          <p:nvPr/>
        </p:nvSpPr>
        <p:spPr>
          <a:xfrm>
            <a:off x="9835652" y="4114800"/>
            <a:ext cx="1578803" cy="777240"/>
          </a:xfrm>
          <a:prstGeom prst="rect">
            <a:avLst/>
          </a:prstGeom>
          <a:noFill/>
          <a:ln/>
        </p:spPr>
        <p:txBody>
          <a:bodyPr wrap="square" lIns="0" tIns="0" rIns="0" bIns="0" rtlCol="0" anchor="t"/>
          <a:lstStyle/>
          <a:p>
            <a:pPr indent="0" marL="0">
              <a:buNone/>
            </a:pPr>
            <a:r>
              <a:rPr lang="en-US" sz="1200" b="1" dirty="0">
                <a:solidFill>
                  <a:schemeClr val="tx1"/>
                </a:solidFill>
              </a:rPr>
              <a:t>Kwongjae Park, CEO, WellBester (GMP and QC)</a:t>
            </a:r>
            <a:endParaRPr lang="en-US" sz="1200" dirty="0"/>
          </a:p>
        </p:txBody>
      </p:sp>
      <p:sp>
        <p:nvSpPr>
          <p:cNvPr id="33" name="Leadership takeaway"/>
          <p:cNvSpPr/>
          <p:nvPr/>
        </p:nvSpPr>
        <p:spPr>
          <a:xfrm>
            <a:off x="548640" y="5120640"/>
            <a:ext cx="11094415" cy="1051560"/>
          </a:xfrm>
          <a:prstGeom prst="roundRect">
            <a:avLst>
              <a:gd name="adj" fmla="val 6957"/>
            </a:avLst>
          </a:prstGeom>
          <a:solidFill>
            <a:schemeClr val="tx1"/>
          </a:solidFill>
          <a:ln w="12700">
            <a:solidFill>
              <a:schemeClr val="tx1"/>
            </a:solidFill>
            <a:prstDash val="solid"/>
          </a:ln>
        </p:spPr>
      </p:sp>
      <p:sp>
        <p:nvSpPr>
          <p:cNvPr id="34" name="Text 27"/>
          <p:cNvSpPr txBox="1"/>
          <p:nvPr/>
        </p:nvSpPr>
        <p:spPr>
          <a:xfrm>
            <a:off x="914400" y="5285232"/>
            <a:ext cx="23774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Why it matters</a:t>
            </a:r>
            <a:endParaRPr lang="en-US" sz="1200" dirty="0"/>
          </a:p>
        </p:txBody>
      </p:sp>
      <p:sp>
        <p:nvSpPr>
          <p:cNvPr id="35" name="Text 28"/>
          <p:cNvSpPr txBox="1"/>
          <p:nvPr/>
        </p:nvSpPr>
        <p:spPr>
          <a:xfrm>
            <a:off x="914400" y="5559552"/>
            <a:ext cx="10362895" cy="548640"/>
          </a:xfrm>
          <a:prstGeom prst="rect">
            <a:avLst/>
          </a:prstGeom>
          <a:noFill/>
          <a:ln/>
        </p:spPr>
        <p:txBody>
          <a:bodyPr wrap="square" lIns="0" tIns="0" rIns="0" bIns="0" rtlCol="0" anchor="t"/>
          <a:lstStyle/>
          <a:p>
            <a:pPr indent="0" marL="0">
              <a:buNone/>
            </a:pPr>
            <a:r>
              <a:rPr lang="en-US" sz="1500" dirty="0">
                <a:solidFill>
                  <a:srgbClr val="FFFFFF"/>
                </a:solidFill>
              </a:rPr>
              <a:t>One cross-border team (Seoul, Hong Kong, London) covers invention, safe delivery, scale-up and capital discipline, so no link in the chain depends on an outside party.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IT-EXO and SynExo: our baseline for resilient, regenerative care</a:t>
            </a:r>
            <a:endParaRPr lang="en-US" sz="2800" dirty="0"/>
          </a:p>
        </p:txBody>
      </p:sp>
      <p:sp>
        <p:nvSpPr>
          <p:cNvPr id="3" name="Platform card 1"/>
          <p:cNvSpPr/>
          <p:nvPr/>
        </p:nvSpPr>
        <p:spPr>
          <a:xfrm>
            <a:off x="548640" y="1508760"/>
            <a:ext cx="3545738" cy="3017520"/>
          </a:xfrm>
          <a:prstGeom prst="roundRect">
            <a:avLst>
              <a:gd name="adj" fmla="val 2424"/>
            </a:avLst>
          </a:prstGeom>
          <a:solidFill>
            <a:schemeClr val="bg2"/>
          </a:solidFill>
          <a:ln w="12700">
            <a:solidFill>
              <a:schemeClr val="bg2"/>
            </a:solidFill>
            <a:prstDash val="solid"/>
          </a:ln>
        </p:spPr>
      </p:sp>
      <p:sp>
        <p:nvSpPr>
          <p:cNvPr id="4" name="Text 2"/>
          <p:cNvSpPr txBox="1"/>
          <p:nvPr/>
        </p:nvSpPr>
        <p:spPr>
          <a:xfrm>
            <a:off x="822960" y="1691640"/>
            <a:ext cx="731520" cy="274320"/>
          </a:xfrm>
          <a:prstGeom prst="rect">
            <a:avLst/>
          </a:prstGeom>
          <a:noFill/>
          <a:ln/>
        </p:spPr>
        <p:txBody>
          <a:bodyPr wrap="square" lIns="0" tIns="0" rIns="0" bIns="0" rtlCol="0" anchor="t"/>
          <a:lstStyle/>
          <a:p>
            <a:pPr indent="0" marL="0">
              <a:buNone/>
            </a:pPr>
            <a:r>
              <a:rPr lang="en-US" sz="1300" b="1" dirty="0">
                <a:solidFill>
                  <a:schemeClr val="accent1"/>
                </a:solidFill>
              </a:rPr>
              <a:t>01</a:t>
            </a:r>
            <a:endParaRPr lang="en-US" sz="1300" dirty="0"/>
          </a:p>
        </p:txBody>
      </p:sp>
      <p:sp>
        <p:nvSpPr>
          <p:cNvPr id="5" name="Text 3"/>
          <p:cNvSpPr txBox="1"/>
          <p:nvPr/>
        </p:nvSpPr>
        <p:spPr>
          <a:xfrm>
            <a:off x="822960" y="1965960"/>
            <a:ext cx="2997098"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IT-EXO®</a:t>
            </a:r>
            <a:endParaRPr lang="en-US" sz="2200" dirty="0"/>
          </a:p>
        </p:txBody>
      </p:sp>
      <p:sp>
        <p:nvSpPr>
          <p:cNvPr id="6" name="Text 4"/>
          <p:cNvSpPr txBox="1"/>
          <p:nvPr/>
        </p:nvSpPr>
        <p:spPr>
          <a:xfrm>
            <a:off x="822960" y="2468880"/>
            <a:ext cx="2997098" cy="1280160"/>
          </a:xfrm>
          <a:prstGeom prst="rect">
            <a:avLst/>
          </a:prstGeom>
          <a:noFill/>
          <a:ln/>
        </p:spPr>
        <p:txBody>
          <a:bodyPr wrap="square" lIns="0" tIns="0" rIns="0" bIns="0" rtlCol="0" anchor="t"/>
          <a:lstStyle/>
          <a:p>
            <a:pPr indent="0" marL="0">
              <a:buNone/>
            </a:pPr>
            <a:r>
              <a:rPr lang="en-US" sz="1300" dirty="0">
                <a:solidFill>
                  <a:schemeClr val="tx1"/>
                </a:solidFill>
              </a:rPr>
              <a:t>Exosome research and formulation for professional aesthetic products, including licensed human-derived exosome technology for hair and skin.</a:t>
            </a:r>
            <a:endParaRPr lang="en-US" sz="1300" dirty="0"/>
          </a:p>
        </p:txBody>
      </p:sp>
      <p:sp>
        <p:nvSpPr>
          <p:cNvPr id="7" name="Text 5"/>
          <p:cNvSpPr txBox="1"/>
          <p:nvPr/>
        </p:nvSpPr>
        <p:spPr>
          <a:xfrm>
            <a:off x="822960" y="3840480"/>
            <a:ext cx="2997098" cy="548640"/>
          </a:xfrm>
          <a:prstGeom prst="rect">
            <a:avLst/>
          </a:prstGeom>
          <a:noFill/>
          <a:ln/>
        </p:spPr>
        <p:txBody>
          <a:bodyPr wrap="square" lIns="0" tIns="0" rIns="0" bIns="0" rtlCol="0" anchor="t"/>
          <a:lstStyle/>
          <a:p>
            <a:pPr indent="0" marL="0">
              <a:buNone/>
            </a:pPr>
            <a:r>
              <a:rPr lang="en-US" sz="1300" i="1" dirty="0">
                <a:solidFill>
                  <a:schemeClr val="tx2"/>
                </a:solidFill>
              </a:rPr>
              <a:t>Baseline platform for resilience.</a:t>
            </a:r>
            <a:endParaRPr lang="en-US" sz="1300" dirty="0"/>
          </a:p>
        </p:txBody>
      </p:sp>
      <p:sp>
        <p:nvSpPr>
          <p:cNvPr id="8" name="Platform card 2"/>
          <p:cNvSpPr/>
          <p:nvPr/>
        </p:nvSpPr>
        <p:spPr>
          <a:xfrm>
            <a:off x="4322978" y="1508760"/>
            <a:ext cx="3545738" cy="3017520"/>
          </a:xfrm>
          <a:prstGeom prst="roundRect">
            <a:avLst>
              <a:gd name="adj" fmla="val 2424"/>
            </a:avLst>
          </a:prstGeom>
          <a:solidFill>
            <a:schemeClr val="bg2"/>
          </a:solidFill>
          <a:ln w="12700">
            <a:solidFill>
              <a:schemeClr val="bg2"/>
            </a:solidFill>
            <a:prstDash val="solid"/>
          </a:ln>
        </p:spPr>
      </p:sp>
      <p:sp>
        <p:nvSpPr>
          <p:cNvPr id="9" name="Text 7"/>
          <p:cNvSpPr txBox="1"/>
          <p:nvPr/>
        </p:nvSpPr>
        <p:spPr>
          <a:xfrm>
            <a:off x="4597298" y="1691640"/>
            <a:ext cx="731520" cy="274320"/>
          </a:xfrm>
          <a:prstGeom prst="rect">
            <a:avLst/>
          </a:prstGeom>
          <a:noFill/>
          <a:ln/>
        </p:spPr>
        <p:txBody>
          <a:bodyPr wrap="square" lIns="0" tIns="0" rIns="0" bIns="0" rtlCol="0" anchor="t"/>
          <a:lstStyle/>
          <a:p>
            <a:pPr indent="0" marL="0">
              <a:buNone/>
            </a:pPr>
            <a:r>
              <a:rPr lang="en-US" sz="1300" b="1" dirty="0">
                <a:solidFill>
                  <a:schemeClr val="accent1"/>
                </a:solidFill>
              </a:rPr>
              <a:t>02</a:t>
            </a:r>
            <a:endParaRPr lang="en-US" sz="1300" dirty="0"/>
          </a:p>
        </p:txBody>
      </p:sp>
      <p:sp>
        <p:nvSpPr>
          <p:cNvPr id="10" name="Text 8"/>
          <p:cNvSpPr txBox="1"/>
          <p:nvPr/>
        </p:nvSpPr>
        <p:spPr>
          <a:xfrm>
            <a:off x="4597298" y="1965960"/>
            <a:ext cx="2997098"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SynExo</a:t>
            </a:r>
            <a:endParaRPr lang="en-US" sz="2200" dirty="0"/>
          </a:p>
        </p:txBody>
      </p:sp>
      <p:sp>
        <p:nvSpPr>
          <p:cNvPr id="11" name="Text 9"/>
          <p:cNvSpPr txBox="1"/>
          <p:nvPr/>
        </p:nvSpPr>
        <p:spPr>
          <a:xfrm>
            <a:off x="4597298" y="2468880"/>
            <a:ext cx="2997098" cy="1280160"/>
          </a:xfrm>
          <a:prstGeom prst="rect">
            <a:avLst/>
          </a:prstGeom>
          <a:noFill/>
          <a:ln/>
        </p:spPr>
        <p:txBody>
          <a:bodyPr wrap="square" lIns="0" tIns="0" rIns="0" bIns="0" rtlCol="0" anchor="t"/>
          <a:lstStyle/>
          <a:p>
            <a:pPr indent="0" marL="0">
              <a:buNone/>
            </a:pPr>
            <a:r>
              <a:rPr lang="en-US" sz="1300" dirty="0">
                <a:solidFill>
                  <a:schemeClr val="tx1"/>
                </a:solidFill>
              </a:rPr>
              <a:t>Synthetic exosome with HLA-G immune shielding and EGF/bFGF cargo. Korean patent registered 2026; manuscript under peer review.</a:t>
            </a:r>
            <a:endParaRPr lang="en-US" sz="1300" dirty="0"/>
          </a:p>
        </p:txBody>
      </p:sp>
      <p:sp>
        <p:nvSpPr>
          <p:cNvPr id="12" name="Text 10"/>
          <p:cNvSpPr txBox="1"/>
          <p:nvPr/>
        </p:nvSpPr>
        <p:spPr>
          <a:xfrm>
            <a:off x="4597298" y="3840480"/>
            <a:ext cx="2997098" cy="548640"/>
          </a:xfrm>
          <a:prstGeom prst="rect">
            <a:avLst/>
          </a:prstGeom>
          <a:noFill/>
          <a:ln/>
        </p:spPr>
        <p:txBody>
          <a:bodyPr wrap="square" lIns="0" tIns="0" rIns="0" bIns="0" rtlCol="0" anchor="t"/>
          <a:lstStyle/>
          <a:p>
            <a:pPr indent="0" marL="0">
              <a:buNone/>
            </a:pPr>
            <a:r>
              <a:rPr lang="en-US" sz="1300" i="1" dirty="0">
                <a:solidFill>
                  <a:schemeClr val="tx2"/>
                </a:solidFill>
              </a:rPr>
              <a:t>Baseline platform for regenerative biotech.</a:t>
            </a:r>
            <a:endParaRPr lang="en-US" sz="1300" dirty="0"/>
          </a:p>
        </p:txBody>
      </p:sp>
      <p:sp>
        <p:nvSpPr>
          <p:cNvPr id="13" name="Platform card 3"/>
          <p:cNvSpPr/>
          <p:nvPr/>
        </p:nvSpPr>
        <p:spPr>
          <a:xfrm>
            <a:off x="8097317" y="1508760"/>
            <a:ext cx="3545738" cy="3017520"/>
          </a:xfrm>
          <a:prstGeom prst="roundRect">
            <a:avLst>
              <a:gd name="adj" fmla="val 2424"/>
            </a:avLst>
          </a:prstGeom>
          <a:solidFill>
            <a:schemeClr val="bg2"/>
          </a:solidFill>
          <a:ln w="12700">
            <a:solidFill>
              <a:schemeClr val="bg2"/>
            </a:solidFill>
            <a:prstDash val="solid"/>
          </a:ln>
        </p:spPr>
      </p:sp>
      <p:sp>
        <p:nvSpPr>
          <p:cNvPr id="14" name="Text 12"/>
          <p:cNvSpPr txBox="1"/>
          <p:nvPr/>
        </p:nvSpPr>
        <p:spPr>
          <a:xfrm>
            <a:off x="8371637" y="1691640"/>
            <a:ext cx="731520" cy="274320"/>
          </a:xfrm>
          <a:prstGeom prst="rect">
            <a:avLst/>
          </a:prstGeom>
          <a:noFill/>
          <a:ln/>
        </p:spPr>
        <p:txBody>
          <a:bodyPr wrap="square" lIns="0" tIns="0" rIns="0" bIns="0" rtlCol="0" anchor="t"/>
          <a:lstStyle/>
          <a:p>
            <a:pPr indent="0" marL="0">
              <a:buNone/>
            </a:pPr>
            <a:r>
              <a:rPr lang="en-US" sz="1300" b="1" dirty="0">
                <a:solidFill>
                  <a:schemeClr val="accent1"/>
                </a:solidFill>
              </a:rPr>
              <a:t>03</a:t>
            </a:r>
            <a:endParaRPr lang="en-US" sz="1300" dirty="0"/>
          </a:p>
        </p:txBody>
      </p:sp>
      <p:sp>
        <p:nvSpPr>
          <p:cNvPr id="15" name="Text 13"/>
          <p:cNvSpPr txBox="1"/>
          <p:nvPr/>
        </p:nvSpPr>
        <p:spPr>
          <a:xfrm>
            <a:off x="8371637" y="1965960"/>
            <a:ext cx="2997098"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RetroEV ExoShot</a:t>
            </a:r>
            <a:endParaRPr lang="en-US" sz="2200" dirty="0"/>
          </a:p>
        </p:txBody>
      </p:sp>
      <p:sp>
        <p:nvSpPr>
          <p:cNvPr id="16" name="Text 14"/>
          <p:cNvSpPr txBox="1"/>
          <p:nvPr/>
        </p:nvSpPr>
        <p:spPr>
          <a:xfrm>
            <a:off x="8371637" y="2468880"/>
            <a:ext cx="2997098" cy="1280160"/>
          </a:xfrm>
          <a:prstGeom prst="rect">
            <a:avLst/>
          </a:prstGeom>
          <a:noFill/>
          <a:ln/>
        </p:spPr>
        <p:txBody>
          <a:bodyPr wrap="square" lIns="0" tIns="0" rIns="0" bIns="0" rtlCol="0" anchor="t"/>
          <a:lstStyle/>
          <a:p>
            <a:pPr indent="0" marL="0">
              <a:buNone/>
            </a:pPr>
            <a:r>
              <a:rPr lang="en-US" sz="1300" dirty="0">
                <a:solidFill>
                  <a:schemeClr val="tx1"/>
                </a:solidFill>
              </a:rPr>
              <a:t>Needle-free device platform with compatible EXO DERMA and EXO HAIR formulations and care protocols.</a:t>
            </a:r>
            <a:endParaRPr lang="en-US" sz="1300" dirty="0"/>
          </a:p>
        </p:txBody>
      </p:sp>
      <p:sp>
        <p:nvSpPr>
          <p:cNvPr id="17" name="Text 15"/>
          <p:cNvSpPr txBox="1"/>
          <p:nvPr/>
        </p:nvSpPr>
        <p:spPr>
          <a:xfrm>
            <a:off x="8371637" y="3840480"/>
            <a:ext cx="1808378" cy="548640"/>
          </a:xfrm>
          <a:prstGeom prst="rect">
            <a:avLst/>
          </a:prstGeom>
          <a:noFill/>
          <a:ln/>
        </p:spPr>
        <p:txBody>
          <a:bodyPr wrap="square" lIns="0" tIns="0" rIns="0" bIns="0" rtlCol="0" anchor="t"/>
          <a:lstStyle/>
          <a:p>
            <a:pPr indent="0" marL="0">
              <a:buNone/>
            </a:pPr>
            <a:r>
              <a:rPr lang="en-US" sz="1300" i="1" dirty="0">
                <a:solidFill>
                  <a:schemeClr val="tx2"/>
                </a:solidFill>
              </a:rPr>
              <a:t>Makes the science a repeatable studio service.</a:t>
            </a:r>
            <a:endParaRPr lang="en-US" sz="1300" dirty="0"/>
          </a:p>
        </p:txBody>
      </p:sp>
      <p:pic>
        <p:nvPicPr>
          <p:cNvPr id="18" name="EXO DERMA vial" descr="RetroEV EXO DERMA vial">    </p:cNvPr>
          <p:cNvPicPr>
            <a:picLocks noChangeAspect="1"/>
          </p:cNvPicPr>
          <p:nvPr/>
        </p:nvPicPr>
        <p:blipFill>
          <a:blip r:embed="rId1"/>
          <a:stretch>
            <a:fillRect/>
          </a:stretch>
        </p:blipFill>
        <p:spPr>
          <a:xfrm>
            <a:off x="10225735" y="3520440"/>
            <a:ext cx="566928" cy="850392"/>
          </a:xfrm>
          <a:prstGeom prst="rect">
            <a:avLst/>
          </a:prstGeom>
        </p:spPr>
      </p:pic>
      <p:pic>
        <p:nvPicPr>
          <p:cNvPr id="19" name="EXO HAIR vial" descr="RetroEV EXO HAIR vial">    </p:cNvPr>
          <p:cNvPicPr>
            <a:picLocks noChangeAspect="1"/>
          </p:cNvPicPr>
          <p:nvPr/>
        </p:nvPicPr>
        <p:blipFill>
          <a:blip r:embed="rId2"/>
          <a:stretch>
            <a:fillRect/>
          </a:stretch>
        </p:blipFill>
        <p:spPr>
          <a:xfrm>
            <a:off x="10820095" y="3520440"/>
            <a:ext cx="566928" cy="850392"/>
          </a:xfrm>
          <a:prstGeom prst="rect">
            <a:avLst/>
          </a:prstGeom>
        </p:spPr>
      </p:pic>
      <p:sp>
        <p:nvSpPr>
          <p:cNvPr id="20" name="Text 16"/>
          <p:cNvSpPr txBox="1"/>
          <p:nvPr/>
        </p:nvSpPr>
        <p:spPr>
          <a:xfrm>
            <a:off x="548640" y="4681728"/>
            <a:ext cx="54864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SynExo in-vitro results (submitted manuscript)</a:t>
            </a:r>
            <a:endParaRPr lang="en-US" sz="1200" dirty="0"/>
          </a:p>
        </p:txBody>
      </p:sp>
      <p:sp>
        <p:nvSpPr>
          <p:cNvPr id="21" name="Text 17"/>
          <p:cNvSpPr txBox="1"/>
          <p:nvPr/>
        </p:nvSpPr>
        <p:spPr>
          <a:xfrm>
            <a:off x="548640"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&gt;95%</a:t>
            </a:r>
            <a:endParaRPr lang="en-US" sz="2600" dirty="0"/>
          </a:p>
        </p:txBody>
      </p:sp>
      <p:sp>
        <p:nvSpPr>
          <p:cNvPr id="22" name="Text 18"/>
          <p:cNvSpPr txBox="1"/>
          <p:nvPr/>
        </p:nvSpPr>
        <p:spPr>
          <a:xfrm>
            <a:off x="548640"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cell viability, 0 to 15 µg/mL</a:t>
            </a:r>
            <a:endParaRPr lang="en-US" sz="1200" dirty="0"/>
          </a:p>
        </p:txBody>
      </p:sp>
      <p:sp>
        <p:nvSpPr>
          <p:cNvPr id="23" name="Text 19"/>
          <p:cNvSpPr txBox="1"/>
          <p:nvPr/>
        </p:nvSpPr>
        <p:spPr>
          <a:xfrm>
            <a:off x="3367964"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24-36 h</a:t>
            </a:r>
            <a:endParaRPr lang="en-US" sz="2600" dirty="0"/>
          </a:p>
        </p:txBody>
      </p:sp>
      <p:sp>
        <p:nvSpPr>
          <p:cNvPr id="24" name="Text 20"/>
          <p:cNvSpPr txBox="1"/>
          <p:nvPr/>
        </p:nvSpPr>
        <p:spPr>
          <a:xfrm>
            <a:off x="3367964"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peak EGF/bFGF expression</a:t>
            </a:r>
            <a:endParaRPr lang="en-US" sz="1200" dirty="0"/>
          </a:p>
        </p:txBody>
      </p:sp>
      <p:sp>
        <p:nvSpPr>
          <p:cNvPr id="25" name="Text 21"/>
          <p:cNvSpPr txBox="1"/>
          <p:nvPr/>
        </p:nvSpPr>
        <p:spPr>
          <a:xfrm>
            <a:off x="6187288"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4 of 4</a:t>
            </a:r>
            <a:endParaRPr lang="en-US" sz="2600" dirty="0"/>
          </a:p>
        </p:txBody>
      </p:sp>
      <p:sp>
        <p:nvSpPr>
          <p:cNvPr id="26" name="Text 22"/>
          <p:cNvSpPr txBox="1"/>
          <p:nvPr/>
        </p:nvSpPr>
        <p:spPr>
          <a:xfrm>
            <a:off x="6187288"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pro-inflammatory cytokines lowered</a:t>
            </a:r>
            <a:endParaRPr lang="en-US" sz="1200" dirty="0"/>
          </a:p>
        </p:txBody>
      </p:sp>
      <p:sp>
        <p:nvSpPr>
          <p:cNvPr id="27" name="Text 23"/>
          <p:cNvSpPr txBox="1"/>
          <p:nvPr/>
        </p:nvSpPr>
        <p:spPr>
          <a:xfrm>
            <a:off x="9006611" y="4956048"/>
            <a:ext cx="2636444"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2.2-2.9×</a:t>
            </a:r>
            <a:endParaRPr lang="en-US" sz="2600" dirty="0"/>
          </a:p>
        </p:txBody>
      </p:sp>
      <p:sp>
        <p:nvSpPr>
          <p:cNvPr id="28" name="Text 24"/>
          <p:cNvSpPr txBox="1"/>
          <p:nvPr/>
        </p:nvSpPr>
        <p:spPr>
          <a:xfrm>
            <a:off x="9006611" y="5440680"/>
            <a:ext cx="2636444" cy="274320"/>
          </a:xfrm>
          <a:prstGeom prst="rect">
            <a:avLst/>
          </a:prstGeom>
          <a:noFill/>
          <a:ln/>
        </p:spPr>
        <p:txBody>
          <a:bodyPr wrap="square" lIns="0" tIns="0" rIns="0" bIns="0" rtlCol="0" anchor="t"/>
          <a:lstStyle/>
          <a:p>
            <a:pPr indent="0" marL="0">
              <a:buNone/>
            </a:pPr>
            <a:r>
              <a:rPr lang="en-US" sz="1200" dirty="0">
                <a:solidFill>
                  <a:schemeClr val="tx2"/>
                </a:solidFill>
              </a:rPr>
              <a:t>target-cell proliferation</a:t>
            </a:r>
            <a:endParaRPr lang="en-US" sz="1200" dirty="0"/>
          </a:p>
        </p:txBody>
      </p:sp>
      <p:sp>
        <p:nvSpPr>
          <p:cNvPr id="29" name="Text 25"/>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200" dirty="0">
                <a:solidFill>
                  <a:schemeClr val="tx2"/>
                </a:solidFill>
              </a:rPr>
              <a:t>Laboratory (in vitro) data only. Mechanisms and clinical outcomes need separate evidence; product documentation defines intended use.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Why our design is different: 30+ years from supply chain to studio</a:t>
            </a:r>
            <a:endParaRPr lang="en-US" sz="2800" dirty="0"/>
          </a:p>
        </p:txBody>
      </p:sp>
      <p:sp>
        <p:nvSpPr>
          <p:cNvPr id="3" name="Flow step Design"/>
          <p:cNvSpPr/>
          <p:nvPr/>
        </p:nvSpPr>
        <p:spPr>
          <a:xfrm>
            <a:off x="548640" y="1554480"/>
            <a:ext cx="1448410" cy="685800"/>
          </a:xfrm>
          <a:prstGeom prst="homePlate">
            <a:avLst/>
          </a:prstGeom>
          <a:solidFill>
            <a:schemeClr val="tx1"/>
          </a:solidFill>
          <a:ln w="12700">
            <a:solidFill>
              <a:schemeClr val="bg1"/>
            </a:solidFill>
            <a:prstDash val="solid"/>
          </a:ln>
        </p:spPr>
      </p:sp>
      <p:sp>
        <p:nvSpPr>
          <p:cNvPr id="4" name="Text 2"/>
          <p:cNvSpPr txBox="1"/>
          <p:nvPr/>
        </p:nvSpPr>
        <p:spPr>
          <a:xfrm>
            <a:off x="658368"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Design</a:t>
            </a:r>
            <a:endParaRPr lang="en-US" sz="1200" dirty="0"/>
          </a:p>
        </p:txBody>
      </p:sp>
      <p:sp>
        <p:nvSpPr>
          <p:cNvPr id="5" name="Flow step Formulate"/>
          <p:cNvSpPr/>
          <p:nvPr/>
        </p:nvSpPr>
        <p:spPr>
          <a:xfrm>
            <a:off x="2015338" y="1554480"/>
            <a:ext cx="1448410" cy="685800"/>
          </a:xfrm>
          <a:prstGeom prst="homePlate">
            <a:avLst/>
          </a:prstGeom>
          <a:solidFill>
            <a:schemeClr val="tx1"/>
          </a:solidFill>
          <a:ln w="12700">
            <a:solidFill>
              <a:schemeClr val="bg1"/>
            </a:solidFill>
            <a:prstDash val="solid"/>
          </a:ln>
        </p:spPr>
      </p:sp>
      <p:sp>
        <p:nvSpPr>
          <p:cNvPr id="6" name="Text 4"/>
          <p:cNvSpPr txBox="1"/>
          <p:nvPr/>
        </p:nvSpPr>
        <p:spPr>
          <a:xfrm>
            <a:off x="2125066"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Formulate</a:t>
            </a:r>
            <a:endParaRPr lang="en-US" sz="1200" dirty="0"/>
          </a:p>
        </p:txBody>
      </p:sp>
      <p:sp>
        <p:nvSpPr>
          <p:cNvPr id="7" name="Flow step Manufacture"/>
          <p:cNvSpPr/>
          <p:nvPr/>
        </p:nvSpPr>
        <p:spPr>
          <a:xfrm>
            <a:off x="3482035" y="1554480"/>
            <a:ext cx="1448410" cy="685800"/>
          </a:xfrm>
          <a:prstGeom prst="homePlate">
            <a:avLst/>
          </a:prstGeom>
          <a:solidFill>
            <a:schemeClr val="tx1"/>
          </a:solidFill>
          <a:ln w="12700">
            <a:solidFill>
              <a:schemeClr val="bg1"/>
            </a:solidFill>
            <a:prstDash val="solid"/>
          </a:ln>
        </p:spPr>
      </p:sp>
      <p:sp>
        <p:nvSpPr>
          <p:cNvPr id="8" name="Text 6"/>
          <p:cNvSpPr txBox="1"/>
          <p:nvPr/>
        </p:nvSpPr>
        <p:spPr>
          <a:xfrm>
            <a:off x="3591763"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Manufacture</a:t>
            </a:r>
            <a:endParaRPr lang="en-US" sz="1200" dirty="0"/>
          </a:p>
        </p:txBody>
      </p:sp>
      <p:sp>
        <p:nvSpPr>
          <p:cNvPr id="9" name="Flow step Train"/>
          <p:cNvSpPr/>
          <p:nvPr/>
        </p:nvSpPr>
        <p:spPr>
          <a:xfrm>
            <a:off x="4948733" y="1554480"/>
            <a:ext cx="1448410" cy="685800"/>
          </a:xfrm>
          <a:prstGeom prst="homePlate">
            <a:avLst/>
          </a:prstGeom>
          <a:solidFill>
            <a:schemeClr val="tx1"/>
          </a:solidFill>
          <a:ln w="12700">
            <a:solidFill>
              <a:schemeClr val="bg1"/>
            </a:solidFill>
            <a:prstDash val="solid"/>
          </a:ln>
        </p:spPr>
      </p:sp>
      <p:sp>
        <p:nvSpPr>
          <p:cNvPr id="10" name="Text 8"/>
          <p:cNvSpPr txBox="1"/>
          <p:nvPr/>
        </p:nvSpPr>
        <p:spPr>
          <a:xfrm>
            <a:off x="5058461"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Train</a:t>
            </a:r>
            <a:endParaRPr lang="en-US" sz="1200" dirty="0"/>
          </a:p>
        </p:txBody>
      </p:sp>
      <p:sp>
        <p:nvSpPr>
          <p:cNvPr id="11" name="Flow step Serve"/>
          <p:cNvSpPr/>
          <p:nvPr/>
        </p:nvSpPr>
        <p:spPr>
          <a:xfrm>
            <a:off x="6415430" y="1554480"/>
            <a:ext cx="1448410" cy="685800"/>
          </a:xfrm>
          <a:prstGeom prst="homePlate">
            <a:avLst/>
          </a:prstGeom>
          <a:solidFill>
            <a:schemeClr val="accent1"/>
          </a:solidFill>
          <a:ln w="12700">
            <a:solidFill>
              <a:schemeClr val="bg1"/>
            </a:solidFill>
            <a:prstDash val="solid"/>
          </a:ln>
        </p:spPr>
      </p:sp>
      <p:sp>
        <p:nvSpPr>
          <p:cNvPr id="12" name="Text 10"/>
          <p:cNvSpPr txBox="1"/>
          <p:nvPr/>
        </p:nvSpPr>
        <p:spPr>
          <a:xfrm>
            <a:off x="6525158" y="1554480"/>
            <a:ext cx="1174090" cy="685800"/>
          </a:xfrm>
          <a:prstGeom prst="rect">
            <a:avLst/>
          </a:prstGeom>
          <a:noFill/>
          <a:ln/>
        </p:spPr>
        <p:txBody>
          <a:bodyPr wrap="square" lIns="0" tIns="0" rIns="0" bIns="0" rtlCol="0" anchor="ctr"/>
          <a:lstStyle/>
          <a:p>
            <a:pPr algn="ctr" indent="0" marL="0">
              <a:buNone/>
            </a:pPr>
            <a:r>
              <a:rPr lang="en-US" sz="1200" b="1" dirty="0">
                <a:solidFill>
                  <a:srgbClr val="FFFFFF"/>
                </a:solidFill>
              </a:rPr>
              <a:t>Serve</a:t>
            </a:r>
            <a:endParaRPr lang="en-US" sz="1200" dirty="0"/>
          </a:p>
        </p:txBody>
      </p:sp>
      <p:sp>
        <p:nvSpPr>
          <p:cNvPr id="13" name="30+ years of product design circle"/>
          <p:cNvSpPr/>
          <p:nvPr/>
        </p:nvSpPr>
        <p:spPr>
          <a:xfrm>
            <a:off x="548640" y="2606040"/>
            <a:ext cx="548640" cy="548640"/>
          </a:xfrm>
          <a:prstGeom prst="ellipse">
            <a:avLst/>
          </a:prstGeom>
          <a:solidFill>
            <a:schemeClr val="tx1"/>
          </a:solidFill>
          <a:ln w="12700">
            <a:solidFill>
              <a:schemeClr val="tx1"/>
            </a:solidFill>
            <a:prstDash val="solid"/>
          </a:ln>
        </p:spPr>
      </p:sp>
      <p:pic>
        <p:nvPicPr>
          <p:cNvPr id="14" name="30+ years of product design icon" descr="30+ years of product design">    </p:cNvPr>
          <p:cNvPicPr>
            <a:picLocks noChangeAspect="1"/>
          </p:cNvPicPr>
          <p:nvPr/>
        </p:nvPicPr>
        <p:blipFill>
          <a:blip r:embed="rId1"/>
          <a:stretch>
            <a:fillRect/>
          </a:stretch>
        </p:blipFill>
        <p:spPr>
          <a:xfrm>
            <a:off x="685800" y="2743200"/>
            <a:ext cx="274320" cy="274320"/>
          </a:xfrm>
          <a:prstGeom prst="rect">
            <a:avLst/>
          </a:prstGeom>
        </p:spPr>
      </p:pic>
      <p:sp>
        <p:nvSpPr>
          <p:cNvPr id="15" name="Text 12"/>
          <p:cNvSpPr txBox="1"/>
          <p:nvPr/>
        </p:nvSpPr>
        <p:spPr>
          <a:xfrm>
            <a:off x="1325880" y="2514600"/>
            <a:ext cx="6400800" cy="320040"/>
          </a:xfrm>
          <a:prstGeom prst="rect">
            <a:avLst/>
          </a:prstGeom>
          <a:noFill/>
          <a:ln/>
        </p:spPr>
        <p:txBody>
          <a:bodyPr wrap="square" lIns="0" tIns="0" rIns="0" bIns="0" rtlCol="0" anchor="t"/>
          <a:lstStyle/>
          <a:p>
            <a:pPr indent="0" marL="0">
              <a:buNone/>
            </a:pPr>
            <a:r>
              <a:rPr lang="en-US" sz="1700" b="1" dirty="0">
                <a:solidFill>
                  <a:schemeClr val="tx1"/>
                </a:solidFill>
              </a:rPr>
              <a:t>30+ years of product design</a:t>
            </a:r>
            <a:endParaRPr lang="en-US" sz="1700" dirty="0"/>
          </a:p>
        </p:txBody>
      </p:sp>
      <p:sp>
        <p:nvSpPr>
          <p:cNvPr id="16" name="Text 13"/>
          <p:cNvSpPr txBox="1"/>
          <p:nvPr/>
        </p:nvSpPr>
        <p:spPr>
          <a:xfrm>
            <a:off x="1325880" y="2880360"/>
            <a:ext cx="6400800" cy="777240"/>
          </a:xfrm>
          <a:prstGeom prst="rect">
            <a:avLst/>
          </a:prstGeom>
          <a:noFill/>
          <a:ln/>
        </p:spPr>
        <p:txBody>
          <a:bodyPr wrap="square" lIns="0" tIns="0" rIns="0" bIns="0" rtlCol="0" anchor="t"/>
          <a:lstStyle/>
          <a:p>
            <a:pPr indent="0" marL="0">
              <a:buNone/>
            </a:pPr>
            <a:r>
              <a:rPr lang="en-US" sz="1400" dirty="0">
                <a:solidFill>
                  <a:schemeClr val="tx2"/>
                </a:solidFill>
              </a:rPr>
              <a:t>Decades of product design experience through Korean supply chains means formats, packaging and ranges are engineered with manufacturing in mind.</a:t>
            </a:r>
            <a:endParaRPr lang="en-US" sz="1400" dirty="0"/>
          </a:p>
        </p:txBody>
      </p:sp>
      <p:sp>
        <p:nvSpPr>
          <p:cNvPr id="17" name="Designed as a system circle"/>
          <p:cNvSpPr/>
          <p:nvPr/>
        </p:nvSpPr>
        <p:spPr>
          <a:xfrm>
            <a:off x="548640" y="3840480"/>
            <a:ext cx="548640" cy="548640"/>
          </a:xfrm>
          <a:prstGeom prst="ellipse">
            <a:avLst/>
          </a:prstGeom>
          <a:solidFill>
            <a:schemeClr val="tx1"/>
          </a:solidFill>
          <a:ln w="12700">
            <a:solidFill>
              <a:schemeClr val="tx1"/>
            </a:solidFill>
            <a:prstDash val="solid"/>
          </a:ln>
        </p:spPr>
      </p:sp>
      <p:pic>
        <p:nvPicPr>
          <p:cNvPr id="18" name="Designed as a system icon" descr="Designed as a system">    </p:cNvPr>
          <p:cNvPicPr>
            <a:picLocks noChangeAspect="1"/>
          </p:cNvPicPr>
          <p:nvPr/>
        </p:nvPicPr>
        <p:blipFill>
          <a:blip r:embed="rId2"/>
          <a:stretch>
            <a:fillRect/>
          </a:stretch>
        </p:blipFill>
        <p:spPr>
          <a:xfrm>
            <a:off x="685800" y="3977640"/>
            <a:ext cx="274320" cy="274320"/>
          </a:xfrm>
          <a:prstGeom prst="rect">
            <a:avLst/>
          </a:prstGeom>
        </p:spPr>
      </p:pic>
      <p:sp>
        <p:nvSpPr>
          <p:cNvPr id="19" name="Text 15"/>
          <p:cNvSpPr txBox="1"/>
          <p:nvPr/>
        </p:nvSpPr>
        <p:spPr>
          <a:xfrm>
            <a:off x="1325880" y="3749040"/>
            <a:ext cx="6400800" cy="320040"/>
          </a:xfrm>
          <a:prstGeom prst="rect">
            <a:avLst/>
          </a:prstGeom>
          <a:noFill/>
          <a:ln/>
        </p:spPr>
        <p:txBody>
          <a:bodyPr wrap="square" lIns="0" tIns="0" rIns="0" bIns="0" rtlCol="0" anchor="t"/>
          <a:lstStyle/>
          <a:p>
            <a:pPr indent="0" marL="0">
              <a:buNone/>
            </a:pPr>
            <a:r>
              <a:rPr lang="en-US" sz="1700" b="1" dirty="0">
                <a:solidFill>
                  <a:schemeClr val="tx1"/>
                </a:solidFill>
              </a:rPr>
              <a:t>Designed as a system</a:t>
            </a:r>
            <a:endParaRPr lang="en-US" sz="1700" dirty="0"/>
          </a:p>
        </p:txBody>
      </p:sp>
      <p:sp>
        <p:nvSpPr>
          <p:cNvPr id="20" name="Text 16"/>
          <p:cNvSpPr txBox="1"/>
          <p:nvPr/>
        </p:nvSpPr>
        <p:spPr>
          <a:xfrm>
            <a:off x="1325880" y="4114800"/>
            <a:ext cx="6400800" cy="777240"/>
          </a:xfrm>
          <a:prstGeom prst="rect">
            <a:avLst/>
          </a:prstGeom>
          <a:noFill/>
          <a:ln/>
        </p:spPr>
        <p:txBody>
          <a:bodyPr wrap="square" lIns="0" tIns="0" rIns="0" bIns="0" rtlCol="0" anchor="t"/>
          <a:lstStyle/>
          <a:p>
            <a:pPr indent="0" marL="0">
              <a:buNone/>
            </a:pPr>
            <a:r>
              <a:rPr lang="en-US" sz="1400" dirty="0">
                <a:solidFill>
                  <a:schemeClr val="tx2"/>
                </a:solidFill>
              </a:rPr>
              <a:t>Formulations, device and care protocol are developed together, so a studio service is a repeatable method, not a loose set of products.</a:t>
            </a:r>
            <a:endParaRPr lang="en-US" sz="1400" dirty="0"/>
          </a:p>
        </p:txBody>
      </p:sp>
      <p:sp>
        <p:nvSpPr>
          <p:cNvPr id="21" name="Own GMP/ISO manufacturing circle"/>
          <p:cNvSpPr/>
          <p:nvPr/>
        </p:nvSpPr>
        <p:spPr>
          <a:xfrm>
            <a:off x="548640" y="5074920"/>
            <a:ext cx="548640" cy="548640"/>
          </a:xfrm>
          <a:prstGeom prst="ellipse">
            <a:avLst/>
          </a:prstGeom>
          <a:solidFill>
            <a:schemeClr val="tx1"/>
          </a:solidFill>
          <a:ln w="12700">
            <a:solidFill>
              <a:schemeClr val="tx1"/>
            </a:solidFill>
            <a:prstDash val="solid"/>
          </a:ln>
        </p:spPr>
      </p:sp>
      <p:pic>
        <p:nvPicPr>
          <p:cNvPr id="22" name="Own GMP/ISO manufacturing icon" descr="Own GMP/ISO manufacturing">    </p:cNvPr>
          <p:cNvPicPr>
            <a:picLocks noChangeAspect="1"/>
          </p:cNvPicPr>
          <p:nvPr/>
        </p:nvPicPr>
        <p:blipFill>
          <a:blip r:embed="rId3"/>
          <a:stretch>
            <a:fillRect/>
          </a:stretch>
        </p:blipFill>
        <p:spPr>
          <a:xfrm>
            <a:off x="685800" y="5212080"/>
            <a:ext cx="274320" cy="274320"/>
          </a:xfrm>
          <a:prstGeom prst="rect">
            <a:avLst/>
          </a:prstGeom>
        </p:spPr>
      </p:pic>
      <p:sp>
        <p:nvSpPr>
          <p:cNvPr id="23" name="Text 18"/>
          <p:cNvSpPr txBox="1"/>
          <p:nvPr/>
        </p:nvSpPr>
        <p:spPr>
          <a:xfrm>
            <a:off x="1325880" y="4983480"/>
            <a:ext cx="6400800" cy="320040"/>
          </a:xfrm>
          <a:prstGeom prst="rect">
            <a:avLst/>
          </a:prstGeom>
          <a:noFill/>
          <a:ln/>
        </p:spPr>
        <p:txBody>
          <a:bodyPr wrap="square" lIns="0" tIns="0" rIns="0" bIns="0" rtlCol="0" anchor="t"/>
          <a:lstStyle/>
          <a:p>
            <a:pPr indent="0" marL="0">
              <a:buNone/>
            </a:pPr>
            <a:r>
              <a:rPr lang="en-US" sz="1700" b="1" dirty="0">
                <a:solidFill>
                  <a:schemeClr val="tx1"/>
                </a:solidFill>
              </a:rPr>
              <a:t>Own GMP/ISO manufacturing</a:t>
            </a:r>
            <a:endParaRPr lang="en-US" sz="1700" dirty="0"/>
          </a:p>
        </p:txBody>
      </p:sp>
      <p:sp>
        <p:nvSpPr>
          <p:cNvPr id="24" name="Text 19"/>
          <p:cNvSpPr txBox="1"/>
          <p:nvPr/>
        </p:nvSpPr>
        <p:spPr>
          <a:xfrm>
            <a:off x="1325880" y="5349240"/>
            <a:ext cx="6400800" cy="777240"/>
          </a:xfrm>
          <a:prstGeom prst="rect">
            <a:avLst/>
          </a:prstGeom>
          <a:noFill/>
          <a:ln/>
        </p:spPr>
        <p:txBody>
          <a:bodyPr wrap="square" lIns="0" tIns="0" rIns="0" bIns="0" rtlCol="0" anchor="t"/>
          <a:lstStyle/>
          <a:p>
            <a:pPr indent="0" marL="0">
              <a:buNone/>
            </a:pPr>
            <a:r>
              <a:rPr lang="en-US" sz="1400" dirty="0">
                <a:solidFill>
                  <a:schemeClr val="tx2"/>
                </a:solidFill>
              </a:rPr>
              <a:t>In-house production and QC labs (WellBester) with batch release and stability testing. 53 registrations across 20 export markets.</a:t>
            </a:r>
            <a:endParaRPr lang="en-US" sz="1400" dirty="0"/>
          </a:p>
        </p:txBody>
      </p:sp>
      <p:sp>
        <p:nvSpPr>
          <p:cNvPr id="25" name="Product shelf"/>
          <p:cNvSpPr/>
          <p:nvPr/>
        </p:nvSpPr>
        <p:spPr>
          <a:xfrm>
            <a:off x="8183880" y="1554480"/>
            <a:ext cx="3459175" cy="4526280"/>
          </a:xfrm>
          <a:prstGeom prst="roundRect">
            <a:avLst>
              <a:gd name="adj" fmla="val 2115"/>
            </a:avLst>
          </a:prstGeom>
          <a:solidFill>
            <a:schemeClr val="bg2"/>
          </a:solidFill>
          <a:ln w="12700">
            <a:solidFill>
              <a:schemeClr val="bg2"/>
            </a:solidFill>
            <a:prstDash val="solid"/>
          </a:ln>
        </p:spPr>
      </p:sp>
      <p:pic>
        <p:nvPicPr>
          <p:cNvPr id="26" name="Product remirae-cleanser.png" descr="remirae-cleanser">    </p:cNvPr>
          <p:cNvPicPr>
            <a:picLocks noChangeAspect="1"/>
          </p:cNvPicPr>
          <p:nvPr/>
        </p:nvPicPr>
        <p:blipFill>
          <a:blip r:embed="rId4"/>
          <a:srcRect l="0" r="0" t="0" b="0"/>
          <a:stretch/>
        </p:blipFill>
        <p:spPr>
          <a:xfrm>
            <a:off x="8503920" y="1783080"/>
            <a:ext cx="1042416" cy="1737360"/>
          </a:xfrm>
          <a:prstGeom prst="rect">
            <a:avLst/>
          </a:prstGeom>
        </p:spPr>
      </p:pic>
      <p:pic>
        <p:nvPicPr>
          <p:cNvPr id="27" name="Product remirae-cream.png" descr="remirae-cream">    </p:cNvPr>
          <p:cNvPicPr>
            <a:picLocks noChangeAspect="1"/>
          </p:cNvPicPr>
          <p:nvPr/>
        </p:nvPicPr>
        <p:blipFill>
          <a:blip r:embed="rId5"/>
          <a:srcRect l="0" r="0" t="0" b="0"/>
          <a:stretch/>
        </p:blipFill>
        <p:spPr>
          <a:xfrm>
            <a:off x="9738360" y="1783080"/>
            <a:ext cx="1042416" cy="1737360"/>
          </a:xfrm>
          <a:prstGeom prst="rect">
            <a:avLst/>
          </a:prstGeom>
        </p:spPr>
      </p:pic>
      <p:pic>
        <p:nvPicPr>
          <p:cNvPr id="28" name="Product exo-derma.png" descr="exo-derma">    </p:cNvPr>
          <p:cNvPicPr>
            <a:picLocks noChangeAspect="1"/>
          </p:cNvPicPr>
          <p:nvPr/>
        </p:nvPicPr>
        <p:blipFill>
          <a:blip r:embed="rId6"/>
          <a:srcRect l="0" r="0" t="0" b="0"/>
          <a:stretch/>
        </p:blipFill>
        <p:spPr>
          <a:xfrm>
            <a:off x="8503920" y="3794760"/>
            <a:ext cx="1042416" cy="1737360"/>
          </a:xfrm>
          <a:prstGeom prst="rect">
            <a:avLst/>
          </a:prstGeom>
        </p:spPr>
      </p:pic>
      <p:pic>
        <p:nvPicPr>
          <p:cNvPr id="29" name="Product exo-hair.png" descr="exo-hair">    </p:cNvPr>
          <p:cNvPicPr>
            <a:picLocks noChangeAspect="1"/>
          </p:cNvPicPr>
          <p:nvPr/>
        </p:nvPicPr>
        <p:blipFill>
          <a:blip r:embed="rId7"/>
          <a:srcRect l="0" r="0" t="0" b="0"/>
          <a:stretch/>
        </p:blipFill>
        <p:spPr>
          <a:xfrm>
            <a:off x="9738360" y="3794760"/>
            <a:ext cx="1042416" cy="1737360"/>
          </a:xfrm>
          <a:prstGeom prst="rect">
            <a:avLst/>
          </a:prstGeom>
        </p:spPr>
      </p:pic>
      <p:sp>
        <p:nvSpPr>
          <p:cNvPr id="30" name="Text 21"/>
          <p:cNvSpPr txBox="1"/>
          <p:nvPr/>
        </p:nvSpPr>
        <p:spPr>
          <a:xfrm>
            <a:off x="8412480" y="5669280"/>
            <a:ext cx="3017520" cy="274320"/>
          </a:xfrm>
          <a:prstGeom prst="rect">
            <a:avLst/>
          </a:prstGeom>
          <a:noFill/>
          <a:ln/>
        </p:spPr>
        <p:txBody>
          <a:bodyPr wrap="square" lIns="0" tIns="0" rIns="0" bIns="0" rtlCol="0" anchor="t"/>
          <a:lstStyle/>
          <a:p>
            <a:pPr algn="ctr" indent="0" marL="0">
              <a:buNone/>
            </a:pPr>
            <a:r>
              <a:rPr lang="en-US" sz="1200" dirty="0">
                <a:solidFill>
                  <a:schemeClr val="tx2"/>
                </a:solidFill>
              </a:rPr>
              <a:t>re'mirae  ·  MORIMANA  ·  RetroEV</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Against named exosome players, SynExo owns the whitespace</a:t>
            </a:r>
            <a:endParaRPr lang="en-US" sz="2800" dirty="0"/>
          </a:p>
        </p:txBody>
      </p:sp>
      <p:graphicFrame>
        <p:nvGraphicFramePr>
          <p:cNvPr id="7" name="Exosome competitor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3200400"/>
                <a:gridCol w="3200400"/>
                <a:gridCol w="2953512"/>
              </a:tblGrid>
              <a:tr h="457200">
                <a:tc>
                  <a:txBody>
                    <a:bodyPr/>
                    <a:lstStyle/>
                    <a:p>
                      <a:pPr indent="0" marL="0">
                        <a:buNone/>
                      </a:pPr>
                      <a:r>
                        <a:rPr lang="en-US" sz="1300" b="1" dirty="0">
                          <a:solidFill>
                            <a:srgbClr val="FFFFFF"/>
                          </a:solidFill>
                        </a:rPr>
                        <a:t>Player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300" b="1" dirty="0">
                          <a:solidFill>
                            <a:srgbClr val="FFFFFF"/>
                          </a:solidFill>
                        </a:rPr>
                        <a:t>Approach</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300" b="1" dirty="0">
                          <a:solidFill>
                            <a:srgbClr val="FFFFFF"/>
                          </a:solidFill>
                        </a:rPr>
                        <a:t>Constraint</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300" b="1" dirty="0">
                          <a:solidFill>
                            <a:srgbClr val="FFFFFF"/>
                          </a:solidFill>
                        </a:rPr>
                        <a:t>Positioning</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731520">
                <a:tc>
                  <a:txBody>
                    <a:bodyPr/>
                    <a:lstStyle/>
                    <a:p>
                      <a:pPr indent="0" marL="0">
                        <a:buNone/>
                      </a:pPr>
                      <a:r>
                        <a:rPr lang="en-US" sz="1300" b="1" dirty="0">
                          <a:solidFill>
                            <a:srgbClr val="1B2233"/>
                          </a:solidFill>
                        </a:rPr>
                        <a:t>ExoCoBio</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300" dirty="0">
                          <a:solidFill>
                            <a:srgbClr val="1B2233"/>
                          </a:solidFill>
                        </a:rPr>
                        <a:t>Human-derived (ASC exosomes); category leader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Donor-dependent batches; no engineered immune tolerance</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Premium clinic channel, about 2× WBI supply price</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233"/>
                          </a:solidFill>
                        </a:rPr>
                        <a:t>Prostemics</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300" dirty="0">
                          <a:solidFill>
                            <a:srgbClr val="1B2233"/>
                          </a:solidFill>
                        </a:rPr>
                        <a:t>Human-derived; clinic-channel pioneer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Same biology constraints; no owned consumer channel</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Clinic and derma channel, about 2× price tier</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233"/>
                          </a:solidFill>
                        </a:rPr>
                        <a:t>BioFD&amp;C, GFC</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300" dirty="0">
                          <a:solidFill>
                            <a:srgbClr val="1B2233"/>
                          </a:solidFill>
                        </a:rPr>
                        <a:t>Plant-derived exosomes</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Lower target-cell delivery than regeneration-grade claims</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300" dirty="0">
                          <a:solidFill>
                            <a:srgbClr val="1B2233"/>
                          </a:solidFill>
                        </a:rPr>
                        <a:t>Functional-cosmetic pricing, mass retail</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1B2233"/>
                          </a:solidFill>
                        </a:rPr>
                        <a:t>WBI SynExo</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indent="0" marL="0">
                        <a:buNone/>
                      </a:pPr>
                      <a:r>
                        <a:rPr lang="en-US" sz="1300" dirty="0">
                          <a:solidFill>
                            <a:srgbClr val="1B2233"/>
                          </a:solidFill>
                        </a:rPr>
                        <a:t>Synthetic, designed; patented HLA-G immune tolerance</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indent="0" marL="0">
                        <a:buNone/>
                      </a:pPr>
                      <a:r>
                        <a:rPr lang="en-US" sz="1300" dirty="0">
                          <a:solidFill>
                            <a:srgbClr val="1B2233"/>
                          </a:solidFill>
                        </a:rPr>
                        <a:t>In cell tests, efficacy similar to human-derived (in vitro)</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indent="0" marL="0">
                        <a:buNone/>
                      </a:pPr>
                      <a:r>
                        <a:rPr lang="en-US" sz="1300" dirty="0">
                          <a:solidFill>
                            <a:srgbClr val="1B2233"/>
                          </a:solidFill>
                        </a:rPr>
                        <a:t>Mid price, plus own GMP plant and owned studio channel</a:t>
                      </a:r>
                      <a:endParaRPr lang="en-US" sz="13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r>
            </a:tbl>
          </a:graphicData>
        </a:graphic>
      </p:graphicFrame>
      <p:sp>
        <p:nvSpPr>
          <p:cNvPr id="4" name="Text 1"/>
          <p:cNvSpPr txBox="1"/>
          <p:nvPr/>
        </p:nvSpPr>
        <p:spPr>
          <a:xfrm>
            <a:off x="548640" y="5303520"/>
            <a:ext cx="11094415" cy="640080"/>
          </a:xfrm>
          <a:prstGeom prst="rect">
            <a:avLst/>
          </a:prstGeom>
          <a:noFill/>
          <a:ln/>
        </p:spPr>
        <p:txBody>
          <a:bodyPr wrap="square" lIns="0" tIns="0" rIns="0" bIns="0" rtlCol="0" anchor="t"/>
          <a:lstStyle/>
          <a:p>
            <a:pPr indent="0" marL="0">
              <a:buNone/>
            </a:pPr>
            <a:r>
              <a:rPr lang="en-US" sz="1300" b="1" dirty="0">
                <a:solidFill>
                  <a:schemeClr val="tx1"/>
                </a:solidFill>
              </a:rPr>
              <a:t>No marketed competitor we have found combines engineered immune tolerance, synthetic batch consistency, an owned plant and an owned studio channel. Korean aesthetic-exosome market: ₩35bn (2024), ₩55bn (2025), ₩75bn (2026E).</a:t>
            </a:r>
            <a:endParaRPr lang="en-US" sz="1300" dirty="0"/>
          </a:p>
        </p:txBody>
      </p:sp>
      <p:sp>
        <p:nvSpPr>
          <p:cNvPr id="5" name="Text 2"/>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100" dirty="0">
                <a:solidFill>
                  <a:schemeClr val="tx2"/>
                </a:solidFill>
              </a:rPr>
              <a:t>Competitor positioning: public price lists and disclosures 2025-26, as compiled by WBI. Market size: Grand View Research, KoBIA. A head start, not an absence of rivals.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One managed client journey, not a one-off treatment</a:t>
            </a:r>
            <a:endParaRPr lang="en-US" sz="2800" dirty="0"/>
          </a:p>
        </p:txBody>
      </p:sp>
      <p:pic>
        <p:nvPicPr>
          <p:cNvPr id="3" name="Care photo" descr="Head spa care in a MM Studio">    </p:cNvPr>
          <p:cNvPicPr>
            <a:picLocks noChangeAspect="1"/>
          </p:cNvPicPr>
          <p:nvPr/>
        </p:nvPicPr>
        <p:blipFill>
          <a:blip r:embed="rId1"/>
          <a:stretch>
            <a:fillRect/>
          </a:stretch>
        </p:blipFill>
        <p:spPr>
          <a:xfrm>
            <a:off x="548640" y="1508760"/>
            <a:ext cx="3383280" cy="4617720"/>
          </a:xfrm>
          <a:prstGeom prst="rect">
            <a:avLst/>
          </a:prstGeom>
        </p:spPr>
      </p:pic>
      <p:sp>
        <p:nvSpPr>
          <p:cNvPr id="4" name="Step card 1"/>
          <p:cNvSpPr/>
          <p:nvPr/>
        </p:nvSpPr>
        <p:spPr>
          <a:xfrm>
            <a:off x="4160520" y="1508760"/>
            <a:ext cx="3626968" cy="1417320"/>
          </a:xfrm>
          <a:prstGeom prst="roundRect">
            <a:avLst>
              <a:gd name="adj" fmla="val 5161"/>
            </a:avLst>
          </a:prstGeom>
          <a:solidFill>
            <a:schemeClr val="bg2"/>
          </a:solidFill>
          <a:ln w="12700">
            <a:solidFill>
              <a:schemeClr val="bg2"/>
            </a:solidFill>
            <a:prstDash val="solid"/>
          </a:ln>
        </p:spPr>
      </p:sp>
      <p:sp>
        <p:nvSpPr>
          <p:cNvPr id="5" name="Step 1 circle"/>
          <p:cNvSpPr/>
          <p:nvPr/>
        </p:nvSpPr>
        <p:spPr>
          <a:xfrm>
            <a:off x="4389120" y="1737360"/>
            <a:ext cx="548640" cy="548640"/>
          </a:xfrm>
          <a:prstGeom prst="ellipse">
            <a:avLst/>
          </a:prstGeom>
          <a:solidFill>
            <a:schemeClr val="tx1"/>
          </a:solidFill>
          <a:ln w="12700">
            <a:solidFill>
              <a:schemeClr val="tx1"/>
            </a:solidFill>
            <a:prstDash val="solid"/>
          </a:ln>
        </p:spPr>
      </p:sp>
      <p:pic>
        <p:nvPicPr>
          <p:cNvPr id="6" name="Step 1 icon" descr="Step 1">    </p:cNvPr>
          <p:cNvPicPr>
            <a:picLocks noChangeAspect="1"/>
          </p:cNvPicPr>
          <p:nvPr/>
        </p:nvPicPr>
        <p:blipFill>
          <a:blip r:embed="rId2"/>
          <a:stretch>
            <a:fillRect/>
          </a:stretch>
        </p:blipFill>
        <p:spPr>
          <a:xfrm>
            <a:off x="4526280" y="1874520"/>
            <a:ext cx="274320" cy="274320"/>
          </a:xfrm>
          <a:prstGeom prst="rect">
            <a:avLst/>
          </a:prstGeom>
        </p:spPr>
      </p:pic>
      <p:sp>
        <p:nvSpPr>
          <p:cNvPr id="7" name="Text 3"/>
          <p:cNvSpPr txBox="1"/>
          <p:nvPr/>
        </p:nvSpPr>
        <p:spPr>
          <a:xfrm>
            <a:off x="5120640" y="16459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1  Imaging assessment</a:t>
            </a:r>
            <a:endParaRPr lang="en-US" sz="1400" dirty="0"/>
          </a:p>
        </p:txBody>
      </p:sp>
      <p:sp>
        <p:nvSpPr>
          <p:cNvPr id="8" name="Text 4"/>
          <p:cNvSpPr txBox="1"/>
          <p:nvPr/>
        </p:nvSpPr>
        <p:spPr>
          <a:xfrm>
            <a:off x="5120640" y="2194560"/>
            <a:ext cx="2483968" cy="731520"/>
          </a:xfrm>
          <a:prstGeom prst="rect">
            <a:avLst/>
          </a:prstGeom>
          <a:noFill/>
          <a:ln/>
        </p:spPr>
        <p:txBody>
          <a:bodyPr wrap="square" lIns="0" tIns="0" rIns="0" bIns="0" rtlCol="0" anchor="t"/>
          <a:lstStyle/>
          <a:p>
            <a:pPr indent="0" marL="0">
              <a:buNone/>
            </a:pPr>
            <a:r>
              <a:rPr lang="en-US" sz="1200" dirty="0">
                <a:solidFill>
                  <a:schemeClr val="tx2"/>
                </a:solidFill>
              </a:rPr>
              <a:t>AI-assisted scans record skin and scalp condition.</a:t>
            </a:r>
            <a:endParaRPr lang="en-US" sz="1200" dirty="0"/>
          </a:p>
        </p:txBody>
      </p:sp>
      <p:sp>
        <p:nvSpPr>
          <p:cNvPr id="9" name="Step card 2"/>
          <p:cNvSpPr/>
          <p:nvPr/>
        </p:nvSpPr>
        <p:spPr>
          <a:xfrm>
            <a:off x="8016088" y="1508760"/>
            <a:ext cx="3626968" cy="1417320"/>
          </a:xfrm>
          <a:prstGeom prst="roundRect">
            <a:avLst>
              <a:gd name="adj" fmla="val 5161"/>
            </a:avLst>
          </a:prstGeom>
          <a:solidFill>
            <a:schemeClr val="bg2"/>
          </a:solidFill>
          <a:ln w="12700">
            <a:solidFill>
              <a:schemeClr val="bg2"/>
            </a:solidFill>
            <a:prstDash val="solid"/>
          </a:ln>
        </p:spPr>
      </p:sp>
      <p:sp>
        <p:nvSpPr>
          <p:cNvPr id="10" name="Step 2 circle"/>
          <p:cNvSpPr/>
          <p:nvPr/>
        </p:nvSpPr>
        <p:spPr>
          <a:xfrm>
            <a:off x="8244688" y="1737360"/>
            <a:ext cx="548640" cy="548640"/>
          </a:xfrm>
          <a:prstGeom prst="ellipse">
            <a:avLst/>
          </a:prstGeom>
          <a:solidFill>
            <a:schemeClr val="tx1"/>
          </a:solidFill>
          <a:ln w="12700">
            <a:solidFill>
              <a:schemeClr val="tx1"/>
            </a:solidFill>
            <a:prstDash val="solid"/>
          </a:ln>
        </p:spPr>
      </p:sp>
      <p:pic>
        <p:nvPicPr>
          <p:cNvPr id="11" name="Step 2 icon" descr="Step 2">    </p:cNvPr>
          <p:cNvPicPr>
            <a:picLocks noChangeAspect="1"/>
          </p:cNvPicPr>
          <p:nvPr/>
        </p:nvPicPr>
        <p:blipFill>
          <a:blip r:embed="rId3"/>
          <a:stretch>
            <a:fillRect/>
          </a:stretch>
        </p:blipFill>
        <p:spPr>
          <a:xfrm>
            <a:off x="8381848" y="1874520"/>
            <a:ext cx="274320" cy="274320"/>
          </a:xfrm>
          <a:prstGeom prst="rect">
            <a:avLst/>
          </a:prstGeom>
        </p:spPr>
      </p:pic>
      <p:sp>
        <p:nvSpPr>
          <p:cNvPr id="12" name="Text 7"/>
          <p:cNvSpPr txBox="1"/>
          <p:nvPr/>
        </p:nvSpPr>
        <p:spPr>
          <a:xfrm>
            <a:off x="8976208" y="16459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2  Personalised consultation</a:t>
            </a:r>
            <a:endParaRPr lang="en-US" sz="1400" dirty="0"/>
          </a:p>
        </p:txBody>
      </p:sp>
      <p:sp>
        <p:nvSpPr>
          <p:cNvPr id="13" name="Text 8"/>
          <p:cNvSpPr txBox="1"/>
          <p:nvPr/>
        </p:nvSpPr>
        <p:spPr>
          <a:xfrm>
            <a:off x="8976208" y="2194560"/>
            <a:ext cx="2483968" cy="731520"/>
          </a:xfrm>
          <a:prstGeom prst="rect">
            <a:avLst/>
          </a:prstGeom>
          <a:noFill/>
          <a:ln/>
        </p:spPr>
        <p:txBody>
          <a:bodyPr wrap="square" lIns="0" tIns="0" rIns="0" bIns="0" rtlCol="0" anchor="t"/>
          <a:lstStyle/>
          <a:p>
            <a:pPr indent="0" marL="0">
              <a:buNone/>
            </a:pPr>
            <a:r>
              <a:rPr lang="en-US" sz="1200" dirty="0">
                <a:solidFill>
                  <a:schemeClr val="tx2"/>
                </a:solidFill>
              </a:rPr>
              <a:t>A care plan built around the individual's needs and goals.</a:t>
            </a:r>
            <a:endParaRPr lang="en-US" sz="1200" dirty="0"/>
          </a:p>
        </p:txBody>
      </p:sp>
      <p:sp>
        <p:nvSpPr>
          <p:cNvPr id="14" name="Step card 3"/>
          <p:cNvSpPr/>
          <p:nvPr/>
        </p:nvSpPr>
        <p:spPr>
          <a:xfrm>
            <a:off x="4160520" y="3108960"/>
            <a:ext cx="3626968" cy="1417320"/>
          </a:xfrm>
          <a:prstGeom prst="roundRect">
            <a:avLst>
              <a:gd name="adj" fmla="val 5161"/>
            </a:avLst>
          </a:prstGeom>
          <a:solidFill>
            <a:schemeClr val="bg2"/>
          </a:solidFill>
          <a:ln w="12700">
            <a:solidFill>
              <a:schemeClr val="bg2"/>
            </a:solidFill>
            <a:prstDash val="solid"/>
          </a:ln>
        </p:spPr>
      </p:sp>
      <p:sp>
        <p:nvSpPr>
          <p:cNvPr id="15" name="Step 3 circle"/>
          <p:cNvSpPr/>
          <p:nvPr/>
        </p:nvSpPr>
        <p:spPr>
          <a:xfrm>
            <a:off x="4389120" y="3337560"/>
            <a:ext cx="548640" cy="548640"/>
          </a:xfrm>
          <a:prstGeom prst="ellipse">
            <a:avLst/>
          </a:prstGeom>
          <a:solidFill>
            <a:schemeClr val="tx1"/>
          </a:solidFill>
          <a:ln w="12700">
            <a:solidFill>
              <a:schemeClr val="tx1"/>
            </a:solidFill>
            <a:prstDash val="solid"/>
          </a:ln>
        </p:spPr>
      </p:sp>
      <p:pic>
        <p:nvPicPr>
          <p:cNvPr id="16" name="Step 3 icon" descr="Step 3">    </p:cNvPr>
          <p:cNvPicPr>
            <a:picLocks noChangeAspect="1"/>
          </p:cNvPicPr>
          <p:nvPr/>
        </p:nvPicPr>
        <p:blipFill>
          <a:blip r:embed="rId4"/>
          <a:stretch>
            <a:fillRect/>
          </a:stretch>
        </p:blipFill>
        <p:spPr>
          <a:xfrm>
            <a:off x="4526280" y="3474720"/>
            <a:ext cx="274320" cy="274320"/>
          </a:xfrm>
          <a:prstGeom prst="rect">
            <a:avLst/>
          </a:prstGeom>
        </p:spPr>
      </p:pic>
      <p:sp>
        <p:nvSpPr>
          <p:cNvPr id="17" name="Text 11"/>
          <p:cNvSpPr txBox="1"/>
          <p:nvPr/>
        </p:nvSpPr>
        <p:spPr>
          <a:xfrm>
            <a:off x="5120640" y="32461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3  Professional care</a:t>
            </a:r>
            <a:endParaRPr lang="en-US" sz="1400" dirty="0"/>
          </a:p>
        </p:txBody>
      </p:sp>
      <p:sp>
        <p:nvSpPr>
          <p:cNvPr id="18" name="Text 12"/>
          <p:cNvSpPr txBox="1"/>
          <p:nvPr/>
        </p:nvSpPr>
        <p:spPr>
          <a:xfrm>
            <a:off x="5120640" y="3794760"/>
            <a:ext cx="2483968" cy="731520"/>
          </a:xfrm>
          <a:prstGeom prst="rect">
            <a:avLst/>
          </a:prstGeom>
          <a:noFill/>
          <a:ln/>
        </p:spPr>
        <p:txBody>
          <a:bodyPr wrap="square" lIns="0" tIns="0" rIns="0" bIns="0" rtlCol="0" anchor="t"/>
          <a:lstStyle/>
          <a:p>
            <a:pPr indent="0" marL="0">
              <a:buNone/>
            </a:pPr>
            <a:r>
              <a:rPr lang="en-US" sz="1200" dirty="0">
                <a:solidFill>
                  <a:schemeClr val="tx2"/>
                </a:solidFill>
              </a:rPr>
              <a:t>Korean head spa, needle-free care and facials.</a:t>
            </a:r>
            <a:endParaRPr lang="en-US" sz="1200" dirty="0"/>
          </a:p>
        </p:txBody>
      </p:sp>
      <p:sp>
        <p:nvSpPr>
          <p:cNvPr id="19" name="Step card 4"/>
          <p:cNvSpPr/>
          <p:nvPr/>
        </p:nvSpPr>
        <p:spPr>
          <a:xfrm>
            <a:off x="8016088" y="3108960"/>
            <a:ext cx="3626968" cy="1417320"/>
          </a:xfrm>
          <a:prstGeom prst="roundRect">
            <a:avLst>
              <a:gd name="adj" fmla="val 5161"/>
            </a:avLst>
          </a:prstGeom>
          <a:solidFill>
            <a:schemeClr val="bg2"/>
          </a:solidFill>
          <a:ln w="12700">
            <a:solidFill>
              <a:schemeClr val="bg2"/>
            </a:solidFill>
            <a:prstDash val="solid"/>
          </a:ln>
        </p:spPr>
      </p:sp>
      <p:sp>
        <p:nvSpPr>
          <p:cNvPr id="20" name="Step 4 circle"/>
          <p:cNvSpPr/>
          <p:nvPr/>
        </p:nvSpPr>
        <p:spPr>
          <a:xfrm>
            <a:off x="8244688" y="3337560"/>
            <a:ext cx="548640" cy="548640"/>
          </a:xfrm>
          <a:prstGeom prst="ellipse">
            <a:avLst/>
          </a:prstGeom>
          <a:solidFill>
            <a:schemeClr val="tx1"/>
          </a:solidFill>
          <a:ln w="12700">
            <a:solidFill>
              <a:schemeClr val="tx1"/>
            </a:solidFill>
            <a:prstDash val="solid"/>
          </a:ln>
        </p:spPr>
      </p:sp>
      <p:pic>
        <p:nvPicPr>
          <p:cNvPr id="21" name="Step 4 icon" descr="Step 4">    </p:cNvPr>
          <p:cNvPicPr>
            <a:picLocks noChangeAspect="1"/>
          </p:cNvPicPr>
          <p:nvPr/>
        </p:nvPicPr>
        <p:blipFill>
          <a:blip r:embed="rId5"/>
          <a:stretch>
            <a:fillRect/>
          </a:stretch>
        </p:blipFill>
        <p:spPr>
          <a:xfrm>
            <a:off x="8381848" y="3474720"/>
            <a:ext cx="274320" cy="274320"/>
          </a:xfrm>
          <a:prstGeom prst="rect">
            <a:avLst/>
          </a:prstGeom>
        </p:spPr>
      </p:pic>
      <p:sp>
        <p:nvSpPr>
          <p:cNvPr id="22" name="Text 15"/>
          <p:cNvSpPr txBox="1"/>
          <p:nvPr/>
        </p:nvSpPr>
        <p:spPr>
          <a:xfrm>
            <a:off x="8976208" y="3246120"/>
            <a:ext cx="2483968" cy="502920"/>
          </a:xfrm>
          <a:prstGeom prst="rect">
            <a:avLst/>
          </a:prstGeom>
          <a:noFill/>
          <a:ln/>
        </p:spPr>
        <p:txBody>
          <a:bodyPr wrap="square" lIns="0" tIns="0" rIns="0" bIns="0" rtlCol="0" anchor="t"/>
          <a:lstStyle/>
          <a:p>
            <a:pPr indent="0" marL="0">
              <a:buNone/>
            </a:pPr>
            <a:r>
              <a:rPr lang="en-US" sz="1400" b="1" dirty="0">
                <a:solidFill>
                  <a:schemeClr val="tx1"/>
                </a:solidFill>
              </a:rPr>
              <a:t>4  Follow-up and homecare</a:t>
            </a:r>
            <a:endParaRPr lang="en-US" sz="1400" dirty="0"/>
          </a:p>
        </p:txBody>
      </p:sp>
      <p:sp>
        <p:nvSpPr>
          <p:cNvPr id="23" name="Text 16"/>
          <p:cNvSpPr txBox="1"/>
          <p:nvPr/>
        </p:nvSpPr>
        <p:spPr>
          <a:xfrm>
            <a:off x="8976208" y="3794760"/>
            <a:ext cx="2483968" cy="731520"/>
          </a:xfrm>
          <a:prstGeom prst="rect">
            <a:avLst/>
          </a:prstGeom>
          <a:noFill/>
          <a:ln/>
        </p:spPr>
        <p:txBody>
          <a:bodyPr wrap="square" lIns="0" tIns="0" rIns="0" bIns="0" rtlCol="0" anchor="t"/>
          <a:lstStyle/>
          <a:p>
            <a:pPr indent="0" marL="0">
              <a:buNone/>
            </a:pPr>
            <a:r>
              <a:rPr lang="en-US" sz="1200" dirty="0">
                <a:solidFill>
                  <a:schemeClr val="tx2"/>
                </a:solidFill>
              </a:rPr>
              <a:t>Compare follow-up images; membership and homecare.</a:t>
            </a:r>
            <a:endParaRPr lang="en-US" sz="1200" dirty="0"/>
          </a:p>
        </p:txBody>
      </p:sp>
      <p:sp>
        <p:nvSpPr>
          <p:cNvPr id="24" name="Ecosystem takeaway"/>
          <p:cNvSpPr/>
          <p:nvPr/>
        </p:nvSpPr>
        <p:spPr>
          <a:xfrm>
            <a:off x="4160520" y="4754880"/>
            <a:ext cx="7482535" cy="1371600"/>
          </a:xfrm>
          <a:prstGeom prst="roundRect">
            <a:avLst>
              <a:gd name="adj" fmla="val 5333"/>
            </a:avLst>
          </a:prstGeom>
          <a:solidFill>
            <a:schemeClr val="tx1"/>
          </a:solidFill>
          <a:ln w="12700">
            <a:solidFill>
              <a:schemeClr val="tx1"/>
            </a:solidFill>
            <a:prstDash val="solid"/>
          </a:ln>
        </p:spPr>
      </p:sp>
      <p:sp>
        <p:nvSpPr>
          <p:cNvPr id="25" name="Text 18"/>
          <p:cNvSpPr txBox="1"/>
          <p:nvPr/>
        </p:nvSpPr>
        <p:spPr>
          <a:xfrm>
            <a:off x="4480560" y="4919472"/>
            <a:ext cx="54864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What makes the ecosystem unique</a:t>
            </a:r>
            <a:endParaRPr lang="en-US" sz="1200" dirty="0"/>
          </a:p>
        </p:txBody>
      </p:sp>
      <p:sp>
        <p:nvSpPr>
          <p:cNvPr id="26" name="Text 19"/>
          <p:cNvSpPr txBox="1"/>
          <p:nvPr/>
        </p:nvSpPr>
        <p:spPr>
          <a:xfrm>
            <a:off x="4480560" y="5212080"/>
            <a:ext cx="6842455" cy="868680"/>
          </a:xfrm>
          <a:prstGeom prst="rect">
            <a:avLst/>
          </a:prstGeom>
          <a:noFill/>
          <a:ln/>
        </p:spPr>
        <p:txBody>
          <a:bodyPr wrap="square" lIns="0" tIns="0" rIns="0" bIns="0" rtlCol="0" anchor="t"/>
          <a:lstStyle/>
          <a:p>
            <a:pPr indent="0" marL="0">
              <a:buNone/>
            </a:pPr>
            <a:r>
              <a:rPr lang="en-US" sz="1300" dirty="0">
                <a:solidFill>
                  <a:srgbClr val="FFFFFF"/>
                </a:solidFill>
              </a:rPr>
              <a:t>The loop closes: each follow-up scan tests the plan, refines the next visit and informs product development in Korea. Studios, the K-Doctor physician network, partners and R&amp;D share one consented client record.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Where MM Studio is different from the alternatives</a:t>
            </a:r>
            <a:endParaRPr lang="en-US" sz="2800" dirty="0"/>
          </a:p>
        </p:txBody>
      </p:sp>
      <p:graphicFrame>
        <p:nvGraphicFramePr>
          <p:cNvPr id="9" name="Competitive comparison"/>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023360"/>
                <a:gridCol w="1828800"/>
                <a:gridCol w="1737360"/>
                <a:gridCol w="1737360"/>
                <a:gridCol w="1764792"/>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B08D5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MM Studio</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Typical salon or spa</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Product-only brand</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Clinic-only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Personalised plan from an individual scan</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Own formulation and manufacturing chain</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Professional training and shared standards</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Follow-up comparison and data continuity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Homecare linked to the care plan</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Medical oversight where needed</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Via clinic format</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r>
              <a:tr h="457200">
                <a:tc>
                  <a:txBody>
                    <a:bodyPr/>
                    <a:lstStyle/>
                    <a:p>
                      <a:pPr indent="0" marL="0">
                        <a:buNone/>
                      </a:pPr>
                      <a:r>
                        <a:rPr lang="en-US" sz="1300" b="1" dirty="0">
                          <a:solidFill>
                            <a:srgbClr val="1B2233"/>
                          </a:solidFill>
                          <a:latin typeface="Calibri" pitchFamily="34" charset="0"/>
                          <a:ea typeface="Calibri" pitchFamily="34" charset="-122"/>
                          <a:cs typeface="Calibri" pitchFamily="34" charset="-120"/>
                        </a:rPr>
                        <a:t>Global distribution and partner network</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ctr" indent="0" marL="0">
                        <a:buNone/>
                      </a:pPr>
                      <a:r>
                        <a:rPr lang="en-US" sz="1300" b="1" dirty="0">
                          <a:solidFill>
                            <a:srgbClr val="1B2233"/>
                          </a:solidFill>
                          <a:latin typeface="Calibri" pitchFamily="34" charset="0"/>
                          <a:ea typeface="Calibri" pitchFamily="34" charset="-122"/>
                          <a:cs typeface="Calibri" pitchFamily="34" charset="-120"/>
                        </a:rPr>
                        <a:t>Core</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EADFC9"/>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C6270"/>
                          </a:solidFill>
                          <a:latin typeface="Calibri" pitchFamily="34" charset="0"/>
                          <a:ea typeface="Calibri" pitchFamily="34" charset="-122"/>
                          <a:cs typeface="Calibri" pitchFamily="34" charset="-120"/>
                        </a:rPr>
                        <a:t>Rarely</a:t>
                      </a:r>
                      <a:endParaRPr lang="en-US" sz="1300" dirty="0">
                        <a:latin typeface="Calibri" charset="0"/>
                        <a:ea typeface="Calibri" charset="0"/>
                        <a:cs typeface="Calibri" charset="0"/>
                      </a:endParaRPr>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486400"/>
            <a:ext cx="11094415" cy="502920"/>
          </a:xfrm>
          <a:prstGeom prst="rect">
            <a:avLst/>
          </a:prstGeom>
          <a:noFill/>
          <a:ln/>
        </p:spPr>
        <p:txBody>
          <a:bodyPr wrap="square" lIns="0" tIns="0" rIns="0" bIns="0" rtlCol="0" anchor="t"/>
          <a:lstStyle/>
          <a:p>
            <a:pPr indent="0" marL="0">
              <a:buNone/>
            </a:pPr>
            <a:r>
              <a:rPr lang="en-US" sz="1400" b="1" dirty="0">
                <a:solidFill>
                  <a:schemeClr val="tx1"/>
                </a:solidFill>
              </a:rPr>
              <a:t>No single competitor type combines all seven. MM Studio's advantage is the combination, held together by one trained method and one client record.</a:t>
            </a:r>
            <a:endParaRPr lang="en-US" sz="1400" dirty="0"/>
          </a:p>
        </p:txBody>
      </p:sp>
      <p:sp>
        <p:nvSpPr>
          <p:cNvPr id="5" name="Text 2"/>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200" dirty="0">
                <a:solidFill>
                  <a:schemeClr val="tx2"/>
                </a:solidFill>
              </a:rPr>
              <a:t>Illustrative management view of typical market formats, not a market study. Named competitors and evidence to be added.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The UK: global centre of hair care and our training hub</a:t>
            </a:r>
            <a:endParaRPr lang="en-US" sz="2800" dirty="0"/>
          </a:p>
        </p:txBody>
      </p:sp>
      <p:pic>
        <p:nvPicPr>
          <p:cNvPr id="3" name="Team photo" descr="MM Studio London team">    </p:cNvPr>
          <p:cNvPicPr>
            <a:picLocks noChangeAspect="1"/>
          </p:cNvPicPr>
          <p:nvPr/>
        </p:nvPicPr>
        <p:blipFill>
          <a:blip r:embed="rId1"/>
          <a:stretch>
            <a:fillRect/>
          </a:stretch>
        </p:blipFill>
        <p:spPr>
          <a:xfrm>
            <a:off x="7436815" y="1508760"/>
            <a:ext cx="4206240" cy="3017520"/>
          </a:xfrm>
          <a:prstGeom prst="rect">
            <a:avLst/>
          </a:prstGeom>
        </p:spPr>
      </p:pic>
      <p:sp>
        <p:nvSpPr>
          <p:cNvPr id="4" name="UK strength 1"/>
          <p:cNvSpPr/>
          <p:nvPr/>
        </p:nvSpPr>
        <p:spPr>
          <a:xfrm>
            <a:off x="548640" y="1508760"/>
            <a:ext cx="6400800" cy="1417320"/>
          </a:xfrm>
          <a:prstGeom prst="roundRect">
            <a:avLst>
              <a:gd name="adj" fmla="val 5161"/>
            </a:avLst>
          </a:prstGeom>
          <a:solidFill>
            <a:schemeClr val="bg2"/>
          </a:solidFill>
          <a:ln w="12700">
            <a:solidFill>
              <a:schemeClr val="bg2"/>
            </a:solidFill>
            <a:prstDash val="solid"/>
          </a:ln>
        </p:spPr>
      </p:sp>
      <p:sp>
        <p:nvSpPr>
          <p:cNvPr id="5" name="Text 2"/>
          <p:cNvSpPr txBox="1"/>
          <p:nvPr/>
        </p:nvSpPr>
        <p:spPr>
          <a:xfrm>
            <a:off x="868680" y="1709928"/>
            <a:ext cx="57607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Global centre of hair care</a:t>
            </a:r>
            <a:endParaRPr lang="en-US" sz="2200" dirty="0"/>
          </a:p>
        </p:txBody>
      </p:sp>
      <p:sp>
        <p:nvSpPr>
          <p:cNvPr id="6" name="Text 3"/>
          <p:cNvSpPr txBox="1"/>
          <p:nvPr/>
        </p:nvSpPr>
        <p:spPr>
          <a:xfrm>
            <a:off x="868680" y="2240280"/>
            <a:ext cx="5760720" cy="594360"/>
          </a:xfrm>
          <a:prstGeom prst="rect">
            <a:avLst/>
          </a:prstGeom>
          <a:noFill/>
          <a:ln/>
        </p:spPr>
        <p:txBody>
          <a:bodyPr wrap="square" lIns="0" tIns="0" rIns="0" bIns="0" rtlCol="0" anchor="t"/>
          <a:lstStyle/>
          <a:p>
            <a:pPr indent="0" marL="0">
              <a:buNone/>
            </a:pPr>
            <a:r>
              <a:rPr lang="en-US" sz="1400" dirty="0">
                <a:solidFill>
                  <a:schemeClr val="tx2"/>
                </a:solidFill>
              </a:rPr>
              <a:t>The UK sets the standard that the world's hair and scalp professionals look to.</a:t>
            </a:r>
            <a:endParaRPr lang="en-US" sz="1400" dirty="0"/>
          </a:p>
        </p:txBody>
      </p:sp>
      <p:sp>
        <p:nvSpPr>
          <p:cNvPr id="7" name="UK strength 2"/>
          <p:cNvSpPr/>
          <p:nvPr/>
        </p:nvSpPr>
        <p:spPr>
          <a:xfrm>
            <a:off x="548640" y="3108960"/>
            <a:ext cx="6400800" cy="1417320"/>
          </a:xfrm>
          <a:prstGeom prst="roundRect">
            <a:avLst>
              <a:gd name="adj" fmla="val 5161"/>
            </a:avLst>
          </a:prstGeom>
          <a:solidFill>
            <a:schemeClr val="bg2"/>
          </a:solidFill>
          <a:ln w="12700">
            <a:solidFill>
              <a:schemeClr val="bg2"/>
            </a:solidFill>
            <a:prstDash val="solid"/>
          </a:ln>
        </p:spPr>
      </p:sp>
      <p:sp>
        <p:nvSpPr>
          <p:cNvPr id="8" name="Text 5"/>
          <p:cNvSpPr txBox="1"/>
          <p:nvPr/>
        </p:nvSpPr>
        <p:spPr>
          <a:xfrm>
            <a:off x="868680" y="3310128"/>
            <a:ext cx="57607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World leader as coach and trainer</a:t>
            </a:r>
            <a:endParaRPr lang="en-US" sz="2200" dirty="0"/>
          </a:p>
        </p:txBody>
      </p:sp>
      <p:sp>
        <p:nvSpPr>
          <p:cNvPr id="9" name="Text 6"/>
          <p:cNvSpPr txBox="1"/>
          <p:nvPr/>
        </p:nvSpPr>
        <p:spPr>
          <a:xfrm>
            <a:off x="868680" y="3840480"/>
            <a:ext cx="5760720" cy="594360"/>
          </a:xfrm>
          <a:prstGeom prst="rect">
            <a:avLst/>
          </a:prstGeom>
          <a:noFill/>
          <a:ln/>
        </p:spPr>
        <p:txBody>
          <a:bodyPr wrap="square" lIns="0" tIns="0" rIns="0" bIns="0" rtlCol="0" anchor="t"/>
          <a:lstStyle/>
          <a:p>
            <a:pPr indent="0" marL="0">
              <a:buNone/>
            </a:pPr>
            <a:r>
              <a:rPr lang="en-US" sz="1400" dirty="0">
                <a:solidFill>
                  <a:schemeClr val="tx2"/>
                </a:solidFill>
              </a:rPr>
              <a:t>UK educators train professionals globally, which is the skill our partner model needs.</a:t>
            </a:r>
            <a:endParaRPr lang="en-US" sz="1400" dirty="0"/>
          </a:p>
        </p:txBody>
      </p:sp>
      <p:sp>
        <p:nvSpPr>
          <p:cNvPr id="10" name="Chain Seoul"/>
          <p:cNvSpPr/>
          <p:nvPr/>
        </p:nvSpPr>
        <p:spPr>
          <a:xfrm>
            <a:off x="548640" y="4617720"/>
            <a:ext cx="3393338" cy="1097280"/>
          </a:xfrm>
          <a:prstGeom prst="roundRect">
            <a:avLst>
              <a:gd name="adj" fmla="val 6667"/>
            </a:avLst>
          </a:prstGeom>
          <a:solidFill>
            <a:schemeClr val="tx1"/>
          </a:solidFill>
          <a:ln w="12700">
            <a:solidFill>
              <a:schemeClr val="bg1"/>
            </a:solidFill>
            <a:prstDash val="solid"/>
          </a:ln>
        </p:spPr>
      </p:sp>
      <p:sp>
        <p:nvSpPr>
          <p:cNvPr id="11" name="Text 8"/>
          <p:cNvSpPr txBox="1"/>
          <p:nvPr/>
        </p:nvSpPr>
        <p:spPr>
          <a:xfrm>
            <a:off x="777240" y="4709160"/>
            <a:ext cx="2936138"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Seoul</a:t>
            </a:r>
            <a:endParaRPr lang="en-US" sz="1800" dirty="0"/>
          </a:p>
        </p:txBody>
      </p:sp>
      <p:sp>
        <p:nvSpPr>
          <p:cNvPr id="12" name="Text 9"/>
          <p:cNvSpPr txBox="1"/>
          <p:nvPr/>
        </p:nvSpPr>
        <p:spPr>
          <a:xfrm>
            <a:off x="777240" y="5120640"/>
            <a:ext cx="2936138" cy="548640"/>
          </a:xfrm>
          <a:prstGeom prst="rect">
            <a:avLst/>
          </a:prstGeom>
          <a:noFill/>
          <a:ln/>
        </p:spPr>
        <p:txBody>
          <a:bodyPr wrap="square" lIns="0" tIns="0" rIns="0" bIns="0" rtlCol="0" anchor="t"/>
          <a:lstStyle/>
          <a:p>
            <a:pPr indent="0" marL="0">
              <a:buNone/>
            </a:pPr>
            <a:r>
              <a:rPr lang="en-US" sz="1200" dirty="0">
                <a:solidFill>
                  <a:schemeClr val="bg2"/>
                </a:solidFill>
              </a:rPr>
              <a:t>R&amp;D, GMP/ISO manufacturing, Seongsu studio</a:t>
            </a:r>
            <a:endParaRPr lang="en-US" sz="1200" dirty="0"/>
          </a:p>
        </p:txBody>
      </p:sp>
      <p:sp>
        <p:nvSpPr>
          <p:cNvPr id="13" name="Chain London"/>
          <p:cNvSpPr/>
          <p:nvPr/>
        </p:nvSpPr>
        <p:spPr>
          <a:xfrm>
            <a:off x="4399178" y="4617720"/>
            <a:ext cx="3393338" cy="1097280"/>
          </a:xfrm>
          <a:prstGeom prst="roundRect">
            <a:avLst>
              <a:gd name="adj" fmla="val 6667"/>
            </a:avLst>
          </a:prstGeom>
          <a:solidFill>
            <a:schemeClr val="accent1"/>
          </a:solidFill>
          <a:ln w="12700">
            <a:solidFill>
              <a:schemeClr val="bg1"/>
            </a:solidFill>
            <a:prstDash val="solid"/>
          </a:ln>
        </p:spPr>
      </p:sp>
      <p:sp>
        <p:nvSpPr>
          <p:cNvPr id="14" name="Text 11"/>
          <p:cNvSpPr txBox="1"/>
          <p:nvPr/>
        </p:nvSpPr>
        <p:spPr>
          <a:xfrm>
            <a:off x="4627778" y="4709160"/>
            <a:ext cx="2936138"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London</a:t>
            </a:r>
            <a:endParaRPr lang="en-US" sz="1800" dirty="0"/>
          </a:p>
        </p:txBody>
      </p:sp>
      <p:sp>
        <p:nvSpPr>
          <p:cNvPr id="15" name="Text 12"/>
          <p:cNvSpPr txBox="1"/>
          <p:nvPr/>
        </p:nvSpPr>
        <p:spPr>
          <a:xfrm>
            <a:off x="4627778" y="5120640"/>
            <a:ext cx="2936138" cy="548640"/>
          </a:xfrm>
          <a:prstGeom prst="rect">
            <a:avLst/>
          </a:prstGeom>
          <a:noFill/>
          <a:ln/>
        </p:spPr>
        <p:txBody>
          <a:bodyPr wrap="square" lIns="0" tIns="0" rIns="0" bIns="0" rtlCol="0" anchor="t"/>
          <a:lstStyle/>
          <a:p>
            <a:pPr indent="0" marL="0">
              <a:buNone/>
            </a:pPr>
            <a:r>
              <a:rPr lang="en-US" sz="1200" dirty="0">
                <a:solidFill>
                  <a:schemeClr val="tx1"/>
                </a:solidFill>
              </a:rPr>
              <a:t>Knightsbridge flagship, academy-trained therapists</a:t>
            </a:r>
            <a:endParaRPr lang="en-US" sz="1200" dirty="0"/>
          </a:p>
        </p:txBody>
      </p:sp>
      <p:sp>
        <p:nvSpPr>
          <p:cNvPr id="16" name="Chain Global network"/>
          <p:cNvSpPr/>
          <p:nvPr/>
        </p:nvSpPr>
        <p:spPr>
          <a:xfrm>
            <a:off x="8249717" y="4617720"/>
            <a:ext cx="3393338" cy="1097280"/>
          </a:xfrm>
          <a:prstGeom prst="roundRect">
            <a:avLst>
              <a:gd name="adj" fmla="val 6667"/>
            </a:avLst>
          </a:prstGeom>
          <a:solidFill>
            <a:schemeClr val="tx1"/>
          </a:solidFill>
          <a:ln w="12700">
            <a:solidFill>
              <a:schemeClr val="bg1"/>
            </a:solidFill>
            <a:prstDash val="solid"/>
          </a:ln>
        </p:spPr>
      </p:sp>
      <p:sp>
        <p:nvSpPr>
          <p:cNvPr id="17" name="Text 14"/>
          <p:cNvSpPr txBox="1"/>
          <p:nvPr/>
        </p:nvSpPr>
        <p:spPr>
          <a:xfrm>
            <a:off x="8478317" y="4709160"/>
            <a:ext cx="2936138"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Global network</a:t>
            </a:r>
            <a:endParaRPr lang="en-US" sz="1800" dirty="0"/>
          </a:p>
        </p:txBody>
      </p:sp>
      <p:sp>
        <p:nvSpPr>
          <p:cNvPr id="18" name="Text 15"/>
          <p:cNvSpPr txBox="1"/>
          <p:nvPr/>
        </p:nvSpPr>
        <p:spPr>
          <a:xfrm>
            <a:off x="8478317" y="5120640"/>
            <a:ext cx="2936138" cy="548640"/>
          </a:xfrm>
          <a:prstGeom prst="rect">
            <a:avLst/>
          </a:prstGeom>
          <a:noFill/>
          <a:ln/>
        </p:spPr>
        <p:txBody>
          <a:bodyPr wrap="square" lIns="0" tIns="0" rIns="0" bIns="0" rtlCol="0" anchor="t"/>
          <a:lstStyle/>
          <a:p>
            <a:pPr indent="0" marL="0">
              <a:buNone/>
            </a:pPr>
            <a:r>
              <a:rPr lang="en-US" sz="1200" dirty="0">
                <a:solidFill>
                  <a:schemeClr val="bg2"/>
                </a:solidFill>
              </a:rPr>
              <a:t>OEM/ODM contracts in 20 countries; HK Central and LA mapped next</a:t>
            </a:r>
            <a:endParaRPr lang="en-US" sz="1200" dirty="0"/>
          </a:p>
        </p:txBody>
      </p:sp>
      <p:sp>
        <p:nvSpPr>
          <p:cNvPr id="19" name="Text 16"/>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300" b="1" dirty="0">
                <a:solidFill>
                  <a:schemeClr val="tx1"/>
                </a:solidFill>
              </a:rPr>
              <a:t>Our global sales network carries the method outward: London trains, Seoul supplies, partners sell and serve. UK sales use the cosmetic route already secured (16 SCPN registrations).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Next: AI and data that make care measurably personal</a:t>
            </a:r>
            <a:endParaRPr lang="en-US" sz="2800" dirty="0"/>
          </a:p>
        </p:txBody>
      </p:sp>
      <p:sp>
        <p:nvSpPr>
          <p:cNvPr id="3" name="Data stream 1"/>
          <p:cNvSpPr/>
          <p:nvPr/>
        </p:nvSpPr>
        <p:spPr>
          <a:xfrm>
            <a:off x="548640" y="1508760"/>
            <a:ext cx="3545738" cy="1234440"/>
          </a:xfrm>
          <a:prstGeom prst="roundRect">
            <a:avLst>
              <a:gd name="adj" fmla="val 5926"/>
            </a:avLst>
          </a:prstGeom>
          <a:solidFill>
            <a:schemeClr val="bg2"/>
          </a:solidFill>
          <a:ln w="12700">
            <a:solidFill>
              <a:schemeClr val="bg2"/>
            </a:solidFill>
            <a:prstDash val="solid"/>
          </a:ln>
        </p:spPr>
      </p:sp>
      <p:sp>
        <p:nvSpPr>
          <p:cNvPr id="4" name="Scanner data circle"/>
          <p:cNvSpPr/>
          <p:nvPr/>
        </p:nvSpPr>
        <p:spPr>
          <a:xfrm>
            <a:off x="777240" y="1783080"/>
            <a:ext cx="548640" cy="548640"/>
          </a:xfrm>
          <a:prstGeom prst="ellipse">
            <a:avLst/>
          </a:prstGeom>
          <a:solidFill>
            <a:schemeClr val="tx1"/>
          </a:solidFill>
          <a:ln w="12700">
            <a:solidFill>
              <a:schemeClr val="tx1"/>
            </a:solidFill>
            <a:prstDash val="solid"/>
          </a:ln>
        </p:spPr>
      </p:sp>
      <p:pic>
        <p:nvPicPr>
          <p:cNvPr id="5" name="Scanner data icon" descr="Scanner data">    </p:cNvPr>
          <p:cNvPicPr>
            <a:picLocks noChangeAspect="1"/>
          </p:cNvPicPr>
          <p:nvPr/>
        </p:nvPicPr>
        <p:blipFill>
          <a:blip r:embed="rId1"/>
          <a:stretch>
            <a:fillRect/>
          </a:stretch>
        </p:blipFill>
        <p:spPr>
          <a:xfrm>
            <a:off x="914400" y="1920240"/>
            <a:ext cx="274320" cy="274320"/>
          </a:xfrm>
          <a:prstGeom prst="rect">
            <a:avLst/>
          </a:prstGeom>
        </p:spPr>
      </p:pic>
      <p:sp>
        <p:nvSpPr>
          <p:cNvPr id="6" name="Text 3"/>
          <p:cNvSpPr txBox="1"/>
          <p:nvPr/>
        </p:nvSpPr>
        <p:spPr>
          <a:xfrm>
            <a:off x="1508760" y="1691640"/>
            <a:ext cx="2402738" cy="320040"/>
          </a:xfrm>
          <a:prstGeom prst="rect">
            <a:avLst/>
          </a:prstGeom>
          <a:noFill/>
          <a:ln/>
        </p:spPr>
        <p:txBody>
          <a:bodyPr wrap="square" lIns="0" tIns="0" rIns="0" bIns="0" rtlCol="0" anchor="t"/>
          <a:lstStyle/>
          <a:p>
            <a:pPr indent="0" marL="0">
              <a:buNone/>
            </a:pPr>
            <a:r>
              <a:rPr lang="en-US" sz="1600" b="1" dirty="0">
                <a:solidFill>
                  <a:schemeClr val="tx1"/>
                </a:solidFill>
              </a:rPr>
              <a:t>Scanner data</a:t>
            </a:r>
            <a:endParaRPr lang="en-US" sz="1600" dirty="0"/>
          </a:p>
        </p:txBody>
      </p:sp>
      <p:sp>
        <p:nvSpPr>
          <p:cNvPr id="7" name="Text 4"/>
          <p:cNvSpPr txBox="1"/>
          <p:nvPr/>
        </p:nvSpPr>
        <p:spPr>
          <a:xfrm>
            <a:off x="1508760" y="2057400"/>
            <a:ext cx="2402738" cy="640080"/>
          </a:xfrm>
          <a:prstGeom prst="rect">
            <a:avLst/>
          </a:prstGeom>
          <a:noFill/>
          <a:ln/>
        </p:spPr>
        <p:txBody>
          <a:bodyPr wrap="square" lIns="0" tIns="0" rIns="0" bIns="0" rtlCol="0" anchor="t"/>
          <a:lstStyle/>
          <a:p>
            <a:pPr indent="0" marL="0">
              <a:buNone/>
            </a:pPr>
            <a:r>
              <a:rPr lang="en-US" sz="1300" dirty="0">
                <a:solidFill>
                  <a:schemeClr val="tx2"/>
                </a:solidFill>
              </a:rPr>
              <a:t>Standardised skin and scalp images at every visit.</a:t>
            </a:r>
            <a:endParaRPr lang="en-US" sz="1300" dirty="0"/>
          </a:p>
        </p:txBody>
      </p:sp>
      <p:sp>
        <p:nvSpPr>
          <p:cNvPr id="8" name="Data stream 2"/>
          <p:cNvSpPr/>
          <p:nvPr/>
        </p:nvSpPr>
        <p:spPr>
          <a:xfrm>
            <a:off x="4322978" y="1508760"/>
            <a:ext cx="3545738" cy="1234440"/>
          </a:xfrm>
          <a:prstGeom prst="roundRect">
            <a:avLst>
              <a:gd name="adj" fmla="val 5926"/>
            </a:avLst>
          </a:prstGeom>
          <a:solidFill>
            <a:schemeClr val="bg2"/>
          </a:solidFill>
          <a:ln w="12700">
            <a:solidFill>
              <a:schemeClr val="bg2"/>
            </a:solidFill>
            <a:prstDash val="solid"/>
          </a:ln>
        </p:spPr>
      </p:sp>
      <p:sp>
        <p:nvSpPr>
          <p:cNvPr id="9" name="Service data circle"/>
          <p:cNvSpPr/>
          <p:nvPr/>
        </p:nvSpPr>
        <p:spPr>
          <a:xfrm>
            <a:off x="4551578" y="1783080"/>
            <a:ext cx="548640" cy="548640"/>
          </a:xfrm>
          <a:prstGeom prst="ellipse">
            <a:avLst/>
          </a:prstGeom>
          <a:solidFill>
            <a:schemeClr val="tx1"/>
          </a:solidFill>
          <a:ln w="12700">
            <a:solidFill>
              <a:schemeClr val="tx1"/>
            </a:solidFill>
            <a:prstDash val="solid"/>
          </a:ln>
        </p:spPr>
      </p:sp>
      <p:pic>
        <p:nvPicPr>
          <p:cNvPr id="10" name="Service data icon" descr="Service data">    </p:cNvPr>
          <p:cNvPicPr>
            <a:picLocks noChangeAspect="1"/>
          </p:cNvPicPr>
          <p:nvPr/>
        </p:nvPicPr>
        <p:blipFill>
          <a:blip r:embed="rId2"/>
          <a:stretch>
            <a:fillRect/>
          </a:stretch>
        </p:blipFill>
        <p:spPr>
          <a:xfrm>
            <a:off x="4688738" y="1920240"/>
            <a:ext cx="274320" cy="274320"/>
          </a:xfrm>
          <a:prstGeom prst="rect">
            <a:avLst/>
          </a:prstGeom>
        </p:spPr>
      </p:pic>
      <p:sp>
        <p:nvSpPr>
          <p:cNvPr id="11" name="Text 7"/>
          <p:cNvSpPr txBox="1"/>
          <p:nvPr/>
        </p:nvSpPr>
        <p:spPr>
          <a:xfrm>
            <a:off x="5283098" y="1691640"/>
            <a:ext cx="2402738" cy="320040"/>
          </a:xfrm>
          <a:prstGeom prst="rect">
            <a:avLst/>
          </a:prstGeom>
          <a:noFill/>
          <a:ln/>
        </p:spPr>
        <p:txBody>
          <a:bodyPr wrap="square" lIns="0" tIns="0" rIns="0" bIns="0" rtlCol="0" anchor="t"/>
          <a:lstStyle/>
          <a:p>
            <a:pPr indent="0" marL="0">
              <a:buNone/>
            </a:pPr>
            <a:r>
              <a:rPr lang="en-US" sz="1600" b="1" dirty="0">
                <a:solidFill>
                  <a:schemeClr val="tx1"/>
                </a:solidFill>
              </a:rPr>
              <a:t>Service data</a:t>
            </a:r>
            <a:endParaRPr lang="en-US" sz="1600" dirty="0"/>
          </a:p>
        </p:txBody>
      </p:sp>
      <p:sp>
        <p:nvSpPr>
          <p:cNvPr id="12" name="Text 8"/>
          <p:cNvSpPr txBox="1"/>
          <p:nvPr/>
        </p:nvSpPr>
        <p:spPr>
          <a:xfrm>
            <a:off x="5283098" y="2057400"/>
            <a:ext cx="2402738" cy="640080"/>
          </a:xfrm>
          <a:prstGeom prst="rect">
            <a:avLst/>
          </a:prstGeom>
          <a:noFill/>
          <a:ln/>
        </p:spPr>
        <p:txBody>
          <a:bodyPr wrap="square" lIns="0" tIns="0" rIns="0" bIns="0" rtlCol="0" anchor="t"/>
          <a:lstStyle/>
          <a:p>
            <a:pPr indent="0" marL="0">
              <a:buNone/>
            </a:pPr>
            <a:r>
              <a:rPr lang="en-US" sz="1300" dirty="0">
                <a:solidFill>
                  <a:schemeClr val="tx2"/>
                </a:solidFill>
              </a:rPr>
              <a:t>Which protocol, products and frequency were used.</a:t>
            </a:r>
            <a:endParaRPr lang="en-US" sz="1300" dirty="0"/>
          </a:p>
        </p:txBody>
      </p:sp>
      <p:sp>
        <p:nvSpPr>
          <p:cNvPr id="13" name="Data stream 3"/>
          <p:cNvSpPr/>
          <p:nvPr/>
        </p:nvSpPr>
        <p:spPr>
          <a:xfrm>
            <a:off x="8097317" y="1508760"/>
            <a:ext cx="3545738" cy="1234440"/>
          </a:xfrm>
          <a:prstGeom prst="roundRect">
            <a:avLst>
              <a:gd name="adj" fmla="val 5926"/>
            </a:avLst>
          </a:prstGeom>
          <a:solidFill>
            <a:schemeClr val="bg2"/>
          </a:solidFill>
          <a:ln w="12700">
            <a:solidFill>
              <a:schemeClr val="bg2"/>
            </a:solidFill>
            <a:prstDash val="solid"/>
          </a:ln>
        </p:spPr>
      </p:sp>
      <p:sp>
        <p:nvSpPr>
          <p:cNvPr id="14" name="Client experience circle"/>
          <p:cNvSpPr/>
          <p:nvPr/>
        </p:nvSpPr>
        <p:spPr>
          <a:xfrm>
            <a:off x="8325917" y="1783080"/>
            <a:ext cx="548640" cy="548640"/>
          </a:xfrm>
          <a:prstGeom prst="ellipse">
            <a:avLst/>
          </a:prstGeom>
          <a:solidFill>
            <a:schemeClr val="tx1"/>
          </a:solidFill>
          <a:ln w="12700">
            <a:solidFill>
              <a:schemeClr val="tx1"/>
            </a:solidFill>
            <a:prstDash val="solid"/>
          </a:ln>
        </p:spPr>
      </p:sp>
      <p:pic>
        <p:nvPicPr>
          <p:cNvPr id="15" name="Client experience icon" descr="Client experience">    </p:cNvPr>
          <p:cNvPicPr>
            <a:picLocks noChangeAspect="1"/>
          </p:cNvPicPr>
          <p:nvPr/>
        </p:nvPicPr>
        <p:blipFill>
          <a:blip r:embed="rId3"/>
          <a:stretch>
            <a:fillRect/>
          </a:stretch>
        </p:blipFill>
        <p:spPr>
          <a:xfrm>
            <a:off x="8463077" y="1920240"/>
            <a:ext cx="274320" cy="274320"/>
          </a:xfrm>
          <a:prstGeom prst="rect">
            <a:avLst/>
          </a:prstGeom>
        </p:spPr>
      </p:pic>
      <p:sp>
        <p:nvSpPr>
          <p:cNvPr id="16" name="Text 11"/>
          <p:cNvSpPr txBox="1"/>
          <p:nvPr/>
        </p:nvSpPr>
        <p:spPr>
          <a:xfrm>
            <a:off x="9057437" y="1691640"/>
            <a:ext cx="2402738" cy="320040"/>
          </a:xfrm>
          <a:prstGeom prst="rect">
            <a:avLst/>
          </a:prstGeom>
          <a:noFill/>
          <a:ln/>
        </p:spPr>
        <p:txBody>
          <a:bodyPr wrap="square" lIns="0" tIns="0" rIns="0" bIns="0" rtlCol="0" anchor="t"/>
          <a:lstStyle/>
          <a:p>
            <a:pPr indent="0" marL="0">
              <a:buNone/>
            </a:pPr>
            <a:r>
              <a:rPr lang="en-US" sz="1600" b="1" dirty="0">
                <a:solidFill>
                  <a:schemeClr val="tx1"/>
                </a:solidFill>
              </a:rPr>
              <a:t>Client experience</a:t>
            </a:r>
            <a:endParaRPr lang="en-US" sz="1600" dirty="0"/>
          </a:p>
        </p:txBody>
      </p:sp>
      <p:sp>
        <p:nvSpPr>
          <p:cNvPr id="17" name="Text 12"/>
          <p:cNvSpPr txBox="1"/>
          <p:nvPr/>
        </p:nvSpPr>
        <p:spPr>
          <a:xfrm>
            <a:off x="9057437" y="2057400"/>
            <a:ext cx="2402738" cy="640080"/>
          </a:xfrm>
          <a:prstGeom prst="rect">
            <a:avLst/>
          </a:prstGeom>
          <a:noFill/>
          <a:ln/>
        </p:spPr>
        <p:txBody>
          <a:bodyPr wrap="square" lIns="0" tIns="0" rIns="0" bIns="0" rtlCol="0" anchor="t"/>
          <a:lstStyle/>
          <a:p>
            <a:pPr indent="0" marL="0">
              <a:buNone/>
            </a:pPr>
            <a:r>
              <a:rPr lang="en-US" sz="1300" dirty="0">
                <a:solidFill>
                  <a:schemeClr val="tx2"/>
                </a:solidFill>
              </a:rPr>
              <a:t>Goals, feedback, comfort and homecare habits.</a:t>
            </a:r>
            <a:endParaRPr lang="en-US" sz="1300" dirty="0"/>
          </a:p>
        </p:txBody>
      </p:sp>
      <p:sp>
        <p:nvSpPr>
          <p:cNvPr id="18" name="Data platform bar"/>
          <p:cNvSpPr/>
          <p:nvPr/>
        </p:nvSpPr>
        <p:spPr>
          <a:xfrm>
            <a:off x="548640" y="2880360"/>
            <a:ext cx="11094415" cy="457200"/>
          </a:xfrm>
          <a:prstGeom prst="roundRect">
            <a:avLst>
              <a:gd name="adj" fmla="val 16000"/>
            </a:avLst>
          </a:prstGeom>
          <a:solidFill>
            <a:schemeClr val="tx1"/>
          </a:solidFill>
          <a:ln w="12700">
            <a:solidFill>
              <a:schemeClr val="tx1"/>
            </a:solidFill>
            <a:prstDash val="solid"/>
          </a:ln>
        </p:spPr>
      </p:sp>
      <p:sp>
        <p:nvSpPr>
          <p:cNvPr id="19" name="Text 14"/>
          <p:cNvSpPr txBox="1"/>
          <p:nvPr/>
        </p:nvSpPr>
        <p:spPr>
          <a:xfrm>
            <a:off x="548640" y="2880360"/>
            <a:ext cx="11094415" cy="457200"/>
          </a:xfrm>
          <a:prstGeom prst="rect">
            <a:avLst/>
          </a:prstGeom>
          <a:noFill/>
          <a:ln/>
        </p:spPr>
        <p:txBody>
          <a:bodyPr wrap="square" lIns="0" tIns="0" rIns="0" bIns="0" rtlCol="0" anchor="ctr"/>
          <a:lstStyle/>
          <a:p>
            <a:pPr algn="ctr" indent="0" marL="0">
              <a:buNone/>
            </a:pPr>
            <a:r>
              <a:rPr lang="en-US" sz="1400" b="1" dirty="0">
                <a:solidFill>
                  <a:srgbClr val="FFFFFF"/>
                </a:solidFill>
              </a:rPr>
              <a:t>One consented client record, shared across studios, clinics and R&amp;D (proposed data platform)</a:t>
            </a:r>
            <a:endParaRPr lang="en-US" sz="1400" dirty="0"/>
          </a:p>
        </p:txBody>
      </p:sp>
      <p:sp>
        <p:nvSpPr>
          <p:cNvPr id="20" name="Horizon TODAY"/>
          <p:cNvSpPr/>
          <p:nvPr/>
        </p:nvSpPr>
        <p:spPr>
          <a:xfrm>
            <a:off x="548640" y="3520440"/>
            <a:ext cx="3545738" cy="2240280"/>
          </a:xfrm>
          <a:prstGeom prst="roundRect">
            <a:avLst>
              <a:gd name="adj" fmla="val 3265"/>
            </a:avLst>
          </a:prstGeom>
          <a:solidFill>
            <a:schemeClr val="bg2"/>
          </a:solidFill>
          <a:ln w="12700">
            <a:solidFill>
              <a:schemeClr val="bg2"/>
            </a:solidFill>
            <a:prstDash val="solid"/>
          </a:ln>
        </p:spPr>
      </p:sp>
      <p:sp>
        <p:nvSpPr>
          <p:cNvPr id="21" name="Text 16"/>
          <p:cNvSpPr txBox="1"/>
          <p:nvPr/>
        </p:nvSpPr>
        <p:spPr>
          <a:xfrm>
            <a:off x="822960" y="3657600"/>
            <a:ext cx="128016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TODAY</a:t>
            </a:r>
            <a:endParaRPr lang="en-US" sz="1300" dirty="0"/>
          </a:p>
        </p:txBody>
      </p:sp>
      <p:sp>
        <p:nvSpPr>
          <p:cNvPr id="22" name="Text 17"/>
          <p:cNvSpPr txBox="1"/>
          <p:nvPr/>
        </p:nvSpPr>
        <p:spPr>
          <a:xfrm>
            <a:off x="2631338" y="3657600"/>
            <a:ext cx="1188720" cy="274320"/>
          </a:xfrm>
          <a:prstGeom prst="rect">
            <a:avLst/>
          </a:prstGeom>
          <a:noFill/>
          <a:ln/>
        </p:spPr>
        <p:txBody>
          <a:bodyPr wrap="square" lIns="0" tIns="0" rIns="0" bIns="0" rtlCol="0" anchor="t"/>
          <a:lstStyle/>
          <a:p>
            <a:pPr algn="r" indent="0" marL="0">
              <a:buNone/>
            </a:pPr>
            <a:r>
              <a:rPr lang="en-US" sz="1200" i="1" dirty="0">
                <a:solidFill>
                  <a:schemeClr val="tx2"/>
                </a:solidFill>
              </a:rPr>
              <a:t>In place</a:t>
            </a:r>
            <a:endParaRPr lang="en-US" sz="1200" dirty="0"/>
          </a:p>
        </p:txBody>
      </p:sp>
      <p:sp>
        <p:nvSpPr>
          <p:cNvPr id="23" name="Text 18"/>
          <p:cNvSpPr txBox="1"/>
          <p:nvPr/>
        </p:nvSpPr>
        <p:spPr>
          <a:xfrm>
            <a:off x="822960" y="3977640"/>
            <a:ext cx="2997098"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AI-assisted imaging at assessment</a:t>
            </a:r>
            <a:endParaRPr lang="en-US" sz="1300" dirty="0"/>
          </a:p>
          <a:p>
            <a:pPr marL="342900" indent="-342900">
              <a:spcAft>
                <a:spcPts val="400"/>
              </a:spcAft>
              <a:buSzPct val="100000"/>
              <a:buChar char="•"/>
            </a:pPr>
            <a:r>
              <a:rPr lang="en-US" sz="1300" dirty="0">
                <a:solidFill>
                  <a:schemeClr val="tx1"/>
                </a:solidFill>
              </a:rPr>
              <a:t>Follow-up image comparison</a:t>
            </a:r>
            <a:endParaRPr lang="en-US" sz="1300" dirty="0"/>
          </a:p>
          <a:p>
            <a:pPr marL="342900" indent="-342900">
              <a:spcAft>
                <a:spcPts val="400"/>
              </a:spcAft>
              <a:buSzPct val="100000"/>
              <a:buChar char="•"/>
            </a:pPr>
            <a:r>
              <a:rPr lang="en-US" sz="1300" dirty="0">
                <a:solidFill>
                  <a:schemeClr val="tx1"/>
                </a:solidFill>
              </a:rPr>
              <a:t>Membership and homecare reorders</a:t>
            </a:r>
            <a:endParaRPr lang="en-US" sz="1300" dirty="0"/>
          </a:p>
        </p:txBody>
      </p:sp>
      <p:sp>
        <p:nvSpPr>
          <p:cNvPr id="24" name="Horizon NEXT"/>
          <p:cNvSpPr/>
          <p:nvPr/>
        </p:nvSpPr>
        <p:spPr>
          <a:xfrm>
            <a:off x="4322978" y="3520440"/>
            <a:ext cx="3545738" cy="2240280"/>
          </a:xfrm>
          <a:prstGeom prst="roundRect">
            <a:avLst>
              <a:gd name="adj" fmla="val 3265"/>
            </a:avLst>
          </a:prstGeom>
          <a:solidFill>
            <a:schemeClr val="bg2"/>
          </a:solidFill>
          <a:ln w="12700">
            <a:solidFill>
              <a:schemeClr val="bg2"/>
            </a:solidFill>
            <a:prstDash val="solid"/>
          </a:ln>
        </p:spPr>
      </p:sp>
      <p:sp>
        <p:nvSpPr>
          <p:cNvPr id="25" name="Text 20"/>
          <p:cNvSpPr txBox="1"/>
          <p:nvPr/>
        </p:nvSpPr>
        <p:spPr>
          <a:xfrm>
            <a:off x="4597298" y="3657600"/>
            <a:ext cx="128016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NEXT</a:t>
            </a:r>
            <a:endParaRPr lang="en-US" sz="1300" dirty="0"/>
          </a:p>
        </p:txBody>
      </p:sp>
      <p:sp>
        <p:nvSpPr>
          <p:cNvPr id="26" name="Text 21"/>
          <p:cNvSpPr txBox="1"/>
          <p:nvPr/>
        </p:nvSpPr>
        <p:spPr>
          <a:xfrm>
            <a:off x="6405677" y="3657600"/>
            <a:ext cx="1188720" cy="274320"/>
          </a:xfrm>
          <a:prstGeom prst="rect">
            <a:avLst/>
          </a:prstGeom>
          <a:noFill/>
          <a:ln/>
        </p:spPr>
        <p:txBody>
          <a:bodyPr wrap="square" lIns="0" tIns="0" rIns="0" bIns="0" rtlCol="0" anchor="t"/>
          <a:lstStyle/>
          <a:p>
            <a:pPr algn="r" indent="0" marL="0">
              <a:buNone/>
            </a:pPr>
            <a:r>
              <a:rPr lang="en-US" sz="1200" i="1" dirty="0">
                <a:solidFill>
                  <a:schemeClr val="tx2"/>
                </a:solidFill>
              </a:rPr>
              <a:t>Proposed</a:t>
            </a:r>
            <a:endParaRPr lang="en-US" sz="1200" dirty="0"/>
          </a:p>
        </p:txBody>
      </p:sp>
      <p:sp>
        <p:nvSpPr>
          <p:cNvPr id="27" name="Text 22"/>
          <p:cNvSpPr txBox="1"/>
          <p:nvPr/>
        </p:nvSpPr>
        <p:spPr>
          <a:xfrm>
            <a:off x="4597298" y="3977640"/>
            <a:ext cx="2997098"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Client AI app: scan, protocol, homecare, rebooking</a:t>
            </a:r>
            <a:endParaRPr lang="en-US" sz="1300" dirty="0"/>
          </a:p>
          <a:p>
            <a:pPr marL="342900" indent="-342900">
              <a:spcAft>
                <a:spcPts val="400"/>
              </a:spcAft>
              <a:buSzPct val="100000"/>
              <a:buChar char="•"/>
            </a:pPr>
            <a:r>
              <a:rPr lang="en-US" sz="1300" dirty="0">
                <a:solidFill>
                  <a:schemeClr val="tx1"/>
                </a:solidFill>
              </a:rPr>
              <a:t>Common data model across studios</a:t>
            </a:r>
            <a:endParaRPr lang="en-US" sz="1300" dirty="0"/>
          </a:p>
          <a:p>
            <a:pPr marL="342900" indent="-342900">
              <a:spcAft>
                <a:spcPts val="400"/>
              </a:spcAft>
              <a:buSzPct val="100000"/>
              <a:buChar char="•"/>
            </a:pPr>
            <a:r>
              <a:rPr lang="en-US" sz="1300" dirty="0">
                <a:solidFill>
                  <a:schemeClr val="tx1"/>
                </a:solidFill>
              </a:rPr>
              <a:t>Anonymised protocol benchmarking</a:t>
            </a:r>
            <a:endParaRPr lang="en-US" sz="1300" dirty="0"/>
          </a:p>
        </p:txBody>
      </p:sp>
      <p:sp>
        <p:nvSpPr>
          <p:cNvPr id="28" name="Horizon LATER"/>
          <p:cNvSpPr/>
          <p:nvPr/>
        </p:nvSpPr>
        <p:spPr>
          <a:xfrm>
            <a:off x="8097317" y="3520440"/>
            <a:ext cx="3545738" cy="2240280"/>
          </a:xfrm>
          <a:prstGeom prst="roundRect">
            <a:avLst>
              <a:gd name="adj" fmla="val 3265"/>
            </a:avLst>
          </a:prstGeom>
          <a:solidFill>
            <a:schemeClr val="bg2"/>
          </a:solidFill>
          <a:ln w="12700">
            <a:solidFill>
              <a:schemeClr val="bg2"/>
            </a:solidFill>
            <a:prstDash val="solid"/>
          </a:ln>
        </p:spPr>
      </p:sp>
      <p:sp>
        <p:nvSpPr>
          <p:cNvPr id="29" name="Text 24"/>
          <p:cNvSpPr txBox="1"/>
          <p:nvPr/>
        </p:nvSpPr>
        <p:spPr>
          <a:xfrm>
            <a:off x="8371637" y="3657600"/>
            <a:ext cx="128016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LATER</a:t>
            </a:r>
            <a:endParaRPr lang="en-US" sz="1300" dirty="0"/>
          </a:p>
        </p:txBody>
      </p:sp>
      <p:sp>
        <p:nvSpPr>
          <p:cNvPr id="30" name="Text 25"/>
          <p:cNvSpPr txBox="1"/>
          <p:nvPr/>
        </p:nvSpPr>
        <p:spPr>
          <a:xfrm>
            <a:off x="10180015" y="3657600"/>
            <a:ext cx="1188720" cy="274320"/>
          </a:xfrm>
          <a:prstGeom prst="rect">
            <a:avLst/>
          </a:prstGeom>
          <a:noFill/>
          <a:ln/>
        </p:spPr>
        <p:txBody>
          <a:bodyPr wrap="square" lIns="0" tIns="0" rIns="0" bIns="0" rtlCol="0" anchor="t"/>
          <a:lstStyle/>
          <a:p>
            <a:pPr algn="r" indent="0" marL="0">
              <a:buNone/>
            </a:pPr>
            <a:r>
              <a:rPr lang="en-US" sz="1200" i="1" dirty="0">
                <a:solidFill>
                  <a:schemeClr val="tx2"/>
                </a:solidFill>
              </a:rPr>
              <a:t>Proposed</a:t>
            </a:r>
            <a:endParaRPr lang="en-US" sz="1200" dirty="0"/>
          </a:p>
        </p:txBody>
      </p:sp>
      <p:sp>
        <p:nvSpPr>
          <p:cNvPr id="31" name="Text 26"/>
          <p:cNvSpPr txBox="1"/>
          <p:nvPr/>
        </p:nvSpPr>
        <p:spPr>
          <a:xfrm>
            <a:off x="8371637" y="3977640"/>
            <a:ext cx="2997098"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Recommendations matching protocol and formula to profile</a:t>
            </a:r>
            <a:endParaRPr lang="en-US" sz="1300" dirty="0"/>
          </a:p>
          <a:p>
            <a:pPr marL="342900" indent="-342900">
              <a:spcAft>
                <a:spcPts val="400"/>
              </a:spcAft>
              <a:buSzPct val="100000"/>
              <a:buChar char="•"/>
            </a:pPr>
            <a:r>
              <a:rPr lang="en-US" sz="1300" dirty="0">
                <a:solidFill>
                  <a:schemeClr val="tx1"/>
                </a:solidFill>
              </a:rPr>
              <a:t>AI-designed peptides in the formulation pipeline</a:t>
            </a:r>
            <a:endParaRPr lang="en-US" sz="1300" dirty="0"/>
          </a:p>
          <a:p>
            <a:pPr marL="342900" indent="-342900">
              <a:spcAft>
                <a:spcPts val="400"/>
              </a:spcAft>
              <a:buSzPct val="100000"/>
              <a:buChar char="•"/>
            </a:pPr>
            <a:r>
              <a:rPr lang="en-US" sz="1300" dirty="0">
                <a:solidFill>
                  <a:schemeClr val="tx1"/>
                </a:solidFill>
              </a:rPr>
              <a:t>Made-to-measure digital cosmetic products</a:t>
            </a:r>
            <a:endParaRPr lang="en-US" sz="1300" dirty="0"/>
          </a:p>
        </p:txBody>
      </p:sp>
      <p:sp>
        <p:nvSpPr>
          <p:cNvPr id="32" name="Text 27"/>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b="1" dirty="0">
                <a:solidFill>
                  <a:schemeClr val="tx1"/>
                </a:solidFill>
              </a:rPr>
              <a:t>WBI plan: 25,000 engaged, consented users across the studio network within two years. Built on explicit consent and UK GDPR; AI supports professionals and does not diagnose.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Three operating formats share one brand and product standard</a:t>
            </a:r>
            <a:endParaRPr lang="en-US" sz="2800" dirty="0"/>
          </a:p>
        </p:txBody>
      </p:sp>
      <p:graphicFrame>
        <p:nvGraphicFramePr>
          <p:cNvPr id="12" name="Business model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017520"/>
                <a:gridCol w="4297680"/>
                <a:gridCol w="3776472"/>
              </a:tblGrid>
              <a:tr h="777240">
                <a:tc>
                  <a:txBody>
                    <a:bodyPr/>
                    <a:lstStyle/>
                    <a:p>
                      <a:pPr indent="0" marL="0">
                        <a:buNone/>
                      </a:pPr>
                      <a:r>
                        <a:rPr lang="en-US" sz="1400" b="1" dirty="0">
                          <a:solidFill>
                            <a:srgbClr val="FFFFFF"/>
                          </a:solidFill>
                        </a:rPr>
                        <a:t>Format</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400" b="1" dirty="0">
                          <a:solidFill>
                            <a:srgbClr val="FFFFFF"/>
                          </a:solidFill>
                        </a:rPr>
                        <a:t>Operating model</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indent="0" marL="0">
                        <a:buNone/>
                      </a:pPr>
                      <a:r>
                        <a:rPr lang="en-US" sz="1400" b="1" dirty="0">
                          <a:solidFill>
                            <a:srgbClr val="FFFFFF"/>
                          </a:solidFill>
                        </a:rPr>
                        <a:t>Revenue sources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777240">
                <a:tc>
                  <a:txBody>
                    <a:bodyPr/>
                    <a:lstStyle/>
                    <a:p>
                      <a:pPr indent="0" marL="0">
                        <a:buNone/>
                      </a:pPr>
                      <a:r>
                        <a:rPr lang="en-US" sz="1400" b="1" dirty="0">
                          <a:solidFill>
                            <a:srgbClr val="1B2233"/>
                          </a:solidFill>
                        </a:rPr>
                        <a:t>Flagship Studio</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400" dirty="0">
                          <a:solidFill>
                            <a:srgbClr val="1B2233"/>
                          </a:solidFill>
                        </a:rPr>
                        <a:t>Demonstration studios in Seoul and London</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400" dirty="0">
                          <a:solidFill>
                            <a:srgbClr val="1B2233"/>
                          </a:solidFill>
                        </a:rPr>
                        <a:t>Care services, memberships and product sales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233"/>
                          </a:solidFill>
                        </a:rPr>
                        <a:t>Studio in a Clinic</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400" dirty="0">
                          <a:solidFill>
                            <a:srgbClr val="1B2233"/>
                          </a:solidFill>
                        </a:rPr>
                        <a:t>Agreed responsibilities with doctors and healthcare providers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400" dirty="0">
                          <a:solidFill>
                            <a:srgbClr val="1B2233"/>
                          </a:solidFill>
                        </a:rPr>
                        <a:t>Care packages and product sales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233"/>
                          </a:solidFill>
                        </a:rPr>
                        <a:t>Partner Studio / Distribution</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indent="0" marL="0">
                        <a:buNone/>
                      </a:pPr>
                      <a:r>
                        <a:rPr lang="en-US" sz="1400" dirty="0">
                          <a:solidFill>
                            <a:srgbClr val="1B2233"/>
                          </a:solidFill>
                        </a:rPr>
                        <a:t>Training, brand standards and product supply support</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indent="0" marL="0">
                        <a:buNone/>
                      </a:pPr>
                      <a:r>
                        <a:rPr lang="en-US" sz="1400" dirty="0">
                          <a:solidFill>
                            <a:srgbClr val="1B2233"/>
                          </a:solidFill>
                        </a:rPr>
                        <a:t>Startup packages and reorders, plus agreed service fees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bl>
          </a:graphicData>
        </a:graphic>
      </p:graphicFrame>
      <p:sp>
        <p:nvSpPr>
          <p:cNvPr id="4" name="Model benefit 1"/>
          <p:cNvSpPr/>
          <p:nvPr/>
        </p:nvSpPr>
        <p:spPr>
          <a:xfrm>
            <a:off x="548640" y="4800600"/>
            <a:ext cx="3545738" cy="1371600"/>
          </a:xfrm>
          <a:prstGeom prst="roundRect">
            <a:avLst>
              <a:gd name="adj" fmla="val 5333"/>
            </a:avLst>
          </a:prstGeom>
          <a:solidFill>
            <a:schemeClr val="bg2"/>
          </a:solidFill>
          <a:ln w="12700">
            <a:solidFill>
              <a:schemeClr val="bg2"/>
            </a:solidFill>
            <a:prstDash val="solid"/>
          </a:ln>
        </p:spPr>
      </p:sp>
      <p:sp>
        <p:nvSpPr>
          <p:cNvPr id="5" name="Recurring by design circle"/>
          <p:cNvSpPr/>
          <p:nvPr/>
        </p:nvSpPr>
        <p:spPr>
          <a:xfrm>
            <a:off x="777240" y="5029200"/>
            <a:ext cx="502920" cy="502920"/>
          </a:xfrm>
          <a:prstGeom prst="ellipse">
            <a:avLst/>
          </a:prstGeom>
          <a:solidFill>
            <a:schemeClr val="tx1"/>
          </a:solidFill>
          <a:ln w="12700">
            <a:solidFill>
              <a:schemeClr val="tx1"/>
            </a:solidFill>
            <a:prstDash val="solid"/>
          </a:ln>
        </p:spPr>
      </p:sp>
      <p:pic>
        <p:nvPicPr>
          <p:cNvPr id="6" name="Recurring by design icon" descr="Recurring by design">    </p:cNvPr>
          <p:cNvPicPr>
            <a:picLocks noChangeAspect="1"/>
          </p:cNvPicPr>
          <p:nvPr/>
        </p:nvPicPr>
        <p:blipFill>
          <a:blip r:embed="rId1"/>
          <a:stretch>
            <a:fillRect/>
          </a:stretch>
        </p:blipFill>
        <p:spPr>
          <a:xfrm>
            <a:off x="902970" y="5154930"/>
            <a:ext cx="251460" cy="251460"/>
          </a:xfrm>
          <a:prstGeom prst="rect">
            <a:avLst/>
          </a:prstGeom>
        </p:spPr>
      </p:pic>
      <p:sp>
        <p:nvSpPr>
          <p:cNvPr id="7" name="Text 3"/>
          <p:cNvSpPr txBox="1"/>
          <p:nvPr/>
        </p:nvSpPr>
        <p:spPr>
          <a:xfrm>
            <a:off x="1463040" y="4937760"/>
            <a:ext cx="2448458" cy="320040"/>
          </a:xfrm>
          <a:prstGeom prst="rect">
            <a:avLst/>
          </a:prstGeom>
          <a:noFill/>
          <a:ln/>
        </p:spPr>
        <p:txBody>
          <a:bodyPr wrap="square" lIns="0" tIns="0" rIns="0" bIns="0" rtlCol="0" anchor="t"/>
          <a:lstStyle/>
          <a:p>
            <a:pPr indent="0" marL="0">
              <a:buNone/>
            </a:pPr>
            <a:r>
              <a:rPr lang="en-US" sz="1400" b="1" dirty="0">
                <a:solidFill>
                  <a:schemeClr val="tx1"/>
                </a:solidFill>
              </a:rPr>
              <a:t>Recurring by design</a:t>
            </a:r>
            <a:endParaRPr lang="en-US" sz="1400" dirty="0"/>
          </a:p>
        </p:txBody>
      </p:sp>
      <p:sp>
        <p:nvSpPr>
          <p:cNvPr id="8" name="Text 4"/>
          <p:cNvSpPr txBox="1"/>
          <p:nvPr/>
        </p:nvSpPr>
        <p:spPr>
          <a:xfrm>
            <a:off x="1463040" y="5285232"/>
            <a:ext cx="2448458" cy="868680"/>
          </a:xfrm>
          <a:prstGeom prst="rect">
            <a:avLst/>
          </a:prstGeom>
          <a:noFill/>
          <a:ln/>
        </p:spPr>
        <p:txBody>
          <a:bodyPr wrap="square" lIns="0" tIns="0" rIns="0" bIns="0" rtlCol="0" anchor="t"/>
          <a:lstStyle/>
          <a:p>
            <a:pPr indent="0" marL="0">
              <a:buNone/>
            </a:pPr>
            <a:r>
              <a:rPr lang="en-US" sz="1200" dirty="0">
                <a:solidFill>
                  <a:schemeClr val="tx2"/>
                </a:solidFill>
              </a:rPr>
              <a:t>Ongoing care, membership and homecare support repeat business.</a:t>
            </a:r>
            <a:endParaRPr lang="en-US" sz="1200" dirty="0"/>
          </a:p>
        </p:txBody>
      </p:sp>
      <p:sp>
        <p:nvSpPr>
          <p:cNvPr id="9" name="Model benefit 2"/>
          <p:cNvSpPr/>
          <p:nvPr/>
        </p:nvSpPr>
        <p:spPr>
          <a:xfrm>
            <a:off x="4322978" y="4800600"/>
            <a:ext cx="3545738" cy="1371600"/>
          </a:xfrm>
          <a:prstGeom prst="roundRect">
            <a:avLst>
              <a:gd name="adj" fmla="val 5333"/>
            </a:avLst>
          </a:prstGeom>
          <a:solidFill>
            <a:schemeClr val="bg2"/>
          </a:solidFill>
          <a:ln w="12700">
            <a:solidFill>
              <a:schemeClr val="bg2"/>
            </a:solidFill>
            <a:prstDash val="solid"/>
          </a:ln>
        </p:spPr>
      </p:sp>
      <p:sp>
        <p:nvSpPr>
          <p:cNvPr id="10" name="Training builds loyalty circle"/>
          <p:cNvSpPr/>
          <p:nvPr/>
        </p:nvSpPr>
        <p:spPr>
          <a:xfrm>
            <a:off x="4551578" y="5029200"/>
            <a:ext cx="502920" cy="502920"/>
          </a:xfrm>
          <a:prstGeom prst="ellipse">
            <a:avLst/>
          </a:prstGeom>
          <a:solidFill>
            <a:schemeClr val="tx1"/>
          </a:solidFill>
          <a:ln w="12700">
            <a:solidFill>
              <a:schemeClr val="tx1"/>
            </a:solidFill>
            <a:prstDash val="solid"/>
          </a:ln>
        </p:spPr>
      </p:sp>
      <p:pic>
        <p:nvPicPr>
          <p:cNvPr id="11" name="Training builds loyalty icon" descr="Training builds loyalty">    </p:cNvPr>
          <p:cNvPicPr>
            <a:picLocks noChangeAspect="1"/>
          </p:cNvPicPr>
          <p:nvPr/>
        </p:nvPicPr>
        <p:blipFill>
          <a:blip r:embed="rId2"/>
          <a:stretch>
            <a:fillRect/>
          </a:stretch>
        </p:blipFill>
        <p:spPr>
          <a:xfrm>
            <a:off x="4677308" y="5154930"/>
            <a:ext cx="251460" cy="251460"/>
          </a:xfrm>
          <a:prstGeom prst="rect">
            <a:avLst/>
          </a:prstGeom>
        </p:spPr>
      </p:pic>
      <p:sp>
        <p:nvSpPr>
          <p:cNvPr id="12" name="Text 7"/>
          <p:cNvSpPr txBox="1"/>
          <p:nvPr/>
        </p:nvSpPr>
        <p:spPr>
          <a:xfrm>
            <a:off x="5237378" y="4937760"/>
            <a:ext cx="2448458" cy="320040"/>
          </a:xfrm>
          <a:prstGeom prst="rect">
            <a:avLst/>
          </a:prstGeom>
          <a:noFill/>
          <a:ln/>
        </p:spPr>
        <p:txBody>
          <a:bodyPr wrap="square" lIns="0" tIns="0" rIns="0" bIns="0" rtlCol="0" anchor="t"/>
          <a:lstStyle/>
          <a:p>
            <a:pPr indent="0" marL="0">
              <a:buNone/>
            </a:pPr>
            <a:r>
              <a:rPr lang="en-US" sz="1400" b="1" dirty="0">
                <a:solidFill>
                  <a:schemeClr val="tx1"/>
                </a:solidFill>
              </a:rPr>
              <a:t>Training builds loyalty</a:t>
            </a:r>
            <a:endParaRPr lang="en-US" sz="1400" dirty="0"/>
          </a:p>
        </p:txBody>
      </p:sp>
      <p:sp>
        <p:nvSpPr>
          <p:cNvPr id="13" name="Text 8"/>
          <p:cNvSpPr txBox="1"/>
          <p:nvPr/>
        </p:nvSpPr>
        <p:spPr>
          <a:xfrm>
            <a:off x="5237378" y="5285232"/>
            <a:ext cx="2448458" cy="868680"/>
          </a:xfrm>
          <a:prstGeom prst="rect">
            <a:avLst/>
          </a:prstGeom>
          <a:noFill/>
          <a:ln/>
        </p:spPr>
        <p:txBody>
          <a:bodyPr wrap="square" lIns="0" tIns="0" rIns="0" bIns="0" rtlCol="0" anchor="t"/>
          <a:lstStyle/>
          <a:p>
            <a:pPr indent="0" marL="0">
              <a:buNone/>
            </a:pPr>
            <a:r>
              <a:rPr lang="en-US" sz="1200" dirty="0">
                <a:solidFill>
                  <a:schemeClr val="tx2"/>
                </a:solidFill>
              </a:rPr>
              <a:t>Partners complete training, follow shared standards and reorder as needed.</a:t>
            </a:r>
            <a:endParaRPr lang="en-US" sz="1200" dirty="0"/>
          </a:p>
        </p:txBody>
      </p:sp>
      <p:sp>
        <p:nvSpPr>
          <p:cNvPr id="14" name="Model benefit 3"/>
          <p:cNvSpPr/>
          <p:nvPr/>
        </p:nvSpPr>
        <p:spPr>
          <a:xfrm>
            <a:off x="8097317" y="4800600"/>
            <a:ext cx="3545738" cy="1371600"/>
          </a:xfrm>
          <a:prstGeom prst="roundRect">
            <a:avLst>
              <a:gd name="adj" fmla="val 5333"/>
            </a:avLst>
          </a:prstGeom>
          <a:solidFill>
            <a:schemeClr val="bg2"/>
          </a:solidFill>
          <a:ln w="12700">
            <a:solidFill>
              <a:schemeClr val="bg2"/>
            </a:solidFill>
            <a:prstDash val="solid"/>
          </a:ln>
        </p:spPr>
      </p:sp>
      <p:sp>
        <p:nvSpPr>
          <p:cNvPr id="15" name="US$3,800 a year circle"/>
          <p:cNvSpPr/>
          <p:nvPr/>
        </p:nvSpPr>
        <p:spPr>
          <a:xfrm>
            <a:off x="8325917" y="5029200"/>
            <a:ext cx="502920" cy="502920"/>
          </a:xfrm>
          <a:prstGeom prst="ellipse">
            <a:avLst/>
          </a:prstGeom>
          <a:solidFill>
            <a:schemeClr val="tx1"/>
          </a:solidFill>
          <a:ln w="12700">
            <a:solidFill>
              <a:schemeClr val="tx1"/>
            </a:solidFill>
            <a:prstDash val="solid"/>
          </a:ln>
        </p:spPr>
      </p:sp>
      <p:pic>
        <p:nvPicPr>
          <p:cNvPr id="16" name="US$3,800 a year icon" descr="US$3,800 a year">    </p:cNvPr>
          <p:cNvPicPr>
            <a:picLocks noChangeAspect="1"/>
          </p:cNvPicPr>
          <p:nvPr/>
        </p:nvPicPr>
        <p:blipFill>
          <a:blip r:embed="rId3"/>
          <a:stretch>
            <a:fillRect/>
          </a:stretch>
        </p:blipFill>
        <p:spPr>
          <a:xfrm>
            <a:off x="8451647" y="5154930"/>
            <a:ext cx="251460" cy="251460"/>
          </a:xfrm>
          <a:prstGeom prst="rect">
            <a:avLst/>
          </a:prstGeom>
        </p:spPr>
      </p:pic>
      <p:sp>
        <p:nvSpPr>
          <p:cNvPr id="17" name="Text 11"/>
          <p:cNvSpPr txBox="1"/>
          <p:nvPr/>
        </p:nvSpPr>
        <p:spPr>
          <a:xfrm>
            <a:off x="9011717" y="4937760"/>
            <a:ext cx="2448458" cy="320040"/>
          </a:xfrm>
          <a:prstGeom prst="rect">
            <a:avLst/>
          </a:prstGeom>
          <a:noFill/>
          <a:ln/>
        </p:spPr>
        <p:txBody>
          <a:bodyPr wrap="square" lIns="0" tIns="0" rIns="0" bIns="0" rtlCol="0" anchor="t"/>
          <a:lstStyle/>
          <a:p>
            <a:pPr indent="0" marL="0">
              <a:buNone/>
            </a:pPr>
            <a:r>
              <a:rPr lang="en-US" sz="1400" b="1" dirty="0">
                <a:solidFill>
                  <a:schemeClr val="tx1"/>
                </a:solidFill>
              </a:rPr>
              <a:t>US$3,800 a year</a:t>
            </a:r>
            <a:endParaRPr lang="en-US" sz="1400" dirty="0"/>
          </a:p>
        </p:txBody>
      </p:sp>
      <p:sp>
        <p:nvSpPr>
          <p:cNvPr id="18" name="Text 12"/>
          <p:cNvSpPr txBox="1"/>
          <p:nvPr/>
        </p:nvSpPr>
        <p:spPr>
          <a:xfrm>
            <a:off x="9011717" y="5285232"/>
            <a:ext cx="2448458" cy="868680"/>
          </a:xfrm>
          <a:prstGeom prst="rect">
            <a:avLst/>
          </a:prstGeom>
          <a:noFill/>
          <a:ln/>
        </p:spPr>
        <p:txBody>
          <a:bodyPr wrap="square" lIns="0" tIns="0" rIns="0" bIns="0" rtlCol="0" anchor="t"/>
          <a:lstStyle/>
          <a:p>
            <a:pPr indent="0" marL="0">
              <a:buNone/>
            </a:pPr>
            <a:r>
              <a:rPr lang="en-US" sz="1200" dirty="0">
                <a:solidFill>
                  <a:schemeClr val="tx2"/>
                </a:solidFill>
              </a:rPr>
              <a:t>Estimated annual spend per engaged client.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Who does what: Korean R&amp;D, UK operations and investors</a:t>
            </a:r>
            <a:endParaRPr lang="en-US" sz="2800" dirty="0"/>
          </a:p>
        </p:txBody>
      </p:sp>
      <p:sp>
        <p:nvSpPr>
          <p:cNvPr id="3" name="Role card 1"/>
          <p:cNvSpPr/>
          <p:nvPr/>
        </p:nvSpPr>
        <p:spPr>
          <a:xfrm>
            <a:off x="548640" y="1508760"/>
            <a:ext cx="2602154" cy="3840480"/>
          </a:xfrm>
          <a:prstGeom prst="roundRect">
            <a:avLst>
              <a:gd name="adj" fmla="val 2811"/>
            </a:avLst>
          </a:prstGeom>
          <a:solidFill>
            <a:schemeClr val="bg2"/>
          </a:solidFill>
          <a:ln w="12700">
            <a:solidFill>
              <a:schemeClr val="bg2"/>
            </a:solidFill>
            <a:prstDash val="solid"/>
          </a:ln>
        </p:spPr>
      </p:sp>
      <p:sp>
        <p:nvSpPr>
          <p:cNvPr id="4" name="WBI Korea technical team circle"/>
          <p:cNvSpPr/>
          <p:nvPr/>
        </p:nvSpPr>
        <p:spPr>
          <a:xfrm>
            <a:off x="822960" y="1783080"/>
            <a:ext cx="640080" cy="640080"/>
          </a:xfrm>
          <a:prstGeom prst="ellipse">
            <a:avLst/>
          </a:prstGeom>
          <a:solidFill>
            <a:schemeClr val="tx1"/>
          </a:solidFill>
          <a:ln w="12700">
            <a:solidFill>
              <a:schemeClr val="tx1"/>
            </a:solidFill>
            <a:prstDash val="solid"/>
          </a:ln>
        </p:spPr>
      </p:sp>
      <p:pic>
        <p:nvPicPr>
          <p:cNvPr id="5" name="WBI Korea technical team icon" descr="WBI Korea technical team">    </p:cNvPr>
          <p:cNvPicPr>
            <a:picLocks noChangeAspect="1"/>
          </p:cNvPicPr>
          <p:nvPr/>
        </p:nvPicPr>
        <p:blipFill>
          <a:blip r:embed="rId1"/>
          <a:stretch>
            <a:fillRect/>
          </a:stretch>
        </p:blipFill>
        <p:spPr>
          <a:xfrm>
            <a:off x="982980" y="1943100"/>
            <a:ext cx="320040" cy="320040"/>
          </a:xfrm>
          <a:prstGeom prst="rect">
            <a:avLst/>
          </a:prstGeom>
        </p:spPr>
      </p:pic>
      <p:sp>
        <p:nvSpPr>
          <p:cNvPr id="6" name="Text 3"/>
          <p:cNvSpPr txBox="1"/>
          <p:nvPr/>
        </p:nvSpPr>
        <p:spPr>
          <a:xfrm>
            <a:off x="822960"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WBI Korea technical team</a:t>
            </a:r>
            <a:endParaRPr lang="en-US" sz="1800" dirty="0"/>
          </a:p>
        </p:txBody>
      </p:sp>
      <p:sp>
        <p:nvSpPr>
          <p:cNvPr id="7" name="Text 4"/>
          <p:cNvSpPr txBox="1"/>
          <p:nvPr/>
        </p:nvSpPr>
        <p:spPr>
          <a:xfrm>
            <a:off x="822960" y="3474720"/>
            <a:ext cx="2053514"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CEO Theresa Jang</a:t>
            </a:r>
            <a:endParaRPr lang="en-US" sz="1400" dirty="0"/>
          </a:p>
          <a:p>
            <a:pPr marL="342900" indent="-342900">
              <a:spcAft>
                <a:spcPts val="600"/>
              </a:spcAft>
              <a:buSzPct val="100000"/>
              <a:buChar char="•"/>
            </a:pPr>
            <a:r>
              <a:rPr lang="en-US" sz="1400" dirty="0">
                <a:solidFill>
                  <a:schemeClr val="tx2"/>
                </a:solidFill>
              </a:rPr>
              <a:t>Product development and formulation</a:t>
            </a:r>
            <a:endParaRPr lang="en-US" sz="1400" dirty="0"/>
          </a:p>
          <a:p>
            <a:pPr marL="342900" indent="-342900">
              <a:spcAft>
                <a:spcPts val="600"/>
              </a:spcAft>
              <a:buSzPct val="100000"/>
              <a:buChar char="•"/>
            </a:pPr>
            <a:r>
              <a:rPr lang="en-US" sz="1400" dirty="0">
                <a:solidFill>
                  <a:schemeClr val="tx2"/>
                </a:solidFill>
              </a:rPr>
              <a:t>Manufacturing and supply</a:t>
            </a:r>
            <a:endParaRPr lang="en-US" sz="1400" dirty="0"/>
          </a:p>
        </p:txBody>
      </p:sp>
      <p:sp>
        <p:nvSpPr>
          <p:cNvPr id="8" name="Role card 2"/>
          <p:cNvSpPr/>
          <p:nvPr/>
        </p:nvSpPr>
        <p:spPr>
          <a:xfrm>
            <a:off x="3379394" y="1508760"/>
            <a:ext cx="2602154" cy="3840480"/>
          </a:xfrm>
          <a:prstGeom prst="roundRect">
            <a:avLst>
              <a:gd name="adj" fmla="val 2811"/>
            </a:avLst>
          </a:prstGeom>
          <a:solidFill>
            <a:schemeClr val="bg2"/>
          </a:solidFill>
          <a:ln w="12700">
            <a:solidFill>
              <a:schemeClr val="bg2"/>
            </a:solidFill>
            <a:prstDash val="solid"/>
          </a:ln>
        </p:spPr>
      </p:sp>
      <p:sp>
        <p:nvSpPr>
          <p:cNvPr id="9" name="NeuNova UK team circle"/>
          <p:cNvSpPr/>
          <p:nvPr/>
        </p:nvSpPr>
        <p:spPr>
          <a:xfrm>
            <a:off x="3653714" y="1783080"/>
            <a:ext cx="640080" cy="640080"/>
          </a:xfrm>
          <a:prstGeom prst="ellipse">
            <a:avLst/>
          </a:prstGeom>
          <a:solidFill>
            <a:schemeClr val="tx1"/>
          </a:solidFill>
          <a:ln w="12700">
            <a:solidFill>
              <a:schemeClr val="tx1"/>
            </a:solidFill>
            <a:prstDash val="solid"/>
          </a:ln>
        </p:spPr>
      </p:sp>
      <p:pic>
        <p:nvPicPr>
          <p:cNvPr id="10" name="NeuNova UK team icon" descr="NeuNova UK team">    </p:cNvPr>
          <p:cNvPicPr>
            <a:picLocks noChangeAspect="1"/>
          </p:cNvPicPr>
          <p:nvPr/>
        </p:nvPicPr>
        <p:blipFill>
          <a:blip r:embed="rId2"/>
          <a:stretch>
            <a:fillRect/>
          </a:stretch>
        </p:blipFill>
        <p:spPr>
          <a:xfrm>
            <a:off x="3813734" y="1943100"/>
            <a:ext cx="320040" cy="320040"/>
          </a:xfrm>
          <a:prstGeom prst="rect">
            <a:avLst/>
          </a:prstGeom>
        </p:spPr>
      </p:pic>
      <p:sp>
        <p:nvSpPr>
          <p:cNvPr id="11" name="Text 7"/>
          <p:cNvSpPr txBox="1"/>
          <p:nvPr/>
        </p:nvSpPr>
        <p:spPr>
          <a:xfrm>
            <a:off x="3653714"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NeuNova UK team</a:t>
            </a:r>
            <a:endParaRPr lang="en-US" sz="1800" dirty="0"/>
          </a:p>
        </p:txBody>
      </p:sp>
      <p:sp>
        <p:nvSpPr>
          <p:cNvPr id="12" name="Text 8"/>
          <p:cNvSpPr txBox="1"/>
          <p:nvPr/>
        </p:nvSpPr>
        <p:spPr>
          <a:xfrm>
            <a:off x="3653714" y="3474720"/>
            <a:ext cx="2053514"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London operations and course planning</a:t>
            </a:r>
            <a:endParaRPr lang="en-US" sz="1400" dirty="0"/>
          </a:p>
          <a:p>
            <a:pPr marL="342900" indent="-342900">
              <a:spcAft>
                <a:spcPts val="600"/>
              </a:spcAft>
              <a:buSzPct val="100000"/>
              <a:buChar char="•"/>
            </a:pPr>
            <a:r>
              <a:rPr lang="en-US" sz="1400" dirty="0">
                <a:solidFill>
                  <a:schemeClr val="tx2"/>
                </a:solidFill>
              </a:rPr>
              <a:t>Support for studio partners</a:t>
            </a:r>
            <a:endParaRPr lang="en-US" sz="1400" dirty="0"/>
          </a:p>
        </p:txBody>
      </p:sp>
      <p:sp>
        <p:nvSpPr>
          <p:cNvPr id="13" name="Role card 3"/>
          <p:cNvSpPr/>
          <p:nvPr/>
        </p:nvSpPr>
        <p:spPr>
          <a:xfrm>
            <a:off x="6210148" y="1508760"/>
            <a:ext cx="2602154" cy="3840480"/>
          </a:xfrm>
          <a:prstGeom prst="roundRect">
            <a:avLst>
              <a:gd name="adj" fmla="val 2811"/>
            </a:avLst>
          </a:prstGeom>
          <a:solidFill>
            <a:schemeClr val="bg2"/>
          </a:solidFill>
          <a:ln w="12700">
            <a:solidFill>
              <a:schemeClr val="bg2"/>
            </a:solidFill>
            <a:prstDash val="solid"/>
          </a:ln>
        </p:spPr>
      </p:sp>
      <p:sp>
        <p:nvSpPr>
          <p:cNvPr id="14" name="MM Studio service team circle"/>
          <p:cNvSpPr/>
          <p:nvPr/>
        </p:nvSpPr>
        <p:spPr>
          <a:xfrm>
            <a:off x="6484468" y="1783080"/>
            <a:ext cx="640080" cy="640080"/>
          </a:xfrm>
          <a:prstGeom prst="ellipse">
            <a:avLst/>
          </a:prstGeom>
          <a:solidFill>
            <a:schemeClr val="tx1"/>
          </a:solidFill>
          <a:ln w="12700">
            <a:solidFill>
              <a:schemeClr val="tx1"/>
            </a:solidFill>
            <a:prstDash val="solid"/>
          </a:ln>
        </p:spPr>
      </p:sp>
      <p:pic>
        <p:nvPicPr>
          <p:cNvPr id="15" name="MM Studio service team icon" descr="MM Studio service team">    </p:cNvPr>
          <p:cNvPicPr>
            <a:picLocks noChangeAspect="1"/>
          </p:cNvPicPr>
          <p:nvPr/>
        </p:nvPicPr>
        <p:blipFill>
          <a:blip r:embed="rId3"/>
          <a:stretch>
            <a:fillRect/>
          </a:stretch>
        </p:blipFill>
        <p:spPr>
          <a:xfrm>
            <a:off x="6644488" y="1943100"/>
            <a:ext cx="320040" cy="320040"/>
          </a:xfrm>
          <a:prstGeom prst="rect">
            <a:avLst/>
          </a:prstGeom>
        </p:spPr>
      </p:pic>
      <p:sp>
        <p:nvSpPr>
          <p:cNvPr id="16" name="Text 11"/>
          <p:cNvSpPr txBox="1"/>
          <p:nvPr/>
        </p:nvSpPr>
        <p:spPr>
          <a:xfrm>
            <a:off x="6484468"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MM Studio service team</a:t>
            </a:r>
            <a:endParaRPr lang="en-US" sz="1800" dirty="0"/>
          </a:p>
        </p:txBody>
      </p:sp>
      <p:sp>
        <p:nvSpPr>
          <p:cNvPr id="17" name="Text 12"/>
          <p:cNvSpPr txBox="1"/>
          <p:nvPr/>
        </p:nvSpPr>
        <p:spPr>
          <a:xfrm>
            <a:off x="6484468" y="3474720"/>
            <a:ext cx="2053514"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Client consultation and professional care</a:t>
            </a:r>
            <a:endParaRPr lang="en-US" sz="1400" dirty="0"/>
          </a:p>
          <a:p>
            <a:pPr marL="342900" indent="-342900">
              <a:spcAft>
                <a:spcPts val="600"/>
              </a:spcAft>
              <a:buSzPct val="100000"/>
              <a:buChar char="•"/>
            </a:pPr>
            <a:r>
              <a:rPr lang="en-US" sz="1400" dirty="0">
                <a:solidFill>
                  <a:schemeClr val="tx2"/>
                </a:solidFill>
              </a:rPr>
              <a:t>Ongoing service management</a:t>
            </a:r>
            <a:endParaRPr lang="en-US" sz="1400" dirty="0"/>
          </a:p>
        </p:txBody>
      </p:sp>
      <p:sp>
        <p:nvSpPr>
          <p:cNvPr id="18" name="Role card 4"/>
          <p:cNvSpPr/>
          <p:nvPr/>
        </p:nvSpPr>
        <p:spPr>
          <a:xfrm>
            <a:off x="9040901" y="1508760"/>
            <a:ext cx="2602154" cy="3840480"/>
          </a:xfrm>
          <a:prstGeom prst="roundRect">
            <a:avLst>
              <a:gd name="adj" fmla="val 2811"/>
            </a:avLst>
          </a:prstGeom>
          <a:solidFill>
            <a:schemeClr val="bg2"/>
          </a:solidFill>
          <a:ln w="12700">
            <a:solidFill>
              <a:schemeClr val="bg2"/>
            </a:solidFill>
            <a:prstDash val="solid"/>
          </a:ln>
        </p:spPr>
      </p:sp>
      <p:sp>
        <p:nvSpPr>
          <p:cNvPr id="19" name="Private investors circle"/>
          <p:cNvSpPr/>
          <p:nvPr/>
        </p:nvSpPr>
        <p:spPr>
          <a:xfrm>
            <a:off x="9315221" y="1783080"/>
            <a:ext cx="640080" cy="640080"/>
          </a:xfrm>
          <a:prstGeom prst="ellipse">
            <a:avLst/>
          </a:prstGeom>
          <a:solidFill>
            <a:schemeClr val="tx1"/>
          </a:solidFill>
          <a:ln w="12700">
            <a:solidFill>
              <a:schemeClr val="tx1"/>
            </a:solidFill>
            <a:prstDash val="solid"/>
          </a:ln>
        </p:spPr>
      </p:sp>
      <p:pic>
        <p:nvPicPr>
          <p:cNvPr id="20" name="Private investors icon" descr="Private investors">    </p:cNvPr>
          <p:cNvPicPr>
            <a:picLocks noChangeAspect="1"/>
          </p:cNvPicPr>
          <p:nvPr/>
        </p:nvPicPr>
        <p:blipFill>
          <a:blip r:embed="rId4"/>
          <a:stretch>
            <a:fillRect/>
          </a:stretch>
        </p:blipFill>
        <p:spPr>
          <a:xfrm>
            <a:off x="9475241" y="1943100"/>
            <a:ext cx="320040" cy="320040"/>
          </a:xfrm>
          <a:prstGeom prst="rect">
            <a:avLst/>
          </a:prstGeom>
        </p:spPr>
      </p:pic>
      <p:sp>
        <p:nvSpPr>
          <p:cNvPr id="21" name="Text 15"/>
          <p:cNvSpPr txBox="1"/>
          <p:nvPr/>
        </p:nvSpPr>
        <p:spPr>
          <a:xfrm>
            <a:off x="9315221" y="2651760"/>
            <a:ext cx="2053514" cy="731520"/>
          </a:xfrm>
          <a:prstGeom prst="rect">
            <a:avLst/>
          </a:prstGeom>
          <a:noFill/>
          <a:ln/>
        </p:spPr>
        <p:txBody>
          <a:bodyPr wrap="square" lIns="0" tIns="0" rIns="0" bIns="0" rtlCol="0" anchor="t"/>
          <a:lstStyle/>
          <a:p>
            <a:pPr indent="0" marL="0">
              <a:buNone/>
            </a:pPr>
            <a:r>
              <a:rPr lang="en-US" sz="1800" b="1" dirty="0">
                <a:solidFill>
                  <a:schemeClr val="tx1"/>
                </a:solidFill>
              </a:rPr>
              <a:t>Private investors</a:t>
            </a:r>
            <a:endParaRPr lang="en-US" sz="1800" dirty="0"/>
          </a:p>
        </p:txBody>
      </p:sp>
      <p:sp>
        <p:nvSpPr>
          <p:cNvPr id="22" name="Text 16"/>
          <p:cNvSpPr txBox="1"/>
          <p:nvPr/>
        </p:nvSpPr>
        <p:spPr>
          <a:xfrm>
            <a:off x="9315221" y="3474720"/>
            <a:ext cx="2053514"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Programme funding through units</a:t>
            </a:r>
            <a:endParaRPr lang="en-US" sz="1400" dirty="0"/>
          </a:p>
          <a:p>
            <a:pPr marL="342900" indent="-342900">
              <a:spcAft>
                <a:spcPts val="600"/>
              </a:spcAft>
              <a:buSzPct val="100000"/>
              <a:buChar char="•"/>
            </a:pPr>
            <a:r>
              <a:rPr lang="en-US" sz="1400" dirty="0">
                <a:solidFill>
                  <a:schemeClr val="tx2"/>
                </a:solidFill>
              </a:rPr>
              <a:t>Agreed MM Studio equity allocation</a:t>
            </a:r>
            <a:endParaRPr lang="en-US" sz="1400" dirty="0"/>
          </a:p>
        </p:txBody>
      </p:sp>
      <p:sp>
        <p:nvSpPr>
          <p:cNvPr id="23" name="Text 17"/>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500" b="1" dirty="0">
                <a:solidFill>
                  <a:schemeClr val="tx1"/>
                </a:solidFill>
              </a:rPr>
              <a:t>Clear responsibilities let each partner do what it does best, while the client sees one MM Studio.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Illustrative London studio model: EBITDA positive from Year 2</a:t>
            </a:r>
            <a:endParaRPr lang="en-US" sz="2800" dirty="0"/>
          </a:p>
        </p:txBody>
      </p:sp>
      <p:graphicFrame>
        <p:nvGraphicFramePr>
          <p:cNvPr id="3" name="Revenue and EBITDA chart" descr=""/>
          <p:cNvGraphicFramePr/>
          <p:nvPr/>
        </p:nvGraphicFramePr>
        <p:xfrm>
          <a:off x="548640" y="1463040"/>
          <a:ext cx="7406640" cy="3977640"/>
        </p:xfrm>
        <a:graphic xmlns:a="http://schemas.openxmlformats.org/drawingml/2006/main">
          <a:graphicData uri="http://schemas.openxmlformats.org/drawingml/2006/chart">
            <c:chart xmlns:c="http://schemas.openxmlformats.org/drawingml/2006/chart" r:id="rId1"/>
          </a:graphicData>
        </a:graphic>
      </p:graphicFrame>
      <p:sp>
        <p:nvSpPr>
          <p:cNvPr id="4" name="KPI 1"/>
          <p:cNvSpPr/>
          <p:nvPr/>
        </p:nvSpPr>
        <p:spPr>
          <a:xfrm>
            <a:off x="8229600" y="1508760"/>
            <a:ext cx="3413455" cy="1005840"/>
          </a:xfrm>
          <a:prstGeom prst="roundRect">
            <a:avLst>
              <a:gd name="adj" fmla="val 7273"/>
            </a:avLst>
          </a:prstGeom>
          <a:solidFill>
            <a:schemeClr val="bg2"/>
          </a:solidFill>
          <a:ln w="12700">
            <a:solidFill>
              <a:schemeClr val="bg2"/>
            </a:solidFill>
            <a:prstDash val="solid"/>
          </a:ln>
        </p:spPr>
      </p:sp>
      <p:sp>
        <p:nvSpPr>
          <p:cNvPr id="5" name="Text 2"/>
          <p:cNvSpPr txBox="1"/>
          <p:nvPr/>
        </p:nvSpPr>
        <p:spPr>
          <a:xfrm>
            <a:off x="8458200" y="1600200"/>
            <a:ext cx="2956255"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£50,000</a:t>
            </a:r>
            <a:endParaRPr lang="en-US" sz="2800" dirty="0"/>
          </a:p>
        </p:txBody>
      </p:sp>
      <p:sp>
        <p:nvSpPr>
          <p:cNvPr id="6" name="Text 3"/>
          <p:cNvSpPr txBox="1"/>
          <p:nvPr/>
        </p:nvSpPr>
        <p:spPr>
          <a:xfrm>
            <a:off x="8458200" y="2130552"/>
            <a:ext cx="2956255" cy="365760"/>
          </a:xfrm>
          <a:prstGeom prst="rect">
            <a:avLst/>
          </a:prstGeom>
          <a:noFill/>
          <a:ln/>
        </p:spPr>
        <p:txBody>
          <a:bodyPr wrap="square" lIns="0" tIns="0" rIns="0" bIns="0" rtlCol="0" anchor="t"/>
          <a:lstStyle/>
          <a:p>
            <a:pPr indent="0" marL="0">
              <a:buNone/>
            </a:pPr>
            <a:r>
              <a:rPr lang="en-US" sz="1200" dirty="0">
                <a:solidFill>
                  <a:schemeClr val="tx2"/>
                </a:solidFill>
              </a:rPr>
              <a:t>Initial London investment</a:t>
            </a:r>
            <a:endParaRPr lang="en-US" sz="1200" dirty="0"/>
          </a:p>
        </p:txBody>
      </p:sp>
      <p:sp>
        <p:nvSpPr>
          <p:cNvPr id="7" name="KPI 2"/>
          <p:cNvSpPr/>
          <p:nvPr/>
        </p:nvSpPr>
        <p:spPr>
          <a:xfrm>
            <a:off x="8229600" y="2651760"/>
            <a:ext cx="3413455" cy="1005840"/>
          </a:xfrm>
          <a:prstGeom prst="roundRect">
            <a:avLst>
              <a:gd name="adj" fmla="val 7273"/>
            </a:avLst>
          </a:prstGeom>
          <a:solidFill>
            <a:schemeClr val="bg2"/>
          </a:solidFill>
          <a:ln w="12700">
            <a:solidFill>
              <a:schemeClr val="bg2"/>
            </a:solidFill>
            <a:prstDash val="solid"/>
          </a:ln>
        </p:spPr>
      </p:sp>
      <p:sp>
        <p:nvSpPr>
          <p:cNvPr id="8" name="Text 5"/>
          <p:cNvSpPr txBox="1"/>
          <p:nvPr/>
        </p:nvSpPr>
        <p:spPr>
          <a:xfrm>
            <a:off x="8458200" y="2743200"/>
            <a:ext cx="2956255"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£46,000</a:t>
            </a:r>
            <a:endParaRPr lang="en-US" sz="2800" dirty="0"/>
          </a:p>
        </p:txBody>
      </p:sp>
      <p:sp>
        <p:nvSpPr>
          <p:cNvPr id="9" name="Text 6"/>
          <p:cNvSpPr txBox="1"/>
          <p:nvPr/>
        </p:nvSpPr>
        <p:spPr>
          <a:xfrm>
            <a:off x="8458200" y="3273552"/>
            <a:ext cx="2956255" cy="365760"/>
          </a:xfrm>
          <a:prstGeom prst="rect">
            <a:avLst/>
          </a:prstGeom>
          <a:noFill/>
          <a:ln/>
        </p:spPr>
        <p:txBody>
          <a:bodyPr wrap="square" lIns="0" tIns="0" rIns="0" bIns="0" rtlCol="0" anchor="t"/>
          <a:lstStyle/>
          <a:p>
            <a:pPr indent="0" marL="0">
              <a:buNone/>
            </a:pPr>
            <a:r>
              <a:rPr lang="en-US" sz="1200" dirty="0">
                <a:solidFill>
                  <a:schemeClr val="tx2"/>
                </a:solidFill>
              </a:rPr>
              <a:t>First-year sales revenue</a:t>
            </a:r>
            <a:endParaRPr lang="en-US" sz="1200" dirty="0"/>
          </a:p>
        </p:txBody>
      </p:sp>
      <p:sp>
        <p:nvSpPr>
          <p:cNvPr id="10" name="KPI 3"/>
          <p:cNvSpPr/>
          <p:nvPr/>
        </p:nvSpPr>
        <p:spPr>
          <a:xfrm>
            <a:off x="8229600" y="3794760"/>
            <a:ext cx="3413455" cy="100584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8458200" y="3886200"/>
            <a:ext cx="2956255"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₩16.4bn</a:t>
            </a:r>
            <a:endParaRPr lang="en-US" sz="2800" dirty="0"/>
          </a:p>
        </p:txBody>
      </p:sp>
      <p:sp>
        <p:nvSpPr>
          <p:cNvPr id="12" name="Text 9"/>
          <p:cNvSpPr txBox="1"/>
          <p:nvPr/>
        </p:nvSpPr>
        <p:spPr>
          <a:xfrm>
            <a:off x="8458200" y="4416552"/>
            <a:ext cx="2956255" cy="365760"/>
          </a:xfrm>
          <a:prstGeom prst="rect">
            <a:avLst/>
          </a:prstGeom>
          <a:noFill/>
          <a:ln/>
        </p:spPr>
        <p:txBody>
          <a:bodyPr wrap="square" lIns="0" tIns="0" rIns="0" bIns="0" rtlCol="0" anchor="t"/>
          <a:lstStyle/>
          <a:p>
            <a:pPr indent="0" marL="0">
              <a:buNone/>
            </a:pPr>
            <a:r>
              <a:rPr lang="en-US" sz="1200" dirty="0">
                <a:solidFill>
                  <a:schemeClr val="tx2"/>
                </a:solidFill>
              </a:rPr>
              <a:t>WBI group FY2025 revenue, about US$11.7M</a:t>
            </a:r>
            <a:endParaRPr lang="en-US" sz="1200" dirty="0"/>
          </a:p>
        </p:txBody>
      </p:sp>
      <p:sp>
        <p:nvSpPr>
          <p:cNvPr id="13" name="Text 10"/>
          <p:cNvSpPr txBox="1"/>
          <p:nvPr/>
        </p:nvSpPr>
        <p:spPr>
          <a:xfrm>
            <a:off x="8229600" y="5029200"/>
            <a:ext cx="3413455" cy="1097280"/>
          </a:xfrm>
          <a:prstGeom prst="rect">
            <a:avLst/>
          </a:prstGeom>
          <a:noFill/>
          <a:ln/>
        </p:spPr>
        <p:txBody>
          <a:bodyPr wrap="square" lIns="0" tIns="0" rIns="0" bIns="0" rtlCol="0" anchor="t"/>
          <a:lstStyle/>
          <a:p>
            <a:pPr indent="0" marL="0">
              <a:buNone/>
            </a:pPr>
            <a:r>
              <a:rPr lang="en-US" sz="1100" dirty="0">
                <a:solidFill>
                  <a:schemeClr val="tx2"/>
                </a:solidFill>
              </a:rPr>
              <a:t>Management data, unaudited. London first-year period and profitability to be confirmed. Single-studio illustration; excludes UK head-office costs and the proposed internship budget. Capacity needs review: 56 monthly visits projected against capacity for 44 treatments.</a:t>
            </a:r>
            <a:endParaRPr lang="en-US" sz="1100" dirty="0"/>
          </a:p>
        </p:txBody>
      </p:sp>
      <p:sp>
        <p:nvSpPr>
          <p:cNvPr id="14" name="Text 11"/>
          <p:cNvSpPr txBox="1"/>
          <p:nvPr/>
        </p:nvSpPr>
        <p:spPr>
          <a:xfrm>
            <a:off x="548640" y="5623560"/>
            <a:ext cx="7406640" cy="548640"/>
          </a:xfrm>
          <a:prstGeom prst="rect">
            <a:avLst/>
          </a:prstGeom>
          <a:noFill/>
          <a:ln/>
        </p:spPr>
        <p:txBody>
          <a:bodyPr wrap="square" lIns="0" tIns="0" rIns="0" bIns="0" rtlCol="0" anchor="t"/>
          <a:lstStyle/>
          <a:p>
            <a:pPr indent="0" marL="0">
              <a:buNone/>
            </a:pPr>
            <a:r>
              <a:rPr lang="en-US" sz="1200" dirty="0">
                <a:solidFill>
                  <a:schemeClr val="tx2"/>
                </a:solidFill>
              </a:rPr>
              <a:t>EBITDA = earnings before interest, tax, depreciation and amortisation. Sales alone do not establish an investment return; full P&amp;L and cash balances are pending.</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Funding programme: each unit combines training and MM Studio equity</a:t>
            </a:r>
            <a:endParaRPr lang="en-US" sz="2800" dirty="0"/>
          </a:p>
        </p:txBody>
      </p:sp>
      <p:graphicFrame>
        <p:nvGraphicFramePr>
          <p:cNvPr id="15" name="Use of funds table"/>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4754880"/>
                <a:gridCol w="2011680"/>
              </a:tblGrid>
              <a:tr h="566928">
                <a:tc>
                  <a:txBody>
                    <a:bodyPr/>
                    <a:lstStyle/>
                    <a:p>
                      <a:pPr algn="l" indent="0" marL="0">
                        <a:buNone/>
                      </a:pPr>
                      <a:r>
                        <a:rPr lang="en-US" sz="1400" b="1" dirty="0">
                          <a:solidFill>
                            <a:srgbClr val="FFFFFF"/>
                          </a:solidFill>
                        </a:rPr>
                        <a:t>Use of funds per unit</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c>
                  <a:txBody>
                    <a:bodyPr/>
                    <a:lstStyle/>
                    <a:p>
                      <a:pPr algn="r" indent="0" marL="0">
                        <a:buNone/>
                      </a:pPr>
                      <a:r>
                        <a:rPr lang="en-US" sz="1400" b="1" dirty="0">
                          <a:solidFill>
                            <a:srgbClr val="FFFFFF"/>
                          </a:solidFill>
                        </a:rPr>
                        <a:t>Amount (GBP)</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1B2233"/>
                    </a:solidFill>
                  </a:tcPr>
                </a:tc>
              </a:tr>
              <a:tr h="566928">
                <a:tc>
                  <a:txBody>
                    <a:bodyPr/>
                    <a:lstStyle/>
                    <a:p>
                      <a:pPr algn="l" indent="0" marL="0">
                        <a:buNone/>
                      </a:pPr>
                      <a:r>
                        <a:rPr lang="en-US" sz="1400" dirty="0">
                          <a:solidFill>
                            <a:srgbClr val="1B2233"/>
                          </a:solidFill>
                        </a:rPr>
                        <a:t>Study visits, training and practical sessions</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233"/>
                          </a:solidFill>
                        </a:rPr>
                        <a:t>£15,000</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B2233"/>
                          </a:solidFill>
                        </a:rPr>
                        <a:t>12-month professional certificate course</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233"/>
                          </a:solidFill>
                        </a:rPr>
                        <a:t>From £25,000</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B2233"/>
                          </a:solidFill>
                        </a:rPr>
                        <a:t>12-month internship and work programme</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233"/>
                          </a:solidFill>
                        </a:rPr>
                        <a:t>£XXXX</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FFFFF"/>
                    </a:solidFill>
                  </a:tcPr>
                </a:tc>
              </a:tr>
              <a:tr h="566928">
                <a:tc>
                  <a:txBody>
                    <a:bodyPr/>
                    <a:lstStyle/>
                    <a:p>
                      <a:pPr algn="l" indent="0" marL="0">
                        <a:buNone/>
                      </a:pPr>
                      <a:r>
                        <a:rPr lang="en-US" sz="1400" b="1" dirty="0">
                          <a:solidFill>
                            <a:srgbClr val="1B2233"/>
                          </a:solidFill>
                        </a:rPr>
                        <a:t>MM Studio equity allocation</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c>
                  <a:txBody>
                    <a:bodyPr/>
                    <a:lstStyle/>
                    <a:p>
                      <a:pPr algn="r" indent="0" marL="0">
                        <a:buNone/>
                      </a:pPr>
                      <a:r>
                        <a:rPr lang="en-US" sz="1400" b="1" dirty="0">
                          <a:solidFill>
                            <a:srgbClr val="1B2233"/>
                          </a:solidFill>
                        </a:rPr>
                        <a:t>£50,000</a:t>
                      </a:r>
                      <a:endParaRPr lang="en-US" sz="1400" dirty="0"/>
                    </a:p>
                  </a:txBody>
                  <a:tcPr marL="91440" marR="91440" marT="45720" marB="45720" anchor="ctr">
                    <a:lnL w="9525" cap="flat" cmpd="sng" algn="ctr">
                      <a:solidFill>
                        <a:srgbClr val="C9CEDA"/>
                      </a:solidFill>
                      <a:prstDash val="solid"/>
                      <a:round/>
                      <a:headEnd type="none" w="med" len="med"/>
                      <a:tailEnd type="none" w="med" len="med"/>
                    </a:lnL>
                    <a:lnR w="9525" cap="flat" cmpd="sng" algn="ctr">
                      <a:solidFill>
                        <a:srgbClr val="C9CEDA"/>
                      </a:solidFill>
                      <a:prstDash val="solid"/>
                      <a:round/>
                      <a:headEnd type="none" w="med" len="med"/>
                      <a:tailEnd type="none" w="med" len="med"/>
                    </a:lnR>
                    <a:lnT w="9525" cap="flat" cmpd="sng" algn="ctr">
                      <a:solidFill>
                        <a:srgbClr val="C9CEDA"/>
                      </a:solidFill>
                      <a:prstDash val="solid"/>
                      <a:round/>
                      <a:headEnd type="none" w="med" len="med"/>
                      <a:tailEnd type="none" w="med" len="med"/>
                    </a:lnT>
                    <a:lnB w="9525" cap="flat" cmpd="sng" algn="ctr">
                      <a:solidFill>
                        <a:srgbClr val="C9CEDA"/>
                      </a:solidFill>
                      <a:prstDash val="solid"/>
                      <a:round/>
                      <a:headEnd type="none" w="med" len="med"/>
                      <a:tailEnd type="none" w="med" len="med"/>
                    </a:lnB>
                    <a:solidFill>
                      <a:srgbClr val="F4F2ED"/>
                    </a:solidFill>
                  </a:tcPr>
                </a:tc>
              </a:tr>
            </a:tbl>
          </a:graphicData>
        </a:graphic>
      </p:graphicFrame>
      <p:sp>
        <p:nvSpPr>
          <p:cNvPr id="4" name="Funding KPI 1"/>
          <p:cNvSpPr/>
          <p:nvPr/>
        </p:nvSpPr>
        <p:spPr>
          <a:xfrm>
            <a:off x="7589520" y="1508760"/>
            <a:ext cx="4053535" cy="1024128"/>
          </a:xfrm>
          <a:prstGeom prst="roundRect">
            <a:avLst>
              <a:gd name="adj" fmla="val 7143"/>
            </a:avLst>
          </a:prstGeom>
          <a:solidFill>
            <a:schemeClr val="bg2"/>
          </a:solidFill>
          <a:ln w="12700">
            <a:solidFill>
              <a:schemeClr val="bg2"/>
            </a:solidFill>
            <a:prstDash val="solid"/>
          </a:ln>
        </p:spPr>
      </p:sp>
      <p:sp>
        <p:nvSpPr>
          <p:cNvPr id="5" name="Text 2"/>
          <p:cNvSpPr txBox="1"/>
          <p:nvPr/>
        </p:nvSpPr>
        <p:spPr>
          <a:xfrm>
            <a:off x="7818120" y="1618488"/>
            <a:ext cx="3596335"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£XXX</a:t>
            </a:r>
            <a:endParaRPr lang="en-US" sz="2400" dirty="0"/>
          </a:p>
        </p:txBody>
      </p:sp>
      <p:sp>
        <p:nvSpPr>
          <p:cNvPr id="6" name="Text 3"/>
          <p:cNvSpPr txBox="1"/>
          <p:nvPr/>
        </p:nvSpPr>
        <p:spPr>
          <a:xfrm>
            <a:off x="7818120" y="2103120"/>
            <a:ext cx="3596335" cy="365760"/>
          </a:xfrm>
          <a:prstGeom prst="rect">
            <a:avLst/>
          </a:prstGeom>
          <a:noFill/>
          <a:ln/>
        </p:spPr>
        <p:txBody>
          <a:bodyPr wrap="square" lIns="0" tIns="0" rIns="0" bIns="0" rtlCol="0" anchor="t"/>
          <a:lstStyle/>
          <a:p>
            <a:pPr indent="0" marL="0">
              <a:buNone/>
            </a:pPr>
            <a:r>
              <a:rPr lang="en-US" sz="1200" dirty="0">
                <a:solidFill>
                  <a:schemeClr val="tx2"/>
                </a:solidFill>
              </a:rPr>
              <a:t>Per funding unit</a:t>
            </a:r>
            <a:endParaRPr lang="en-US" sz="1200" dirty="0"/>
          </a:p>
        </p:txBody>
      </p:sp>
      <p:sp>
        <p:nvSpPr>
          <p:cNvPr id="7" name="Funding KPI 2"/>
          <p:cNvSpPr/>
          <p:nvPr/>
        </p:nvSpPr>
        <p:spPr>
          <a:xfrm>
            <a:off x="7589520" y="2679192"/>
            <a:ext cx="4053535" cy="1024128"/>
          </a:xfrm>
          <a:prstGeom prst="roundRect">
            <a:avLst>
              <a:gd name="adj" fmla="val 7143"/>
            </a:avLst>
          </a:prstGeom>
          <a:solidFill>
            <a:schemeClr val="bg2"/>
          </a:solidFill>
          <a:ln w="12700">
            <a:solidFill>
              <a:schemeClr val="bg2"/>
            </a:solidFill>
            <a:prstDash val="solid"/>
          </a:ln>
        </p:spPr>
      </p:sp>
      <p:sp>
        <p:nvSpPr>
          <p:cNvPr id="8" name="Text 5"/>
          <p:cNvSpPr txBox="1"/>
          <p:nvPr/>
        </p:nvSpPr>
        <p:spPr>
          <a:xfrm>
            <a:off x="7818120" y="2788920"/>
            <a:ext cx="3596335"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N units × £XXX</a:t>
            </a:r>
            <a:endParaRPr lang="en-US" sz="2400" dirty="0"/>
          </a:p>
        </p:txBody>
      </p:sp>
      <p:sp>
        <p:nvSpPr>
          <p:cNvPr id="9" name="Text 6"/>
          <p:cNvSpPr txBox="1"/>
          <p:nvPr/>
        </p:nvSpPr>
        <p:spPr>
          <a:xfrm>
            <a:off x="7818120" y="3273552"/>
            <a:ext cx="3596335" cy="365760"/>
          </a:xfrm>
          <a:prstGeom prst="rect">
            <a:avLst/>
          </a:prstGeom>
          <a:noFill/>
          <a:ln/>
        </p:spPr>
        <p:txBody>
          <a:bodyPr wrap="square" lIns="0" tIns="0" rIns="0" bIns="0" rtlCol="0" anchor="t"/>
          <a:lstStyle/>
          <a:p>
            <a:pPr indent="0" marL="0">
              <a:buNone/>
            </a:pPr>
            <a:r>
              <a:rPr lang="en-US" sz="1200" dirty="0">
                <a:solidFill>
                  <a:schemeClr val="tx2"/>
                </a:solidFill>
              </a:rPr>
              <a:t>Total funding target; unit count to be confirmed</a:t>
            </a:r>
            <a:endParaRPr lang="en-US" sz="1200" dirty="0"/>
          </a:p>
        </p:txBody>
      </p:sp>
      <p:sp>
        <p:nvSpPr>
          <p:cNvPr id="10" name="Funding KPI 3"/>
          <p:cNvSpPr/>
          <p:nvPr/>
        </p:nvSpPr>
        <p:spPr>
          <a:xfrm>
            <a:off x="7589520" y="3849624"/>
            <a:ext cx="4053535" cy="1024128"/>
          </a:xfrm>
          <a:prstGeom prst="roundRect">
            <a:avLst>
              <a:gd name="adj" fmla="val 7143"/>
            </a:avLst>
          </a:prstGeom>
          <a:solidFill>
            <a:schemeClr val="bg2"/>
          </a:solidFill>
          <a:ln w="12700">
            <a:solidFill>
              <a:schemeClr val="bg2"/>
            </a:solidFill>
            <a:prstDash val="solid"/>
          </a:ln>
        </p:spPr>
      </p:sp>
      <p:sp>
        <p:nvSpPr>
          <p:cNvPr id="11" name="Text 8"/>
          <p:cNvSpPr txBox="1"/>
          <p:nvPr/>
        </p:nvSpPr>
        <p:spPr>
          <a:xfrm>
            <a:off x="7818120" y="3959352"/>
            <a:ext cx="3596335"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£90,000+</a:t>
            </a:r>
            <a:endParaRPr lang="en-US" sz="2400" dirty="0"/>
          </a:p>
        </p:txBody>
      </p:sp>
      <p:sp>
        <p:nvSpPr>
          <p:cNvPr id="12" name="Text 9"/>
          <p:cNvSpPr txBox="1"/>
          <p:nvPr/>
        </p:nvSpPr>
        <p:spPr>
          <a:xfrm>
            <a:off x="7818120" y="4443984"/>
            <a:ext cx="3596335" cy="365760"/>
          </a:xfrm>
          <a:prstGeom prst="rect">
            <a:avLst/>
          </a:prstGeom>
          <a:noFill/>
          <a:ln/>
        </p:spPr>
        <p:txBody>
          <a:bodyPr wrap="square" lIns="0" tIns="0" rIns="0" bIns="0" rtlCol="0" anchor="t"/>
          <a:lstStyle/>
          <a:p>
            <a:pPr indent="0" marL="0">
              <a:buNone/>
            </a:pPr>
            <a:r>
              <a:rPr lang="en-US" sz="1200" dirty="0">
                <a:solidFill>
                  <a:schemeClr val="tx2"/>
                </a:solidFill>
              </a:rPr>
              <a:t>Indicative minimum, plus internship and work budget</a:t>
            </a:r>
            <a:endParaRPr lang="en-US" sz="1200" dirty="0"/>
          </a:p>
        </p:txBody>
      </p:sp>
      <p:sp>
        <p:nvSpPr>
          <p:cNvPr id="13" name="Text 10"/>
          <p:cNvSpPr txBox="1"/>
          <p:nvPr/>
        </p:nvSpPr>
        <p:spPr>
          <a:xfrm>
            <a:off x="548640" y="4754880"/>
            <a:ext cx="6766560" cy="822960"/>
          </a:xfrm>
          <a:prstGeom prst="rect">
            <a:avLst/>
          </a:prstGeom>
          <a:noFill/>
          <a:ln/>
        </p:spPr>
        <p:txBody>
          <a:bodyPr wrap="square" lIns="0" tIns="0" rIns="0" bIns="0" rtlCol="0" anchor="t"/>
          <a:lstStyle/>
          <a:p>
            <a:pPr indent="0" marL="0">
              <a:buNone/>
            </a:pPr>
            <a:r>
              <a:rPr lang="en-US" sz="1300" dirty="0">
                <a:solidFill>
                  <a:schemeClr val="tx2"/>
                </a:solidFill>
              </a:rPr>
              <a:t>£15,000 excludes travel, hotel and transport. MM Studio's 2026 baseline value: £XXXX. Final ownership percentage to be confirmed. The equity budget provisionally assumes an equal cash subscription.</a:t>
            </a:r>
            <a:endParaRPr lang="en-US" sz="1300" dirty="0"/>
          </a:p>
        </p:txBody>
      </p:sp>
      <p:sp>
        <p:nvSpPr>
          <p:cNvPr id="14" name="Text 11"/>
          <p:cNvSpPr txBox="1"/>
          <p:nvPr/>
        </p:nvSpPr>
        <p:spPr>
          <a:xfrm>
            <a:off x="548640" y="5577840"/>
            <a:ext cx="11094415" cy="640080"/>
          </a:xfrm>
          <a:prstGeom prst="rect">
            <a:avLst/>
          </a:prstGeom>
          <a:noFill/>
          <a:ln/>
        </p:spPr>
        <p:txBody>
          <a:bodyPr wrap="square" lIns="0" tIns="0" rIns="0" bIns="0" rtlCol="0" anchor="t"/>
          <a:lstStyle/>
          <a:p>
            <a:pPr indent="0" marL="0">
              <a:buNone/>
            </a:pPr>
            <a:r>
              <a:rPr lang="en-US" sz="1200" dirty="0">
                <a:solidFill>
                  <a:schemeClr val="tx2"/>
                </a:solidFill>
              </a:rPr>
              <a:t>Certification, internship and work terms, timing, share issuer and shareholder rights require confirmation. No recognised qualification, job, visa, immigration outcome or investment return is guaranteed.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548640"/>
            <a:ext cx="11094415"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Why invest, and what happens next</a:t>
            </a:r>
            <a:endParaRPr lang="en-US" sz="3600" dirty="0"/>
          </a:p>
        </p:txBody>
      </p:sp>
      <p:sp>
        <p:nvSpPr>
          <p:cNvPr id="3" name="Why card 1"/>
          <p:cNvSpPr/>
          <p:nvPr/>
        </p:nvSpPr>
        <p:spPr>
          <a:xfrm>
            <a:off x="548640" y="1645920"/>
            <a:ext cx="2602154" cy="2606040"/>
          </a:xfrm>
          <a:prstGeom prst="roundRect">
            <a:avLst>
              <a:gd name="adj" fmla="val 2811"/>
            </a:avLst>
          </a:prstGeom>
          <a:solidFill>
            <a:schemeClr val="accent6"/>
          </a:solidFill>
          <a:ln w="12700">
            <a:solidFill>
              <a:schemeClr val="accent6"/>
            </a:solidFill>
            <a:prstDash val="solid"/>
          </a:ln>
        </p:spPr>
      </p:sp>
      <p:sp>
        <p:nvSpPr>
          <p:cNvPr id="4" name="A team no rival has circle"/>
          <p:cNvSpPr/>
          <p:nvPr/>
        </p:nvSpPr>
        <p:spPr>
          <a:xfrm>
            <a:off x="822960" y="1874520"/>
            <a:ext cx="594360" cy="594360"/>
          </a:xfrm>
          <a:prstGeom prst="ellipse">
            <a:avLst/>
          </a:prstGeom>
          <a:solidFill>
            <a:schemeClr val="accent1"/>
          </a:solidFill>
          <a:ln w="12700">
            <a:solidFill>
              <a:schemeClr val="accent1"/>
            </a:solidFill>
            <a:prstDash val="solid"/>
          </a:ln>
        </p:spPr>
      </p:sp>
      <p:pic>
        <p:nvPicPr>
          <p:cNvPr id="5" name="A team no rival has icon" descr="A team no rival has">    </p:cNvPr>
          <p:cNvPicPr>
            <a:picLocks noChangeAspect="1"/>
          </p:cNvPicPr>
          <p:nvPr/>
        </p:nvPicPr>
        <p:blipFill>
          <a:blip r:embed="rId1"/>
          <a:stretch>
            <a:fillRect/>
          </a:stretch>
        </p:blipFill>
        <p:spPr>
          <a:xfrm>
            <a:off x="971550" y="2023110"/>
            <a:ext cx="297180" cy="297180"/>
          </a:xfrm>
          <a:prstGeom prst="rect">
            <a:avLst/>
          </a:prstGeom>
        </p:spPr>
      </p:pic>
      <p:sp>
        <p:nvSpPr>
          <p:cNvPr id="6" name="Text 3"/>
          <p:cNvSpPr txBox="1"/>
          <p:nvPr/>
        </p:nvSpPr>
        <p:spPr>
          <a:xfrm>
            <a:off x="822960"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A team no rival has</a:t>
            </a:r>
            <a:endParaRPr lang="en-US" sz="1500" dirty="0"/>
          </a:p>
        </p:txBody>
      </p:sp>
      <p:sp>
        <p:nvSpPr>
          <p:cNvPr id="7" name="Text 4"/>
          <p:cNvSpPr txBox="1"/>
          <p:nvPr/>
        </p:nvSpPr>
        <p:spPr>
          <a:xfrm>
            <a:off x="822960"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Named scientists, physicians, entrepreneurs, executives and engineers.</a:t>
            </a:r>
            <a:endParaRPr lang="en-US" sz="1200" dirty="0"/>
          </a:p>
        </p:txBody>
      </p:sp>
      <p:sp>
        <p:nvSpPr>
          <p:cNvPr id="8" name="Why card 2"/>
          <p:cNvSpPr/>
          <p:nvPr/>
        </p:nvSpPr>
        <p:spPr>
          <a:xfrm>
            <a:off x="3379394" y="1645920"/>
            <a:ext cx="2602154" cy="2606040"/>
          </a:xfrm>
          <a:prstGeom prst="roundRect">
            <a:avLst>
              <a:gd name="adj" fmla="val 2811"/>
            </a:avLst>
          </a:prstGeom>
          <a:solidFill>
            <a:schemeClr val="accent6"/>
          </a:solidFill>
          <a:ln w="12700">
            <a:solidFill>
              <a:schemeClr val="accent6"/>
            </a:solidFill>
            <a:prstDash val="solid"/>
          </a:ln>
        </p:spPr>
      </p:sp>
      <p:sp>
        <p:nvSpPr>
          <p:cNvPr id="9" name="Defensible innovation circle"/>
          <p:cNvSpPr/>
          <p:nvPr/>
        </p:nvSpPr>
        <p:spPr>
          <a:xfrm>
            <a:off x="3653714" y="1874520"/>
            <a:ext cx="594360" cy="594360"/>
          </a:xfrm>
          <a:prstGeom prst="ellipse">
            <a:avLst/>
          </a:prstGeom>
          <a:solidFill>
            <a:schemeClr val="accent1"/>
          </a:solidFill>
          <a:ln w="12700">
            <a:solidFill>
              <a:schemeClr val="accent1"/>
            </a:solidFill>
            <a:prstDash val="solid"/>
          </a:ln>
        </p:spPr>
      </p:sp>
      <p:pic>
        <p:nvPicPr>
          <p:cNvPr id="10" name="Defensible innovation icon" descr="Defensible innovation">    </p:cNvPr>
          <p:cNvPicPr>
            <a:picLocks noChangeAspect="1"/>
          </p:cNvPicPr>
          <p:nvPr/>
        </p:nvPicPr>
        <p:blipFill>
          <a:blip r:embed="rId2"/>
          <a:stretch>
            <a:fillRect/>
          </a:stretch>
        </p:blipFill>
        <p:spPr>
          <a:xfrm>
            <a:off x="3802304" y="2023110"/>
            <a:ext cx="297180" cy="297180"/>
          </a:xfrm>
          <a:prstGeom prst="rect">
            <a:avLst/>
          </a:prstGeom>
        </p:spPr>
      </p:pic>
      <p:sp>
        <p:nvSpPr>
          <p:cNvPr id="11" name="Text 7"/>
          <p:cNvSpPr txBox="1"/>
          <p:nvPr/>
        </p:nvSpPr>
        <p:spPr>
          <a:xfrm>
            <a:off x="3653714"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Defensible innovation</a:t>
            </a:r>
            <a:endParaRPr lang="en-US" sz="1500" dirty="0"/>
          </a:p>
        </p:txBody>
      </p:sp>
      <p:sp>
        <p:nvSpPr>
          <p:cNvPr id="12" name="Text 8"/>
          <p:cNvSpPr txBox="1"/>
          <p:nvPr/>
        </p:nvSpPr>
        <p:spPr>
          <a:xfrm>
            <a:off x="3653714"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IT-EXO and a patented SynExo, backed by 30+ years of Korean product design and GMP/ISO manufacturing.</a:t>
            </a:r>
            <a:endParaRPr lang="en-US" sz="1200" dirty="0"/>
          </a:p>
        </p:txBody>
      </p:sp>
      <p:sp>
        <p:nvSpPr>
          <p:cNvPr id="13" name="Why card 3"/>
          <p:cNvSpPr/>
          <p:nvPr/>
        </p:nvSpPr>
        <p:spPr>
          <a:xfrm>
            <a:off x="6210148" y="1645920"/>
            <a:ext cx="2602154" cy="2606040"/>
          </a:xfrm>
          <a:prstGeom prst="roundRect">
            <a:avLst>
              <a:gd name="adj" fmla="val 2811"/>
            </a:avLst>
          </a:prstGeom>
          <a:solidFill>
            <a:schemeClr val="accent6"/>
          </a:solidFill>
          <a:ln w="12700">
            <a:solidFill>
              <a:schemeClr val="accent6"/>
            </a:solidFill>
            <a:prstDash val="solid"/>
          </a:ln>
        </p:spPr>
      </p:sp>
      <p:sp>
        <p:nvSpPr>
          <p:cNvPr id="14" name="A client ecosystem circle"/>
          <p:cNvSpPr/>
          <p:nvPr/>
        </p:nvSpPr>
        <p:spPr>
          <a:xfrm>
            <a:off x="6484468" y="1874520"/>
            <a:ext cx="594360" cy="594360"/>
          </a:xfrm>
          <a:prstGeom prst="ellipse">
            <a:avLst/>
          </a:prstGeom>
          <a:solidFill>
            <a:schemeClr val="accent1"/>
          </a:solidFill>
          <a:ln w="12700">
            <a:solidFill>
              <a:schemeClr val="accent1"/>
            </a:solidFill>
            <a:prstDash val="solid"/>
          </a:ln>
        </p:spPr>
      </p:sp>
      <p:pic>
        <p:nvPicPr>
          <p:cNvPr id="15" name="A client ecosystem icon" descr="A client ecosystem">    </p:cNvPr>
          <p:cNvPicPr>
            <a:picLocks noChangeAspect="1"/>
          </p:cNvPicPr>
          <p:nvPr/>
        </p:nvPicPr>
        <p:blipFill>
          <a:blip r:embed="rId3"/>
          <a:stretch>
            <a:fillRect/>
          </a:stretch>
        </p:blipFill>
        <p:spPr>
          <a:xfrm>
            <a:off x="6633058" y="2023110"/>
            <a:ext cx="297180" cy="297180"/>
          </a:xfrm>
          <a:prstGeom prst="rect">
            <a:avLst/>
          </a:prstGeom>
        </p:spPr>
      </p:pic>
      <p:sp>
        <p:nvSpPr>
          <p:cNvPr id="16" name="Text 11"/>
          <p:cNvSpPr txBox="1"/>
          <p:nvPr/>
        </p:nvSpPr>
        <p:spPr>
          <a:xfrm>
            <a:off x="6484468"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A client ecosystem</a:t>
            </a:r>
            <a:endParaRPr lang="en-US" sz="1500" dirty="0"/>
          </a:p>
        </p:txBody>
      </p:sp>
      <p:sp>
        <p:nvSpPr>
          <p:cNvPr id="17" name="Text 12"/>
          <p:cNvSpPr txBox="1"/>
          <p:nvPr/>
        </p:nvSpPr>
        <p:spPr>
          <a:xfrm>
            <a:off x="6484468"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One method and one client record from scan to homecare.</a:t>
            </a:r>
            <a:endParaRPr lang="en-US" sz="1200" dirty="0"/>
          </a:p>
        </p:txBody>
      </p:sp>
      <p:sp>
        <p:nvSpPr>
          <p:cNvPr id="18" name="Why card 4"/>
          <p:cNvSpPr/>
          <p:nvPr/>
        </p:nvSpPr>
        <p:spPr>
          <a:xfrm>
            <a:off x="9040901" y="1645920"/>
            <a:ext cx="2602154" cy="2606040"/>
          </a:xfrm>
          <a:prstGeom prst="roundRect">
            <a:avLst>
              <a:gd name="adj" fmla="val 2811"/>
            </a:avLst>
          </a:prstGeom>
          <a:solidFill>
            <a:schemeClr val="accent6"/>
          </a:solidFill>
          <a:ln w="12700">
            <a:solidFill>
              <a:schemeClr val="accent6"/>
            </a:solidFill>
            <a:prstDash val="solid"/>
          </a:ln>
        </p:spPr>
      </p:sp>
      <p:sp>
        <p:nvSpPr>
          <p:cNvPr id="19" name="Reach from the UK circle"/>
          <p:cNvSpPr/>
          <p:nvPr/>
        </p:nvSpPr>
        <p:spPr>
          <a:xfrm>
            <a:off x="9315221" y="1874520"/>
            <a:ext cx="594360" cy="594360"/>
          </a:xfrm>
          <a:prstGeom prst="ellipse">
            <a:avLst/>
          </a:prstGeom>
          <a:solidFill>
            <a:schemeClr val="accent1"/>
          </a:solidFill>
          <a:ln w="12700">
            <a:solidFill>
              <a:schemeClr val="accent1"/>
            </a:solidFill>
            <a:prstDash val="solid"/>
          </a:ln>
        </p:spPr>
      </p:sp>
      <p:pic>
        <p:nvPicPr>
          <p:cNvPr id="20" name="Reach from the UK icon" descr="Reach from the UK">    </p:cNvPr>
          <p:cNvPicPr>
            <a:picLocks noChangeAspect="1"/>
          </p:cNvPicPr>
          <p:nvPr/>
        </p:nvPicPr>
        <p:blipFill>
          <a:blip r:embed="rId4"/>
          <a:stretch>
            <a:fillRect/>
          </a:stretch>
        </p:blipFill>
        <p:spPr>
          <a:xfrm>
            <a:off x="9463811" y="2023110"/>
            <a:ext cx="297180" cy="297180"/>
          </a:xfrm>
          <a:prstGeom prst="rect">
            <a:avLst/>
          </a:prstGeom>
        </p:spPr>
      </p:pic>
      <p:sp>
        <p:nvSpPr>
          <p:cNvPr id="21" name="Text 15"/>
          <p:cNvSpPr txBox="1"/>
          <p:nvPr/>
        </p:nvSpPr>
        <p:spPr>
          <a:xfrm>
            <a:off x="9315221" y="2606040"/>
            <a:ext cx="2053514" cy="548640"/>
          </a:xfrm>
          <a:prstGeom prst="rect">
            <a:avLst/>
          </a:prstGeom>
          <a:noFill/>
          <a:ln/>
        </p:spPr>
        <p:txBody>
          <a:bodyPr wrap="square" lIns="0" tIns="0" rIns="0" bIns="0" rtlCol="0" anchor="t"/>
          <a:lstStyle/>
          <a:p>
            <a:pPr indent="0" marL="0">
              <a:buNone/>
            </a:pPr>
            <a:r>
              <a:rPr lang="en-US" sz="1500" b="1" dirty="0">
                <a:solidFill>
                  <a:srgbClr val="FFFFFF"/>
                </a:solidFill>
              </a:rPr>
              <a:t>Reach from the UK</a:t>
            </a:r>
            <a:endParaRPr lang="en-US" sz="1500" dirty="0"/>
          </a:p>
        </p:txBody>
      </p:sp>
      <p:sp>
        <p:nvSpPr>
          <p:cNvPr id="22" name="Text 16"/>
          <p:cNvSpPr txBox="1"/>
          <p:nvPr/>
        </p:nvSpPr>
        <p:spPr>
          <a:xfrm>
            <a:off x="9315221" y="3200400"/>
            <a:ext cx="2053514" cy="914400"/>
          </a:xfrm>
          <a:prstGeom prst="rect">
            <a:avLst/>
          </a:prstGeom>
          <a:noFill/>
          <a:ln/>
        </p:spPr>
        <p:txBody>
          <a:bodyPr wrap="square" lIns="0" tIns="0" rIns="0" bIns="0" rtlCol="0" anchor="t"/>
          <a:lstStyle/>
          <a:p>
            <a:pPr indent="0" marL="0">
              <a:buNone/>
            </a:pPr>
            <a:r>
              <a:rPr lang="en-US" sz="1200" dirty="0">
                <a:solidFill>
                  <a:schemeClr val="accent2"/>
                </a:solidFill>
              </a:rPr>
              <a:t>A global training hub and sales network.</a:t>
            </a:r>
            <a:endParaRPr lang="en-US" sz="1200" dirty="0"/>
          </a:p>
        </p:txBody>
      </p:sp>
      <p:sp>
        <p:nvSpPr>
          <p:cNvPr id="23" name="Text 17"/>
          <p:cNvSpPr txBox="1"/>
          <p:nvPr/>
        </p:nvSpPr>
        <p:spPr>
          <a:xfrm>
            <a:off x="548640" y="4572000"/>
            <a:ext cx="3657600" cy="274320"/>
          </a:xfrm>
          <a:prstGeom prst="rect">
            <a:avLst/>
          </a:prstGeom>
          <a:noFill/>
          <a:ln/>
        </p:spPr>
        <p:txBody>
          <a:bodyPr wrap="square" lIns="0" tIns="0" rIns="0" bIns="0" rtlCol="0" anchor="t"/>
          <a:lstStyle/>
          <a:p>
            <a:pPr indent="0" marL="0">
              <a:buNone/>
            </a:pPr>
            <a:r>
              <a:rPr lang="en-US" sz="1200" b="1" spc="400" kern="0" dirty="0">
                <a:solidFill>
                  <a:schemeClr val="accent1"/>
                </a:solidFill>
              </a:rPr>
              <a:t>NEXT STEPS</a:t>
            </a:r>
            <a:endParaRPr lang="en-US" sz="1200" dirty="0"/>
          </a:p>
        </p:txBody>
      </p:sp>
      <p:sp>
        <p:nvSpPr>
          <p:cNvPr id="24" name="Text 18"/>
          <p:cNvSpPr txBox="1"/>
          <p:nvPr/>
        </p:nvSpPr>
        <p:spPr>
          <a:xfrm>
            <a:off x="548640" y="4937760"/>
            <a:ext cx="11094415" cy="11887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FFFFFF"/>
                </a:solidFill>
              </a:rPr>
              <a:t>Confirm unit price, unit count and 2026 baseline value</a:t>
            </a:r>
            <a:endParaRPr lang="en-US" sz="1600" dirty="0"/>
          </a:p>
          <a:p>
            <a:pPr marL="342900" indent="-342900">
              <a:spcAft>
                <a:spcPts val="400"/>
              </a:spcAft>
              <a:buSzPct val="100000"/>
              <a:buChar char="•"/>
            </a:pPr>
            <a:r>
              <a:rPr lang="en-US" sz="1600" dirty="0">
                <a:solidFill>
                  <a:srgbClr val="FFFFFF"/>
                </a:solidFill>
              </a:rPr>
              <a:t>Share leadership profiles and AI and data governance plan</a:t>
            </a:r>
            <a:endParaRPr lang="en-US" sz="1600" dirty="0"/>
          </a:p>
          <a:p>
            <a:pPr marL="342900" indent="-342900">
              <a:buSzPct val="100000"/>
              <a:buChar char="•"/>
            </a:pPr>
            <a:r>
              <a:rPr lang="en-US" sz="1600" dirty="0">
                <a:solidFill>
                  <a:srgbClr val="FFFFFF"/>
                </a:solidFill>
              </a:rPr>
              <a:t>Arrange visits to the Seoul and London demonstration studios</a:t>
            </a:r>
            <a:endParaRPr lang="en-US" sz="1600" dirty="0"/>
          </a:p>
        </p:txBody>
      </p:sp>
      <p:sp>
        <p:nvSpPr>
          <p:cNvPr id="25" name="Text 19"/>
          <p:cNvSpPr txBox="1"/>
          <p:nvPr/>
        </p:nvSpPr>
        <p:spPr>
          <a:xfrm>
            <a:off x="548640" y="6355080"/>
            <a:ext cx="7315200" cy="274320"/>
          </a:xfrm>
          <a:prstGeom prst="rect">
            <a:avLst/>
          </a:prstGeom>
          <a:noFill/>
          <a:ln/>
        </p:spPr>
        <p:txBody>
          <a:bodyPr wrap="square" lIns="0" tIns="0" rIns="0" bIns="0" rtlCol="0" anchor="t"/>
          <a:lstStyle/>
          <a:p>
            <a:pPr indent="0" marL="0">
              <a:buNone/>
            </a:pPr>
            <a:r>
              <a:rPr lang="en-US" sz="1100" dirty="0">
                <a:solidFill>
                  <a:schemeClr val="accent2"/>
                </a:solidFill>
              </a:rPr>
              <a:t>MM Studio  ·  Discussion draft  ·  October 2026</a:t>
            </a:r>
            <a:endParaRPr lang="en-US" sz="1100" dirty="0"/>
          </a:p>
        </p:txBody>
      </p:sp>
    </p:spTree>
  </p:cSld>
  <p:clrMapOvr>
    <a:masterClrMapping/>
  </p:clrMapOvr>
</p:sld>
</file>

<file path=ppt/theme/theme1.xml><?xml version="1.0" encoding="utf-8"?>
<a:theme xmlns:a="http://schemas.openxmlformats.org/drawingml/2006/main" name="MM Studio">
  <a:themeElements>
    <a:clrScheme name="MM Studio">
      <a:dk1>
        <a:srgbClr val="1B2233"/>
      </a:dk1>
      <a:lt1>
        <a:srgbClr val="FFFFFF"/>
      </a:lt1>
      <a:dk2>
        <a:srgbClr val="5C6270"/>
      </a:dk2>
      <a:lt2>
        <a:srgbClr val="F4F2ED"/>
      </a:lt2>
      <a:accent1>
        <a:srgbClr val="B08D57"/>
      </a:accent1>
      <a:accent2>
        <a:srgbClr val="C9CEDA"/>
      </a:accent2>
      <a:accent3>
        <a:srgbClr val="7A8CA8"/>
      </a:accent3>
      <a:accent4>
        <a:srgbClr val="8C4A4A"/>
      </a:accent4>
      <a:accent5>
        <a:srgbClr val="3E6B5A"/>
      </a:accent5>
      <a:accent6>
        <a:srgbClr val="2A3550"/>
      </a:accent6>
      <a:hlink>
        <a:srgbClr val="2A3550"/>
      </a:hlink>
      <a:folHlink>
        <a:srgbClr val="5C6270"/>
      </a:folHlink>
    </a:clrScheme>
    <a:fontScheme name="MM 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 Studio — Investor Brief (UK programme)</dc:title>
  <dc:subject>PptxGenJS Presentation</dc:subject>
  <dc:creator>MM Studio</dc:creator>
  <cp:lastModifiedBy>MM Studio</cp:lastModifiedBy>
  <cp:revision>1</cp:revision>
  <dcterms:created xsi:type="dcterms:W3CDTF">2026-10-04T23:44:48Z</dcterms:created>
  <dcterms:modified xsi:type="dcterms:W3CDTF">2026-10-04T23:44:48Z</dcterms:modified>
</cp:coreProperties>
</file>