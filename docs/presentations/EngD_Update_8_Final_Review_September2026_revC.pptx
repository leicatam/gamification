
<file path=[Content_Types].xml><?xml version="1.0" encoding="utf-8"?>
<Types xmlns="http://schemas.openxmlformats.org/package/2006/content-types"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73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7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5992D-AA2A-134B-9D42-68926F33282C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B2396-E634-B94C-A543-2C85728F0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042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sec. Good afternoon. This is my final progress review before the oral examination. The programme asks how gamification serves continuous improvement when a promising health technology meets difficulty in the field — gamified fall-risk assessment with older adults, and what happens after an adverse first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70 sec. Walk the three stages: the survey that surfaced the phenomenon; the eight-week gamified deployment; the decoupled deployment whose contrast motivates — but does not prove — the framing account. Note the defined Stage-3 endpoint: end-of-window participation, 112 of 120, returners counted as participating — not uninterrupted retention. If asked why Stage 3 has two parts: 3A tested removing the verdict; 3B tests measurement made survivable by design; separate labelled collections keep the reported 3A record untouched. On Stage 3B, state only the interim account: collection commenced in August 2026; deployed procedures and returns are being checked against the protocol before classification and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 sec. Three quantitative tiles plus one deliberately qualitative one: non-return rests on contemporaneous therapist observation, because the archive keeps aggregate run counts without dates. If asked whether these players will come back: my interpretation is that return is unlikely — but the record supports only 'no documented return within the window', so that is what the thesis claims. Walk the provenance line: baseline was a standard-mode FRA test; the after-index came from the final attended episode.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75 sec. The construct story: what the field notes record, what FIAS names as our proposed construct, and the two calibrated theoretical claims. The figure is deliberately simplified for projection; the paper carries the fuller theoretical anchors. Keep the register: proposed, candidate, hypothesis — and social spread is explicitly a hypothesis from the recorded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sec. Frame as movement since March. Lead with recalibration — own it as a strengthening. On ethics, give the chronology unprompted: the approval was issued August 2026, after the Stage-2 fieldwork, on an application that disclosed the procedures as conducted; the approval period covers Stage 3B prospectively. That is the honest statement — do not claim the period alone proves prior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sec. Statuses match the dated records: acceptance letter for Stage 1 (indexing pending); Paper 2 submitted 9 September, still at editorial assessment; Paper 3 fully prepared for two venues with the choice resting with my supervisor. Mention the prepared methods correction for Paper 2's first revision — it shows the record-reconciliation process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75 sec. Deliver three beats: (1) collection COMMENCED IN AUGUST 2026; (2) the INTENDED COMPARISON — adaptive calibration + trajectory + coaching vs static difficulty, randomised in-build, estimating the combined effect; (3) STATUS — deployed procedures and returns are being checked against the protocol before classification and analysis. If asked about contingencies: they arise only if verification does not support the 3B classification and rest with my supervisor; a single-arm route would provide no between-group estimate, so objective and claims would be revised accordingly.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 sec. The honest gap slide. Say plainly which items are substantive rather than administrative: instrument confirmation can affect interpretation of the questionnaire data; Stage-3B recruitment and results are real dependencies; the non-return evidential-basis sweep aligns thesis and papers with what the archive supports. Invite the panel to add anything they consider missing. Contingency routes are not the plan of record — the August deployment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sec. Three beats against two clocks. The load-bearing step is verification of the August deployment, then analysis under the pre-specified hierarchy. Any contingency fieldwork is bounded by the ethics expiry and is a supervisor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sec. Each contribution card carries its evidential status in its own title: proposed, candidate, under evaluation, completed — the panel sees which conclusions stand on completed evidence and which are contingent on Stage 3B. Close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FB698F-3FBB-C2F7-060E-B53F7F6A64A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t="12809" b="8376"/>
          <a:stretch>
            <a:fillRect/>
          </a:stretch>
        </p:blipFill>
        <p:spPr>
          <a:xfrm>
            <a:off x="8436077" y="6062596"/>
            <a:ext cx="3755923" cy="79540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BAF5E1E-8D4C-830D-E6D5-68E7511C8BBB}"/>
              </a:ext>
            </a:extLst>
          </p:cNvPr>
          <p:cNvSpPr/>
          <p:nvPr userDrawn="1"/>
        </p:nvSpPr>
        <p:spPr>
          <a:xfrm>
            <a:off x="0" y="6062596"/>
            <a:ext cx="8436077" cy="7954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777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UPDATE 8 — FINAL REVIEW BEFORE ORAL EXAMINATION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37160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Gamification as Proactive Approach for Continuous Improvement and Innovation Enhancement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241964"/>
            <a:ext cx="5866642" cy="1312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Failure-associated non-return in gamified fall-risk assessment for older adults — and the engineering response to it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92678" y="4555122"/>
            <a:ext cx="0" cy="1371600"/>
          </a:xfrm>
          <a:prstGeom prst="line">
            <a:avLst/>
          </a:prstGeom>
          <a:noFill/>
          <a:ln w="25400">
            <a:solidFill>
              <a:srgbClr val="2E3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4554441"/>
            <a:ext cx="685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 T. Tam (2021 – extended one semester 26-27)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of Engineering (EngD) candidate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Industrial and Systems Engineering, PolyU</a:t>
            </a:r>
          </a:p>
          <a:p>
            <a:pPr marL="0" indent="0">
              <a:lnSpc>
                <a:spcPct val="118000"/>
              </a:lnSpc>
              <a:buNone/>
            </a:pP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Supervisor: Prof. Chi Fai (Benny) Cheung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Last review before oral examination · Research period ends October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577" y="2793077"/>
            <a:ext cx="4523761" cy="3133645"/>
          </a:xfrm>
          <a:prstGeom prst="roundRect">
            <a:avLst>
              <a:gd name="adj" fmla="val 4132"/>
            </a:avLst>
          </a:prstGeom>
          <a:solidFill>
            <a:srgbClr val="2E3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046719" y="5987825"/>
            <a:ext cx="3322321" cy="456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AI-assisted skiing game (Stage 2 build)</a:t>
            </a:r>
            <a:endParaRPr lang="en-US" sz="1050" dirty="0"/>
          </a:p>
        </p:txBody>
      </p:sp>
      <p:pic>
        <p:nvPicPr>
          <p:cNvPr id="11" name="trim.7C051782-CD89-4F46-B18A-7DF122D02A27.MOV">
            <a:hlinkClick r:id="" action="ppaction://media"/>
            <a:extLst>
              <a:ext uri="{FF2B5EF4-FFF2-40B4-BE49-F238E27FC236}">
                <a16:creationId xmlns:a16="http://schemas.microsoft.com/office/drawing/2014/main" id="{F1848ECD-7904-6FEA-A110-25270B2D2C1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402713" y="2977484"/>
            <a:ext cx="4349488" cy="27184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mute="1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briefly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problem, followed through three empirical stages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problem.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installed fall-risk assessment (FRA) station stood under-used for a decade despite clinical value. The research examines adverse first experiences as a possible contributor to limited repeat use — the question is continued voluntary engagement, not initial acceptance.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395728"/>
            <a:ext cx="3566160" cy="3310128"/>
          </a:xfrm>
          <a:prstGeom prst="roundRect">
            <a:avLst>
              <a:gd name="adj" fmla="val 2486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8952" y="2651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58952" y="264261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651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review &amp; survey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3364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Guangzhou facility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3675888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 200 residents (population 280). Retrospective accounts of adverse first experiences followed by non-return; TAM and Octalysis framing.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58952" y="528523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58952" y="5276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SS-293 · ICMSS 2026 (accepted)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25112" y="2395728"/>
            <a:ext cx="3566160" cy="3310128"/>
          </a:xfrm>
          <a:prstGeom prst="roundRect">
            <a:avLst>
              <a:gd name="adj" fmla="val 2486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81144" y="2651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581144" y="264261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285232" y="2651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deployment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81144" y="3364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June–August 2025 · 8 weeks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81144" y="3675888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residents (62–84) played an AI-assisted skiing game whose weight-shift control also fed FRA measurement. Prospective observation of engagement.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81144" y="528523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581144" y="5276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· JIKM (under review)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47304" y="2395728"/>
            <a:ext cx="3566160" cy="3310128"/>
          </a:xfrm>
          <a:prstGeom prst="roundRect">
            <a:avLst>
              <a:gd name="adj" fmla="val 2486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403336" y="2651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403336" y="264261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S3A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107424" y="2651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deployment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403336" y="3364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 cohort · remote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403336" y="3675888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adults, desktop game decoupled from clinical measurement. End-of-window participation 93.3% (112/120, returned dropouts counted as participating); 15 of 23 initial dropouts returned.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403336" y="528523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8403336" y="5276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3 · prepared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59436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cohort, setting, delivery and input modality across stages prevent causal isolation. Stage 3B data collection commenced in August 2026; deployed procedures and returned records are being checked against the Stage-3B protocol before final classification and analysis (slide 7).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central observation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what the archived record supports, stated at its evidential level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670048" cy="2395728"/>
          </a:xfrm>
          <a:prstGeom prst="roundRect">
            <a:avLst>
              <a:gd name="adj" fmla="val 3435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627632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70.0%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87168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participants had three or fewer recorded completed runs (95% CI 52.1–83.3%)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01568" y="1481328"/>
            <a:ext cx="2670048" cy="2395728"/>
          </a:xfrm>
          <a:prstGeom prst="roundRect">
            <a:avLst>
              <a:gd name="adj" fmla="val 3435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493008" y="1627632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26.7%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487168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a single recorded completed run (95% CI 14.2–44.4%)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0216" y="1481328"/>
            <a:ext cx="2670048" cy="2395728"/>
          </a:xfrm>
          <a:prstGeom prst="roundRect">
            <a:avLst>
              <a:gd name="adj" fmla="val 3435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391656" y="1627632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+4.03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483096" y="2487168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change, InBody FRA composite (higher = better), n = 30 pairs, 95% CI 0.47–7.60, paired t p = .028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98864" y="1481328"/>
            <a:ext cx="2670048" cy="2395728"/>
          </a:xfrm>
          <a:prstGeom prst="roundRect">
            <a:avLst>
              <a:gd name="adj" fmla="val 3435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290304" y="1627632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return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381744" y="2487168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among low-engagement participants within the window — therapist-observed; the archive holds aggregate run counts, not dated visits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041648"/>
            <a:ext cx="11192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provenance: 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“before” = standard-mode FRA assessment at first attendance; “after” = the index generated at the final attended gameplay episode (timing varies by participant; an index is produced even with few completed runs). Both values are the same index on the same scale (higher = better); the standard-mode vs gameplay context difference is a stated limitation. Not an eight-week pre/post design.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846320"/>
            <a:ext cx="11192256" cy="969264"/>
          </a:xfrm>
          <a:prstGeom prst="roundRect">
            <a:avLst>
              <a:gd name="adj" fmla="val 84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68680" y="4846320"/>
            <a:ext cx="10469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coexistence that drives the thesis: 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feedback and recorded balance-index gains coexisted with limited recorded use in this cohort. That coexistence does not establish durable learning or clinical benefit — it defines the engineering problem.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952744"/>
            <a:ext cx="80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≤3 / ≥4 run split is a retrospectively defined classification used for descriptive analysis — not an optimal threshold.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mechanism: FIDS → FIAS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descriptive construct — mechanisms are hypotheses, not measured results</a:t>
            </a:r>
            <a:endParaRPr lang="en-US" sz="1400" dirty="0"/>
          </a:p>
        </p:txBody>
      </p:sp>
      <p:pic>
        <p:nvPicPr>
          <p:cNvPr id="4" name="Image 0" descr="/tmp/claude-0/-home-user-gamification/3d8a50e8-9258-51ce-a7d6-194da50f9a04/scratchpad/mech2/mech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083" y="274320"/>
            <a:ext cx="5090917" cy="531598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19" y="1444752"/>
            <a:ext cx="641742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sequence (contemporaneous notes)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acknowledged FRA benefits and recorded gains; recurring in-game failures across second and third runs; gave up despite gains; remaining players saw the group thin out and left too. The sequence is documented; interpersonal influence was not individually traced, so social spread stays a hypothesis.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19" y="2615184"/>
            <a:ext cx="641742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FIAS — proposed descriptive construct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pattern: an adverse verdict experience in a health-coupled game, followed by non-return. Emerged from Stage-2 fieldwork; held to Chapter 4 onward by the writing-logic standard.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02919" y="3785616"/>
            <a:ext cx="641742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boundary condition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decoupling comparison suggests gamification theory's engagement predictions may not transfer when play is coupled to a clinical verdict — a candidate boundary condition, not a law.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02919" y="4956048"/>
            <a:ext cx="641742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response (Chapter 7)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design principles, each tracing a documented field problem to a design decision: calibrated difficulty, trajectory display, coaching. Stage 3B evaluates their combined effect.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512676" y="5672605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conceptual model (deck version). The full model with its theoretical anchors is Figure 7 of Paper 2.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since the last review (March 2026)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thesis revised; remaining work detailed on slide 8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667512" y="1399032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667512" y="13898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1161288" y="1325880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recalibrated to the record</a:t>
            </a:r>
            <a:endParaRPr lang="en-US" sz="1600" dirty="0"/>
          </a:p>
          <a:p>
            <a:pPr marL="0" indent="0">
              <a:lnSpc>
                <a:spcPct val="103000"/>
              </a:lnSpc>
              <a:buNone/>
            </a:pPr>
            <a:endParaRPr lang="en-US" sz="110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March working figures (“82% never returned”, 18.4-hour median, “pattern confirmed”) are superseded: claims now rest on the archived record, in calibrated language — observed use distinguished from inferred non-return.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90488" y="1234440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6355080" y="1399032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 txBox="1"/>
          <p:nvPr/>
        </p:nvSpPr>
        <p:spPr>
          <a:xfrm>
            <a:off x="6355080" y="13898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6848856" y="1325880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approval obtained</a:t>
            </a:r>
            <a:endParaRPr lang="en-US" sz="16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HSEARS20260805008 approved 6 Aug 2026 (PI Prof. Cheung); stated approval period 16 Jun 2024 – 30 Oct 2026. Approval post-dates the Stage-1/2 fieldwork and was obtained with the conducted procedures disclosed; the Stage-3B window falls inside the period. Memo archived; available for panel inspection.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2898648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667512" y="3063240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 txBox="1"/>
          <p:nvPr/>
        </p:nvSpPr>
        <p:spPr>
          <a:xfrm>
            <a:off x="667512" y="305409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1161288" y="2990088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thesis revised (V40)</a:t>
            </a:r>
            <a:endParaRPr lang="en-US" dirty="0"/>
          </a:p>
          <a:p>
            <a:pPr marL="0" indent="0">
              <a:lnSpc>
                <a:spcPct val="103000"/>
              </a:lnSpc>
              <a:buNone/>
            </a:pPr>
            <a:endParaRPr lang="en-US" sz="110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Examiner-style review actioned; forward-results discipline applied to Ch1–3; evidentiary appendices built; production formatting done. Remaining evidence work — slide 8.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190488" y="2898648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6355080" y="3063240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 txBox="1"/>
          <p:nvPr/>
        </p:nvSpPr>
        <p:spPr>
          <a:xfrm>
            <a:off x="6355080" y="305409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6848856" y="2990088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Stage-2 archive assembled</a:t>
            </a:r>
            <a:endParaRPr lang="en-US" sz="16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 logbook with stable player IDs; questionnaire entry workbook; nine-interview record (therapist-conducted, Aug–Sep 2025, self-selected acceptors — per the archived logbook and workbook; paper forms being collected); sensitivity analysis recalculated from the archive (arithmetic verification, n=30 vs n=29).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4562856"/>
            <a:ext cx="5440680" cy="1398201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667512" y="4727448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 txBox="1"/>
          <p:nvPr/>
        </p:nvSpPr>
        <p:spPr>
          <a:xfrm>
            <a:off x="667512" y="47183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1161288" y="4581144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advanced</a:t>
            </a:r>
            <a:endParaRPr lang="en-US" sz="1600" dirty="0"/>
          </a:p>
          <a:p>
            <a:pPr marL="0" indent="0">
              <a:lnSpc>
                <a:spcPct val="103000"/>
              </a:lnSpc>
              <a:buNone/>
            </a:pPr>
            <a:endParaRPr lang="en-US" sz="110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Stage-1 paper accepted and presented (ICMSS 2026); Paper 2 submitted to JIKM after a systematic ten-point revision; Paper 3 packages prepared for two candidate venues.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0488" y="4562856"/>
            <a:ext cx="5440680" cy="1398201"/>
          </a:xfrm>
          <a:prstGeom prst="roundRect">
            <a:avLst>
              <a:gd name="adj" fmla="val 4762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5" name="Shape 23"/>
          <p:cNvSpPr/>
          <p:nvPr/>
        </p:nvSpPr>
        <p:spPr>
          <a:xfrm>
            <a:off x="6355080" y="4727448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 txBox="1"/>
          <p:nvPr/>
        </p:nvSpPr>
        <p:spPr>
          <a:xfrm>
            <a:off x="6355080" y="47183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dirty="0"/>
          </a:p>
        </p:txBody>
      </p:sp>
      <p:sp>
        <p:nvSpPr>
          <p:cNvPr id="27" name="Text 25"/>
          <p:cNvSpPr txBox="1"/>
          <p:nvPr/>
        </p:nvSpPr>
        <p:spPr>
          <a:xfrm>
            <a:off x="6848856" y="4589457"/>
            <a:ext cx="4645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A/B designed and built</a:t>
            </a:r>
            <a:endParaRPr lang="en-US" sz="1600" dirty="0"/>
          </a:p>
          <a:p>
            <a:pPr marL="0" indent="0">
              <a:lnSpc>
                <a:spcPct val="103000"/>
              </a:lnSpc>
              <a:buNone/>
            </a:pPr>
            <a:endParaRPr lang="en-US" sz="120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since March 2026: protocol drafted, v3.0 bilingual build complete and smoke-tested (in-build consent, silent A/B arms, one-file export, no external calls).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paper per stage, one venue per paper — status per the dated record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11192256" cy="1463040"/>
          </a:xfrm>
          <a:prstGeom prst="roundRect">
            <a:avLst>
              <a:gd name="adj" fmla="val 5000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4904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911096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2C6E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9019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453896"/>
            <a:ext cx="8778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“Investigating Low Utilisation of Fall Risk Assessment Among Elderly Users…”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ICMSS 2026 (Wuhan) · CPS proceedings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&amp; Cheung. Accepted and presented March 2026; IEEE Xplore indexing pending. Camera-ready consent-statement check open.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935224"/>
            <a:ext cx="11192256" cy="1463040"/>
          </a:xfrm>
          <a:prstGeom prst="roundRect">
            <a:avLst>
              <a:gd name="adj" fmla="val 5000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3081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502152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34930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3044952"/>
            <a:ext cx="8778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Failure-induced abandonment in a gamified FRA deployment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Information &amp; Knowledge Management (JIKM)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Manager JIKMS2602466; at editorial assessment, not yet in external review. A minor methods-description correction (interview provenance) is prepared for the first revision.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526280"/>
            <a:ext cx="11192256" cy="1463040"/>
          </a:xfrm>
          <a:prstGeom prst="roundRect">
            <a:avLst>
              <a:gd name="adj" fmla="val 5000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" y="46725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5093208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77240" y="508406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4636008"/>
            <a:ext cx="8778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decoupled deployment study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decision with supervisor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complete submission packages (JMIR Serious Games; IEEE Access alternative). Submission awaits the supervisor's venue approval; co-author ORCID needed for the forms.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relationships are declared in each cover letter; the thesis remains the sole complete record.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3B: deployment under verification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Stage 3 has two parts, what participants experience, and where the data stand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02920" y="1426464"/>
            <a:ext cx="6949440" cy="1335024"/>
          </a:xfrm>
          <a:prstGeom prst="roundRect">
            <a:avLst>
              <a:gd name="adj" fmla="val 547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517904"/>
            <a:ext cx="63550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H-3B (exploratory):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combined intervention — adaptive calibration + trajectory display + coaching — sustains engagement even when measurement is visible.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884932"/>
            <a:ext cx="6949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parts, two questions  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3A examined engagement when the FRA system was removed from play. Stage 3B examines whether trajectory-framed measurement with adaptive support sustains engagement when measurement is visible. Separate labelled collections; the reported 3A record is unchanged – the explanation of AI featured gamification.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895344"/>
            <a:ext cx="6949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Per-protocol participant experience  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bilingual v3.0 game: in-build consent, silent random assignment (adaptive calibration + trajectory + coaching vs static difficulty), end-screen questionnaire, one-file export; target N ≥ 40. Estimates the combined effect — no component or framing isolation.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745736"/>
            <a:ext cx="6949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commenced in August 2026. The deployed procedures and returned records are being checked against the Stage-3B protocol before final classification and analysis.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394960"/>
            <a:ext cx="6949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of the deployed file and returns → classification → analysis under the pre-specified hierarchy (repository-dated 8–9 Aug 2026).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26679" y="1426464"/>
            <a:ext cx="4170911" cy="4700016"/>
          </a:xfrm>
          <a:prstGeom prst="roundRect">
            <a:avLst>
              <a:gd name="adj" fmla="val 2069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001000" y="1627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Stage 3B contributes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0" y="2057400"/>
            <a:ext cx="3657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combined-intervention evaluation, with exploratory assessment of the proposed mechanisms</a:t>
            </a:r>
            <a:endParaRPr lang="en-US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§8.8 and the programme diary (Table 9.1), written to the verified classification</a:t>
            </a:r>
            <a:endParaRPr lang="en-US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empirical input before the final production pass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to complete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work and dependencies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426464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758952" y="15544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3B (verify, then analyse)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38528"/>
            <a:ext cx="495604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deployed procedures and returns against the protocol → classify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complete and analyse the August deployment as Stage 3B under the pre-specified hierarchy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Contingencies only if verification does not support that classification (supervisor)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0488" y="1426464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6446520" y="15544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 records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938528"/>
            <a:ext cx="495604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Therapist-completed interview forms + details report (requested); after-game questionnaire sheets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D instrument wording and scale confirmation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Telemetry-retention statement; Appendix G source-to-result manifest and build-lineage rows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858768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 txBox="1"/>
          <p:nvPr/>
        </p:nvSpPr>
        <p:spPr>
          <a:xfrm>
            <a:off x="758952" y="398678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Consents &amp; sign-offs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4370832"/>
            <a:ext cx="495604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member-check signatures releasing the last consent-gated panel content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decision with the supervisor; supervisor's review report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Paper-3 venue decision (supervisor)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0488" y="3858768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 txBox="1"/>
          <p:nvPr/>
        </p:nvSpPr>
        <p:spPr>
          <a:xfrm>
            <a:off x="6446520" y="398678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production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370832"/>
            <a:ext cx="495604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strength-matching rewrite once records land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Forward-results sweep of Ch1–3; single-answer RQ consolidation; non-return evidential-basis sweep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Word-generated ToC/LoF/LoT fields; evidence cut-off declaration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submission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and dates against two clocks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984248" y="1554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984248" y="1545336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0" y="1837944"/>
            <a:ext cx="306324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0292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– late September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3566160" cy="2487168"/>
          </a:xfrm>
          <a:prstGeom prst="roundRect">
            <a:avLst>
              <a:gd name="adj" fmla="val 3309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9" name="Text 7"/>
          <p:cNvSpPr txBox="1"/>
          <p:nvPr/>
        </p:nvSpPr>
        <p:spPr>
          <a:xfrm>
            <a:off x="777240" y="2944368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August deployment (deployed file, returns, start date) → classify</a:t>
            </a:r>
            <a:endParaRPr lang="en-US" sz="14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items: Paper-3 venue; any contingency</a:t>
            </a:r>
            <a:endParaRPr lang="en-US" sz="14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records and instrument scans requested/filed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06440" y="1554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806440" y="1545336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65392" y="1837944"/>
            <a:ext cx="306324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325112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October, first half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325112" y="2743200"/>
            <a:ext cx="3566160" cy="2487168"/>
          </a:xfrm>
          <a:prstGeom prst="roundRect">
            <a:avLst>
              <a:gd name="adj" fmla="val 3309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5" name="Text 13"/>
          <p:cNvSpPr txBox="1"/>
          <p:nvPr/>
        </p:nvSpPr>
        <p:spPr>
          <a:xfrm>
            <a:off x="4599432" y="2944368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Stage-3B analysis under the pre-specified hierarchy → §8.8 + diary</a:t>
            </a:r>
            <a:endParaRPr lang="en-US" sz="14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G manifest and lineage rows completed</a:t>
            </a:r>
            <a:endParaRPr lang="en-US" sz="14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Member-check content released into §6.12 / Appendix 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28632" y="1554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628632" y="1545336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147304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Mid–late October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147304" y="2743200"/>
            <a:ext cx="3566160" cy="2487168"/>
          </a:xfrm>
          <a:prstGeom prst="roundRect">
            <a:avLst>
              <a:gd name="adj" fmla="val 3309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0" name="Text 18"/>
          <p:cNvSpPr txBox="1"/>
          <p:nvPr/>
        </p:nvSpPr>
        <p:spPr>
          <a:xfrm>
            <a:off x="8421624" y="2944368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Stage-3B write-up finalised to the verified classification</a:t>
            </a:r>
            <a:endParaRPr lang="en-US" sz="14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rewrite; final sweeps; ToC/LoF/LoT fields; Paper-3 submission</a:t>
            </a:r>
            <a:endParaRPr lang="en-US" sz="14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submission → oral examination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5486400"/>
            <a:ext cx="11192256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68680" y="5486400"/>
            <a:ext cx="10469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clocks: the ethics approval period ends 30 October 2026 and bounds any further fieldwork; the thesis submission target is November 2026.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B)  |  PolyU ISE  |  September 2026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thesis contributes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88907" y="1481328"/>
            <a:ext cx="5535495" cy="1737360"/>
          </a:xfrm>
          <a:prstGeom prst="roundRect">
            <a:avLst>
              <a:gd name="adj" fmla="val 4211"/>
            </a:avLst>
          </a:prstGeom>
          <a:solidFill>
            <a:srgbClr val="2E3A8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 txBox="1"/>
          <p:nvPr/>
        </p:nvSpPr>
        <p:spPr>
          <a:xfrm>
            <a:off x="883227" y="1609344"/>
            <a:ext cx="494765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phenomenon (proposed)</a:t>
            </a:r>
            <a:endParaRPr lang="en-US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FIAS — our proposed descriptive construct for failure-induced non-return in health-coupled games, grounded in a prospectively observed cohort and a documented field sequence. Stands on completed evidence.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29587" y="1481328"/>
            <a:ext cx="5535495" cy="1737360"/>
          </a:xfrm>
          <a:prstGeom prst="roundRect">
            <a:avLst>
              <a:gd name="adj" fmla="val 4211"/>
            </a:avLst>
          </a:prstGeom>
          <a:solidFill>
            <a:srgbClr val="2E3A8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6323907" y="1609344"/>
            <a:ext cx="494765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boundary claim for theory (candidate)</a:t>
            </a:r>
            <a:endParaRPr lang="en-US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Gamification's engagement predictions may not transfer when play is coupled to a clinical verdict — a candidate boundary condition, with the decoupling comparison as motivating evidence. Stands on completed evidence, causally unisolated.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88907" y="3364992"/>
            <a:ext cx="5535495" cy="1737360"/>
          </a:xfrm>
          <a:prstGeom prst="roundRect">
            <a:avLst>
              <a:gd name="adj" fmla="val 4211"/>
            </a:avLst>
          </a:prstGeom>
          <a:solidFill>
            <a:srgbClr val="2E3A8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883227" y="3493008"/>
            <a:ext cx="494765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engineering response (evaluation in progress)</a:t>
            </a:r>
            <a:endParaRPr lang="en-US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design principles, each tracing a documented field problem to a specific design decision, embodied in the adaptive-learning framework. Evaluation status follows the verified classification of the August Stage-3B deployment.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029587" y="3364992"/>
            <a:ext cx="5535495" cy="1737360"/>
          </a:xfrm>
          <a:prstGeom prst="roundRect">
            <a:avLst>
              <a:gd name="adj" fmla="val 4211"/>
            </a:avLst>
          </a:prstGeom>
          <a:solidFill>
            <a:srgbClr val="2E3A8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 txBox="1"/>
          <p:nvPr/>
        </p:nvSpPr>
        <p:spPr>
          <a:xfrm>
            <a:off x="6323907" y="3493008"/>
            <a:ext cx="494765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record (assembly continuing)</a:t>
            </a:r>
            <a:endParaRPr lang="en-US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As-received archives, recalculated statistics (arithmetic verification), calibrated language — an evidential chain an examiner can walk end to end, with the remaining documentary items on slide 8 being filed.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I welcome the panel's questions.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 T. Tam · EngD candidate, ISE · Supervisor: Prof. C. F. Cheung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2839</Words>
  <Application>Microsoft Macintosh PowerPoint</Application>
  <PresentationFormat>Widescreen</PresentationFormat>
  <Paragraphs>189</Paragraphs>
  <Slides>10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TAM, Sidney [Student]</cp:lastModifiedBy>
  <cp:revision>3</cp:revision>
  <dcterms:created xsi:type="dcterms:W3CDTF">2026-09-12T07:18:08Z</dcterms:created>
  <dcterms:modified xsi:type="dcterms:W3CDTF">2026-09-13T10:14:52Z</dcterms:modified>
</cp:coreProperties>
</file>