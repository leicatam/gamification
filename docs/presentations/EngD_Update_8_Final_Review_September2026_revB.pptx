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sec. Good afternoon. This is my final progress review before the oral examination. The programme asks how gamification serves continuous improvement when a promising health technology meets difficulty in the field — gamified fall-risk assessment with older adults, and what happens after an adverse first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70 sec. Walk the three stages: the survey that surfaced the phenomenon; the eight-week gamified deployment; the decoupled deployment whose contrast motivates — but does not prove — the framing account. Note the defined Stage-3 endpoint: end-of-window participation, 112 of 120, returners counted as participating — not uninterrupted retention. If asked why Stage 3 has two parts: 3A tested removing the verdict; 3B tests measurement made survivable by design; separate labelled collections keep the reported 3A record untouched. On Stage 3B, state only the interim account: collection commenced in August 2026; deployed procedures and returns are being checked against the protocol before classification and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Three quantitative tiles plus one deliberately qualitative one: non-return rests on contemporaneous therapist observation, because the archive keeps aggregate run counts without dates. If asked whether these players will come back: my interpretation is that return is unlikely — but the record supports only 'no documented return within the window', so that is what the thesis claims. Walk the provenance line: baseline was a standard-mode FRA test; the after-index came from the final attended episode.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The construct story: what the field notes record, what FIAS names as our proposed construct, and the two calibrated theoretical claims. The figure is deliberately simplified for projection; the paper carries the fuller theoretical anchors. Keep the register: proposed, candidate, hypothesis — and social spread is explicitly a hypothesis from the recorded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sec. Frame as movement since March. Lead with recalibration — own it as a strengthening. On ethics, give the chronology unprompted: the approval was issued August 2026, after the Stage-2 fieldwork, on an application that disclosed the procedures as conducted; the approval period covers Stage 3B prospectively. That is the honest statement — do not claim the period alone proves prior coverage.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Statuses match the dated records: acceptance letter for Stage 1 (indexing pending); Paper 2 submitted 9 September, still at editorial assessment; Paper 3 fully prepared for two venues with the choice resting with my supervisor. Mention the prepared methods correction for Paper 2's first revision — it shows the record-reconciliation process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75 sec. Give the panel the essentials: the two-part rationale; the research question H-3B; what participants experience under the dated protocol; that collection commenced in August 2026; and that deployed procedures and returns are being checked against the protocol before classification and analysis. Do not speculate about causes or versions. Contingency plans are supervisor matters — mention only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sec. The honest gap slide. Say plainly which items are substantive rather than administrative: instrument confirmation can affect interpretation of the questionnaire data; Stage-3B recruitment and results are real dependencies; the non-return evidential-basis sweep aligns thesis and papers with what the archive supports. Invite the panel to add anything they consider missing. Contingency routes are not the plan of record — the August deployment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sec. Three beats against two clocks. The load-bearing step is verification of the August deployment, then analysis under the pre-specified hierarchy. Any contingency fieldwork is bounded by the ethics expiry and is a supervisor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sec. Each contribution card carries its evidential status in its own title: proposed, candidate, under evaluation, completed — the panel sees which conclusions stand on completed evidence and which are contingent on Stage 3B. Close and invite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UPDATE 8 — FINAL REVIEW BEFORE ORAL EXAMINATION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8412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Gamification as Proactive Approach for Continuous Improvement and Innovation Enhancement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5204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Failure-associated non-return in gamified fall-risk assessment for older adults — and the engineering response to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0" cy="1371600"/>
          </a:xfrm>
          <a:prstGeom prst="line">
            <a:avLst/>
          </a:prstGeom>
          <a:noFill/>
          <a:ln w="25400">
            <a:solidFill>
              <a:srgbClr val="2E3A8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754880"/>
            <a:ext cx="685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of Engineering (EngD) candidate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Industrial and Systems Engineering, PolyU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Supervisor: Prof. Chi Fai (Benny) Cheung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review before oral examination · Research period ends October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2011680"/>
            <a:ext cx="3063240" cy="2212848"/>
          </a:xfrm>
          <a:prstGeom prst="roundRect">
            <a:avLst>
              <a:gd name="adj" fmla="val 4132"/>
            </a:avLst>
          </a:prstGeom>
          <a:solidFill>
            <a:srgbClr val="2E3A8C"/>
          </a:solidFill>
          <a:ln/>
        </p:spPr>
      </p:sp>
      <p:pic>
        <p:nvPicPr>
          <p:cNvPr id="9" name="Image 0" descr="/home/user/gamification/docs/papers/figures_submission/Game_Screenshot_Level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0" y="2148840"/>
            <a:ext cx="2788920" cy="186537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732520" y="427939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AI-assisted skiing game (Stage 2 build)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at a glance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problem, followed through three empirical stages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problem.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installed fall-risk assessment (FRA) station stood under-used for a decade despite clinical value. The research examines adverse first experiences as a possible contributor to limited repeat use — the question is continued voluntary engagement, not initial acceptance.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6" name="Shape 4"/>
          <p:cNvSpPr/>
          <p:nvPr/>
        </p:nvSpPr>
        <p:spPr>
          <a:xfrm>
            <a:off x="758952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58952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review &amp; survey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Guangzhou facility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Surveyed 200 residents (population 280). Retrospective accounts of adverse first experiences followed by non-return; TAM and Octalysis framing.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8952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58952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SS-293 · ICMSS 2026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25112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14" name="Shape 12"/>
          <p:cNvSpPr/>
          <p:nvPr/>
        </p:nvSpPr>
        <p:spPr>
          <a:xfrm>
            <a:off x="4581144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81144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285232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Gamified deployment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June–August 2025 · 8 weeks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81144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Thirty residents (62–84) played an AI-assisted skiing game whose weight-shift control also fed FRA measurement. Prospective observation of engagement.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81144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81144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· JIKM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47304" y="2395728"/>
            <a:ext cx="3566160" cy="3310128"/>
          </a:xfrm>
          <a:prstGeom prst="roundRect">
            <a:avLst>
              <a:gd name="adj" fmla="val 2486"/>
            </a:avLst>
          </a:prstGeom>
          <a:solidFill>
            <a:srgbClr val="EAF1FD"/>
          </a:solidFill>
          <a:ln/>
        </p:spPr>
      </p:sp>
      <p:sp>
        <p:nvSpPr>
          <p:cNvPr id="22" name="Shape 20"/>
          <p:cNvSpPr/>
          <p:nvPr/>
        </p:nvSpPr>
        <p:spPr>
          <a:xfrm>
            <a:off x="8403336" y="26517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03336" y="264261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S3A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9107424" y="26517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deployment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403336" y="33649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Hong Kong cohort · remote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03336" y="3675888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adults, desktop game decoupled from clinical measurement. End-of-window participation 93.3% (112/120, returned dropouts counted as participating); 15 of 23 initial dropouts returned.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403336" y="528523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403336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3 · prepared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 cohort, setting, delivery and input modality across stages prevent causal isolation. Stage 3B data collection commenced in August 2026; deployed procedures and returned records are being checked against the Stage-3B protocol before final classification and analysis (slide 7).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central observation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what the archived record supports, stated at its evidential level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70.0%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participants had three or fewer recorded completed runs (95% CI 52.1–83.3%)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01568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93008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26.7%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single recorded completed run (95% CI 14.2–44.4%)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0216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3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91656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+4.03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83096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change, InBody FRA composite (higher = better), n = 30 pairs, 95% CI 0.47–7.60, paired t p = .028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98864" y="1481328"/>
            <a:ext cx="2670048" cy="2395728"/>
          </a:xfrm>
          <a:prstGeom prst="roundRect">
            <a:avLst>
              <a:gd name="adj" fmla="val 3435"/>
            </a:avLst>
          </a:prstGeom>
          <a:solidFill>
            <a:srgbClr val="EAF1F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0304" y="1627632"/>
            <a:ext cx="24871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return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381744" y="2487168"/>
            <a:ext cx="2304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among low-engagement participants within the window — therapist-observed; the archive holds aggregate run counts, not dated visits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041648"/>
            <a:ext cx="11192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provenance:  </a:t>
            </a:r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“before” = standard-mode FRA assessment at first attendance; “after” = the index generated at the final attended gameplay episode (timing varies by participant; an index is produced even with few completed runs). Both values are the same index on the same scale (higher = better); the standard-mode vs gameplay context difference is a stated limitation. Not an eight-week pre/post design.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4846320"/>
            <a:ext cx="11192256" cy="969264"/>
          </a:xfrm>
          <a:prstGeom prst="roundRect">
            <a:avLst>
              <a:gd name="adj" fmla="val 849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846320"/>
            <a:ext cx="104698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coexistence that drives the thesis:  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feedback and recorded balance-index gains coexisted with limited recorded use in this cohort. That coexistence does not establish durable learning or clinical benefit — it defines the engineering problem.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≤3 / ≥4 run split is a retrospectively defined classification used for descriptive analysis — not an optimal threshold.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mechanism: FIDS → FIAS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proposed descriptive construct — mechanisms are hypotheses, not measured results</a:t>
            </a:r>
            <a:endParaRPr lang="en-US" sz="1400" dirty="0"/>
          </a:p>
        </p:txBody>
      </p:sp>
      <p:pic>
        <p:nvPicPr>
          <p:cNvPr id="4" name="Image 0" descr="/tmp/claude-0/-home-user-gamification/3d8a50e8-9258-51ce-a7d6-194da50f9a04/scratchpad/mech2/me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371600"/>
            <a:ext cx="4343400" cy="45354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1444752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sequence (contemporaneous notes)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acknowledged FRA benefits and recorded gains; recurring in-game failures across second and third runs; gave up despite gains; remaining players saw the group thin out and left too. The sequence is documented; interpersonal influence was not individually traced, so social spread stays a hypothesis.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2615184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proposed descriptive construct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pattern: an adverse verdict experience in a health-coupled game, followed by non-return. Emerged from Stage-2 fieldwork; held to Chapter 4 onward by the writing-logic standard.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785616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boundary condition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decoupling comparison suggests gamification theory's engagement predictions may not transfer when play is coupled to a clinical verdict — a candidate boundary condition, not a law.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4956048"/>
            <a:ext cx="66751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response (Chapter 7)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design decision: calibrated difficulty, trajectory display, coaching. Stage 3B evaluates their combined effect.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52360" y="596188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conceptual model (deck version). The full model with its theoretical anchors is Figure 7 of Paper 2.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since the last review (March 2026)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revised; remaining work detailed on slide 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5" name="Shape 3"/>
          <p:cNvSpPr/>
          <p:nvPr/>
        </p:nvSpPr>
        <p:spPr>
          <a:xfrm>
            <a:off x="667512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61288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recalibrated to the record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March working figures (“82% never returned”, 18.4-hour median, “pattern confirmed”) are superseded: claims now rest on the archived record, in calibrated language — observed use distinguished from inferred non-return.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1426464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9" name="Shape 7"/>
          <p:cNvSpPr/>
          <p:nvPr/>
        </p:nvSpPr>
        <p:spPr>
          <a:xfrm>
            <a:off x="6355080" y="1591056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58191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48856" y="1517904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approval obtained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HSEARS20260805008 approved 6 Aug 2026 (PI Prof. Cheung); stated approval period 16 Jun 2024 – 30 Oct 2026. Approval post-dates the Stage-1/2 fieldwork and was obtained with the conducted procedures disclosed; the Stage-3B window falls inside the period. Memo archived; available for panel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667512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7512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thesis revised (V40)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Examiner-style review actioned; forward-results discipline applied to Ch1–3; evidentiary appendices built; production formatting done. Remaining evidence work — slide 8.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0488" y="3090672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6355080" y="3255264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080" y="324612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48856" y="3182112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archive assembled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 logbook with stable player IDs; questionnaire entry workbook; nine-interview record (therapist-conducted, Aug–Sep 2025, self-selected acceptors — per the archived logbook and workbook; paper forms being collected); sensitivity analysis recalculated from the archive (arithmetic verification, n=30 vs n=29).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7512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161288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Publications advanced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paper accepted and presented (ICMSS 2026); Paper 2 submitted to JIKM after a systematic ten-point revision; Paper 3 packages prepared for two candidate venues.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90488" y="4754880"/>
            <a:ext cx="5440680" cy="1536192"/>
          </a:xfrm>
          <a:prstGeom prst="roundRect">
            <a:avLst>
              <a:gd name="adj" fmla="val 4762"/>
            </a:avLst>
          </a:prstGeom>
          <a:solidFill>
            <a:srgbClr val="EAF3EE"/>
          </a:solidFill>
          <a:ln/>
        </p:spPr>
      </p:sp>
      <p:sp>
        <p:nvSpPr>
          <p:cNvPr id="25" name="Shape 23"/>
          <p:cNvSpPr/>
          <p:nvPr/>
        </p:nvSpPr>
        <p:spPr>
          <a:xfrm>
            <a:off x="6355080" y="4919472"/>
            <a:ext cx="365760" cy="365760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55080" y="491032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48856" y="4846320"/>
            <a:ext cx="4645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designed and built</a:t>
            </a:r>
            <a:endParaRPr lang="en-US" sz="13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since March: protocol drafted, v3.0 bilingual build complete and smoke-tested (in-build consent, silent A/B arms, one-file export, no external calls).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Publications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paper per stage, one venue per paper — status per the dated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727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77240" y="1993392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2C6E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8424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536192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“Investigating Low Utilisation of Fall Risk Assessment Among Elderly Users…”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ICMSS 2026 (Wuhan) · CPS proceedings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&amp; Cheung. Accepted and presented March 2026; IEEE Xplore indexing pending. Camera-ready consent-statement check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3017520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1638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3584448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575304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9 SEP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3127248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Failure-induced abandonment in a gamified FRA deployment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Information &amp; Knowledge Management (JIKM)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Manager JIKMS2602466; at editorial assessment, not yet in external review. A minor methods-description correction (interview provenance) is prepared for the first revision.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4608576"/>
            <a:ext cx="11192256" cy="1463040"/>
          </a:xfrm>
          <a:prstGeom prst="roundRect">
            <a:avLst>
              <a:gd name="adj" fmla="val 5000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" y="5175504"/>
            <a:ext cx="1691640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51663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697480" y="4718304"/>
            <a:ext cx="87782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decoupled deployment study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decision with supervisor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complete submission packages (JMIR Serious Games; IEEE Access alternative). Submission awaits the supervisor's venue approval; co-author ORCID needed for the forms.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98932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Companion relationships are declared in each cover letter; the thesis remains the sole complete record.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3B: deployment under verification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has two parts, what participants experience, and where the data stand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6949440" cy="1335024"/>
          </a:xfrm>
          <a:prstGeom prst="roundRect">
            <a:avLst>
              <a:gd name="adj" fmla="val 547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635508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H-3B (exploratory):  </a:t>
            </a:r>
            <a:pPr indent="0" marL="0">
              <a:lnSpc>
                <a:spcPct val="108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 intervention — adaptive calibration + trajectory display + coaching — sustains engagement even when measurement is visible.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816352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parts, two questions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3A examined engagement when the clinical verdict was removed from play. Stage 3B examines whether trajectory-framed measurement with adaptive support sustains engagement when measurement is visible. Separate labelled collections; the reported 3A record is unchanged.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675888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participant experience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bilingual v3.0 game: in-build consent, silent random assignment (adaptive calibration + trajectory + coaching vs static difficulty), end-screen questionnaire, one-file export; target N ≥ 40. Estimates the combined effect — no component or framing isolation.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535424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commenced in August 2026. The deployed procedures and returned records are being checked against the Stage-3B protocol before final classification and analysis.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94960"/>
            <a:ext cx="69494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→ classification → analysis under the pre-specified hierarchy (repository-dated 8–9 Aug 2026). Contingencies arise only if verification does not support the 3B classification and rest with the supervisor; a single-arm route would provide no between-group estimate, so objective and claims would be revised accordingly.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26680" y="1426464"/>
            <a:ext cx="3977640" cy="4700016"/>
          </a:xfrm>
          <a:prstGeom prst="roundRect">
            <a:avLst>
              <a:gd name="adj" fmla="val 2069"/>
            </a:avLst>
          </a:prstGeom>
          <a:solidFill>
            <a:srgbClr val="EAF1F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1627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Stage 3B contributes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2121408"/>
            <a:ext cx="3474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combined-intervention evaluation, with exploratory assessment of the proposed mechanisms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§8.8 and the programme diary (Table 9.1), written to the verified classification</a:t>
            </a:r>
            <a:endParaRPr lang="en-US" sz="12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empirical input before the final production pass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to complete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 work and dependencies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3B (verify, then analyse)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deployed procedures and returns against the protocol → classify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Default: complete and analyse the August deployment as Stage 3B under the pre-specified hierarchy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Contingencies only if verification does not support that classification (supervisor)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0488" y="1426464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46520" y="15544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Documentary records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1938528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Therapist-completed interview forms + details report (requested); after-game questionnaire sheets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 instrument wording and scale confirmation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Telemetry-retention statement; Appendix G source-to-result manifest and build-lineage rows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58952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Consents &amp; sign-offs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member-check signatures releasing the last consent-gated panel content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decision with the supervisor; supervisor's review report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Paper-3 venue decision (supervisor)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90488" y="3858768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DF3E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46520" y="398678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production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4370832"/>
            <a:ext cx="495604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strength-matching rewrite once records land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Forward-results sweep of Ch1–3; single-answer RQ consolidation; non-return evidential-basis sweep</a:t>
            </a:r>
            <a:endParaRPr lang="en-US" sz="1150" dirty="0"/>
          </a:p>
          <a:p>
            <a:pPr marL="342900" indent="-3429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Word-generated ToC/LoF/LoT fields; evidence cut-off declaration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submission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05256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and dates against two clocks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84248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84248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743200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– late September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the August deployment (deployed file, returns, start date) → classify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items: Paper-3 venue; any contingency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Therapist records and instrument scans requested/filed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565392" y="1837944"/>
            <a:ext cx="3063240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5112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October, first half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325112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9432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analysis under the pre-specified hierarchy → §8.8 + diary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G manifest and lineage rows completed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Member-check content released into §6.12 / Appendix H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28632" y="15544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28632" y="1545336"/>
            <a:ext cx="5669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147304" y="2286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Mid–late October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8147304" y="2743200"/>
            <a:ext cx="3566160" cy="2487168"/>
          </a:xfrm>
          <a:prstGeom prst="roundRect">
            <a:avLst>
              <a:gd name="adj" fmla="val 3309"/>
            </a:avLst>
          </a:prstGeom>
          <a:solidFill>
            <a:srgbClr val="EAF1F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21624" y="2944368"/>
            <a:ext cx="30632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Stage-3B write-up finalised to the verified classification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rewrite; final sweeps; ToC/LoF/LoT fields; Paper-3 submission</a:t>
            </a:r>
            <a:endParaRPr lang="en-US" sz="1200" dirty="0"/>
          </a:p>
          <a:p>
            <a:pPr marL="342900" indent="-342900">
              <a:lnSpc>
                <a:spcPct val="107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submission → oral examination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486400"/>
            <a:ext cx="11192256" cy="713232"/>
          </a:xfrm>
          <a:prstGeom prst="roundRect">
            <a:avLst>
              <a:gd name="adj" fmla="val 10256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5486400"/>
            <a:ext cx="10469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clocks: the ethics approval period ends 30 October 2026 and bounds any further fieldwork; the thesis submission target is October 2026.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K.T. Tam  |  EngD Final Review (Update 8, rev. B)  |  PolyU ISE  |  September 2026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138428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thesis contributes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7724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phenomenon (proposed)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FIAS — our proposed descriptive construct for failure-induced non-return in health-coupled games, grounded in a prospectively observed cohort and a documented field sequence. Stands on completed evidence.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217920" y="1481328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92240" y="1609344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boundary claim for theory (candidate)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Gamification's engagement predictions may not transfer when play is coupled to a clinical verdict — a candidate boundary condition, with the decoupling comparison as motivating evidence. Stands on completed evidence, causally unisolated.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7724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response (evaluation in progress)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design principles, each tracing a documented field problem to a specific design decision, embodied in the adaptive-learning framework. Evaluation status follows the verified classification of the August Stage-3B deployment.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17920" y="3364992"/>
            <a:ext cx="5166360" cy="1737360"/>
          </a:xfrm>
          <a:prstGeom prst="roundRect">
            <a:avLst>
              <a:gd name="adj" fmla="val 4211"/>
            </a:avLst>
          </a:prstGeom>
          <a:solidFill>
            <a:srgbClr val="2E3A8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3493008"/>
            <a:ext cx="4617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reproducible record (assembly continuing)</a:t>
            </a:r>
            <a:endParaRPr lang="en-US" sz="14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As-received archives, recalculated statistics (arithmetic verification), calibrated language — an evidential chain an examiner can walk end to end, with the remaining documentary items on slide 8 being filed.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5321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I welcome the panel's questions.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62636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Sidney K. T. Tam · EngD candidate, ISE · Supervisor: Prof. C. F. Cheung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2026-09-12T07:08:48Z</dcterms:created>
  <dcterms:modified xsi:type="dcterms:W3CDTF">2026-09-12T07:08:48Z</dcterms:modified>
</cp:coreProperties>
</file>