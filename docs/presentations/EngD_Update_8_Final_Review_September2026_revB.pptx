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Good afternoon. This is my final progress review before the oral examination. The programme asks how gamification serves continuous improvement when a promising health technology meets difficulty in the field — gamified fall-risk assessment with older adults, and what happens after an adverse first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Walk the three stages: the survey that surfaced the phenomenon; the eight-week gamified deployment; the decoupled deployment whose contrast motivates — but does not prove — the framing account. Note the defined Stage-3 endpoint: end-of-window participation, 112 of 120, returners counted as participating — not uninterrupted retention. If asked why Stage 3 has two parts: 3A tested removing the verdict; 3B tests measurement made survivable by design; separate labelled collections keep the reported 3A record untouched.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Three quantitative tiles plus one deliberately qualitative one: non-return rests on contemporaneous therapist observation, because the archive keeps aggregate run counts without dates. If asked whether these players will come back: my interpretation is that return is unlikely — but the record supports only 'no documented return within the window', so that is what the thesis claims. Walk the provenance line: baseline was a standard-mode FRA test; the after-index came from the final attended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The construct story: what the field notes record, what FIAS names as our proposed construct, and the two calibrated theoretical claims. The figure is deliberately simplified for projection; the paper carries the fuller theoretical anchors. Keep the register: proposed, candidate, hypothesis — and social spread is explicitly a hypothesis from the recorded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Frame as movement since March. Lead with recalibration — own it as a strengthening. On ethics, give the chronology unprompted: the approval was issued August 2026, after the Stage-2 fieldwork, on an application that disclosed the procedures as conducted; the approval period covers Stage 3B prospectively. That is the honest statement — do not claim the period alone proves prior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Statuses match the dated records: acceptance letter for Stage 1 (indexing pending); Paper 2 submitted 9 September, still at editorial assessment; Paper 3 fully prepared for two venues with the choice resting with my supervisor. Mention the prepared methods correction for Paper 2's first revision — it shows the record-reconciliation process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Open with the why: 3A established that engagement survives when the verdict is removed — but that is avoidance, not a solution. 3B reintroduces measurement made survivable by design, as a separately labelled collection so the reported 3A record stays untouched. Then status: in the field since August, nearing completion; the primary outcome was pre-specified in the protocol on 9 August, before recruitment; the analysis plan is confirmed with the supervisor before analysis. It evaluates the combined intervention as a package — component isolation and the framing contrast need the later three-arm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The honest gap slide. Say plainly which items are substantive rather than administrative: instrument confirmation can affect interpretation of the questionnaire data; Stage-3B recruitment and results are real dependencies; the non-return evidential-basis sweep aligns thesis and papers with what the archive supports. Invite the panel to add anything they consider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beats against two clocks. The field window is already running and closes shortly; the real dependencies now are the analysis plan, the supervisor's Paper-3 venue decision, and the documentary records. The ethics expiry bounds fieldwork, not thesis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Each contribution card carries its evidential status in its own title: proposed, candidate, under evaluation, completed — the panel sees which conclusions stand on completed evidence and which are contingent on Stage 3B. Close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UPDATE 8 — FINAL REVIEW BEFORE ORAL EXAMINATION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Gamification as Proactive Approach for Continuous Improvement and Innovation Enhancement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204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Failure-associated non-return in gamified fall-risk assessment for older adults — and the engineering response to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0" cy="1371600"/>
          </a:xfrm>
          <a:prstGeom prst="line">
            <a:avLst/>
          </a:prstGeom>
          <a:noFill/>
          <a:ln w="25400">
            <a:solidFill>
              <a:srgbClr val="2E3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75488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of Engineering (EngD) candidate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Industrial and Systems Engineering, PolyU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Supervisor: Prof. Chi Fai (Benny) Cheung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review before oral examination · Research period ends October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2011680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2E3A8C"/>
          </a:solidFill>
          <a:ln/>
        </p:spPr>
      </p:sp>
      <p:pic>
        <p:nvPicPr>
          <p:cNvPr id="9" name="Image 0" descr="/home/user/gamification/docs/papers/figures_submission/Game_Screenshot_Leve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2148840"/>
            <a:ext cx="2788920" cy="18653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732520" y="427939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skiing game (Stage 2 build)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at a glance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problem, followed through three empirical stages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installed fall-risk assessment (FRA) station stood under-used for a decade despite clinical value. The research examines adverse first experiences as a possible contributor to limited repeat use — the question is continued voluntary engagement, not initial acceptance.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6" name="Shape 4"/>
          <p:cNvSpPr/>
          <p:nvPr/>
        </p:nvSpPr>
        <p:spPr>
          <a:xfrm>
            <a:off x="758952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&amp; survey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facility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Surveyed 200 residents (population 280). Retrospective accounts of adverse first experiences followed by non-return; TAM and Octalysis framing.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8952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SS-293 · ICMSS 2026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81144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81144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deployment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 2025 · 8 weeks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residents (62–84) played an AI-assisted skiing game whose weight-shift control also fed FRA measurement. Prospective observation of engagement.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81144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81144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· JIKM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47304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8403336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03336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S3A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107424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deployment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 Kong cohort · remote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adults, desktop game decoupled from clinical measurement. End-of-window participation 93.3% (112/120, returned dropouts counted as participating); 15 of 23 initial dropouts returned.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03336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03336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 · prepared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cohort, setting, delivery and input modality across stages prevent causal isolation. Stage 3B — in the field since August 2026 — evaluates the combined adaptive design; it does not by itself isolate the framing contrast.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observation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what the archived record supports, stated at its evidential level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participants had three or fewer recorded completed runs (95% CI 52.1–83.3%)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93008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single recorded completed run (95% CI 14.2–44.4%)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0216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91656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change, InBody FRA composite (higher = better), n = 30 pairs, 95% CI 0.47–7.60, paired t p = .028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98864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0304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return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81744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among low-engagement participants within the window — therapist-observed; the archive holds aggregate run counts, not dated visits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41648"/>
            <a:ext cx="11192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provenance: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“before” = standard-mode FRA assessment at first attendance; “after” = the index generated at the final attended gameplay episode (timing varies by participant; an index is produced even with few completed runs). This is not an eight-week pre/post assessment design.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11192256" cy="969264"/>
          </a:xfrm>
          <a:prstGeom prst="roundRect">
            <a:avLst>
              <a:gd name="adj" fmla="val 8491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846320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coexistence that drives the thesis: 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 and recorded balance-index gains coexisted with limited recorded use in this cohort. That coexistence does not establish durable learning or clinical benefit — it defines the engineering problem.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≤3 / ≥4 run split is a descriptive, retrospectively formalised classification anchored to the protocol's three-to-five-play lower bound — not an optimal threshold.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mechanism: FIDS → FIAS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proposed descriptive construct — mechanisms are hypotheses, not measured results</a:t>
            </a:r>
            <a:endParaRPr lang="en-US" sz="1400" dirty="0"/>
          </a:p>
        </p:txBody>
      </p:sp>
      <p:pic>
        <p:nvPicPr>
          <p:cNvPr id="4" name="Image 0" descr="/tmp/claude-0/-home-user-gamification/3d8a50e8-9258-51ce-a7d6-194da50f9a04/scratchpad/mech2/me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371600"/>
            <a:ext cx="4343400" cy="45354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1444752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sequence (contemporaneous notes)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acknowledged FRA benefits and recorded gains; recurring in-game failures across second and third runs; gave up despite gains; remaining players saw the group thin out and left too. The sequence is documented; interpersonal influence was not individually traced, so social spread stays a hypothesis.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615184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proposed descriptive construct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pattern: an adverse verdict experience in a health-coupled game, followed by non-return. Emerged from Stage-2 fieldwork; held to Chapter 4 onward by the writing-logic standard.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785616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boundary condition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decoupling comparison suggests gamification theory's engagement predictions may not transfer when play is coupled to a clinical verdict — a candidate boundary condition, not a law.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956048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response (Chapter 7)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design decision: calibrated difficulty, trajectory display, coaching. Stage 3B evaluates their combined effect.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59618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conceptual model (deck version). The full model with its theoretical anchors is Figure 7 of Paper 2.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since the last review (March 2026)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revised; remaining work detailed on slide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recalibrated to the record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March working figures (“82% never returned”, 18.4-hour median, “pattern confirmed”) are superseded: claims now rest on the archived record, in calibrated language — observed use distinguished from inferred non-return.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9" name="Shape 7"/>
          <p:cNvSpPr/>
          <p:nvPr/>
        </p:nvSpPr>
        <p:spPr>
          <a:xfrm>
            <a:off x="6355080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obtained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HSEARS20260805008 approved 6 Aug 2026 (PI Prof. Cheung); stated approval period 16 Jun 2024 – 30 Oct 2026. Approval post-dates the Stage-1/2 fieldwork and was obtained with the conducted procedures disclosed; the Stage-3B window falls inside the period. Memo archived.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 (V40)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Examiner-style review actioned; forward-results discipline applied to Ch1–3; evidentiary appendices built; production formatting done. Remaining evidence work — slide 8.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6355080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080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48856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archive assembled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 logbook with stable player IDs; questionnaire entry workbook; nine-interview record (therapist-conducted, Aug–Sep 2025, self-selected acceptors); sensitivity analysis recalculated from the archive (arithmetic verification, n=30 vs n=29).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7512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 advanced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paper accepted and presented (ICMSS 2026); Paper 2 submitted to JIKM after a systematic ten-point revision; Paper 3 packages prepared for two candidate venues.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55080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designed and built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since March: protocol drafted, v3.0 bilingual build complete and smoke-tested (in-build consent, silent A/B arms, one-file export, no external calls).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paper per stage, one venue per paper — status per the dated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727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93392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2C6E4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842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536192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“Investigating Low Utilisation of Fall Risk Assessment Among Elderly Users…”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ICMSS 2026 (Wuhan) · CPS proceedings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&amp; Cheung. Accepted and presented March 2026; IEEE Xplore indexing pending. Camera-ready consent-statement check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017520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8444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57530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9 SEP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127248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Failure-induced abandonment in a gamified FRA deployment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Information &amp; Knowledge Management (JIKM)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Manager JIKMS2602466; at editorial assessment, not yet in external review. A minor methods-description correction (interview provenance) is prepared for the first revision.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608576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175504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166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4718304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decoupled deployment study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decision with supervisor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 submission packages (JMIR Serious Games; IEEE Access alternative). Submission awaits the supervisor's venue approval; co-author ORCID needed for the forms.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relationships are declared in each cover letter; the thesis remains the sole complete record.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3B: in the field, nearing completion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Stage 3 split into 3A and 3B — and where 3B stands (running since August 2026)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6949440" cy="1335024"/>
          </a:xfrm>
          <a:prstGeom prst="roundRect">
            <a:avLst>
              <a:gd name="adj" fmla="val 547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17904"/>
            <a:ext cx="6355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H-3B (exploratory):  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 intervention — adaptive calibration + trajectory display + coaching — sustains engagement even when measurement is visible.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816352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separate stage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3A removed the clinical verdict and engagement survived — avoidance, not a solution. Stage 3B reintroduces gentle, trajectory-framed measurement to test whether the Chapter 7 design makes measurement survivable — a separately labelled collection, so the reported 3A record is never touched.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675888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two-arm randomised comparison (adaptive rule-agent + trajectory + coaching vs static difficulty), silently assigned in the v3.0 bilingual build; target N ≥ 40. Estimates the combined effect — no component or framing isolation.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535424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field since August 2026 (author-reported), nearing completion; the window closes inside the approved ethics period (to 30 Oct 2026). In-build consent; data arrive as one-file JSON exports, archived as-received.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394960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analysis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plan confirmed with the supervisor before the data are analysed: primary outcome (pre-specified in the protocol on 9 Aug 2026, before recruitment), missing-data handling, and treatment of early exits.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26680" y="1426464"/>
            <a:ext cx="3977640" cy="4700016"/>
          </a:xfrm>
          <a:prstGeom prst="roundRect">
            <a:avLst>
              <a:gd name="adj" fmla="val 2069"/>
            </a:avLst>
          </a:prstGeom>
          <a:solidFill>
            <a:srgbClr val="EAF1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0100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Stage 3B contributes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2121408"/>
            <a:ext cx="3474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Prospectively evaluates the combined design intervention, with exploratory assessment of the proposed mechanisms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§8.8 rewritten from proposed to first-evaluation-conducted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diary (Table 9.1) final cells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empirical input before the final production pass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complete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work and dependencies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(the critical path)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close and data cut-off; exports archived as-received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plan fixed with supervisor, then analysis and interpretation → §8.8 + programme diary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records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Therapist-completed interview forms + details report (requested); after-game questionnaire sheets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instrument wording and scale confirmation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Telemetry-retention statement; Appendix G source-to-result manifest and build-lineage rows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58952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&amp; sign-offs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member-check signatures releasing the last consent-gated panel content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decision with the supervisor; supervisor's review report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venue decision (supervisor)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strength-matching rewrite once records land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Forward-results sweep of Ch1–3; single-answer RQ consolidation; non-return evidential-basis sweep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Word-generated ToC/LoF/LoT fields; evidence cut-off declaration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submission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and dates against two clocks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84248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0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late September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window closes; data cut-off; exports archived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plan fixed with supervisor before analysis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records and instrument scans requested/filed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5112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October, first half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25112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9432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analysis → §8.8 + programme diary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manifest and lineage rows completed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Member-check content released into §6.12 / Appendix 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28632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28632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Mid–late October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147304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21624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rewrite; final sweeps; ToC/LoF/LoT fields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submission on the supervisor's venue decision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submission → oral examination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92256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clocks: the ethics approval period ends 30 October 2026 and bounds Stage-3B fieldwork (the running window sits inside it); the thesis submission target is October 2026.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thesis contributes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7724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phenomenon (proposed)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our proposed descriptive construct for failure-induced non-return in health-coupled games, grounded in a prospectively observed cohort and a documented field sequence. Stands on completed evidence.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21792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9224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claim for theory (candidate)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Gamification's engagement predictions may not transfer when play is coupled to a clinical verdict — a candidate boundary condition, with the decoupling comparison as motivating evidence. Stands on completed evidence, causally unisolated.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7724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response (under evaluation)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specific design decision, embodied in the adaptive-learning framework. Its combined-effect evaluation is contingent on Stage 3B.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record (completed)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As-received archives, recalculated statistics (arithmetic verification), calibrated language — an evidential chain an examiner can walk end to end.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I welcome the panel's questions.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· EngD candidate, ISE · Supervisor: Prof. C. F. Cheung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2026-09-12T06:20:46Z</dcterms:created>
  <dcterms:modified xsi:type="dcterms:W3CDTF">2026-09-12T06:20:46Z</dcterms:modified>
</cp:coreProperties>
</file>