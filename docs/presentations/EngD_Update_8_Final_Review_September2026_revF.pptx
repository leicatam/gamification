
<file path=[Content_Types].xml><?xml version="1.0" encoding="utf-8"?>
<Types xmlns="http://schemas.openxmlformats.org/package/2006/content-types">
  <Default Extension="mov" ContentType="video/quicktime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66" r:id="rId5"/>
    <p:sldId id="259" r:id="rId6"/>
    <p:sldId id="260" r:id="rId7"/>
    <p:sldId id="261" r:id="rId8"/>
    <p:sldId id="262" r:id="rId9"/>
    <p:sldId id="268" r:id="rId10"/>
    <p:sldId id="267" r:id="rId11"/>
    <p:sldId id="263" r:id="rId12"/>
    <p:sldId id="264" r:id="rId13"/>
    <p:sldId id="265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665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7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C5992D-AA2A-134B-9D42-68926F33282C}" type="datetimeFigureOut">
              <a:rPr lang="en-US" smtClean="0"/>
              <a:t>9/13/26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9B2396-E634-B94C-A543-2C85728F04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0426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sec. Good afternoon. This is my final progress review before the oral examination. The programme asks how gamification serves continuous improvement when a promising health technology meets difficulty in the field — gamified fall-risk assessment with older adults, and what happens after an adverse first experience.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70 sec. Walk the three stages: the survey that surfaced the phenomenon; the eight-week gamified deployment; the decoupled deployment whose contrast motivates — but does not prove — the framing account. Note the defined Stage-3 endpoint: end-of-window participation, 112 of 120, returners counted as participating — not uninterrupted retention. If asked why Stage 3 has two parts: 3A tested removing the verdict; 3B tests measurement made survivable by design; separate labelled collections keep the reported 3A record untouched. On Stage 3B, state only the interim account: collection commenced in August 2026; deployed procedures and returns are being checked against the protocol before classification and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80 sec. Three quantitative tiles plus one deliberately qualitative one: non-return rests on contemporaneous therapist observation, because the archive keeps aggregate run counts without dates. If asked whether these players will come back: my interpretation is that return is unlikely — but the record supports only 'no documented return within the window', so that is what the thesis claims. Walk the provenance line: baseline was a standard-mode FRA test; the after-index came from the final attended episode.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60 sec. The two completed evidence bases side by side: the coupled deployment where use collapsed despite recorded gains, and the decoupled deployment where participation held across bands. Same game family, opposite engagement outcomes - the contrast that motivates the framing account and Stage 3B. Keep the caveat ready: cohort, setting, delivery and modality all changed, so this is motivation, not causal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75 sec. The construct story: what the field notes record, what FIAS names as our proposed construct, and the two calibrated theoretical claims. The figure is deliberately simplified for projection; the paper carries the fuller theoretical anchors. Keep the register: proposed, candidate, hypothesis — and social spread is explicitly a hypothesis from the recorded sequence.</a:t>
            </a:r>
          </a:p>
          <a:p/>
          <a:p>
            <a:r>
              <a:t>Full text moved from the slide (say, don't show):</a:t>
            </a:r>
          </a:p>
          <a:p/>
          <a:p>
            <a:r>
              <a:t>Field sequence (contemporaneous notes)</a:t>
            </a:r>
          </a:p>
          <a:p>
            <a:r>
              <a:t>Players acknowledged FRA benefits and recorded gains; recurring in-game failures across second and third runs; gave up despite gains; remaining players saw the group thin out and left too. The sequence is documented; interpersonal influence was not individually traced, so social spread stays a hypothesis.</a:t>
            </a:r>
          </a:p>
          <a:p/>
          <a:p>
            <a:r>
              <a:t>FIAS — proposed descriptive construct</a:t>
            </a:r>
          </a:p>
          <a:p>
            <a:r>
              <a:t>Names the pattern: an adverse verdict experience in a health-coupled game, followed by non-return. Emerged from Stage-2 fieldwork; held to Chapter 4 onward by the writing-logic standard.</a:t>
            </a:r>
          </a:p>
          <a:p/>
          <a:p>
            <a:r>
              <a:t>Candidate boundary condition</a:t>
            </a:r>
          </a:p>
          <a:p>
            <a:r>
              <a:t>The decoupling comparison suggests gamification theory's engagement predictions may not transfer when play is coupled to a clinical verdict — a candidate boundary condition, not a law.</a:t>
            </a:r>
          </a:p>
          <a:p/>
          <a:p>
            <a:r>
              <a:t>Design response (Chapter 7)</a:t>
            </a:r>
          </a:p>
          <a:p>
            <a:r>
              <a:t>Three design principles, each tracing a documented field problem to a design decision: calibrated difficulty, trajectory display, coaching. Stage 3B evaluates their combined effect.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60 sec. Frame as movement since March. Lead with recalibration — own it as a strengthening. On ethics, give the chronology unprompted: the approval was issued August 2026, after the Stage-2 fieldwork, on an application that disclosed the procedures as conducted; the approval period covers Stage 3B prospectively. That is the honest statement — do not claim the period alone proves prior coverage.</a:t>
            </a:r>
          </a:p>
          <a:p/>
          <a:p>
            <a:r>
              <a:t>Full card text moved from the slide (details for Q&amp;A):</a:t>
            </a:r>
          </a:p>
          <a:p/>
          <a:p>
            <a:r>
              <a:t>Claims recalibrated to the record</a:t>
            </a:r>
          </a:p>
          <a:p/>
          <a:p>
            <a:r>
              <a:t>The March working figures (“82% never returned”, 18.4-hour median, “pattern confirmed”) are superseded: claims now rest on the archived record, in calibrated language — observed use distinguished from inferred non-return.</a:t>
            </a:r>
          </a:p>
          <a:p/>
          <a:p>
            <a:r>
              <a:t>Ethics approval obtained</a:t>
            </a:r>
          </a:p>
          <a:p>
            <a:r>
              <a:t>HSEARS20260805008 approved 6 Aug 2026 (PI Prof. Cheung); stated approval period 16 Jun 2024 – 30 Oct 2026. Approval post-dates the Stage-1/2 fieldwork and was obtained with the conducted procedures disclosed; the Stage-3B window falls inside the period. Memo archived; available for panel inspection.</a:t>
            </a:r>
          </a:p>
          <a:p/>
          <a:p>
            <a:r>
              <a:t>Core thesis revised (V40)</a:t>
            </a:r>
          </a:p>
          <a:p/>
          <a:p>
            <a:r>
              <a:t>Examiner-style review actioned; forward-results discipline applied to Ch1–3; evidentiary appendices built; production formatting done. Remaining evidence work — slide 8.</a:t>
            </a:r>
          </a:p>
          <a:p/>
          <a:p>
            <a:r>
              <a:t>Stage-2 archive assembled</a:t>
            </a:r>
          </a:p>
          <a:p>
            <a:r>
              <a:t>FRA logbook with stable player IDs; questionnaire entry workbook; nine-interview record (therapist-conducted, Aug–Sep 2025, self-selected acceptors — per the archived logbook and workbook; paper forms being collected); sensitivity analysis recalculated from the archive (arithmetic verification, n=30 vs n=29).</a:t>
            </a:r>
          </a:p>
          <a:p/>
          <a:p>
            <a:r>
              <a:t>Publications advanced</a:t>
            </a:r>
          </a:p>
          <a:p/>
          <a:p>
            <a:r>
              <a:t>Stage-1 paper accepted and presented (ICMSS 2026); Paper 2 submitted to JIKM after a systematic ten-point revision; Paper 3 packages prepared for two candidate venues.</a:t>
            </a:r>
          </a:p>
          <a:p/>
          <a:p>
            <a:r>
              <a:t>Stage 3 A/B designed and built</a:t>
            </a:r>
          </a:p>
          <a:p/>
          <a:p>
            <a:r>
              <a:t>New since March 2026: protocol drafted, v3.0 bilingual build complete and smoke-tested (in-build consent, silent A/B arms, one-file export, no external calls).</a:t>
            </a:r>
          </a:p>
          <a:p/>
          <a:p>
            <a:r>
              <a:t>Sidney K.T. Tam  |  EngD Final Review (Update 8, rev. B)  |  PolyU ISE  |  September 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50 sec. Statuses match the dated records: acceptance letter for Stage 1 (indexing pending); Paper 2 submitted 9 September, still at editorial assessment; Paper 3 fully prepared for two venues with the choice resting with my supervisor. Mention the prepared methods correction for Paper 2's first revision — it shows the record-reconciliation process working.</a:t>
            </a:r>
          </a:p>
          <a:p/>
          <a:p>
            <a:r>
              <a:t>Full row text moved from the slide (details for Q&amp;A):</a:t>
            </a:r>
          </a:p>
          <a:p/>
          <a:p>
            <a:r>
              <a:t>“Investigating Low Utilisation of Fall Risk Assessment Among Elderly Users…”</a:t>
            </a:r>
          </a:p>
          <a:p>
            <a:r>
              <a:t>ICMSS 2026 (Wuhan) · CPS proceedings</a:t>
            </a:r>
          </a:p>
          <a:p>
            <a:r>
              <a:t>Tam &amp; Cheung. Accepted and presented March 2026; IEEE Xplore indexing pending. Camera-ready consent-statement check open.</a:t>
            </a:r>
          </a:p>
          <a:p/>
          <a:p>
            <a:r>
              <a:t>Failure-induced abandonment in a gamified FRA deployment</a:t>
            </a:r>
          </a:p>
          <a:p>
            <a:r>
              <a:t>Journal of Information &amp; Knowledge Management (JIKM)</a:t>
            </a:r>
          </a:p>
          <a:p>
            <a:r>
              <a:t>Editorial Manager JIKMS2602466; at editorial assessment, not yet in external review. A minor methods-description correction (interview provenance) is prepared for the first revision.</a:t>
            </a:r>
          </a:p>
          <a:p/>
          <a:p>
            <a:r>
              <a:t>The decoupled deployment study</a:t>
            </a:r>
          </a:p>
          <a:p>
            <a:r>
              <a:t>Venue decision with supervisor</a:t>
            </a:r>
          </a:p>
          <a:p>
            <a:r>
              <a:t>Two complete submission packages (JMIR Serious Games; IEEE Access alternative). Submission awaits the supervisor's venue approval; co-author ORCID needed for the forms.</a:t>
            </a:r>
          </a:p>
          <a:p/>
          <a:p>
            <a:r>
              <a:t>Companion relationships are declared in each cover letter; the thesis remains the sole complete record.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60 sec. Walk the diagram left to right: coupled deployment - use collapsed; decoupled deployment - participation held; the 3A result licensed the question 3B answers - can measurement stay visible if the system adapts to the player? Designed August 2026, after the 3A results; pre-specified before its own recruitment (repository-dated 8-9 Aug). H-3B is exploratory: combined effect only, no component isolation. Per-protocol participant experience if asked: bilingual v3.0 game, in-build consent, silent random assignment (adaptive calibration + trajectory + coaching vs static), end-screen questionnaire, one-file export, target N &gt;= 40. If challenged on sequence: retrospectively motivated, prospectively specified - the intended logic of a staged programme.</a:t>
            </a:r>
          </a:p>
          <a:p/>
          <a:p>
            <a:r>
              <a:t>The red box is the answer to ‘what is 3A’s limitation’: ① the decoupled game no longer delivers the FRA measurement users need; ② the Chapter-7 adaptive framework was still untested. Stage 3B restores visible measurement and adds the adaptive supports — designed after the 3A result, pre-specified before recruitment.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45 sec. Five steps, one gate: the plan was fixed before distribution; play is consented in-build and silently randomised; returns come back through each device's archive; verification and classification come before any analysis. Status: window open, close date to be set with my supervisor, everything inside the ethics period to 30 October. Deployment records are archived: distribution messages, the deployed device files, and the first verified return with a complete dated chain.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60 sec. Everything on this slide is a real artifact: build frames from the deployed game family, and the first verified return with every link dated. Say plainly: no analysis numbers yet - the window is open and analysis follows the pre-specified hierarchy after classification. If the pipeline demonstration is shown, it is the separate SYNTHETIC-labelled pack and must be introduced as synthetic demonstration data, never as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80 sec. The honest gap slide. Say plainly which items are substantive rather than administrative: instrument confirmation can affect interpretation of the questionnaire data; Stage-3B recruitment and results are real dependencies; the non-return evidential-basis sweep aligns thesis and papers with what the archive supports. Invite the panel to add anything they consider missing. Contingency routes are not the plan of record — the August deployment 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50 sec. Three beats against two clocks. The load-bearing step is verification of the August deployment, then analysis under the pre-specified hierarchy. Any contingency fieldwork is bounded by the ethics expiry and is a supervisor matter.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40 sec. Each contribution card carries its evidential status in its own title: proposed, candidate, under evaluation, completed — the panel sees which conclusions stand on completed evidence and which are contingent on Stage 3B. Close and invite questions. If the panel opens an AI discussion: the rule-agent is a deliberately minimal, fully-logged adaptive-learning loop (sense performance, calibrate challenge, coach), chosen over black-box models for auditability with older users; the candidate's broader view linking adaptive-learning philosophy to the evolution of increasingly general AI systems is offered as discussion, not as a thesis claim - the thesis does not develop or operationalise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CFB698F-3FBB-C2F7-060E-B53F7F6A64AD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t="12809" b="8376"/>
          <a:stretch>
            <a:fillRect/>
          </a:stretch>
        </p:blipFill>
        <p:spPr>
          <a:xfrm>
            <a:off x="8436077" y="6062596"/>
            <a:ext cx="3755923" cy="79540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BAF5E1E-8D4C-830D-E6D5-68E7511C8BBB}"/>
              </a:ext>
            </a:extLst>
          </p:cNvPr>
          <p:cNvSpPr/>
          <p:nvPr userDrawn="1"/>
        </p:nvSpPr>
        <p:spPr>
          <a:xfrm>
            <a:off x="0" y="6062596"/>
            <a:ext cx="8436077" cy="7954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microsoft.com/office/2007/relationships/media" Target="../media/media1.MOV"/><Relationship Id="rId2" Type="http://schemas.openxmlformats.org/officeDocument/2006/relationships/video" Target="../media/media1.MOV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.xml"/><Relationship Id="rId5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1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77724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UPDATE 8 — FINAL REVIEW BEFORE ORAL EXAMINATION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371600"/>
            <a:ext cx="8412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Gamification as Proactive Approach for Continuous Improvement and Innovation Enhancement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3241964"/>
            <a:ext cx="5866642" cy="1312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Failure-associated non-return in gamified fall-risk assessment for older adults — and the engineering response to it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92678" y="4555122"/>
            <a:ext cx="0" cy="1371600"/>
          </a:xfrm>
          <a:prstGeom prst="line">
            <a:avLst/>
          </a:prstGeom>
          <a:noFill/>
          <a:ln w="25400">
            <a:solidFill>
              <a:srgbClr val="2E3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1005840" y="4554441"/>
            <a:ext cx="6858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Sidney K. T. Tam (2021 – extended one semester 26-27)</a:t>
            </a:r>
            <a:endParaRPr lang="en-US" sz="17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of Engineering (EngD) candidate</a:t>
            </a:r>
            <a:endParaRPr lang="en-US" sz="17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Industrial and Systems Engineering, PolyU</a:t>
            </a:r>
          </a:p>
          <a:p>
            <a:pPr marL="0" indent="0">
              <a:lnSpc>
                <a:spcPct val="118000"/>
              </a:lnSpc>
              <a:buNone/>
            </a:pPr>
            <a:endParaRPr lang="en-US" sz="1700" dirty="0"/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Supervisor: Prof. Chi Fai (Benny) Cheung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777240" y="6355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Last review before oral examination · Research period ends October 2026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577" y="2793077"/>
            <a:ext cx="4523761" cy="3133645"/>
          </a:xfrm>
          <a:prstGeom prst="roundRect">
            <a:avLst>
              <a:gd name="adj" fmla="val 4132"/>
            </a:avLst>
          </a:prstGeom>
          <a:solidFill>
            <a:srgbClr val="2E3A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8046719" y="5987825"/>
            <a:ext cx="3322321" cy="456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AI-assisted skiing game (Stage 2 build)</a:t>
            </a:r>
            <a:endParaRPr lang="en-US" sz="1050" dirty="0"/>
          </a:p>
        </p:txBody>
      </p:sp>
      <p:pic>
        <p:nvPicPr>
          <p:cNvPr id="11" name="trim.7C051782-CD89-4F46-B18A-7DF122D02A27.MOV">
            <a:hlinkClick r:id="" action="ppaction://media"/>
            <a:extLst>
              <a:ext uri="{FF2B5EF4-FFF2-40B4-BE49-F238E27FC236}">
                <a16:creationId xmlns:a16="http://schemas.microsoft.com/office/drawing/2014/main" id="{F1848ECD-7904-6FEA-A110-25270B2D2C1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402713" y="2977484"/>
            <a:ext cx="4349488" cy="27184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000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mute="1">
                <p:cTn id="7" repeatCount="indefinite" fill="remove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research briefly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05256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problem, followed through three empirical stages</a:t>
            </a:r>
            <a:endParaRPr lang="en-US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37160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problem. </a:t>
            </a: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installed fall-risk assessment (FRA) station stood under-used for a decade despite clinical value. The research examines adverse first experiences as a possible contributor to limited repeat use — the question is continued voluntary engagement, not initial acceptance.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2395728"/>
            <a:ext cx="3566160" cy="3310128"/>
          </a:xfrm>
          <a:prstGeom prst="roundRect">
            <a:avLst>
              <a:gd name="adj" fmla="val 2486"/>
            </a:avLst>
          </a:prstGeom>
          <a:solidFill>
            <a:srgbClr val="EAF1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58952" y="26517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758952" y="2642616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6517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review &amp; survey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58952" y="33649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Guangzhou facility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58952" y="3675888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Surveyed 200 residents (population 280). Retrospective accounts of adverse first experiences followed by non-return; TAM and Octalysis framing.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58952" y="5285232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758952" y="527608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SS-293 · ICMSS 2026 (accepted)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325112" y="2395728"/>
            <a:ext cx="3566160" cy="3310128"/>
          </a:xfrm>
          <a:prstGeom prst="roundRect">
            <a:avLst>
              <a:gd name="adj" fmla="val 2486"/>
            </a:avLst>
          </a:prstGeom>
          <a:solidFill>
            <a:srgbClr val="EAF1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81144" y="26517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4581144" y="2642616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5285232" y="26517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Gamified deployment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581144" y="33649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June–August 2025 · 8 weeks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581144" y="3675888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Thirty residents (62–84) played an AI-assisted skiing game whose weight-shift control also fed FRA measurement. Prospective observation of engagement.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81144" y="5285232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4581144" y="527608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2 · JIKM (under review)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147304" y="2395728"/>
            <a:ext cx="3566160" cy="3310128"/>
          </a:xfrm>
          <a:prstGeom prst="roundRect">
            <a:avLst>
              <a:gd name="adj" fmla="val 2486"/>
            </a:avLst>
          </a:prstGeom>
          <a:solidFill>
            <a:srgbClr val="EAF1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403336" y="26517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8403336" y="2642616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S3A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9107424" y="26517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Decoupled deployment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8403336" y="33649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Hong Kong cohort · remote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403336" y="3675888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adults, desktop game decoupled from clinical measurement. End-of-window participation 93.3% (112/120, returned dropouts counted as participating); 15 of 23 initial dropouts returned.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403336" y="5285232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8403336" y="527608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3 · prepared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502920" y="594360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in cohort, setting, delivery and input modality across stages prevent causal isolation. Stage 3B data collection commenced in August 2026; deployed procedures and returned records are being checked against the Stage-3B protocol before final classification and analysis (slide 9).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Sidney K.T. Tam  |  EngD Final Review (Update 8, rev. F)  |  PolyU ISE  |  September 2026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1138428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central observation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05256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— what the archived record supports, stated at its evidential level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2670048" cy="2395728"/>
          </a:xfrm>
          <a:prstGeom prst="roundRect">
            <a:avLst>
              <a:gd name="adj" fmla="val 3435"/>
            </a:avLst>
          </a:prstGeom>
          <a:solidFill>
            <a:srgbClr val="EAF1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94360" y="1517904"/>
            <a:ext cx="24871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70.0%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377440"/>
            <a:ext cx="230428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participants had three or fewer recorded completed runs (95% CI 52.1–83.3%)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401568" y="1371600"/>
            <a:ext cx="2670048" cy="2395728"/>
          </a:xfrm>
          <a:prstGeom prst="roundRect">
            <a:avLst>
              <a:gd name="adj" fmla="val 3435"/>
            </a:avLst>
          </a:prstGeom>
          <a:solidFill>
            <a:srgbClr val="EAF1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3493008" y="1517904"/>
            <a:ext cx="24871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26.7%</a:t>
            </a:r>
            <a:endParaRPr lang="en-US" sz="3800" dirty="0"/>
          </a:p>
        </p:txBody>
      </p:sp>
      <p:sp>
        <p:nvSpPr>
          <p:cNvPr id="9" name="Text 7"/>
          <p:cNvSpPr txBox="1"/>
          <p:nvPr/>
        </p:nvSpPr>
        <p:spPr>
          <a:xfrm>
            <a:off x="3584448" y="2377440"/>
            <a:ext cx="230428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 a single recorded completed run (95% CI 14.2–44.4%)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00216" y="1371600"/>
            <a:ext cx="2670048" cy="2395728"/>
          </a:xfrm>
          <a:prstGeom prst="roundRect">
            <a:avLst>
              <a:gd name="adj" fmla="val 3435"/>
            </a:avLst>
          </a:prstGeom>
          <a:solidFill>
            <a:srgbClr val="EAF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391656" y="1517904"/>
            <a:ext cx="24871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2C6E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+4.03</a:t>
            </a:r>
            <a:endParaRPr lang="en-US" sz="3800" dirty="0"/>
          </a:p>
        </p:txBody>
      </p:sp>
      <p:sp>
        <p:nvSpPr>
          <p:cNvPr id="12" name="Text 10"/>
          <p:cNvSpPr txBox="1"/>
          <p:nvPr/>
        </p:nvSpPr>
        <p:spPr>
          <a:xfrm>
            <a:off x="6483096" y="2377440"/>
            <a:ext cx="230428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change, InBody FRA composite (higher = better), n = 30 pairs, 95% CI 0.47–7.60, paired t p = .028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198864" y="1371600"/>
            <a:ext cx="2670048" cy="2395728"/>
          </a:xfrm>
          <a:prstGeom prst="roundRect">
            <a:avLst>
              <a:gd name="adj" fmla="val 3435"/>
            </a:avLst>
          </a:prstGeom>
          <a:solidFill>
            <a:srgbClr val="EAF1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9290304" y="1517904"/>
            <a:ext cx="24871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return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9381744" y="2377440"/>
            <a:ext cx="230428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among low-engagement participants within the window — therapist-observed; the archive holds aggregate run counts, not dated visits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02920" y="3941064"/>
            <a:ext cx="111922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provenance:  </a:t>
            </a: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“before” = standard-mode FRA assessment at first attendance; “after” = the index generated at the final attended gameplay episode (timing varies by participant; an index is produced even with few completed runs). Both values are the same index on the same scale (higher = better); the standard-mode vs gameplay context difference is a stated limitation. Not an eight-week pre/post design.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02920" y="4718304"/>
            <a:ext cx="11192256" cy="1097280"/>
          </a:xfrm>
          <a:prstGeom prst="roundRect">
            <a:avLst>
              <a:gd name="adj" fmla="val 849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868680" y="4718304"/>
            <a:ext cx="10469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coexistence that drives the thesis:  </a:t>
            </a: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feedback and recorded balance-index gains coexisted with limited recorded use in this cohort. That coexistence does not establish durable learning or clinical benefit — it defines the engineering problem.</a:t>
            </a:r>
            <a:endParaRPr lang="en-US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5952744"/>
            <a:ext cx="8028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≤3 / ≥4 run split is a retrospectively defined classification used for descriptive analysis — not an optimal threshold.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Sidney K.T. Tam  |  EngD Final Review (Update 8, rev. F)  |  PolyU ISE  |  September 2026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138428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100" b="1" i="0">
                <a:solidFill>
                  <a:srgbClr val="1E2761"/>
                </a:solidFill>
                <a:latin typeface="Cambria"/>
              </a:rPr>
              <a:t>Evidence to date — Stages 2 and 3A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05256"/>
            <a:ext cx="1115568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0" i="1">
                <a:solidFill>
                  <a:srgbClr val="5A6172"/>
                </a:solidFill>
                <a:latin typeface="Calibri"/>
              </a:rPr>
              <a:t>The completed-record results the later stages build on</a:t>
            </a:r>
          </a:p>
        </p:txBody>
      </p:sp>
      <p:pic>
        <p:nvPicPr>
          <p:cNvPr id="4" name="Picture 3" descr="Figure5_Participant_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371600"/>
            <a:ext cx="4937760" cy="33727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4430443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1" dirty="0">
                <a:solidFill>
                  <a:srgbClr val="5A6172"/>
                </a:solidFill>
                <a:latin typeface="Calibri"/>
              </a:rPr>
              <a:t>Stage 2 — participant flow (thirty residents, eight weeks)</a:t>
            </a:r>
          </a:p>
        </p:txBody>
      </p:sp>
      <p:pic>
        <p:nvPicPr>
          <p:cNvPr id="6" name="Picture 5" descr="Figure3_Age_Gradi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1280" y="905256"/>
            <a:ext cx="4937760" cy="333454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31280" y="4430443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1" dirty="0">
                <a:solidFill>
                  <a:srgbClr val="5A6172"/>
                </a:solidFill>
                <a:latin typeface="Calibri"/>
              </a:rPr>
              <a:t>Stage 3A — initial dropout vs observed non-return by age band (120 adults)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1981166"/>
              </p:ext>
            </p:extLst>
          </p:nvPr>
        </p:nvGraphicFramePr>
        <p:xfrm>
          <a:off x="267047" y="4870741"/>
          <a:ext cx="11627425" cy="106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99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29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584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052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 dirty="0">
                          <a:solidFill>
                            <a:schemeClr val="bg1"/>
                          </a:solidFill>
                          <a:latin typeface="Calibri"/>
                        </a:rPr>
                        <a:t>Stage 2 — coupled (verdict visible)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 dirty="0">
                          <a:solidFill>
                            <a:schemeClr val="bg1"/>
                          </a:solidFill>
                          <a:latin typeface="Calibri"/>
                        </a:rPr>
                        <a:t>Stage 3A — decoupled (no verdict)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sz="1200" b="1" dirty="0">
                          <a:solidFill>
                            <a:srgbClr val="1E2761"/>
                          </a:solidFill>
                          <a:latin typeface="Calibri"/>
                        </a:rPr>
                        <a:t>Engagement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222222"/>
                          </a:solidFill>
                          <a:latin typeface="Calibri"/>
                        </a:rPr>
                        <a:t>70.0% ≤3 recorded runs; 26.7% single run; no documented return within window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End-of-window participation 93.3% (112/120); 15 of 23 initial dropouts returned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E2761"/>
                          </a:solidFill>
                          <a:latin typeface="Calibri"/>
                        </a:rPr>
                        <a:t>Outcome note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222222"/>
                          </a:solidFill>
                          <a:latin typeface="Calibri"/>
                        </a:rPr>
                        <a:t>Recorded index change +4.03 (95% CI 0.47–7.60) coexisting with limited 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222222"/>
                          </a:solidFill>
                          <a:latin typeface="Calibri"/>
                        </a:rPr>
                        <a:t>Initial dropout rose with age; observed non-return converged low in every band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 i="0">
                <a:solidFill>
                  <a:srgbClr val="5A6172"/>
                </a:solidFill>
                <a:latin typeface="Calibri"/>
              </a:rPr>
              <a:t>Sidney K.T. Tam  |  EngD Final Review (Update 8, rev. F)  |  PolyU ISE  |  September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 i="0">
                <a:solidFill>
                  <a:srgbClr val="5A6172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mechanism: FIDS → FIAS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05256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proposed descriptive construct — mechanisms are hypotheses, not measured results</a:t>
            </a:r>
            <a:endParaRPr lang="en-US" sz="1400" dirty="0"/>
          </a:p>
        </p:txBody>
      </p:sp>
      <p:pic>
        <p:nvPicPr>
          <p:cNvPr id="4" name="Image 0" descr="/tmp/claude-0/-home-user-gamification/3d8a50e8-9258-51ce-a7d6-194da50f9a04/scratchpad/mech2/mech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1298448"/>
            <a:ext cx="4514633" cy="47091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02920" y="612648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Simplified deck version — full model: Figure 7 of Paper 2.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Sidney K.T. Tam  |  EngD Final Review (Update 8, rev. F)  |  PolyU ISE  |  September 2026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1138428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12" name="Rounded Rectangle 11"/>
          <p:cNvSpPr/>
          <p:nvPr/>
        </p:nvSpPr>
        <p:spPr>
          <a:xfrm>
            <a:off x="502920" y="1481328"/>
            <a:ext cx="6263640" cy="987552"/>
          </a:xfrm>
          <a:prstGeom prst="roundRect">
            <a:avLst>
              <a:gd name="adj" fmla="val 12000"/>
            </a:avLst>
          </a:prstGeom>
          <a:solidFill>
            <a:srgbClr val="EAF1FD"/>
          </a:solidFill>
          <a:ln w="1905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37160" tIns="109728" bIns="91440"/>
          <a:lstStyle/>
          <a:p>
            <a:pPr algn="ctr"/>
            <a:r>
              <a:rPr sz="1500" b="1">
                <a:solidFill>
                  <a:srgbClr val="1E2761"/>
                </a:solidFill>
                <a:latin typeface="Calibri"/>
              </a:rPr>
              <a:t>Field sequence (contemporaneous notes)</a:t>
            </a:r>
          </a:p>
          <a:p>
            <a:r>
              <a:rPr sz="1350">
                <a:solidFill>
                  <a:srgbClr val="333333"/>
                </a:solidFill>
                <a:latin typeface="Calibri"/>
              </a:rPr>
              <a:t>gains acknowledged → recurring failures → gave up despite gains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679192"/>
            <a:ext cx="6263640" cy="987552"/>
          </a:xfrm>
          <a:prstGeom prst="roundRect">
            <a:avLst>
              <a:gd name="adj" fmla="val 12000"/>
            </a:avLst>
          </a:prstGeom>
          <a:solidFill>
            <a:srgbClr val="EAF1FD"/>
          </a:solidFill>
          <a:ln w="1905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37160" tIns="109728" bIns="91440"/>
          <a:lstStyle/>
          <a:p>
            <a:pPr algn="ctr"/>
            <a:r>
              <a:rPr sz="1500" b="1">
                <a:solidFill>
                  <a:srgbClr val="1E2761"/>
                </a:solidFill>
                <a:latin typeface="Calibri"/>
              </a:rPr>
              <a:t>FIAS — proposed descriptive construct</a:t>
            </a:r>
          </a:p>
          <a:p>
            <a:r>
              <a:rPr sz="1350">
                <a:solidFill>
                  <a:srgbClr val="333333"/>
                </a:solidFill>
                <a:latin typeface="Calibri"/>
              </a:rPr>
              <a:t>an adverse verdict experience, followed by non-return in the group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877056"/>
            <a:ext cx="6263640" cy="987552"/>
          </a:xfrm>
          <a:prstGeom prst="roundRect">
            <a:avLst>
              <a:gd name="adj" fmla="val 12000"/>
            </a:avLst>
          </a:prstGeom>
          <a:solidFill>
            <a:srgbClr val="EAF1FD"/>
          </a:solidFill>
          <a:ln w="1905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37160" tIns="109728" bIns="91440"/>
          <a:lstStyle/>
          <a:p>
            <a:pPr algn="ctr"/>
            <a:r>
              <a:rPr sz="1500" b="1">
                <a:solidFill>
                  <a:srgbClr val="1E2761"/>
                </a:solidFill>
                <a:latin typeface="Calibri"/>
              </a:rPr>
              <a:t>Candidate boundary condition</a:t>
            </a:r>
          </a:p>
          <a:p>
            <a:r>
              <a:rPr sz="1350">
                <a:solidFill>
                  <a:srgbClr val="333333"/>
                </a:solidFill>
                <a:latin typeface="Calibri"/>
              </a:rPr>
              <a:t>engagement predictions may not transfer under clinical coupling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5074920"/>
            <a:ext cx="6263640" cy="987552"/>
          </a:xfrm>
          <a:prstGeom prst="roundRect">
            <a:avLst>
              <a:gd name="adj" fmla="val 12000"/>
            </a:avLst>
          </a:prstGeom>
          <a:solidFill>
            <a:srgbClr val="EAF1FD"/>
          </a:solidFill>
          <a:ln w="1905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37160" tIns="109728" bIns="91440"/>
          <a:lstStyle/>
          <a:p>
            <a:pPr algn="ctr"/>
            <a:r>
              <a:rPr sz="1500" b="1">
                <a:solidFill>
                  <a:srgbClr val="1E2761"/>
                </a:solidFill>
                <a:latin typeface="Calibri"/>
              </a:rPr>
              <a:t>Design response (Chapter 7)</a:t>
            </a:r>
          </a:p>
          <a:p>
            <a:r>
              <a:rPr sz="1350">
                <a:solidFill>
                  <a:srgbClr val="333333"/>
                </a:solidFill>
                <a:latin typeface="Calibri"/>
              </a:rPr>
              <a:t>calibrated difficulty · trajectory display · coaching → Stage 3B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Progress since the last review (March 2026)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05256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thesis revised; remaining work detailed on slide 11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Sidney K.T. Tam  |  EngD Final Review (Update 8, rev. F)  |  PolyU ISE  |  September 2026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1138428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pic>
        <p:nvPicPr>
          <p:cNvPr id="30" name="Picture 29" descr="progr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636" y="1417320"/>
            <a:ext cx="11155680" cy="469110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Publications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05256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paper per stage, one venue per paper — status per the dated record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Sidney K.T. Tam  |  EngD Final Review (Update 8, rev. F)  |  PolyU ISE  |  September 2026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138428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pic>
        <p:nvPicPr>
          <p:cNvPr id="22" name="Picture 21" descr="publica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" y="1371600"/>
            <a:ext cx="10972800" cy="496589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100" b="1" i="0">
                <a:solidFill>
                  <a:srgbClr val="1E2761"/>
                </a:solidFill>
                <a:latin typeface="Cambria"/>
              </a:rPr>
              <a:t>Stage 3A’s limitation — why Stage 3B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05256"/>
            <a:ext cx="1115568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0" i="1">
                <a:solidFill>
                  <a:srgbClr val="5A6172"/>
                </a:solidFill>
                <a:latin typeface="Calibri"/>
              </a:rPr>
              <a:t>Removal worked — but at a cost; Stage 3B is designed as the middle ground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 i="0">
                <a:solidFill>
                  <a:srgbClr val="5A6172"/>
                </a:solidFill>
                <a:latin typeface="Calibri"/>
              </a:rPr>
              <a:t>Sidney K.T. Tam  |  EngD Final Review (Update 8, rev. F)  |  PolyU ISE  |  September 2026</a:t>
            </a:r>
          </a:p>
        </p:txBody>
      </p:sp>
      <p:pic>
        <p:nvPicPr>
          <p:cNvPr id="6" name="Picture 5" descr="design_spa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1056" y="1298448"/>
            <a:ext cx="9006840" cy="507693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100" b="1" i="0">
                <a:solidFill>
                  <a:srgbClr val="1E2761"/>
                </a:solidFill>
                <a:latin typeface="Cambria"/>
              </a:rPr>
              <a:t>Stage 3B — how it runs and where it stands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05256"/>
            <a:ext cx="1115568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0" i="1">
                <a:solidFill>
                  <a:srgbClr val="5A6172"/>
                </a:solidFill>
                <a:latin typeface="Calibri"/>
              </a:rPr>
              <a:t>Deployment pipeline; analysis gated behind verification and the pre-specified plan</a:t>
            </a:r>
          </a:p>
        </p:txBody>
      </p:sp>
      <p:pic>
        <p:nvPicPr>
          <p:cNvPr id="4" name="Picture 3" descr="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1691640"/>
            <a:ext cx="10972800" cy="408900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 i="0">
                <a:solidFill>
                  <a:srgbClr val="5A6172"/>
                </a:solidFill>
                <a:latin typeface="Calibri"/>
              </a:rPr>
              <a:t>Sidney K.T. Tam  |  EngD Final Review (Update 8, rev. F)  |  PolyU ISE  |  September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100" b="1" i="0">
                <a:solidFill>
                  <a:srgbClr val="1E2761"/>
                </a:solidFill>
                <a:latin typeface="Cambria"/>
              </a:rPr>
              <a:t>Stage 3B — first evidence from the field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05256"/>
            <a:ext cx="1115568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0" i="1">
                <a:solidFill>
                  <a:srgbClr val="5A6172"/>
                </a:solidFill>
                <a:latin typeface="Calibri"/>
              </a:rPr>
              <a:t>Real artifacts only; analysis awaits window close and classification</a:t>
            </a:r>
          </a:p>
        </p:txBody>
      </p:sp>
      <p:pic>
        <p:nvPicPr>
          <p:cNvPr id="4" name="Picture 3" descr="1_cons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17320"/>
            <a:ext cx="2697480" cy="16859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3200400"/>
            <a:ext cx="269748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0" i="1">
                <a:solidFill>
                  <a:srgbClr val="5A6172"/>
                </a:solidFill>
                <a:latin typeface="Calibri"/>
              </a:rPr>
              <a:t>In-build consent</a:t>
            </a:r>
          </a:p>
        </p:txBody>
      </p:sp>
      <p:pic>
        <p:nvPicPr>
          <p:cNvPr id="6" name="Picture 5" descr="2_gamepl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6704" y="1417320"/>
            <a:ext cx="2697480" cy="16859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346704" y="3200400"/>
            <a:ext cx="269748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0" i="1">
                <a:solidFill>
                  <a:srgbClr val="5A6172"/>
                </a:solidFill>
                <a:latin typeface="Calibri"/>
              </a:rPr>
              <a:t>30-second run</a:t>
            </a:r>
          </a:p>
        </p:txBody>
      </p:sp>
      <p:pic>
        <p:nvPicPr>
          <p:cNvPr id="8" name="Picture 7" descr="3_questionnai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0488" y="1417320"/>
            <a:ext cx="2697480" cy="16859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190488" y="3200400"/>
            <a:ext cx="269748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0" i="1">
                <a:solidFill>
                  <a:srgbClr val="5A6172"/>
                </a:solidFill>
                <a:latin typeface="Calibri"/>
              </a:rPr>
              <a:t>End-screen questionnaire</a:t>
            </a:r>
          </a:p>
        </p:txBody>
      </p:sp>
      <p:pic>
        <p:nvPicPr>
          <p:cNvPr id="10" name="Picture 9" descr="4_return_scree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34272" y="1417320"/>
            <a:ext cx="2697480" cy="16859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34272" y="3200400"/>
            <a:ext cx="269748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0" i="1">
                <a:solidFill>
                  <a:srgbClr val="5A6172"/>
                </a:solidFill>
                <a:latin typeface="Calibri"/>
              </a:rPr>
              <a:t>Results return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611880"/>
            <a:ext cx="11192256" cy="1600200"/>
          </a:xfrm>
          <a:prstGeom prst="roundRect">
            <a:avLst/>
          </a:prstGeom>
          <a:solidFill>
            <a:srgbClr val="EA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09728" rIns="274320" rtlCol="0" anchor="ctr"/>
          <a:lstStyle/>
          <a:p>
            <a:pPr algn="ctr">
              <a:lnSpc>
                <a:spcPct val="150000"/>
              </a:lnSpc>
            </a:pPr>
            <a:r>
              <a:rPr b="1" dirty="0">
                <a:solidFill>
                  <a:srgbClr val="2C6E49"/>
                </a:solidFill>
                <a:latin typeface="Calibri"/>
              </a:rPr>
              <a:t>First verified return — complete chain of custody</a:t>
            </a:r>
          </a:p>
          <a:p>
            <a:pPr>
              <a:lnSpc>
                <a:spcPct val="150000"/>
              </a:lnSpc>
            </a:pPr>
            <a:r>
              <a:rPr sz="1600" dirty="0">
                <a:solidFill>
                  <a:srgbClr val="222222"/>
                </a:solidFill>
                <a:latin typeface="Calibri"/>
              </a:rPr>
              <a:t>Game file (device copy DEV2) sent to a distributor by WeChat 10 Aug → participant consented and played 15 Aug (in-build timestamp) → return e-mailed to the researcher the same day → archived as received. Return fields match the deployed build generation exactly (arm, failure-mode, scoring). Enrolment 45–64/F; one session; questionnaire complete.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394960"/>
            <a:ext cx="11192256" cy="738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0" i="0" dirty="0">
                <a:solidFill>
                  <a:srgbClr val="222222"/>
                </a:solidFill>
                <a:latin typeface="Calibri"/>
              </a:rPr>
              <a:t>Deployment status (author records): ~20 distributors reached ~100 recipients; distribution from 9–12 Aug onward, after the analysis plan was fixed in the repository (9 Aug). Returns are being collected via each device's built-in archive; the count will be reported at window close.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 i="0">
                <a:solidFill>
                  <a:srgbClr val="5A6172"/>
                </a:solidFill>
                <a:latin typeface="Calibri"/>
              </a:rPr>
              <a:t>Sidney K.T. Tam  |  EngD Final Review (Update 8, rev. F)  |  PolyU ISE  |  September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84280" y="64739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 i="0">
                <a:solidFill>
                  <a:srgbClr val="5A6172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Still to complete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05256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Outstanding work and dependencies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02920" y="1426464"/>
            <a:ext cx="5440680" cy="2286000"/>
          </a:xfrm>
          <a:prstGeom prst="roundRect">
            <a:avLst>
              <a:gd name="adj" fmla="val 3200"/>
            </a:avLst>
          </a:prstGeom>
          <a:solidFill>
            <a:srgbClr val="FDF3E3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5" name="Text 3"/>
          <p:cNvSpPr txBox="1"/>
          <p:nvPr/>
        </p:nvSpPr>
        <p:spPr>
          <a:xfrm>
            <a:off x="758952" y="155448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3B (verify, then analyse)</a:t>
            </a:r>
            <a:endParaRPr lang="en-US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1938528"/>
            <a:ext cx="4956048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deployed procedures and returns against the protocol → classify</a:t>
            </a:r>
            <a:endParaRPr lang="en-US" sz="1400" dirty="0"/>
          </a:p>
          <a:p>
            <a:pPr marL="342900" indent="-3429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Default: complete and analyse the August deployment as Stage 3B under the pre-specified hierarchy</a:t>
            </a:r>
            <a:endParaRPr lang="en-US" sz="1400" dirty="0"/>
          </a:p>
          <a:p>
            <a:pPr marL="342900" indent="-3429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Contingencies only if verification does not support that classification (supervisor)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90488" y="1426464"/>
            <a:ext cx="5440680" cy="2286000"/>
          </a:xfrm>
          <a:prstGeom prst="roundRect">
            <a:avLst>
              <a:gd name="adj" fmla="val 3200"/>
            </a:avLst>
          </a:prstGeom>
          <a:solidFill>
            <a:srgbClr val="FDF3E3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8" name="Text 6"/>
          <p:cNvSpPr txBox="1"/>
          <p:nvPr/>
        </p:nvSpPr>
        <p:spPr>
          <a:xfrm>
            <a:off x="6446520" y="155448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Documentary records</a:t>
            </a:r>
            <a:endParaRPr lang="en-US" dirty="0"/>
          </a:p>
        </p:txBody>
      </p:sp>
      <p:sp>
        <p:nvSpPr>
          <p:cNvPr id="9" name="Text 7"/>
          <p:cNvSpPr txBox="1"/>
          <p:nvPr/>
        </p:nvSpPr>
        <p:spPr>
          <a:xfrm>
            <a:off x="6446520" y="1938528"/>
            <a:ext cx="4956048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Therapist-completed interview forms + details report (requested); after-game questionnaire sheets</a:t>
            </a:r>
            <a:endParaRPr lang="en-US" sz="1400" dirty="0"/>
          </a:p>
          <a:p>
            <a:pPr marL="342900" indent="-3429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D instrument wording and scale confirmation</a:t>
            </a:r>
            <a:endParaRPr lang="en-US" sz="1400" dirty="0"/>
          </a:p>
          <a:p>
            <a:pPr marL="342900" indent="-3429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Telemetry-retention statement; Appendix G source-to-result manifest and build-lineage rows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3858768"/>
            <a:ext cx="5440680" cy="2286000"/>
          </a:xfrm>
          <a:prstGeom prst="roundRect">
            <a:avLst>
              <a:gd name="adj" fmla="val 3200"/>
            </a:avLst>
          </a:prstGeom>
          <a:solidFill>
            <a:srgbClr val="FDF3E3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1" name="Text 9"/>
          <p:cNvSpPr txBox="1"/>
          <p:nvPr/>
        </p:nvSpPr>
        <p:spPr>
          <a:xfrm>
            <a:off x="758952" y="3986784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Consents &amp; sign-offs</a:t>
            </a:r>
            <a:endParaRPr lang="en-US" dirty="0"/>
          </a:p>
        </p:txBody>
      </p:sp>
      <p:sp>
        <p:nvSpPr>
          <p:cNvPr id="12" name="Text 10"/>
          <p:cNvSpPr txBox="1"/>
          <p:nvPr/>
        </p:nvSpPr>
        <p:spPr>
          <a:xfrm>
            <a:off x="758952" y="4370832"/>
            <a:ext cx="4956048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member-check signatures releasing the last consent-gated panel content</a:t>
            </a:r>
            <a:endParaRPr lang="en-US" sz="1400" dirty="0"/>
          </a:p>
          <a:p>
            <a:pPr marL="342900" indent="-3429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decision with the supervisor; supervisor's review report</a:t>
            </a:r>
            <a:endParaRPr lang="en-US" sz="1400" dirty="0"/>
          </a:p>
          <a:p>
            <a:pPr marL="342900" indent="-3429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Paper-3 venue decision (supervisor)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90488" y="3858768"/>
            <a:ext cx="5440680" cy="2286000"/>
          </a:xfrm>
          <a:prstGeom prst="roundRect">
            <a:avLst>
              <a:gd name="adj" fmla="val 3200"/>
            </a:avLst>
          </a:prstGeom>
          <a:solidFill>
            <a:srgbClr val="FDF3E3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4" name="Text 12"/>
          <p:cNvSpPr txBox="1"/>
          <p:nvPr/>
        </p:nvSpPr>
        <p:spPr>
          <a:xfrm>
            <a:off x="6446520" y="3986784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production</a:t>
            </a:r>
            <a:endParaRPr lang="en-US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4370832"/>
            <a:ext cx="4956048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strength-matching rewrite once records land</a:t>
            </a:r>
            <a:endParaRPr lang="en-US" sz="1400" dirty="0"/>
          </a:p>
          <a:p>
            <a:pPr marL="342900" indent="-3429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Forward-results sweep of Ch1–3; single-answer RQ consolidation; non-return evidential-basis sweep</a:t>
            </a:r>
            <a:endParaRPr lang="en-US" sz="1400" dirty="0"/>
          </a:p>
          <a:p>
            <a:pPr marL="342900" indent="-3429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Word-generated ToC/LoF/LoT fields; evidence cut-off declaration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Sidney K.T. Tam  |  EngD Final Review (Update 8, rev. F)  |  PolyU ISE  |  September 2026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138428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Path to submission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05256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 and dates against two clocks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984248" y="15544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984248" y="1545336"/>
            <a:ext cx="5669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743200" y="1837944"/>
            <a:ext cx="3063240" cy="0"/>
          </a:xfrm>
          <a:prstGeom prst="line">
            <a:avLst/>
          </a:prstGeom>
          <a:noFill/>
          <a:ln w="381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502920" y="22860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– late September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02920" y="2743200"/>
            <a:ext cx="3566160" cy="2487168"/>
          </a:xfrm>
          <a:prstGeom prst="roundRect">
            <a:avLst>
              <a:gd name="adj" fmla="val 3309"/>
            </a:avLst>
          </a:prstGeom>
          <a:solidFill>
            <a:srgbClr val="EAF1FD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9" name="Text 7"/>
          <p:cNvSpPr txBox="1"/>
          <p:nvPr/>
        </p:nvSpPr>
        <p:spPr>
          <a:xfrm>
            <a:off x="777240" y="2944368"/>
            <a:ext cx="30632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7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the August deployment (deployed file, returns, start date) → classify</a:t>
            </a:r>
            <a:endParaRPr lang="en-US" sz="1400" dirty="0"/>
          </a:p>
          <a:p>
            <a:pPr marL="342900" indent="-342900">
              <a:lnSpc>
                <a:spcPct val="107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items: Paper-3 venue; any contingency</a:t>
            </a:r>
            <a:endParaRPr lang="en-US" sz="1400" dirty="0"/>
          </a:p>
          <a:p>
            <a:pPr marL="342900" indent="-342900">
              <a:lnSpc>
                <a:spcPct val="107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Therapist records and instrument scans requested/filed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806440" y="15544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5806440" y="1545336"/>
            <a:ext cx="5669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565392" y="1837944"/>
            <a:ext cx="3063240" cy="0"/>
          </a:xfrm>
          <a:prstGeom prst="line">
            <a:avLst/>
          </a:prstGeom>
          <a:noFill/>
          <a:ln w="381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4325112" y="22860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October, first half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4325112" y="2743200"/>
            <a:ext cx="3566160" cy="2487168"/>
          </a:xfrm>
          <a:prstGeom prst="roundRect">
            <a:avLst>
              <a:gd name="adj" fmla="val 3309"/>
            </a:avLst>
          </a:prstGeom>
          <a:solidFill>
            <a:srgbClr val="EAF1FD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15" name="Text 13"/>
          <p:cNvSpPr txBox="1"/>
          <p:nvPr/>
        </p:nvSpPr>
        <p:spPr>
          <a:xfrm>
            <a:off x="4599432" y="2944368"/>
            <a:ext cx="30632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7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Stage-3B analysis under the pre-specified hierarchy → §8.8 + diary</a:t>
            </a:r>
            <a:endParaRPr lang="en-US" sz="1400" dirty="0"/>
          </a:p>
          <a:p>
            <a:pPr marL="342900" indent="-342900">
              <a:lnSpc>
                <a:spcPct val="107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G manifest and lineage rows completed</a:t>
            </a:r>
            <a:endParaRPr lang="en-US" sz="1400" dirty="0"/>
          </a:p>
          <a:p>
            <a:pPr marL="342900" indent="-342900">
              <a:lnSpc>
                <a:spcPct val="107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Member-check content released into §6.12 / Appendix H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628632" y="15544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9628632" y="1545336"/>
            <a:ext cx="5669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147304" y="22860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Mid–late October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8147304" y="2743200"/>
            <a:ext cx="3566160" cy="2487168"/>
          </a:xfrm>
          <a:prstGeom prst="roundRect">
            <a:avLst>
              <a:gd name="adj" fmla="val 3309"/>
            </a:avLst>
          </a:prstGeom>
          <a:solidFill>
            <a:srgbClr val="EAF1FD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20" name="Text 18"/>
          <p:cNvSpPr txBox="1"/>
          <p:nvPr/>
        </p:nvSpPr>
        <p:spPr>
          <a:xfrm>
            <a:off x="8421624" y="2944368"/>
            <a:ext cx="30632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7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Stage-3B write-up finalised to the verified classification</a:t>
            </a:r>
            <a:endParaRPr lang="en-US" sz="1400" dirty="0"/>
          </a:p>
          <a:p>
            <a:pPr marL="342900" indent="-342900">
              <a:lnSpc>
                <a:spcPct val="107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rewrite; final sweeps; ToC/LoF/LoT fields; Paper-3 submission</a:t>
            </a:r>
            <a:endParaRPr lang="en-US" sz="1400" dirty="0"/>
          </a:p>
          <a:p>
            <a:pPr marL="342900" indent="-342900">
              <a:lnSpc>
                <a:spcPct val="107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 submission → oral examination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02920" y="5486400"/>
            <a:ext cx="11192256" cy="713232"/>
          </a:xfrm>
          <a:prstGeom prst="roundRect">
            <a:avLst>
              <a:gd name="adj" fmla="val 1025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868680" y="5486400"/>
            <a:ext cx="10469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clocks: the ethics approval period ends 30 October 2026 and bounds any further fieldwork; the thesis submission target is November 2026.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Sidney K.T. Tam  |  EngD Final Review (Update 8, rev. F)  |  PolyU ISE  |  September 2026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1138428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0292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thesis contributes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88907" y="1481328"/>
            <a:ext cx="5535495" cy="1737360"/>
          </a:xfrm>
          <a:prstGeom prst="roundRect">
            <a:avLst>
              <a:gd name="adj" fmla="val 4211"/>
            </a:avLst>
          </a:prstGeom>
          <a:solidFill>
            <a:srgbClr val="2E3A8C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" name="Text 2"/>
          <p:cNvSpPr txBox="1"/>
          <p:nvPr/>
        </p:nvSpPr>
        <p:spPr>
          <a:xfrm>
            <a:off x="883227" y="1609344"/>
            <a:ext cx="4947655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named phenomenon (proposed)</a:t>
            </a:r>
            <a:endParaRPr lang="en-US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FIAS — our proposed descriptive construct for failure-induced non-return in health-coupled games, grounded in a prospectively observed cohort and a documented field sequence. Stands on completed evidence.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6029587" y="1481328"/>
            <a:ext cx="5535495" cy="1737360"/>
          </a:xfrm>
          <a:prstGeom prst="roundRect">
            <a:avLst>
              <a:gd name="adj" fmla="val 4211"/>
            </a:avLst>
          </a:prstGeom>
          <a:solidFill>
            <a:srgbClr val="2E3A8C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6" name="Text 4"/>
          <p:cNvSpPr txBox="1"/>
          <p:nvPr/>
        </p:nvSpPr>
        <p:spPr>
          <a:xfrm>
            <a:off x="6323907" y="1609344"/>
            <a:ext cx="4947655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boundary claim for theory (candidate)</a:t>
            </a:r>
            <a:endParaRPr lang="en-US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Gamification's engagement predictions may not transfer when play is coupled to a clinical verdict — a candidate boundary condition, with the decoupling comparison as motivating evidence. Stands on completed evidence, causally unisolated.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88907" y="3364992"/>
            <a:ext cx="5535495" cy="1737360"/>
          </a:xfrm>
          <a:prstGeom prst="roundRect">
            <a:avLst>
              <a:gd name="adj" fmla="val 4211"/>
            </a:avLst>
          </a:prstGeom>
          <a:solidFill>
            <a:srgbClr val="2E3A8C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8" name="Text 6"/>
          <p:cNvSpPr txBox="1"/>
          <p:nvPr/>
        </p:nvSpPr>
        <p:spPr>
          <a:xfrm>
            <a:off x="883227" y="3493008"/>
            <a:ext cx="4947655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4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adaptive-learning response (evaluation in progress)</a:t>
            </a:r>
            <a:endParaRPr lang="en-US" dirty="0"/>
          </a:p>
          <a:p>
            <a:pPr marL="0" indent="0">
              <a:lnSpc>
                <a:spcPct val="106000"/>
              </a:lnSpc>
              <a:buNone/>
            </a:pPr>
            <a:endParaRPr lang="en-US" dirty="0"/>
          </a:p>
          <a:p>
            <a:r>
              <a:rPr sz="1150">
                <a:solidFill>
                  <a:srgbClr val="FFFFFF"/>
                </a:solidFill>
                <a:latin typeface="Calibri"/>
              </a:rPr>
              <a:t>Three design principles — calibrated challenge, trajectory framing, coaching — embodied in the Chapter-7 adaptive-learning framework: the system adapts to the user, so the user is never presented as failing. Its combined-effect evaluation follows the verified classification of the August Stage-3B deployment.</a:t>
            </a:r>
          </a:p>
        </p:txBody>
      </p:sp>
      <p:sp>
        <p:nvSpPr>
          <p:cNvPr id="9" name="Shape 7"/>
          <p:cNvSpPr/>
          <p:nvPr/>
        </p:nvSpPr>
        <p:spPr>
          <a:xfrm>
            <a:off x="6029587" y="3364992"/>
            <a:ext cx="5535495" cy="1737360"/>
          </a:xfrm>
          <a:prstGeom prst="roundRect">
            <a:avLst>
              <a:gd name="adj" fmla="val 4211"/>
            </a:avLst>
          </a:prstGeom>
          <a:solidFill>
            <a:srgbClr val="2E3A8C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0" name="Text 8"/>
          <p:cNvSpPr txBox="1"/>
          <p:nvPr/>
        </p:nvSpPr>
        <p:spPr>
          <a:xfrm>
            <a:off x="6323907" y="3493008"/>
            <a:ext cx="4947655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reproducible record (assembly continuing)</a:t>
            </a:r>
            <a:endParaRPr lang="en-US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As-received archives, recalculated statistics (arithmetic verification), calibrated language — an evidential chain an examiner can walk end to end, with the remaining documentary items on slide 11 being filed.</a:t>
            </a:r>
            <a:endParaRPr lang="en-US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55321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— I welcome the panel's questions.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626364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Sidney K. T. Tam · EngD candidate, ISE · Supervisor: Prof. C. F. Cheung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3342</Words>
  <Application>Microsoft Macintosh PowerPoint</Application>
  <PresentationFormat>Widescreen</PresentationFormat>
  <Paragraphs>211</Paragraphs>
  <Slides>13</Slides>
  <Notes>13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TAM, Sidney [Student]</cp:lastModifiedBy>
  <cp:revision>4</cp:revision>
  <dcterms:created xsi:type="dcterms:W3CDTF">2026-09-12T07:18:08Z</dcterms:created>
  <dcterms:modified xsi:type="dcterms:W3CDTF">2026-09-13T11:37:50Z</dcterms:modified>
</cp:coreProperties>
</file>