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8" r:id="rId19"/>
    <p:sldId id="267" r:id="rId1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73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7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0.xml"/><Relationship Id="rId19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5992D-AA2A-134B-9D42-68926F33282C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B2396-E634-B94C-A543-2C85728F0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042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 On Stage 3B, state only the interim account: collection commenced in August 2026; deployed procedures and returns are being checked against the protocol before classification and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Walk the diagram left to right: coupled deployment - use collapsed; decoupled deployment - participation held; the 3A result licensed the question 3B answers - can measurement stay visible if the system adapts to the player? Designed August 2026, after the 3A results; pre-specified before its own recruitment (repository-dated 8-9 Aug). H-3B is exploratory: combined effect only, no component isolation. Per-protocol participant experience if asked: bilingual v3.0 game, in-build consent, silent random assignment (adaptive calibration + trajectory + coaching vs static), end-screen questionnaire, one-file export, target N &gt;= 40. If challenged on sequence: retrospectively motivated, prospectively specified - the intended logic of a staged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 Contingency routes are not the plan of record — the August deployment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load-bearing step is verification of the August deployment, then analysis under the pre-specified hierarchy. Any contingency fieldwork is bounded by the ethics expiry and is a supervisor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sec. Each contribution card carries its evidential status in its own title: proposed, candidate, under evaluation, completed — the panel sees which conclusions stand on completed evidence and which are contingent on Stage 3B. Close and invite questions. If the panel opens an AI discussion: the rule-agent is a deliberately minimal, fully-logged adaptive-learning loop (sense performance, calibrate challenge, coach), chosen over black-box models for auditability with older users; the candidate's broader view linking adaptive-learning philosophy to the evolution of increasingly general AI systems is offered as discussion, not as a thesis claim - the thesis does not develop or operationalise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The two completed evidence bases side by side: the coupled deployment where use collapsed despite recorded gains, and the decoupled deployment where participation held across bands. Same game family, opposite engagement outcomes - the contrast that motivates the framing account and Stage 3B. Keep the caveat ready: cohort, setting, delivery and modality all changed, so this is motivation, not causal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Everything on this slide is a real artifact: build frames from the deployed game family, and the first verified return with every link dated. Say plainly: no analysis numbers yet - the window is open and analysis follows the pre-specified hierarchy after classification. If the pipeline demonstration is shown, it is the separate SYNTHETIC-labelled pack and must be introduced as synthetic demonstration data, never as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Five steps, one gate: the plan was fixed before distribution; play is consented in-build and silently randomised; returns come back through each device's archive; verification and classification come before any analysis. Status: window open, close date to be set with my supervisor, everything inside the ethics period to 30 October. Deployment records are archived: distribution messages, the deployed device files, and the first verified return with a complete dated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CFB698F-3FBB-C2F7-060E-B53F7F6A64A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12809" b="8376"/>
          <a:stretch>
            <a:fillRect/>
          </a:stretch>
        </p:blipFill>
        <p:spPr>
          <a:xfrm>
            <a:off x="8436077" y="6062596"/>
            <a:ext cx="3755923" cy="79540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F5E1E-8D4C-830D-E6D5-68E7511C8BBB}"/>
              </a:ext>
            </a:extLst>
          </p:cNvPr>
          <p:cNvSpPr/>
          <p:nvPr userDrawn="1"/>
        </p:nvSpPr>
        <p:spPr>
          <a:xfrm>
            <a:off x="0" y="6062596"/>
            <a:ext cx="8436077" cy="7954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241964"/>
            <a:ext cx="5866642" cy="1312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2678" y="4555122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4554441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(2021 – extended one semester 26-27)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577" y="2793077"/>
            <a:ext cx="4523761" cy="3133645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046719" y="5987825"/>
            <a:ext cx="3322321" cy="456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  <p:pic>
        <p:nvPicPr>
          <p:cNvPr id="11" name="trim.7C051782-CD89-4F46-B18A-7DF122D02A27.MOV">
            <a:hlinkClick r:id="" action="ppaction://media"/>
            <a:extLst>
              <a:ext uri="{FF2B5EF4-FFF2-40B4-BE49-F238E27FC236}">
                <a16:creationId xmlns:a16="http://schemas.microsoft.com/office/drawing/2014/main" id="{F1848ECD-7904-6FEA-A110-25270B2D2C1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402713" y="2977484"/>
            <a:ext cx="4349488" cy="27184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briefly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 (accepted)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 (under review)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data collection commenced in August 2026; deployed procedures and returned records are being checked against the Stage-3B protocol before final classification and analysis (slide 7).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Both values are the same index on the same scale (higher = better); the standard-mode vs gameplay context difference is a stated limitation. Not an eight-week pre/post design.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52744"/>
            <a:ext cx="80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retrospectively defined classification used for descriptive analysis — not an optimal threshold.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Evidence to date — Stages 2 and 3A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The completed-record results the later stages build on</a:t>
            </a:r>
          </a:p>
        </p:txBody>
      </p:sp>
      <p:pic>
        <p:nvPicPr>
          <p:cNvPr id="4" name="Picture 3" descr="Figure5_Participa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4937760" cy="3372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00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A6172"/>
                </a:solidFill>
                <a:latin typeface="Calibri"/>
              </a:rPr>
              <a:t>Stage 2 — participant flow (thirty residents, eight weeks)</a:t>
            </a:r>
          </a:p>
        </p:txBody>
      </p:sp>
      <p:pic>
        <p:nvPicPr>
          <p:cNvPr id="6" name="Picture 5" descr="Figure3_Age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4937760" cy="33345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800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A6172"/>
                </a:solidFill>
                <a:latin typeface="Calibri"/>
              </a:rPr>
              <a:t>Stage 3A — initial dropout vs observed non-return by age band (120 adults)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5212080"/>
          <a:ext cx="11192256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864608"/>
                <a:gridCol w="4864608"/>
              </a:tblGrid>
              <a:tr h="35052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Stage 2 — coupled (verdict visible)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Stage 3A — decoupled (no verdict)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Engagement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70.0% ≤3 recorded runs; 26.7% single run; no documented return within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End-of-window participation 93.3% (112/120); 15 of 23 initial dropouts returned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Outcome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Recorded index change +4.03 (95% CI 0.47–7.60) coexisting with limited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Initial dropout rose with age; observed non-return converged low in every band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1083" y="274320"/>
            <a:ext cx="5090917" cy="53159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19" y="1444752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19" y="2615184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19" y="3785616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19" y="4956048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12676" y="5672605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667512" y="139903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667512" y="13898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32588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90488" y="123444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6355080" y="139903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6355080" y="13898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32588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archived; available for panel inspection.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667512" y="3063240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 txBox="1"/>
          <p:nvPr/>
        </p:nvSpPr>
        <p:spPr>
          <a:xfrm>
            <a:off x="667512" y="30540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2990088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90488" y="2898648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355080" y="3063240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 txBox="1"/>
          <p:nvPr/>
        </p:nvSpPr>
        <p:spPr>
          <a:xfrm>
            <a:off x="6355080" y="30540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2990088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 — per the archived logbook and workbook; paper forms being collected); sensitivity analysis recalculated from the archive (arithmetic verification, n=30 vs n=29).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4562856"/>
            <a:ext cx="5440680" cy="1398201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67512" y="4727448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 txBox="1"/>
          <p:nvPr/>
        </p:nvSpPr>
        <p:spPr>
          <a:xfrm>
            <a:off x="667512" y="47183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58114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90488" y="4562856"/>
            <a:ext cx="5440680" cy="1398201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355080" y="4727448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 txBox="1"/>
          <p:nvPr/>
        </p:nvSpPr>
        <p:spPr>
          <a:xfrm>
            <a:off x="6355080" y="47183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589457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A/B designed and built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2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 2026: protocol drafted, v3.0 bilingual build complete and smoke-tested (in-build consent, silent A/B arms, one-file export, no external calls).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44168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4904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1109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453896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93522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77240" y="3081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0215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77240" y="349300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4495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52628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777240" y="46725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0932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77240" y="508406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63600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Why Stage 3B — the middle 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Each stage's results licensed the next stage's question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427" y="1298448"/>
            <a:ext cx="9006840" cy="5088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Stage 3B — how it runs and 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Deployment pipeline; analysis gated behind verification and the pre-specified plan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91640"/>
            <a:ext cx="10972800" cy="40890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Stage 3B — first evidence 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Real artifacts only; analysis awaits window close and classification</a:t>
            </a:r>
          </a:p>
        </p:txBody>
      </p:sp>
      <p:pic>
        <p:nvPicPr>
          <p:cNvPr id="4" name="Picture 3" descr="1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2697480" cy="16859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In-build consent</a:t>
            </a:r>
          </a:p>
        </p:txBody>
      </p:sp>
      <p:pic>
        <p:nvPicPr>
          <p:cNvPr id="6" name="Picture 5" descr="2_gam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417320"/>
            <a:ext cx="2697480" cy="16859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46704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30-second run</a:t>
            </a:r>
          </a:p>
        </p:txBody>
      </p:sp>
      <p:pic>
        <p:nvPicPr>
          <p:cNvPr id="8" name="Picture 7" descr="3_questionnai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1417320"/>
            <a:ext cx="2697480" cy="168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90488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End-screen questionnaire</a:t>
            </a:r>
          </a:p>
        </p:txBody>
      </p:sp>
      <p:pic>
        <p:nvPicPr>
          <p:cNvPr id="10" name="Picture 9" descr="4_return_sc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1417320"/>
            <a:ext cx="2697480" cy="16859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4272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Results return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92256" cy="1600200"/>
          </a:xfrm>
          <a:prstGeom prst="roundRect">
            <a:avLst/>
          </a:prstGeom>
          <a:solidFill>
            <a:srgbClr val="EA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/>
            <a:r>
              <a:rPr sz="1400" b="1">
                <a:solidFill>
                  <a:srgbClr val="2C6E49"/>
                </a:solidFill>
                <a:latin typeface="Calibri"/>
              </a:rPr>
              <a:t>First verified return — complete chain of custody</a:t>
            </a:r>
          </a:p>
          <a:p>
            <a:r>
              <a:rPr sz="1200">
                <a:solidFill>
                  <a:srgbClr val="222222"/>
                </a:solidFill>
                <a:latin typeface="Calibri"/>
              </a:rPr>
              <a:t>Game file (device copy DEV2) sent to a distributor by WeChat 10 Aug → participant consented and played 15 Aug (in-build timestamp) → return e-mailed to the researcher the same day → archived as received. Return fields match the deployed build generation exactly (arm, failure-mode, scoring). Enrolment 45–64/F; one session; questionnaire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94960"/>
            <a:ext cx="1119225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222222"/>
                </a:solidFill>
                <a:latin typeface="Calibri"/>
              </a:rPr>
              <a:t>Deployment status (author records): ~20 distributors reached ~100 recipients; distribution from 9–12 Aug onward, after the analysis plan was fixed in the repository (9 Aug). Returns are being collected via each device's built-in archive; the count will be reported at window close.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(verify, then analyse)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deployed procedures and returns against the protocol → classify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complete and analyse the August deployment as Stage 3B under the pre-specified hierarchy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Contingencies only if verification does not support that classification (supervisor)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 (deployed file, returns, start date) → classify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items: Paper-3 venue; any contingency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under the pre-specified hierarchy → §8.8 + diary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write-up finalised to the verified classification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fields; Paper-3 submission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any further fieldwork; the thesis submission target is November 2026.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8890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 txBox="1"/>
          <p:nvPr/>
        </p:nvSpPr>
        <p:spPr>
          <a:xfrm>
            <a:off x="88322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2958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632390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8890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88322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 sz="14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adaptive-learning response (evaluation in progress)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dirty="0"/>
          </a:p>
          <a:p>
            <a:r>
              <a:rPr sz="1150">
                <a:solidFill>
                  <a:srgbClr val="FFFFFF"/>
                </a:solidFill>
                <a:latin typeface="Calibri"/>
              </a:rPr>
              <a:t>Three design principles — calibrated challenge, trajectory framing, coaching — embodied in the Chapter-7 adaptive-learning framework: the system adapts to the user, so the user is never presented as failing. Its combined-effect evaluation follows the verified classification of the August Stage-3B deployment.</a:t>
            </a:r>
          </a:p>
        </p:txBody>
      </p:sp>
      <p:sp>
        <p:nvSpPr>
          <p:cNvPr id="9" name="Shape 7"/>
          <p:cNvSpPr/>
          <p:nvPr/>
        </p:nvSpPr>
        <p:spPr>
          <a:xfrm>
            <a:off x="602958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632390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(assembly continuing)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end, with the remaining documentary items on slide 8 being filed.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2839</Words>
  <Application>Microsoft Macintosh PowerPoint</Application>
  <PresentationFormat>Widescreen</PresentationFormat>
  <Paragraphs>189</Paragraphs>
  <Slides>10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TAM, Sidney [Student]</cp:lastModifiedBy>
  <cp:revision>3</cp:revision>
  <dcterms:created xsi:type="dcterms:W3CDTF">2026-09-12T07:18:08Z</dcterms:created>
  <dcterms:modified xsi:type="dcterms:W3CDTF">2026-09-13T10:14:52Z</dcterms:modified>
</cp:coreProperties>
</file>