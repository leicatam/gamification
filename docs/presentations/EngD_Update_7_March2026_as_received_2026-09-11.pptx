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63" r:id="rId10"/>
    <p:sldId id="276" r:id="rId11"/>
    <p:sldId id="272" r:id="rId12"/>
    <p:sldId id="277" r:id="rId13"/>
    <p:sldId id="281" r:id="rId14"/>
    <p:sldId id="265" r:id="rId15"/>
    <p:sldId id="279" r:id="rId16"/>
    <p:sldId id="266" r:id="rId17"/>
    <p:sldId id="267" r:id="rId18"/>
    <p:sldId id="268" r:id="rId19"/>
    <p:sldId id="269" r:id="rId20"/>
    <p:sldId id="278" r:id="rId21"/>
    <p:sldId id="270" r:id="rId22"/>
    <p:sldId id="271" r:id="rId23"/>
    <p:sldId id="282" r:id="rId24"/>
    <p:sldId id="283" r:id="rId25"/>
    <p:sldId id="284" r:id="rId26"/>
    <p:sldId id="285" r:id="rId27"/>
    <p:sldId id="286" r:id="rId28"/>
    <p:sldId id="287" r:id="rId29"/>
    <p:sldId id="26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2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92" y="3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82BA2-4819-C646-B6E3-D26AFBB35C80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2EBD1-720E-9B4B-A168-E6D002042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43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71587" y="53116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65B38-4269-0A19-F8F1-45E083F536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36077" y="5347141"/>
            <a:ext cx="3755923" cy="10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78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86840" y="1234440"/>
            <a:ext cx="9418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44040" y="15087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RESEARCH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4040" y="1920240"/>
            <a:ext cx="8503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lang="en-US" sz="2800" dirty="0"/>
              <a:t>Gamification as a Proactive Approach for Continuous Improvement and Innovation Enhancement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812552" y="304367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7E22"/>
                </a:solidFill>
                <a:latin typeface="Calibri"/>
              </a:defRPr>
            </a:pPr>
            <a:r>
              <a:t>Failure-Induced Dropout Syndrome (FIDS) Hypothesis &amp; the Skiing Game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9127" y="368880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5F8A"/>
                </a:solidFill>
                <a:latin typeface="Calibri"/>
              </a:defRPr>
            </a:pPr>
            <a:r>
              <a:t>"Learning is Earning" — Reframing Health Technology for Elderly Communities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7240" y="4572000"/>
            <a:ext cx="3017520" cy="274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3126" y="4645152"/>
            <a:ext cx="726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rPr lang="en-GB" dirty="0"/>
              <a:t>Presented by: </a:t>
            </a:r>
            <a:r>
              <a:rPr dirty="0"/>
              <a:t>Sidney K.T. Tam</a:t>
            </a:r>
            <a:r>
              <a:rPr lang="en-GB" dirty="0"/>
              <a:t> (2021)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026920" y="4204341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600" dirty="0"/>
              <a:t>Supervisor: Prof. C.F. Cheung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9127" y="5027301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Calibri"/>
              </a:defRPr>
            </a:pPr>
            <a:r>
              <a:t>Department of Industrial and Systems Engineering, The Hong Kong Polytechnic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4040" y="5909679"/>
            <a:ext cx="8503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rPr dirty="0"/>
              <a:t>Last Update </a:t>
            </a:r>
            <a:r>
              <a:rPr lang="en-US" dirty="0"/>
              <a:t>version 3 </a:t>
            </a:r>
            <a:r>
              <a:rPr dirty="0"/>
              <a:t>|  March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Agenda (15 Minutes)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403505"/>
              </p:ext>
            </p:extLst>
          </p:nvPr>
        </p:nvGraphicFramePr>
        <p:xfrm>
          <a:off x="707923" y="1371600"/>
          <a:ext cx="7742903" cy="4632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09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 dirty="0"/>
                        <a:t>#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Topic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 dirty="0"/>
                        <a:t>1.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Research Problem &amp; Context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FIDS Hypothesis — What It 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3.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Theoretical Framework (TAM, STAM, Octalysis, Prospect Theory, Self-Efficacy)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4.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The Knowledge Gap — Why Existing Theories Fall Short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5.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Research Design — Action Research &amp; the Skiing Game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6.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Key Findings — What Worked &amp; What Did Not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7.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"Learning is Earning" — The Most Actionable Finding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8.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Contributions &amp; Implications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0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9.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/>
                        <a:t>Limitations &amp; Future Work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09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10.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Summary &amp; Questions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Research Problem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FRA systems reduce fall risk — clinically proven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Available FREE for 10+ years in Guangzhou elderly housing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Professional staff and modern equipment provided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Yet: only 39% of 200 residents ever tried FRA (survey 2024)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61% NEVER used it despite knowing the benefits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Of those who tried: ~74% failed at first attempt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1600"/>
              <a:t>• ~82% never returned after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7133" y="1143000"/>
            <a:ext cx="5303520" cy="2560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31453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KEY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1453" y="1691640"/>
            <a:ext cx="4754880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1B3A5C"/>
                </a:solidFill>
                <a:latin typeface="Calibri"/>
              </a:defRPr>
            </a:pPr>
            <a:r>
              <a:rPr sz="1600" dirty="0"/>
              <a:t>Why do elderly users abandon a technology</a:t>
            </a:r>
            <a:br>
              <a:rPr sz="1600" dirty="0"/>
            </a:br>
            <a:r>
              <a:rPr lang="en-US" sz="1600" dirty="0"/>
              <a:t>	</a:t>
            </a:r>
            <a:r>
              <a:rPr sz="1600" dirty="0"/>
              <a:t>whose health benefits they know,</a:t>
            </a:r>
            <a:br>
              <a:rPr sz="1600" dirty="0"/>
            </a:br>
            <a:r>
              <a:rPr lang="en-US" sz="1600" dirty="0"/>
              <a:t>	</a:t>
            </a:r>
            <a:r>
              <a:rPr sz="1600" dirty="0"/>
              <a:t>when it is free, accessible, and</a:t>
            </a:r>
            <a:br>
              <a:rPr sz="1600" dirty="0"/>
            </a:br>
            <a:r>
              <a:rPr lang="en-US" sz="1600" dirty="0"/>
              <a:t>	</a:t>
            </a:r>
            <a:r>
              <a:rPr sz="1600" dirty="0"/>
              <a:t>supported by professional staff?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7133" y="3749040"/>
            <a:ext cx="5303520" cy="1691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831453" y="38404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rPr sz="1600"/>
              <a:t>THE BARRIER IS NOT: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1453" y="4206240"/>
            <a:ext cx="47548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x  Awareness (&gt;80% knew FRA prevents falls)</a:t>
            </a:r>
          </a:p>
          <a:p>
            <a:pPr>
              <a:spcAft>
                <a:spcPts val="780"/>
              </a:spcAft>
              <a:defRPr sz="13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x  Access (&gt;85% found equipment accessible)</a:t>
            </a:r>
          </a:p>
          <a:p>
            <a:pPr>
              <a:spcAft>
                <a:spcPts val="780"/>
              </a:spcAft>
              <a:defRPr sz="13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x  Cost (service is free)</a:t>
            </a:r>
          </a:p>
          <a:p>
            <a:pPr>
              <a:spcAft>
                <a:spcPts val="780"/>
              </a:spcAft>
              <a:defRPr sz="13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x  Technology quality (clinically validated)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43296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Initial Survey Results (N ~ 200)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176862"/>
              </p:ext>
            </p:extLst>
          </p:nvPr>
        </p:nvGraphicFramePr>
        <p:xfrm>
          <a:off x="548640" y="4882896"/>
          <a:ext cx="530352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Survey Item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Result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Ever used FRA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39%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Failed at first attempt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~74%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Never returned after failure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 dirty="0"/>
                        <a:t>~82%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Knew FRA prevents falls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sz="1400" dirty="0"/>
                        <a:t>&gt;80%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FIDS Hypothesis — 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Failure-Induced Dropout Syndrome (FIDS)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730431" y="1955929"/>
            <a:ext cx="106092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3A5C"/>
                </a:solidFill>
                <a:latin typeface="Calibri"/>
              </a:defRPr>
            </a:pPr>
            <a:r>
              <a:rPr dirty="0"/>
              <a:t>FIDS = Early failure in health technology triggers rapid, permanent withdrawal in elderly users.</a:t>
            </a:r>
            <a:br>
              <a:rPr dirty="0"/>
            </a:br>
            <a:r>
              <a:rPr dirty="0"/>
              <a:t>It is a working hypothesis — not yet a confirmed finding — proposed to explain the observed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The FIDS Cycle (Proposed Mechanism)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55448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sz="1600"/>
              <a:t>First</a:t>
            </a:r>
            <a:br>
              <a:rPr sz="1600"/>
            </a:br>
            <a:r>
              <a:rPr sz="1600"/>
              <a:t>FRA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88620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8C8D"/>
                </a:solidFill>
                <a:latin typeface="Calibri"/>
              </a:defRPr>
            </a:pPr>
            <a:r>
              <a:rPr sz="2400"/>
              <a:t>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3657600"/>
            <a:ext cx="155448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sz="1600"/>
              <a:t>Failure</a:t>
            </a:r>
            <a:br>
              <a:rPr sz="1600"/>
            </a:br>
            <a:r>
              <a:rPr sz="1600"/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88620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8C8D"/>
                </a:solidFill>
                <a:latin typeface="Calibri"/>
              </a:defRPr>
            </a:pPr>
            <a:r>
              <a:rPr sz="2400"/>
              <a:t>&gt;&gt;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155448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sz="1600"/>
              <a:t>Self-blame</a:t>
            </a:r>
            <a:br>
              <a:rPr sz="1600"/>
            </a:br>
            <a:r>
              <a:rPr sz="1600"/>
              <a:t>'I am too old'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8620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8C8D"/>
                </a:solidFill>
                <a:latin typeface="Calibri"/>
              </a:defRPr>
            </a:pPr>
            <a:r>
              <a:rPr sz="2400"/>
              <a:t>&gt;&gt;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57600"/>
            <a:ext cx="155448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sz="1600"/>
              <a:t>Self-efficacy</a:t>
            </a:r>
            <a:br>
              <a:rPr sz="1600"/>
            </a:br>
            <a:r>
              <a:rPr sz="1600"/>
              <a:t>Drops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8620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8C8D"/>
                </a:solidFill>
                <a:latin typeface="Calibri"/>
              </a:defRPr>
            </a:pPr>
            <a:r>
              <a:rPr sz="2400"/>
              <a:t>&gt;&gt;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657600"/>
            <a:ext cx="155448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sz="1600"/>
              <a:t>Anxiety</a:t>
            </a:r>
            <a:br>
              <a:rPr sz="1600"/>
            </a:br>
            <a:r>
              <a:rPr sz="1600"/>
              <a:t>Increases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88620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8C8D"/>
                </a:solidFill>
                <a:latin typeface="Calibri"/>
              </a:defRPr>
            </a:pPr>
            <a:r>
              <a:rPr sz="2400"/>
              <a:t>&gt;&gt;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3657600"/>
            <a:ext cx="155448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sz="1600"/>
              <a:t>Permanent</a:t>
            </a:r>
            <a:br>
              <a:rPr sz="1600"/>
            </a:br>
            <a:r>
              <a:rPr sz="1600"/>
              <a:t>Abandonment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1719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rPr dirty="0"/>
              <a:t>Key Insight: Dropout is NOT gradual. Median time from failure to last login = 18.4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66175"/>
            <a:ext cx="10972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Low self-efficacy and technology anxiety interact in a feedback loop</a:t>
            </a:r>
          </a:p>
          <a:p>
            <a:pPr>
              <a:spcAft>
                <a:spcPts val="84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Qualitative evidence: "I am too old for this" / "I knew I would not manage"</a:t>
            </a:r>
          </a:p>
          <a:p>
            <a:pPr>
              <a:spcAft>
                <a:spcPts val="84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Failure is attributed to personal inadequacy, NOT task difficulty</a:t>
            </a:r>
          </a:p>
          <a:p>
            <a:pPr>
              <a:spcAft>
                <a:spcPts val="84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Pattern confirmed in both initial survey (~200) and pilot study (N=32)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Theoretical Framework — Five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TAM</a:t>
            </a:r>
            <a:br>
              <a:rPr sz="1600"/>
            </a:br>
            <a:r>
              <a:rPr sz="1600"/>
              <a:t>(Davis, 1989)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011680" cy="1691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400" dirty="0"/>
              <a:t>Measures PU &amp; PEOU</a:t>
            </a:r>
            <a:br>
              <a:rPr sz="1400" dirty="0"/>
            </a:br>
            <a:br>
              <a:rPr sz="1400" dirty="0"/>
            </a:br>
            <a:r>
              <a:rPr sz="1400" dirty="0"/>
              <a:t>Predicts intention</a:t>
            </a:r>
            <a:br>
              <a:rPr sz="1400" dirty="0"/>
            </a:br>
            <a:r>
              <a:rPr sz="1400" dirty="0"/>
              <a:t>to adopt technology</a:t>
            </a:r>
            <a:r>
              <a:rPr lang="en-US" sz="1400" dirty="0"/>
              <a:t> = </a:t>
            </a:r>
            <a:r>
              <a:rPr lang="en-US" sz="1400" b="1" dirty="0"/>
              <a:t>Known Benefits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2834640" y="1371600"/>
            <a:ext cx="2011680" cy="8229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STAM</a:t>
            </a:r>
            <a:br>
              <a:rPr sz="1600"/>
            </a:br>
            <a:r>
              <a:rPr sz="1600"/>
              <a:t>(Chen &amp; Chan, 2014)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240280"/>
            <a:ext cx="2011680" cy="1691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400" dirty="0"/>
              <a:t>TAM + 8 age factors</a:t>
            </a:r>
            <a:br>
              <a:rPr sz="1400" dirty="0"/>
            </a:br>
            <a:br>
              <a:rPr sz="1400" dirty="0"/>
            </a:br>
            <a:r>
              <a:rPr sz="1400" dirty="0"/>
              <a:t>Explains 68% of</a:t>
            </a:r>
            <a:br>
              <a:rPr sz="1400" dirty="0"/>
            </a:br>
            <a:r>
              <a:rPr sz="1400" dirty="0"/>
              <a:t>elderly tech use</a:t>
            </a:r>
            <a:r>
              <a:rPr lang="en-US" sz="1400" dirty="0"/>
              <a:t> = </a:t>
            </a:r>
          </a:p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sz="1400" b="1" dirty="0"/>
              <a:t>40% Used FRA</a:t>
            </a:r>
            <a:endParaRPr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Octalysis</a:t>
            </a:r>
            <a:br>
              <a:rPr sz="1600"/>
            </a:br>
            <a:r>
              <a:rPr sz="1600"/>
              <a:t>(Chou, 2015)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240280"/>
            <a:ext cx="2011680" cy="1691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400" dirty="0"/>
              <a:t>8 core drives of</a:t>
            </a:r>
            <a:br>
              <a:rPr sz="1400" dirty="0"/>
            </a:br>
            <a:r>
              <a:rPr sz="1400" dirty="0"/>
              <a:t>game engagement</a:t>
            </a:r>
            <a:br>
              <a:rPr sz="1400" dirty="0"/>
            </a:br>
            <a:br>
              <a:rPr sz="1400" dirty="0"/>
            </a:br>
            <a:r>
              <a:rPr sz="1400" dirty="0"/>
              <a:t>Maps motivation</a:t>
            </a:r>
            <a:br>
              <a:rPr sz="1400" dirty="0"/>
            </a:br>
            <a:r>
              <a:rPr sz="1400" dirty="0"/>
              <a:t>in game design</a:t>
            </a:r>
            <a:r>
              <a:rPr lang="en-US" sz="1400" dirty="0"/>
              <a:t> = </a:t>
            </a:r>
            <a:r>
              <a:rPr lang="en-US" sz="1400" b="1" dirty="0"/>
              <a:t>“Learning is Earning”</a:t>
            </a:r>
            <a:endParaRPr sz="1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7406640" y="1371600"/>
            <a:ext cx="20116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Prospect Theory</a:t>
            </a:r>
            <a:br>
              <a:rPr sz="1600"/>
            </a:br>
            <a:r>
              <a:rPr sz="1600"/>
              <a:t>(Kahneman, 1979)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240280"/>
            <a:ext cx="2011680" cy="1691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400" dirty="0"/>
              <a:t>Losses feel 2x</a:t>
            </a:r>
            <a:br>
              <a:rPr sz="1400" dirty="0"/>
            </a:br>
            <a:r>
              <a:rPr sz="1400" dirty="0"/>
              <a:t>stronger than gains</a:t>
            </a:r>
            <a:br>
              <a:rPr sz="1400" dirty="0"/>
            </a:br>
            <a:br>
              <a:rPr sz="1400" dirty="0"/>
            </a:br>
            <a:r>
              <a:rPr sz="1400" dirty="0"/>
              <a:t>Explains why failure</a:t>
            </a:r>
            <a:br>
              <a:rPr sz="1400" dirty="0"/>
            </a:br>
            <a:r>
              <a:rPr sz="1400" dirty="0"/>
              <a:t>outweighs benefits</a:t>
            </a:r>
            <a:r>
              <a:rPr lang="en-US" sz="1400" dirty="0"/>
              <a:t> = = </a:t>
            </a:r>
            <a:r>
              <a:rPr lang="en-US" sz="1400" b="1" dirty="0"/>
              <a:t>Health Deficit</a:t>
            </a:r>
            <a:endParaRPr sz="14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9692640" y="1371600"/>
            <a:ext cx="201168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Self-Efficacy</a:t>
            </a:r>
            <a:br>
              <a:rPr sz="1600"/>
            </a:br>
            <a:r>
              <a:rPr sz="1600"/>
              <a:t>(Bandura, 1977)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240280"/>
            <a:ext cx="2011680" cy="1691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sz="1400" dirty="0"/>
              <a:t>Belief in own ability</a:t>
            </a:r>
            <a:br>
              <a:rPr sz="1400" dirty="0"/>
            </a:br>
            <a:br>
              <a:rPr sz="1400" dirty="0"/>
            </a:br>
            <a:r>
              <a:rPr sz="1400" dirty="0"/>
              <a:t>Failure attributed to</a:t>
            </a:r>
            <a:br>
              <a:rPr sz="1400" dirty="0"/>
            </a:br>
            <a:r>
              <a:rPr sz="1400" dirty="0"/>
              <a:t>self = </a:t>
            </a:r>
            <a:r>
              <a:rPr lang="en-US" sz="1400" b="1" dirty="0"/>
              <a:t>P</a:t>
            </a:r>
            <a:r>
              <a:rPr sz="1400" b="1" dirty="0"/>
              <a:t>ermanent</a:t>
            </a:r>
            <a:br>
              <a:rPr sz="1400" b="1" dirty="0"/>
            </a:br>
            <a:r>
              <a:rPr lang="en-US" sz="1400" b="1" dirty="0"/>
              <a:t>A</a:t>
            </a:r>
            <a:r>
              <a:rPr sz="1400" b="1" dirty="0"/>
              <a:t>voidance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rPr sz="1600" dirty="0"/>
              <a:t>Integration: TAM/STAM predict adoption intent. Octalysis designs engagement. Prospect Theory + Self-Efficacy explain WHY failure causes permanent exit.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How the Theories Connect to FIDS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29497"/>
            <a:ext cx="8869680" cy="12618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TAM/STAM: Positive beliefs (PU, PEOU) do NOT prevent dropout — 80%+ knew benefits, still abandoned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Octalysis Drive 8 (Loss &amp; Avoidance): Assumes users have progress to protect — </a:t>
            </a:r>
            <a:r>
              <a:rPr lang="en-US" sz="1400" dirty="0"/>
              <a:t>Learning is hard </a:t>
            </a:r>
            <a:endParaRPr sz="1400" dirty="0"/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Prospect Theory: Pain of failure is ~2x the joy of success — explains why </a:t>
            </a:r>
            <a:r>
              <a:rPr lang="en-US" sz="1400" dirty="0"/>
              <a:t>Health Deficit induced by </a:t>
            </a:r>
            <a:r>
              <a:rPr sz="1400" dirty="0"/>
              <a:t>one bad experience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Self-Efficacy: Elderly attribute failure to age ('I am too old') not task difficulty — one failure = permanent avoidance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 The Knowledge Gap — Why Existing Theories Fall Short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60970"/>
              </p:ext>
            </p:extLst>
          </p:nvPr>
        </p:nvGraphicFramePr>
        <p:xfrm>
          <a:off x="548640" y="1371600"/>
          <a:ext cx="1106424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Framework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What It Covers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What It Misses (The Gap)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TAM / TAM2 / TAM3 / UTAUT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Predicts adoption based on PU, PEOU, social influence, facilitating conditions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No construct for failure response. Assumes gradual decline, not abrupt exit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STAM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Adds 8 age-related factors (self-efficacy, anxiety, health). Explains 68% variance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Does not explain why someone who tried and failed gives up permanently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Octalysis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Maps 8 motivational drives. Drive 8 = Loss &amp; Avoidance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Assumes players have accumulated progress. New elderly users have nothing to lose in-game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rPr sz="1600"/>
                        <a:t>Game Failure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Studies persistence, recovery, and resilient players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 study examines permanent dropout triggered by failure in elderly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235631"/>
            <a:ext cx="11064240" cy="9144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81351"/>
            <a:ext cx="10515600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C0392B"/>
                </a:solidFill>
                <a:latin typeface="Calibri"/>
              </a:defRPr>
            </a:pPr>
            <a:r>
              <a:rPr sz="1600" dirty="0"/>
              <a:t>CORE GAP: No existing framework contains a construct for how elderly users respond to failure.</a:t>
            </a:r>
            <a:br>
              <a:rPr sz="1600" dirty="0"/>
            </a:br>
            <a:r>
              <a:rPr sz="1600" dirty="0"/>
              <a:t>The moment of failure — and the decision to never return — sits in a theoretical blind spot.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316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Supporting Literature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7563"/>
            <a:ext cx="10972800" cy="91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Only 12/673 gamification studies focused on older adults (Koivisto &amp; Malik, 2021)</a:t>
            </a:r>
          </a:p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68% of gamification in aged care showed negative or no effect (Silva et al., 2020)</a:t>
            </a:r>
          </a:p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Only 2 studies investigated technology non-use as primary outcome (Kebede et al., 2022)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BB0181-46AD-972E-8E0A-0B6E0D876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65" y="62626"/>
            <a:ext cx="7772400" cy="662093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1D60B7-05AC-4339-65A4-CCF3CFE86CEC}"/>
              </a:ext>
            </a:extLst>
          </p:cNvPr>
          <p:cNvCxnSpPr/>
          <p:nvPr/>
        </p:nvCxnSpPr>
        <p:spPr>
          <a:xfrm>
            <a:off x="185530" y="6586330"/>
            <a:ext cx="73947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riangle 4">
            <a:extLst>
              <a:ext uri="{FF2B5EF4-FFF2-40B4-BE49-F238E27FC236}">
                <a16:creationId xmlns:a16="http://schemas.microsoft.com/office/drawing/2014/main" id="{EAFF1C09-5065-19F2-DB88-65EDBEB50725}"/>
              </a:ext>
            </a:extLst>
          </p:cNvPr>
          <p:cNvSpPr/>
          <p:nvPr/>
        </p:nvSpPr>
        <p:spPr>
          <a:xfrm rot="5400000">
            <a:off x="7216564" y="4700136"/>
            <a:ext cx="1032370" cy="953089"/>
          </a:xfrm>
          <a:prstGeom prst="triangle">
            <a:avLst>
              <a:gd name="adj" fmla="val 51924"/>
            </a:avLst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3ED12-DF5D-20EF-43F8-EEAE24E1D0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78" r="4756" b="13043"/>
          <a:stretch>
            <a:fillRect/>
          </a:stretch>
        </p:blipFill>
        <p:spPr>
          <a:xfrm>
            <a:off x="8149315" y="4863238"/>
            <a:ext cx="3949149" cy="5963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33E733F-3F85-8E82-BDD1-DDC403E7E22A}"/>
              </a:ext>
            </a:extLst>
          </p:cNvPr>
          <p:cNvGrpSpPr/>
          <p:nvPr/>
        </p:nvGrpSpPr>
        <p:grpSpPr>
          <a:xfrm>
            <a:off x="8209294" y="92951"/>
            <a:ext cx="3223375" cy="4212600"/>
            <a:chOff x="8713694" y="62661"/>
            <a:chExt cx="3223375" cy="4212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14635E-C279-87C1-192C-8C95062C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8802929" y="536713"/>
              <a:ext cx="2938497" cy="373854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BF1EBB-5318-8170-D083-2F4A6E26BDA0}"/>
                </a:ext>
              </a:extLst>
            </p:cNvPr>
            <p:cNvSpPr txBox="1"/>
            <p:nvPr/>
          </p:nvSpPr>
          <p:spPr>
            <a:xfrm>
              <a:off x="8713694" y="62661"/>
              <a:ext cx="322337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sz="24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  The Knowledge Gap — </a:t>
              </a:r>
            </a:p>
            <a:p>
              <a:r>
                <a:rPr lang="en-HK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Why Existing Theories Fall Short</a:t>
              </a:r>
              <a:endParaRPr lang="en-US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sp>
        <p:nvSpPr>
          <p:cNvPr id="14" name="Triangle 13">
            <a:extLst>
              <a:ext uri="{FF2B5EF4-FFF2-40B4-BE49-F238E27FC236}">
                <a16:creationId xmlns:a16="http://schemas.microsoft.com/office/drawing/2014/main" id="{986CBA59-26D6-D4C1-2CE4-B68FBA57345E}"/>
              </a:ext>
            </a:extLst>
          </p:cNvPr>
          <p:cNvSpPr/>
          <p:nvPr/>
        </p:nvSpPr>
        <p:spPr>
          <a:xfrm rot="16200000">
            <a:off x="7244062" y="1545973"/>
            <a:ext cx="1066612" cy="1042325"/>
          </a:xfrm>
          <a:prstGeom prst="triangl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FC9C44-09B9-6031-4420-0D77B69254BA}"/>
              </a:ext>
            </a:extLst>
          </p:cNvPr>
          <p:cNvSpPr txBox="1"/>
          <p:nvPr/>
        </p:nvSpPr>
        <p:spPr>
          <a:xfrm rot="5400000">
            <a:off x="7228346" y="1906357"/>
            <a:ext cx="1392133" cy="321555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en-US" sz="2000" dirty="0"/>
              <a:t>THE GAP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D56D0-8446-9471-43B7-10CA397E565C}"/>
              </a:ext>
            </a:extLst>
          </p:cNvPr>
          <p:cNvSpPr txBox="1"/>
          <p:nvPr/>
        </p:nvSpPr>
        <p:spPr>
          <a:xfrm rot="16200000">
            <a:off x="7006693" y="4950916"/>
            <a:ext cx="1392133" cy="321555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en-US" sz="2000" dirty="0"/>
              <a:t>THE ACTION</a:t>
            </a:r>
          </a:p>
        </p:txBody>
      </p:sp>
    </p:spTree>
    <p:extLst>
      <p:ext uri="{BB962C8B-B14F-4D97-AF65-F5344CB8AC3E}">
        <p14:creationId xmlns:p14="http://schemas.microsoft.com/office/powerpoint/2010/main" val="262167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FDD685-F912-0D5D-17A2-DE21237AE03D}"/>
              </a:ext>
            </a:extLst>
          </p:cNvPr>
          <p:cNvSpPr/>
          <p:nvPr/>
        </p:nvSpPr>
        <p:spPr>
          <a:xfrm>
            <a:off x="123815" y="1179326"/>
            <a:ext cx="3750548" cy="53902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HK" sz="1400" dirty="0"/>
              <a:t>Note: Two participants (ages 33 and 54) were facility staff who served as instrument calibration controls. They are excluded from all behavioural analyses. The elderly participant cohort is N = 30, age range 62–84 years.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C6D6ED-330C-8B4E-3215-1BDDD812D9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1" r="1261"/>
          <a:stretch>
            <a:fillRect/>
          </a:stretch>
        </p:blipFill>
        <p:spPr>
          <a:xfrm>
            <a:off x="3874363" y="129208"/>
            <a:ext cx="8193822" cy="6599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21203D-5F0E-E580-10EF-6AB8A8ECE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25"/>
          <a:stretch>
            <a:fillRect/>
          </a:stretch>
        </p:blipFill>
        <p:spPr>
          <a:xfrm>
            <a:off x="775119" y="-152235"/>
            <a:ext cx="2820632" cy="1613004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2A88EFD3-2383-43BC-EC73-9BC2F599EE4A}"/>
              </a:ext>
            </a:extLst>
          </p:cNvPr>
          <p:cNvSpPr/>
          <p:nvPr/>
        </p:nvSpPr>
        <p:spPr>
          <a:xfrm rot="5400000">
            <a:off x="3384724" y="271371"/>
            <a:ext cx="731647" cy="765793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BA250-6D32-A3FD-CA66-F7DC4E494A40}"/>
              </a:ext>
            </a:extLst>
          </p:cNvPr>
          <p:cNvSpPr txBox="1"/>
          <p:nvPr/>
        </p:nvSpPr>
        <p:spPr>
          <a:xfrm>
            <a:off x="106209" y="1310710"/>
            <a:ext cx="3922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Participants (N = 3</a:t>
            </a:r>
            <a:r>
              <a:rPr lang="en-US" dirty="0">
                <a:solidFill>
                  <a:schemeClr val="bg1"/>
                </a:solidFill>
              </a:rPr>
              <a:t>0; 2 are control</a:t>
            </a:r>
            <a:r>
              <a:rPr dirty="0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27B601E-C23A-43CD-8B52-549B0313D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141896"/>
              </p:ext>
            </p:extLst>
          </p:nvPr>
        </p:nvGraphicFramePr>
        <p:xfrm>
          <a:off x="247630" y="1743036"/>
          <a:ext cx="34719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 dirty="0"/>
                        <a:t>Characteristic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Value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1400" dirty="0"/>
                        <a:t>Elderly </a:t>
                      </a:r>
                      <a:r>
                        <a:rPr sz="1400" dirty="0"/>
                        <a:t>Age </a:t>
                      </a:r>
                      <a:r>
                        <a:rPr lang="en-US" sz="1400" dirty="0"/>
                        <a:t>Only</a:t>
                      </a:r>
                      <a:endParaRPr sz="14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1400" dirty="0"/>
                        <a:t>62</a:t>
                      </a:r>
                      <a:r>
                        <a:rPr sz="1400" dirty="0"/>
                        <a:t>-84 years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Mean age (SD)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1400" dirty="0"/>
                        <a:t>71.1</a:t>
                      </a:r>
                      <a:r>
                        <a:rPr sz="1400" dirty="0"/>
                        <a:t> (</a:t>
                      </a:r>
                      <a:r>
                        <a:rPr lang="en-US" sz="1400" dirty="0"/>
                        <a:t>5</a:t>
                      </a:r>
                      <a:r>
                        <a:rPr sz="1400" dirty="0"/>
                        <a:t>.</a:t>
                      </a:r>
                      <a:r>
                        <a:rPr lang="en-US" sz="1400" dirty="0"/>
                        <a:t>9</a:t>
                      </a:r>
                      <a:r>
                        <a:rPr sz="1400" dirty="0"/>
                        <a:t>)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Gender (M/F)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 dirty="0"/>
                        <a:t>4</a:t>
                      </a:r>
                      <a:r>
                        <a:rPr lang="en-US" sz="1400" dirty="0"/>
                        <a:t>3</a:t>
                      </a:r>
                      <a:r>
                        <a:rPr sz="1400" dirty="0"/>
                        <a:t>.</a:t>
                      </a:r>
                      <a:r>
                        <a:rPr lang="en-US" sz="1400" dirty="0"/>
                        <a:t>3</a:t>
                      </a:r>
                      <a:r>
                        <a:rPr sz="1400" dirty="0"/>
                        <a:t>% / 5</a:t>
                      </a:r>
                      <a:r>
                        <a:rPr lang="en-US" sz="1400" dirty="0"/>
                        <a:t>6</a:t>
                      </a:r>
                      <a:r>
                        <a:rPr sz="1400" dirty="0"/>
                        <a:t>.</a:t>
                      </a:r>
                      <a:r>
                        <a:rPr lang="en-US" sz="1400" dirty="0"/>
                        <a:t>7</a:t>
                      </a:r>
                      <a:r>
                        <a:rPr sz="1400" dirty="0"/>
                        <a:t>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 dirty="0"/>
                        <a:t>Education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Primary 28% / Secondary 50% / Tertiary 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 dirty="0"/>
                        <a:t>Tech experience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Basic 62.5% / Intermediate 37.5%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Statistical power (G*Power)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 dirty="0"/>
                        <a:t>0.87 (required: 0.80)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84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5. The Intelligent Balance Assessment Skiing Game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8229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600"/>
              <a:t>Module 1:</a:t>
            </a:r>
            <a:br>
              <a:rPr sz="1600"/>
            </a:br>
            <a:r>
              <a:rPr sz="1600"/>
              <a:t>Competency</a:t>
            </a:r>
            <a:br>
              <a:rPr sz="1600"/>
            </a:br>
            <a:r>
              <a:rPr sz="1600"/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329184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Collects age, gender, self-reported balance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Single-leg standing &amp; gait stability test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Assigns initial difficulty level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• Ensures no immediate failure situation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47472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600"/>
              <a:t>Module 2:</a:t>
            </a:r>
            <a:br>
              <a:rPr sz="1600"/>
            </a:br>
            <a:r>
              <a:rPr sz="1600"/>
              <a:t>3D Game</a:t>
            </a:r>
            <a:br>
              <a:rPr sz="1600"/>
            </a:br>
            <a:r>
              <a:rPr sz="1600"/>
              <a:t>(Skiing)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240280"/>
            <a:ext cx="32918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Three.js 3D ski slope environment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Cannon.js physics engine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Foot pressure panel = game controller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= FRA measurement instrument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Real-time score, speed, balance display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Adaptive difficulty (adjusts in real-time)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Achievement badges &amp; progress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80160"/>
            <a:ext cx="34747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600"/>
              <a:t>Module 3:</a:t>
            </a:r>
            <a:br>
              <a:rPr sz="1600"/>
            </a:br>
            <a:r>
              <a:rPr sz="1600"/>
              <a:t>AI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29184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Records all sensor data at second-level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Dual capture: gameplay + clinical data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Measures failure-to-dropout time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Generates training recommendations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Supports adaptive difficulty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34841"/>
            <a:ext cx="11064240" cy="6400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KEY DESIGN: The game does NOT simulate FRA alongside measurement — it IS the FRA measurement, presented as a game.</a:t>
            </a:r>
            <a:br/>
            <a:r>
              <a:t>The foot pressure panel is both the game controller and the clinical balance measurement instrument.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842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Control Condition: Standard 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04336"/>
            <a:ext cx="10972800" cy="91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Falls Efficacy Scale-International (FES-I) + Berg Balance Scale</a:t>
            </a:r>
          </a:p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Numerical risk scores + text-based recommendations</a:t>
            </a:r>
          </a:p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Same clinical content — only presentation format and feedback differ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FEFA5-F347-D1F9-2653-4371C6E06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94" y="0"/>
            <a:ext cx="1024041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52925E-511F-F55D-F081-D46632B10429}"/>
              </a:ext>
            </a:extLst>
          </p:cNvPr>
          <p:cNvSpPr txBox="1"/>
          <p:nvPr/>
        </p:nvSpPr>
        <p:spPr>
          <a:xfrm>
            <a:off x="2689259" y="2195664"/>
            <a:ext cx="42405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3720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9B459A-50D0-E805-7F5F-8B42AEC6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8995" y="1191257"/>
            <a:ext cx="4742993" cy="225510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FC7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FBAFF01-1EA6-F09D-D4AC-FEC1157F540D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0F766-4743-6B30-A49B-DB54F83CAD8A}"/>
              </a:ext>
            </a:extLst>
          </p:cNvPr>
          <p:cNvSpPr txBox="1"/>
          <p:nvPr/>
        </p:nvSpPr>
        <p:spPr>
          <a:xfrm>
            <a:off x="548639" y="137160"/>
            <a:ext cx="12191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6 The Game Design </a:t>
            </a:r>
            <a:r>
              <a:rPr dirty="0"/>
              <a:t>— </a:t>
            </a:r>
            <a:r>
              <a:rPr lang="en-US" sz="2800" dirty="0"/>
              <a:t>Controlled by External Mouse-Liked USB Device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24B361-325E-71B2-F657-8E968C0B5A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93" b="22409"/>
          <a:stretch>
            <a:fillRect/>
          </a:stretch>
        </p:blipFill>
        <p:spPr>
          <a:xfrm>
            <a:off x="548639" y="1290484"/>
            <a:ext cx="5383527" cy="48964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297A8F-151B-C1CB-E5F5-84757C460E8F}"/>
              </a:ext>
            </a:extLst>
          </p:cNvPr>
          <p:cNvSpPr txBox="1"/>
          <p:nvPr/>
        </p:nvSpPr>
        <p:spPr>
          <a:xfrm>
            <a:off x="6385168" y="2975790"/>
            <a:ext cx="55306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ctr">
              <a:spcBef>
                <a:spcPts val="600"/>
              </a:spcBef>
              <a:spcAft>
                <a:spcPts val="600"/>
              </a:spcAft>
            </a:pPr>
            <a:r>
              <a:rPr lang="en-HK" sz="2400" dirty="0"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HK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 designed via Claude Code using natural language program (NLP) as the specification medium, with embedded automatic difficulty adjustment algorithms and a five-layer system architecture.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7304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iing_game_demo.mp4">
            <a:hlinkClick r:id="" action="ppaction://media"/>
            <a:extLst>
              <a:ext uri="{FF2B5EF4-FFF2-40B4-BE49-F238E27FC236}">
                <a16:creationId xmlns:a16="http://schemas.microsoft.com/office/drawing/2014/main" id="{A554FA13-EE16-3635-26F2-7783558F5C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5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1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6a. Clinical Outcomes: Gamified FRA vs Historical Benchmark</a:t>
            </a:r>
            <a:endParaRPr lang="en-US" sz="2133" dirty="0"/>
          </a:p>
        </p:txBody>
      </p:sp>
      <p:sp>
        <p:nvSpPr>
          <p:cNvPr id="4" name="Text 2"/>
          <p:cNvSpPr/>
          <p:nvPr/>
        </p:nvSpPr>
        <p:spPr>
          <a:xfrm>
            <a:off x="365760" y="524256"/>
            <a:ext cx="1121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 elderly participants (N=30). Historical benchmark: same facility InBody system, operational since 2014, age 60–85, N=hundreds.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28960" y="0"/>
            <a:ext cx="146304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6a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304800" y="926592"/>
            <a:ext cx="3779520" cy="365760"/>
          </a:xfrm>
          <a:prstGeom prst="rect">
            <a:avLst/>
          </a:prstGeom>
          <a:solidFill>
            <a:srgbClr val="ECEF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04800" y="926592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4108704" y="926592"/>
            <a:ext cx="268224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108704" y="926592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FRA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4108704" y="1292352"/>
            <a:ext cx="26822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participants  (N=30)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6815328" y="926592"/>
            <a:ext cx="2682240" cy="36576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815328" y="926592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FRA †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815328" y="1292352"/>
            <a:ext cx="26822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benchmark  (same facility)</a:t>
            </a:r>
            <a:endParaRPr lang="en-US" sz="1067" dirty="0"/>
          </a:p>
        </p:txBody>
      </p:sp>
      <p:sp>
        <p:nvSpPr>
          <p:cNvPr id="14" name="Shape 12"/>
          <p:cNvSpPr/>
          <p:nvPr/>
        </p:nvSpPr>
        <p:spPr>
          <a:xfrm>
            <a:off x="9521952" y="926592"/>
            <a:ext cx="2365248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521952" y="926592"/>
            <a:ext cx="2365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9521952" y="1292352"/>
            <a:ext cx="23652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rgbClr val="77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(paired / independent t-test)</a:t>
            </a:r>
            <a:endParaRPr lang="en-US" sz="1067" dirty="0"/>
          </a:p>
        </p:txBody>
      </p:sp>
      <p:sp>
        <p:nvSpPr>
          <p:cNvPr id="17" name="Shape 15"/>
          <p:cNvSpPr/>
          <p:nvPr/>
        </p:nvSpPr>
        <p:spPr>
          <a:xfrm>
            <a:off x="304800" y="1560576"/>
            <a:ext cx="3779520" cy="536448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02336" y="1560576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FRA Score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08704" y="1560576"/>
            <a:ext cx="2682240" cy="536448"/>
          </a:xfrm>
          <a:prstGeom prst="rect">
            <a:avLst/>
          </a:prstGeom>
          <a:solidFill>
            <a:srgbClr val="F5FA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4108704" y="1560576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 ± 10.9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815328" y="1560576"/>
            <a:ext cx="2682240" cy="5364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815328" y="1560576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 ± 9.7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9521952" y="1560576"/>
            <a:ext cx="2365248" cy="5364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9521952" y="1560576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0.829  (n.s.)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304800" y="2097024"/>
            <a:ext cx="3779520" cy="536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402336" y="2097024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Post-intervention Score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08704" y="2097024"/>
            <a:ext cx="2682240" cy="536448"/>
          </a:xfrm>
          <a:prstGeom prst="rect">
            <a:avLst/>
          </a:prstGeom>
          <a:solidFill>
            <a:srgbClr val="F5FA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4108704" y="2097024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47.9 ± 10.8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6815328" y="2097024"/>
            <a:ext cx="2682240" cy="5364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815328" y="2097024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 ± 10.1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9521952" y="2097024"/>
            <a:ext cx="2365248" cy="5364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9521952" y="2097024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0.872  (n.s.)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304800" y="2633472"/>
            <a:ext cx="3779520" cy="536448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402336" y="2633472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Change Score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08704" y="2633472"/>
            <a:ext cx="2682240" cy="536448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108704" y="2633472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+4.0 ± 9.5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6815328" y="2633472"/>
            <a:ext cx="2682240" cy="5364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815328" y="2633472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 ± 5.1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9521952" y="2633472"/>
            <a:ext cx="2365248" cy="536448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9521952" y="2633472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  (n.s.)</a:t>
            </a:r>
            <a:endParaRPr lang="en-US" sz="1467" dirty="0"/>
          </a:p>
        </p:txBody>
      </p:sp>
      <p:sp>
        <p:nvSpPr>
          <p:cNvPr id="41" name="Shape 39"/>
          <p:cNvSpPr/>
          <p:nvPr/>
        </p:nvSpPr>
        <p:spPr>
          <a:xfrm>
            <a:off x="304800" y="3169920"/>
            <a:ext cx="3779520" cy="536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402336" y="3169920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Size (Cohen's d)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08704" y="3169920"/>
            <a:ext cx="2682240" cy="536448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4108704" y="3169920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  (small)</a:t>
            </a:r>
            <a:endParaRPr lang="en-US" sz="1467" dirty="0"/>
          </a:p>
        </p:txBody>
      </p:sp>
      <p:sp>
        <p:nvSpPr>
          <p:cNvPr id="45" name="Shape 43"/>
          <p:cNvSpPr/>
          <p:nvPr/>
        </p:nvSpPr>
        <p:spPr>
          <a:xfrm>
            <a:off x="6815328" y="3169920"/>
            <a:ext cx="2682240" cy="536448"/>
          </a:xfrm>
          <a:prstGeom prst="rect">
            <a:avLst/>
          </a:prstGeom>
          <a:solidFill>
            <a:srgbClr val="F0FF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Text 44"/>
          <p:cNvSpPr/>
          <p:nvPr/>
        </p:nvSpPr>
        <p:spPr>
          <a:xfrm>
            <a:off x="6815328" y="3169920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  (large)</a:t>
            </a:r>
            <a:endParaRPr lang="en-US" sz="1467" dirty="0"/>
          </a:p>
        </p:txBody>
      </p:sp>
      <p:sp>
        <p:nvSpPr>
          <p:cNvPr id="47" name="Shape 45"/>
          <p:cNvSpPr/>
          <p:nvPr/>
        </p:nvSpPr>
        <p:spPr>
          <a:xfrm>
            <a:off x="9521952" y="3169920"/>
            <a:ext cx="2365248" cy="5364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46"/>
          <p:cNvSpPr/>
          <p:nvPr/>
        </p:nvSpPr>
        <p:spPr>
          <a:xfrm>
            <a:off x="9521952" y="3169920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67" dirty="0"/>
          </a:p>
        </p:txBody>
      </p:sp>
      <p:sp>
        <p:nvSpPr>
          <p:cNvPr id="49" name="Shape 47"/>
          <p:cNvSpPr/>
          <p:nvPr/>
        </p:nvSpPr>
        <p:spPr>
          <a:xfrm>
            <a:off x="304800" y="3706368"/>
            <a:ext cx="3779520" cy="536448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Text 48"/>
          <p:cNvSpPr/>
          <p:nvPr/>
        </p:nvSpPr>
        <p:spPr>
          <a:xfrm>
            <a:off x="402336" y="3706368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≥10pt Improvement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108704" y="3706368"/>
            <a:ext cx="2682240" cy="536448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Text 50"/>
          <p:cNvSpPr/>
          <p:nvPr/>
        </p:nvSpPr>
        <p:spPr>
          <a:xfrm>
            <a:off x="4108704" y="3706368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  (6/30)</a:t>
            </a:r>
            <a:endParaRPr lang="en-US" sz="1467" dirty="0"/>
          </a:p>
        </p:txBody>
      </p:sp>
      <p:sp>
        <p:nvSpPr>
          <p:cNvPr id="53" name="Shape 51"/>
          <p:cNvSpPr/>
          <p:nvPr/>
        </p:nvSpPr>
        <p:spPr>
          <a:xfrm>
            <a:off x="6815328" y="3706368"/>
            <a:ext cx="2682240" cy="536448"/>
          </a:xfrm>
          <a:prstGeom prst="rect">
            <a:avLst/>
          </a:prstGeom>
          <a:solidFill>
            <a:srgbClr val="F0FF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52"/>
          <p:cNvSpPr/>
          <p:nvPr/>
        </p:nvSpPr>
        <p:spPr>
          <a:xfrm>
            <a:off x="6815328" y="3706368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467" dirty="0"/>
          </a:p>
        </p:txBody>
      </p:sp>
      <p:sp>
        <p:nvSpPr>
          <p:cNvPr id="55" name="Shape 53"/>
          <p:cNvSpPr/>
          <p:nvPr/>
        </p:nvSpPr>
        <p:spPr>
          <a:xfrm>
            <a:off x="9521952" y="3706368"/>
            <a:ext cx="2365248" cy="536448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54"/>
          <p:cNvSpPr/>
          <p:nvPr/>
        </p:nvSpPr>
        <p:spPr>
          <a:xfrm>
            <a:off x="9521952" y="3706368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0.05</a:t>
            </a:r>
            <a:endParaRPr lang="en-US" sz="1467" dirty="0"/>
          </a:p>
        </p:txBody>
      </p:sp>
      <p:sp>
        <p:nvSpPr>
          <p:cNvPr id="57" name="Shape 55"/>
          <p:cNvSpPr/>
          <p:nvPr/>
        </p:nvSpPr>
        <p:spPr>
          <a:xfrm>
            <a:off x="304800" y="4242816"/>
            <a:ext cx="3779520" cy="536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Text 56"/>
          <p:cNvSpPr/>
          <p:nvPr/>
        </p:nvSpPr>
        <p:spPr>
          <a:xfrm>
            <a:off x="402336" y="4242816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Improvement (any)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108704" y="4242816"/>
            <a:ext cx="2682240" cy="536448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Text 58"/>
          <p:cNvSpPr/>
          <p:nvPr/>
        </p:nvSpPr>
        <p:spPr>
          <a:xfrm>
            <a:off x="4108704" y="4242816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  (20/30)</a:t>
            </a:r>
            <a:endParaRPr lang="en-US" sz="1467" dirty="0"/>
          </a:p>
        </p:txBody>
      </p:sp>
      <p:sp>
        <p:nvSpPr>
          <p:cNvPr id="61" name="Shape 59"/>
          <p:cNvSpPr/>
          <p:nvPr/>
        </p:nvSpPr>
        <p:spPr>
          <a:xfrm>
            <a:off x="6815328" y="4242816"/>
            <a:ext cx="2682240" cy="5364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Text 60"/>
          <p:cNvSpPr/>
          <p:nvPr/>
        </p:nvSpPr>
        <p:spPr>
          <a:xfrm>
            <a:off x="6815328" y="4242816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67" dirty="0"/>
          </a:p>
        </p:txBody>
      </p:sp>
      <p:sp>
        <p:nvSpPr>
          <p:cNvPr id="63" name="Shape 61"/>
          <p:cNvSpPr/>
          <p:nvPr/>
        </p:nvSpPr>
        <p:spPr>
          <a:xfrm>
            <a:off x="9521952" y="4242816"/>
            <a:ext cx="2365248" cy="5364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4" name="Text 62"/>
          <p:cNvSpPr/>
          <p:nvPr/>
        </p:nvSpPr>
        <p:spPr>
          <a:xfrm>
            <a:off x="9521952" y="4242816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67" dirty="0"/>
          </a:p>
        </p:txBody>
      </p:sp>
      <p:sp>
        <p:nvSpPr>
          <p:cNvPr id="65" name="Shape 63"/>
          <p:cNvSpPr/>
          <p:nvPr/>
        </p:nvSpPr>
        <p:spPr>
          <a:xfrm>
            <a:off x="304800" y="4779264"/>
            <a:ext cx="3779520" cy="536448"/>
          </a:xfrm>
          <a:prstGeom prst="rect">
            <a:avLst/>
          </a:prstGeom>
          <a:solidFill>
            <a:srgbClr val="F5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6" name="Text 64"/>
          <p:cNvSpPr/>
          <p:nvPr/>
        </p:nvSpPr>
        <p:spPr>
          <a:xfrm>
            <a:off x="402336" y="4779264"/>
            <a:ext cx="35844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Pre-post significance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108704" y="4779264"/>
            <a:ext cx="2682240" cy="536448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8" name="Text 66"/>
          <p:cNvSpPr/>
          <p:nvPr/>
        </p:nvSpPr>
        <p:spPr>
          <a:xfrm>
            <a:off x="4108704" y="4779264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t=2.315, p=0.028</a:t>
            </a:r>
            <a:endParaRPr lang="en-US" sz="1467" dirty="0"/>
          </a:p>
        </p:txBody>
      </p:sp>
      <p:sp>
        <p:nvSpPr>
          <p:cNvPr id="69" name="Shape 67"/>
          <p:cNvSpPr/>
          <p:nvPr/>
        </p:nvSpPr>
        <p:spPr>
          <a:xfrm>
            <a:off x="6815328" y="4779264"/>
            <a:ext cx="2682240" cy="5364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Text 68"/>
          <p:cNvSpPr/>
          <p:nvPr/>
        </p:nvSpPr>
        <p:spPr>
          <a:xfrm>
            <a:off x="6815328" y="4779264"/>
            <a:ext cx="26822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67" dirty="0"/>
          </a:p>
        </p:txBody>
      </p:sp>
      <p:sp>
        <p:nvSpPr>
          <p:cNvPr id="71" name="Shape 69"/>
          <p:cNvSpPr/>
          <p:nvPr/>
        </p:nvSpPr>
        <p:spPr>
          <a:xfrm>
            <a:off x="9521952" y="4779264"/>
            <a:ext cx="2365248" cy="536448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2" name="Text 70"/>
          <p:cNvSpPr/>
          <p:nvPr/>
        </p:nvSpPr>
        <p:spPr>
          <a:xfrm>
            <a:off x="9521952" y="4779264"/>
            <a:ext cx="2365248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467" dirty="0"/>
          </a:p>
        </p:txBody>
      </p:sp>
      <p:sp>
        <p:nvSpPr>
          <p:cNvPr id="73" name="Shape 71"/>
          <p:cNvSpPr/>
          <p:nvPr/>
        </p:nvSpPr>
        <p:spPr>
          <a:xfrm>
            <a:off x="304800" y="5388864"/>
            <a:ext cx="11582400" cy="9265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4" name="Text 72"/>
          <p:cNvSpPr/>
          <p:nvPr/>
        </p:nvSpPr>
        <p:spPr>
          <a:xfrm>
            <a:off x="426720" y="5413248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population level (N=30), gamified FRA produced the same clinical outcome as 10 years of standard FRA at the same facility (change: +4.0 vs +4.2, p=0.925). </a:t>
            </a:r>
            <a:r>
              <a:rPr lang="en-US" sz="14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because gamification fails — </a:t>
            </a: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dropped out after first failure, cancelling all clinical benefit.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FIDS did not just cause dropout. It eliminated the clinical value of the intervention at scale.</a:t>
            </a:r>
            <a:endParaRPr lang="en-US" sz="1467" dirty="0"/>
          </a:p>
        </p:txBody>
      </p:sp>
      <p:sp>
        <p:nvSpPr>
          <p:cNvPr id="75" name="Text 73"/>
          <p:cNvSpPr/>
          <p:nvPr/>
        </p:nvSpPr>
        <p:spPr>
          <a:xfrm>
            <a:off x="304800" y="6412992"/>
            <a:ext cx="11582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  Historical comparator: </a:t>
            </a:r>
            <a:r>
              <a:rPr lang="en-US" sz="1133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InBody FRA system at same facility, operational since 2014. Same equipment, site &amp; elderly population (age 60–85), N=hundreds over 10+ years. Summary statistics compiled by InBody engineers at researcher's request.</a:t>
            </a:r>
            <a:endParaRPr lang="en-US" sz="1133" dirty="0"/>
          </a:p>
        </p:txBody>
      </p:sp>
      <p:sp>
        <p:nvSpPr>
          <p:cNvPr id="76" name="Text 7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</a:t>
            </a:r>
            <a:endParaRPr lang="en-US" sz="1067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CAD8E0F-ACD9-9DDB-CD14-5898A43F36FD}"/>
              </a:ext>
            </a:extLst>
          </p:cNvPr>
          <p:cNvSpPr/>
          <p:nvPr/>
        </p:nvSpPr>
        <p:spPr>
          <a:xfrm>
            <a:off x="365760" y="2633472"/>
            <a:ext cx="11521440" cy="536448"/>
          </a:xfrm>
          <a:prstGeom prst="rect">
            <a:avLst/>
          </a:prstGeom>
          <a:solidFill>
            <a:schemeClr val="accent6">
              <a:lumMod val="60000"/>
              <a:lumOff val="40000"/>
              <a:alpha val="20878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718AA28-B113-170A-54C8-8A8D7CACC271}"/>
              </a:ext>
            </a:extLst>
          </p:cNvPr>
          <p:cNvSpPr/>
          <p:nvPr/>
        </p:nvSpPr>
        <p:spPr>
          <a:xfrm>
            <a:off x="402336" y="4279392"/>
            <a:ext cx="6272784" cy="536448"/>
          </a:xfrm>
          <a:prstGeom prst="rect">
            <a:avLst/>
          </a:prstGeom>
          <a:solidFill>
            <a:schemeClr val="accent6">
              <a:lumMod val="60000"/>
              <a:lumOff val="40000"/>
              <a:alpha val="20878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6b. Key Findings — FIDS Persisted Despite 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Dropout Pattern Under Gamified Condition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58587"/>
              </p:ext>
            </p:extLst>
          </p:nvPr>
        </p:nvGraphicFramePr>
        <p:xfrm>
          <a:off x="548640" y="173736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 dirty="0"/>
                        <a:t>Dropout Measure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Value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Meaning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C00000"/>
                          </a:solidFill>
                        </a:rPr>
                        <a:t>Dropped out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 dirty="0"/>
                        <a:t>74% (22/30)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Majority abandoned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Median: failure to last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18.4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Dropout is rapid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Never returned after failure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 dirty="0"/>
                        <a:t>41%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Nearly half quit same cycle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Re-engaged after 1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Abandonment is permanent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Sustained re-engagement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0%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 dropout recovered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280160"/>
            <a:ext cx="4663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Cox Proportional Hazards Model (N = 30)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457914"/>
              </p:ext>
            </p:extLst>
          </p:nvPr>
        </p:nvGraphicFramePr>
        <p:xfrm>
          <a:off x="6858000" y="173736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Predictor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HR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95% CI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p-value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 dirty="0"/>
                        <a:t>First failure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3.24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1.89-5.56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&lt;0.001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Gamified (vs std)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1.82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1.12-2.96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400"/>
                        <a:t>0.015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Age (per 10 yrs)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1.15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0.94-1.41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7F8C8D"/>
                          </a:solidFill>
                          <a:latin typeface="Calibri"/>
                        </a:defRPr>
                      </a:pPr>
                      <a:r>
                        <a:rPr sz="1400"/>
                        <a:t>0.174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Gender (female)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0.71-1.64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7F8C8D"/>
                          </a:solidFill>
                          <a:latin typeface="Calibri"/>
                        </a:defRPr>
                      </a:pPr>
                      <a:r>
                        <a:rPr sz="1400"/>
                        <a:t>0.721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Education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0.76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0.43-1.34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7F8C8D"/>
                          </a:solidFill>
                          <a:latin typeface="Calibri"/>
                        </a:defRPr>
                      </a:pPr>
                      <a:r>
                        <a:rPr sz="1400"/>
                        <a:t>0.342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Tech experience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400"/>
                        <a:t>0.41-1.13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7F8C8D"/>
                          </a:solidFill>
                          <a:latin typeface="Calibri"/>
                        </a:defRPr>
                      </a:pPr>
                      <a:r>
                        <a:rPr sz="1400" dirty="0"/>
                        <a:t>0.136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297680"/>
            <a:ext cx="11064240" cy="10058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93149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rPr sz="1600" dirty="0"/>
              <a:t>CENTRAL FINDING: First failure experience = 3.24x higher risk of dropout (p &lt; 0.001)</a:t>
            </a:r>
            <a:br>
              <a:rPr sz="1600" dirty="0"/>
            </a:br>
            <a:r>
              <a:rPr sz="1600" dirty="0"/>
              <a:t>No other variable (age, gender, education, tech experience) was significant.</a:t>
            </a:r>
            <a:br>
              <a:rPr sz="1600" dirty="0"/>
            </a:br>
            <a:r>
              <a:rPr sz="1600" dirty="0"/>
              <a:t>The game changed the SURFACE experience. It did NOT change the PSYCHOLOGICAL response to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B3A5C"/>
                </a:solidFill>
                <a:latin typeface="Calibri"/>
              </a:defRPr>
            </a:pPr>
            <a:r>
              <a:rPr sz="1600" dirty="0"/>
              <a:t>Prospect Theory Explanation: Loss of confidence, self-image, composure is IMMEDIATE and PERSONAL.</a:t>
            </a:r>
            <a:br>
              <a:rPr sz="1600" dirty="0"/>
            </a:br>
            <a:r>
              <a:rPr sz="1600" dirty="0"/>
              <a:t>Potential gain (better balance, reduced fall risk) is real but DISTANT. Loss aversion predicts abandonment.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6c. The Gamification Paradox — Why Did the Game Increase Dropout?</a:t>
            </a:r>
            <a:endParaRPr lang="en-US" sz="22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463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6c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304800" y="1036320"/>
            <a:ext cx="5364480" cy="1341120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04800" y="1036320"/>
            <a:ext cx="85344" cy="13411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12064" y="1072896"/>
            <a:ext cx="5059680" cy="1267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IMPROVED Clinical Outcomes</a:t>
            </a:r>
            <a:endParaRPr lang="en-US" sz="1600" dirty="0"/>
          </a:p>
          <a:p>
            <a:r>
              <a:rPr lang="en-US" sz="1467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size Cohen's d = 0.42 (small)</a:t>
            </a:r>
            <a:endParaRPr lang="en-US" sz="1600" dirty="0"/>
          </a:p>
          <a:p>
            <a:r>
              <a:rPr lang="en-US" sz="1400" dirty="0">
                <a:solidFill>
                  <a:srgbClr val="388E3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66.7% any balance improvement  |  p = 0.028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8" name="Shape 6"/>
          <p:cNvSpPr/>
          <p:nvPr/>
        </p:nvSpPr>
        <p:spPr>
          <a:xfrm>
            <a:off x="6522720" y="1036320"/>
            <a:ext cx="5364480" cy="134112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522720" y="1036320"/>
            <a:ext cx="85344" cy="1341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729984" y="1072896"/>
            <a:ext cx="5059680" cy="1267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INCREASED Dropout Risk</a:t>
            </a:r>
            <a:endParaRPr lang="en-US" sz="1600" dirty="0"/>
          </a:p>
          <a:p>
            <a:r>
              <a:rPr lang="en-US" sz="1467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 HR = 1.82  (95% CI: 1.12–2.96,  p = 0.015)</a:t>
            </a:r>
            <a:endParaRPr lang="en-US" sz="1600" dirty="0"/>
          </a:p>
          <a:p>
            <a:r>
              <a:rPr lang="en-US" sz="1400" dirty="0">
                <a:solidFill>
                  <a:srgbClr val="D32F2F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74% dropped out despite the game  |  0% recovered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54624" y="1316736"/>
            <a:ext cx="682752" cy="8534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754624" y="1316736"/>
            <a:ext cx="682752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800" y="2535936"/>
            <a:ext cx="1158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— Three Theoretical Explanations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304800" y="2901696"/>
            <a:ext cx="11582400" cy="0"/>
          </a:xfrm>
          <a:prstGeom prst="line">
            <a:avLst/>
          </a:prstGeom>
          <a:noFill/>
          <a:ln w="1524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304800" y="2950464"/>
            <a:ext cx="36576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304800" y="2950464"/>
            <a:ext cx="3657600" cy="31699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02336" y="2950464"/>
            <a:ext cx="35112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Theory  (Kahneman, 1979)</a:t>
            </a:r>
            <a:endParaRPr lang="en-US" sz="1133" dirty="0"/>
          </a:p>
        </p:txBody>
      </p:sp>
      <p:sp>
        <p:nvSpPr>
          <p:cNvPr id="18" name="Text 16"/>
          <p:cNvSpPr/>
          <p:nvPr/>
        </p:nvSpPr>
        <p:spPr>
          <a:xfrm>
            <a:off x="426720" y="3316224"/>
            <a:ext cx="341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Created a New 'Reference Point'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426720" y="3779520"/>
            <a:ext cx="34137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FRA gives a number. The game creates an expectation: 'I should be able to do this.'</a:t>
            </a:r>
            <a:endParaRPr lang="en-US" sz="1200" dirty="0"/>
          </a:p>
          <a:p>
            <a:r>
              <a:rPr lang="en-US" sz="5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in-game failure is measured against that expectation — a visible, personal loss, not an abstract score.</a:t>
            </a:r>
            <a:endParaRPr lang="en-US" sz="1200" dirty="0"/>
          </a:p>
          <a:p>
            <a:r>
              <a:rPr lang="en-US" sz="5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r>
              <a:rPr lang="en-US" sz="1200" i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aversion means this new reference point makes each failure feel heavier than before.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7200" y="2950464"/>
            <a:ext cx="36576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267200" y="2950464"/>
            <a:ext cx="3657600" cy="3169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364736" y="2950464"/>
            <a:ext cx="35112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Bandura's Self-Efficacy  (1977)</a:t>
            </a:r>
            <a:endParaRPr lang="en-US" sz="1133" dirty="0"/>
          </a:p>
        </p:txBody>
      </p:sp>
      <p:sp>
        <p:nvSpPr>
          <p:cNvPr id="23" name="Text 21"/>
          <p:cNvSpPr/>
          <p:nvPr/>
        </p:nvSpPr>
        <p:spPr>
          <a:xfrm>
            <a:off x="4389120" y="3316224"/>
            <a:ext cx="341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Falls Mirror Real-Life Fear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4389120" y="3779520"/>
            <a:ext cx="34137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standard FRA, a poor result is attributed to 'the test is hard.'</a:t>
            </a:r>
            <a:endParaRPr lang="en-US" sz="1200" dirty="0"/>
          </a:p>
          <a:p>
            <a:r>
              <a:rPr lang="en-US" sz="5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skiing game, you literally fall on screen. Elderly users whose deepest fear is falling experience this as personally confirming.</a:t>
            </a:r>
            <a:endParaRPr lang="en-US" sz="1200" dirty="0"/>
          </a:p>
          <a:p>
            <a:r>
              <a:rPr lang="en-US" sz="5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r>
              <a:rPr lang="en-US" sz="1200" i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fell in the game' → 'I am a fall risk' — attribution is immediate and self-directed.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2950464"/>
            <a:ext cx="36576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8431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8229600" y="2950464"/>
            <a:ext cx="3657600" cy="316992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8327136" y="2950464"/>
            <a:ext cx="35112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Octalysis Framework — Drive 8  (Chou, 2015)</a:t>
            </a:r>
            <a:endParaRPr lang="en-US" sz="1133" dirty="0"/>
          </a:p>
        </p:txBody>
      </p:sp>
      <p:sp>
        <p:nvSpPr>
          <p:cNvPr id="28" name="Text 26"/>
          <p:cNvSpPr/>
          <p:nvPr/>
        </p:nvSpPr>
        <p:spPr>
          <a:xfrm>
            <a:off x="8351520" y="3316224"/>
            <a:ext cx="341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8 Became a Reason to Quit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8351520" y="3779520"/>
            <a:ext cx="34137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8 (Loss &amp; Avoidance) motivates users to protect what they have accumulated.</a:t>
            </a:r>
            <a:endParaRPr lang="en-US" sz="1200" dirty="0"/>
          </a:p>
          <a:p>
            <a:r>
              <a:rPr lang="en-US" sz="5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elderly users have no in-game progress to protect. Their only asset is self-image.</a:t>
            </a:r>
            <a:endParaRPr lang="en-US" sz="1200" dirty="0"/>
          </a:p>
          <a:p>
            <a:r>
              <a:rPr lang="en-US" sz="5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r>
              <a:rPr lang="en-US" sz="12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protect self-image from further damage, the rational response is to stop playing. Drive 8 became a dropout driver, not an engagement driver.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800" y="6169152"/>
            <a:ext cx="11582400" cy="5608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87680" y="6169152"/>
            <a:ext cx="113385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3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raised the emotional stakes of failure without preventing failure. It changed the surface experience. It did not change — and may have deepened — the psychological response.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</a:t>
            </a:r>
            <a:endParaRPr lang="en-US" sz="106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"Learning is Earning" — The Most Actionable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sz="2400"/>
              <a:t>Motivational Orientation: The Decisive Factor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067098"/>
              </p:ext>
            </p:extLst>
          </p:nvPr>
        </p:nvGraphicFramePr>
        <p:xfrm>
          <a:off x="548640" y="17373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 dirty="0"/>
                        <a:t>Orientation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Sustained Engagement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600"/>
                        <a:t>Clinical Improvement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sz="1800"/>
                        <a:t>Learning-focused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sz="1800"/>
                        <a:t>8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sz="1800"/>
                        <a:t>87.5% (7/8)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sz="1800"/>
                        <a:t>85.7% (6/7)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800" dirty="0"/>
                        <a:t>Health-deficit-focused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800"/>
                        <a:t>22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800"/>
                        <a:t>18.2% (4/22)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rPr sz="1800" dirty="0"/>
                        <a:t>50.0% (2/4)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087757" y="2990315"/>
            <a:ext cx="6387547" cy="9416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19" y="3127248"/>
            <a:ext cx="5443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Odds Ratio = 35.0 (95% CI: 5.8 - 211.2)  |  87.5% vs 18.2% sustained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"Learning is Earning" in Elderly Communities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89120"/>
            <a:ext cx="5029200" cy="18288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rPr sz="1600"/>
              <a:t>"I am LEARNING a new skill"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89296"/>
            <a:ext cx="45720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27AE60"/>
                </a:solidFill>
                <a:latin typeface="Calibri"/>
              </a:defRPr>
            </a:pPr>
            <a:r>
              <a:rPr sz="1400" dirty="0"/>
              <a:t>• Each session = opportunity to improve</a:t>
            </a:r>
          </a:p>
          <a:p>
            <a:pPr>
              <a:spcAft>
                <a:spcPts val="719"/>
              </a:spcAft>
              <a:defRPr sz="1200">
                <a:solidFill>
                  <a:srgbClr val="27AE60"/>
                </a:solidFill>
                <a:latin typeface="Calibri"/>
              </a:defRPr>
            </a:pPr>
            <a:r>
              <a:rPr sz="1400" dirty="0"/>
              <a:t>• Failure = part of the learning process</a:t>
            </a:r>
          </a:p>
          <a:p>
            <a:pPr>
              <a:spcAft>
                <a:spcPts val="719"/>
              </a:spcAft>
              <a:defRPr sz="1200">
                <a:solidFill>
                  <a:srgbClr val="27AE60"/>
                </a:solidFill>
                <a:latin typeface="Calibri"/>
              </a:defRPr>
            </a:pPr>
            <a:r>
              <a:rPr sz="1400" dirty="0"/>
              <a:t>• Reduces emotional weight of individual failures</a:t>
            </a:r>
          </a:p>
          <a:p>
            <a:pPr>
              <a:spcAft>
                <a:spcPts val="719"/>
              </a:spcAft>
              <a:defRPr sz="1200">
                <a:solidFill>
                  <a:srgbClr val="27AE60"/>
                </a:solidFill>
                <a:latin typeface="Calibri"/>
              </a:defRPr>
            </a:pPr>
            <a:r>
              <a:rPr sz="1400" dirty="0"/>
              <a:t>• Builds self-efficacy through mastery framing</a:t>
            </a:r>
          </a:p>
          <a:p>
            <a:pPr>
              <a:spcAft>
                <a:spcPts val="719"/>
              </a:spcAft>
              <a:defRPr sz="1200">
                <a:solidFill>
                  <a:srgbClr val="27AE60"/>
                </a:solidFill>
                <a:latin typeface="Calibri"/>
              </a:defRPr>
            </a:pPr>
            <a:r>
              <a:rPr sz="1400" dirty="0"/>
              <a:t>• Aligns with Bandura: mastery framing &gt; deficit framing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389120"/>
            <a:ext cx="5394960" cy="1828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400800" y="443484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rPr sz="1600"/>
              <a:t>"I am FAILING a health assessment"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89296"/>
            <a:ext cx="484632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• Each session = test of declining ability</a:t>
            </a:r>
          </a:p>
          <a:p>
            <a:pPr>
              <a:spcAft>
                <a:spcPts val="719"/>
              </a:spcAft>
              <a:defRPr sz="12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• Failure = confirmation of age-related inadequacy</a:t>
            </a:r>
          </a:p>
          <a:p>
            <a:pPr>
              <a:spcAft>
                <a:spcPts val="719"/>
              </a:spcAft>
              <a:defRPr sz="12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• Amplifies emotional impact of every mistake</a:t>
            </a:r>
          </a:p>
          <a:p>
            <a:pPr>
              <a:spcAft>
                <a:spcPts val="719"/>
              </a:spcAft>
              <a:defRPr sz="12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• Destroys self-efficacy — "I am too old"</a:t>
            </a:r>
          </a:p>
          <a:p>
            <a:pPr>
              <a:spcAft>
                <a:spcPts val="719"/>
              </a:spcAft>
              <a:defRPr sz="1200">
                <a:solidFill>
                  <a:srgbClr val="C0392B"/>
                </a:solidFill>
                <a:latin typeface="Calibri"/>
              </a:defRPr>
            </a:pPr>
            <a:r>
              <a:rPr sz="1400" dirty="0"/>
              <a:t>• Triggers loss aversion (Prospect Theory)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7b. "Learning is Earning" — Practical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What This Means for Elderly Communities</a:t>
            </a:r>
            <a:r>
              <a:rPr lang="en-US" dirty="0"/>
              <a:t> (By Questionnaires and Instant Interview after Game)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48640" y="1727862"/>
            <a:ext cx="265176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1. Failure-Sensitive</a:t>
            </a:r>
            <a:br>
              <a:rPr sz="1600"/>
            </a:br>
            <a:r>
              <a:rPr sz="1600"/>
              <a:t>Game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6814"/>
            <a:ext cx="278892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Detect conditions BEFORE failure occurs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Adjust difficulty before user encounters failure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AI-driven predictive obstacle placement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 dirty="0"/>
              <a:t>• Keep user in achievable challenge 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27862"/>
            <a:ext cx="265176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2. Learning-Oriented</a:t>
            </a:r>
            <a:br>
              <a:rPr sz="1600"/>
            </a:br>
            <a:r>
              <a:rPr sz="1600"/>
              <a:t>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486814"/>
            <a:ext cx="278892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Build 'learning' orientation into onboarding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Language: 'skill building' not 'health test'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Earning = acquiring new capability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Structure: Introduction protocol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27862"/>
            <a:ext cx="265176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3. Age-Sensitive</a:t>
            </a:r>
            <a:br>
              <a:rPr sz="1600"/>
            </a:br>
            <a:r>
              <a:rPr sz="1600"/>
              <a:t>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86814"/>
            <a:ext cx="278892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Redesign feedback for elderly context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'Try again' may read as 'you failed again'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Non-stigmatising, encouraging language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Frame progress, not deficiency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727862"/>
            <a:ext cx="265176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4. Cooperative</a:t>
            </a:r>
            <a:br>
              <a:rPr sz="1600"/>
            </a:br>
            <a:r>
              <a:rPr sz="1600"/>
              <a:t>Social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486814"/>
            <a:ext cx="278892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Remove competitive leaderboards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Replace with shared community progress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Peer connection, not peer ranking</a:t>
            </a:r>
          </a:p>
          <a:p>
            <a:pPr>
              <a:spcAft>
                <a:spcPts val="66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rPr sz="1400"/>
              <a:t>• Drive 5 positive, not 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1064240" cy="1874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"LEARNING IS EARNING" PHILOSOPHY FOR ELDERLY COMMUNITIES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01402"/>
            <a:ext cx="105156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rPr sz="1400" dirty="0"/>
              <a:t>1. EARNING Health: Each game session builds measurable balance ability (clinical d = 0.42, p=0.028)</a:t>
            </a:r>
          </a:p>
          <a:p>
            <a:pPr>
              <a:spcAft>
                <a:spcPts val="78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rPr sz="1400" dirty="0"/>
              <a:t>2. EARNING Confidence: Learning framing protects self-efficacy from failure damage</a:t>
            </a:r>
          </a:p>
          <a:p>
            <a:pPr>
              <a:spcAft>
                <a:spcPts val="78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rPr sz="1400" dirty="0"/>
              <a:t>3. EARNING Independence: Better balance = fewer falls = longer independent living</a:t>
            </a:r>
          </a:p>
          <a:p>
            <a:pPr>
              <a:spcAft>
                <a:spcPts val="78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rPr sz="1400" dirty="0"/>
              <a:t>4. EARNING Community: Skill-learning connects peers through shared progress, not competition</a:t>
            </a:r>
          </a:p>
          <a:p>
            <a:pPr>
              <a:spcAft>
                <a:spcPts val="78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rPr sz="1400" dirty="0"/>
              <a:t>5. EARNING Evidence: Every session generates clinical data — learning = health data collection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Contributions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524781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For Researchers (Theoretical Contribution)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0540"/>
            <a:ext cx="5753623" cy="4189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FIDS hypothesis — names a previously unnamed phenomenon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</a:t>
            </a:r>
            <a:r>
              <a:rPr sz="2000" b="1" dirty="0"/>
              <a:t>Identifies theoretical gap across TAM, STAM, UTAUT, and Octalysis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</a:t>
            </a:r>
            <a:r>
              <a:rPr sz="2000" b="1" dirty="0"/>
              <a:t>First study to apply Prospect Theory + Self-Efficacy to elderly FRA dropout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</a:t>
            </a:r>
            <a:r>
              <a:rPr sz="2000" b="1" dirty="0"/>
              <a:t>Proposes need for elderly-specific technology acceptance framework</a:t>
            </a:r>
            <a:r>
              <a:rPr lang="en-US" sz="2000" b="1" dirty="0"/>
              <a:t> </a:t>
            </a:r>
            <a:r>
              <a:rPr sz="2000" b="1" dirty="0"/>
              <a:t>that incorporates failure response constructs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Learning vs. deficit framing (OR = 35.0) as design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6060" y="1524781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For Healthcare Providers (Practical)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6060" y="1890541"/>
            <a:ext cx="5208740" cy="33346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780"/>
              </a:spcAft>
              <a:buFont typeface="Arial" panose="020B0604020202020204" pitchFamily="34" charset="0"/>
              <a:buChar char="•"/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Evaluate FRA systems on clinical improvement, not engagement alone</a:t>
            </a:r>
          </a:p>
          <a:p>
            <a:pPr marL="342900" indent="-342900">
              <a:spcAft>
                <a:spcPts val="780"/>
              </a:spcAft>
              <a:buFont typeface="Arial" panose="020B0604020202020204" pitchFamily="34" charset="0"/>
              <a:buChar char="•"/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Early failure within that window permanently closes health opportunity</a:t>
            </a:r>
          </a:p>
          <a:p>
            <a:pPr marL="342900" indent="-342900">
              <a:spcAft>
                <a:spcPts val="780"/>
              </a:spcAft>
              <a:buFont typeface="Arial" panose="020B0604020202020204" pitchFamily="34" charset="0"/>
              <a:buChar char="•"/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Staff training: monitor for early struggle, intervene before abandonment</a:t>
            </a:r>
          </a:p>
          <a:p>
            <a:pPr marL="342900" indent="-342900">
              <a:spcAft>
                <a:spcPts val="780"/>
              </a:spcAft>
              <a:buFont typeface="Arial" panose="020B0604020202020204" pitchFamily="34" charset="0"/>
              <a:buChar char="•"/>
              <a:defRPr sz="13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Present FRA as "skill-learning" not "health screening test"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6314" y="108595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Acknowledged Limitations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297800"/>
              </p:ext>
            </p:extLst>
          </p:nvPr>
        </p:nvGraphicFramePr>
        <p:xfrm>
          <a:off x="446314" y="1486554"/>
          <a:ext cx="5514703" cy="4850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39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700" dirty="0"/>
                        <a:t>Limitation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700"/>
                        <a:t>Detail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61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rPr sz="1700"/>
                        <a:t>Sample size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N=30 (elderly cohort), sufficient for 80% power but small for generalisation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61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rPr sz="1700"/>
                        <a:t>Age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62-84 years; elderly-only cohort. Subgroup analysis by age group recommended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61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rPr sz="1700"/>
                        <a:t>Single site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Guangzhou only; not tested in other cultures/geographies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61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rPr sz="1700" dirty="0"/>
                        <a:t>FIDS = hypothesis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Not yet confirmed through controlled </a:t>
                      </a:r>
                      <a:r>
                        <a:rPr lang="en-US" sz="1700" dirty="0"/>
                        <a:t>Learning </a:t>
                      </a:r>
                      <a:r>
                        <a:rPr sz="1700" dirty="0"/>
                        <a:t>vs </a:t>
                      </a:r>
                      <a:r>
                        <a:rPr lang="en-US" sz="1700" dirty="0"/>
                        <a:t>Health-Deficit</a:t>
                      </a:r>
                      <a:r>
                        <a:rPr sz="1700" dirty="0"/>
                        <a:t> comparison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61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rPr sz="1700"/>
                        <a:t>AI features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Intelligent terrain, predictive placement not yet fully operational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27151" y="1098677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Future Research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0786" y="1570590"/>
            <a:ext cx="5514703" cy="4167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Priority Next Steps:</a:t>
            </a:r>
          </a:p>
          <a:p>
            <a:pPr marL="342900" indent="-342900">
              <a:spcAft>
                <a:spcPts val="719"/>
              </a:spcAft>
              <a:buFont typeface="+mj-lt"/>
              <a:buAutoNum type="arabicPeriod"/>
              <a:defRPr sz="1200">
                <a:solidFill>
                  <a:srgbClr val="000000"/>
                </a:solidFill>
                <a:latin typeface="Calibri"/>
              </a:defRPr>
            </a:pPr>
            <a:r>
              <a:rPr lang="en-HK" sz="1600" b="1" dirty="0"/>
              <a:t>Longitudinal study: Range-based Questionnaire to find out the semantic differentials of Dropout Syndrome </a:t>
            </a:r>
          </a:p>
          <a:p>
            <a:pPr marL="342900" indent="-342900">
              <a:spcAft>
                <a:spcPts val="719"/>
              </a:spcAft>
              <a:buFont typeface="+mj-lt"/>
              <a:buAutoNum type="arabicPeriod"/>
              <a:defRPr sz="1200">
                <a:solidFill>
                  <a:srgbClr val="000000"/>
                </a:solidFill>
                <a:latin typeface="Calibri"/>
              </a:defRPr>
            </a:pPr>
            <a:r>
              <a:rPr sz="1600" b="1" dirty="0"/>
              <a:t>Subgroup analysis by </a:t>
            </a:r>
            <a:r>
              <a:rPr lang="en-US" sz="1600" b="1" dirty="0"/>
              <a:t>the ranged FIDS</a:t>
            </a:r>
            <a:r>
              <a:rPr lang="en-US" b="1" dirty="0"/>
              <a:t>+</a:t>
            </a:r>
            <a:r>
              <a:rPr lang="en-US" sz="1600" b="1" dirty="0"/>
              <a:t> the Longitudinal Study; Distinguish Learning vs Health-Deficit Focus Groups</a:t>
            </a:r>
          </a:p>
          <a:p>
            <a:pPr marL="342900" indent="-342900">
              <a:spcAft>
                <a:spcPts val="719"/>
              </a:spcAft>
              <a:buFont typeface="+mj-lt"/>
              <a:buAutoNum type="arabicPeriod"/>
              <a:defRPr sz="1200">
                <a:solidFill>
                  <a:srgbClr val="000000"/>
                </a:solidFill>
                <a:latin typeface="Calibri"/>
              </a:defRPr>
            </a:pPr>
            <a:r>
              <a:rPr lang="en-US" sz="1600" dirty="0"/>
              <a:t>Enhance</a:t>
            </a:r>
            <a:r>
              <a:rPr sz="1600" dirty="0"/>
              <a:t> AI module: </a:t>
            </a:r>
            <a:r>
              <a:rPr lang="en-US" sz="1600" dirty="0"/>
              <a:t>Improve the </a:t>
            </a:r>
            <a:r>
              <a:rPr sz="1600" dirty="0"/>
              <a:t>predictive terrain, </a:t>
            </a:r>
            <a:r>
              <a:rPr lang="en-US" sz="1600" dirty="0"/>
              <a:t>use </a:t>
            </a:r>
            <a:r>
              <a:rPr sz="1600" dirty="0"/>
              <a:t>NLP </a:t>
            </a:r>
            <a:r>
              <a:rPr lang="en-US" sz="1600" dirty="0"/>
              <a:t>to manage player’s </a:t>
            </a:r>
            <a:r>
              <a:rPr sz="1600" dirty="0"/>
              <a:t>feedback</a:t>
            </a:r>
            <a:endParaRPr lang="en-HK" sz="1600" dirty="0"/>
          </a:p>
          <a:p>
            <a:pPr>
              <a:spcAft>
                <a:spcPts val="719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rPr lang="en-HK" sz="1600" dirty="0"/>
              <a:t>Future Design Enhancement:</a:t>
            </a:r>
          </a:p>
          <a:p>
            <a:pPr marL="342900" indent="-342900">
              <a:spcAft>
                <a:spcPts val="719"/>
              </a:spcAft>
              <a:buFont typeface="+mj-lt"/>
              <a:buAutoNum type="arabicPeriod"/>
              <a:defRPr sz="12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 Test failure-sensitive mechanics (predict &amp; prevent, not react)</a:t>
            </a:r>
            <a:endParaRPr lang="en-US" sz="1600" dirty="0"/>
          </a:p>
          <a:p>
            <a:pPr marL="342900" indent="-342900">
              <a:spcAft>
                <a:spcPts val="719"/>
              </a:spcAft>
              <a:buFont typeface="+mj-lt"/>
              <a:buAutoNum type="arabicPeriod"/>
              <a:defRPr sz="1200">
                <a:solidFill>
                  <a:srgbClr val="000000"/>
                </a:solidFill>
                <a:latin typeface="Calibri"/>
              </a:defRPr>
            </a:pPr>
            <a:r>
              <a:rPr lang="en-HK" sz="1600" dirty="0"/>
              <a:t>T</a:t>
            </a:r>
            <a:r>
              <a:rPr sz="1600" dirty="0"/>
              <a:t>est learning-oriented onboarding protocol vs standard introduction</a:t>
            </a:r>
            <a:endParaRPr lang="en-US" sz="1600" dirty="0"/>
          </a:p>
          <a:p>
            <a:pPr marL="342900" indent="-342900">
              <a:spcAft>
                <a:spcPts val="719"/>
              </a:spcAft>
              <a:buFont typeface="+mj-lt"/>
              <a:buAutoNum type="arabicPeriod"/>
              <a:defRPr sz="12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Develop elderly-specific technology acceptance framework with failure constructs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45BCB4-DC4D-4CDF-805B-17BD2526E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60443"/>
              </p:ext>
            </p:extLst>
          </p:nvPr>
        </p:nvGraphicFramePr>
        <p:xfrm>
          <a:off x="541025" y="1794328"/>
          <a:ext cx="11405551" cy="4616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0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Component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Status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Note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1800" dirty="0"/>
                        <a:t>Conference Attended October 2025 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lang="en-HK" sz="1800" dirty="0"/>
                        <a:t>Completed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HK" sz="1800" dirty="0"/>
                        <a:t>Presented the concept of gamification in FRA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66731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/>
                        <a:t>Part 1: Critical Review (TAM, Octalysis, FIDS)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lang="en-HK" sz="1800" dirty="0"/>
                        <a:t>Ready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To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Publish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Submitted to ICMSS 2026</a:t>
                      </a:r>
                      <a:r>
                        <a:rPr lang="en-US" sz="1800" dirty="0"/>
                        <a:t> in February 2026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1800" dirty="0"/>
                        <a:t>Final Works: 4 to 6 weeks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lang="en-US" sz="1800" dirty="0"/>
                        <a:t>In Process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HK" sz="1800" b="0" dirty="0"/>
                        <a:t>Longitudinal study: </a:t>
                      </a:r>
                      <a:r>
                        <a:rPr lang="en-HK" sz="1800" b="0" dirty="0" err="1"/>
                        <a:t>ByRange</a:t>
                      </a:r>
                      <a:r>
                        <a:rPr lang="en-HK" sz="1800" b="0" dirty="0"/>
                        <a:t>-based Questionnaire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HK" sz="1800" b="0" dirty="0"/>
                        <a:t>Subgroup analysis by the ranged FIDS+ the Longitudinal Study</a:t>
                      </a:r>
                      <a:endParaRPr sz="1800" b="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66933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Part 2: Methodology, Game Design, Pilot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rPr lang="en-HK" sz="1800" dirty="0"/>
                        <a:t>In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Process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1800" dirty="0"/>
                        <a:t>Ready for submission. 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April 2026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Final Thesis 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rPr lang="en-HK" sz="1800" dirty="0"/>
                        <a:t>In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Process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GB" sz="1800" dirty="0"/>
                        <a:t>Preparing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GB" altLang="zh-CN" sz="1800" dirty="0"/>
                        <a:t>for submission – June 2026</a:t>
                      </a:r>
                      <a:endParaRPr sz="1800" dirty="0"/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F</a:t>
                      </a:r>
                      <a:r>
                        <a:rPr lang="en-GB" sz="1800" dirty="0"/>
                        <a:t>inal Thesis Defence 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8C8D"/>
                          </a:solidFill>
                          <a:latin typeface="Calibri"/>
                        </a:defRPr>
                      </a:pPr>
                      <a:r>
                        <a:rPr lang="en-GB" sz="1800" dirty="0"/>
                        <a:t>Open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GB" sz="1800" dirty="0"/>
                        <a:t>Q3 or Q4 2026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9187A8-7A6A-098B-E0EB-DAEBA90456DD}"/>
              </a:ext>
            </a:extLst>
          </p:cNvPr>
          <p:cNvSpPr txBox="1"/>
          <p:nvPr/>
        </p:nvSpPr>
        <p:spPr>
          <a:xfrm>
            <a:off x="397252" y="114300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sz="3200" dirty="0"/>
              <a:t>Thesis Completion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974A5D-780E-5CE0-FA8D-3B7C062FD1D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55706-9A77-DB8B-95A6-382F71F2BD0F}"/>
              </a:ext>
            </a:extLst>
          </p:cNvPr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9. Limitations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3158699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Summary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This Research in Key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23444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234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residents surveyed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645920"/>
            <a:ext cx="123444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61%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331720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never used FRA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123444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 dirty="0"/>
              <a:t>3</a:t>
            </a:r>
            <a:r>
              <a:rPr lang="en-US" sz="2400" dirty="0"/>
              <a:t>0</a:t>
            </a:r>
            <a:endParaRPr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383280" y="2331720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pilot participants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645920"/>
            <a:ext cx="123444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31720"/>
            <a:ext cx="1234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dropped out despite</a:t>
            </a:r>
            <a:br>
              <a:rPr sz="1200"/>
            </a:br>
            <a:r>
              <a:rPr sz="1200"/>
              <a:t>gamification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123444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3.24x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1234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failure = dropout</a:t>
            </a:r>
            <a:br>
              <a:rPr sz="1200"/>
            </a:br>
            <a:r>
              <a:rPr sz="1200"/>
              <a:t>risk (Cox HR)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645920"/>
            <a:ext cx="123444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18.4h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31720"/>
            <a:ext cx="1234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median failure</a:t>
            </a:r>
            <a:br>
              <a:rPr sz="1200"/>
            </a:br>
            <a:r>
              <a:rPr sz="1200"/>
              <a:t>to dropout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645920"/>
            <a:ext cx="123444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0.42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31720"/>
            <a:ext cx="1234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clinical effect</a:t>
            </a:r>
            <a:br>
              <a:rPr sz="1200"/>
            </a:br>
            <a:r>
              <a:rPr sz="1200"/>
              <a:t>size (Cohen's 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9880" y="1645920"/>
            <a:ext cx="123444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2400"/>
              <a:t>35.0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331720"/>
            <a:ext cx="1234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Calibri"/>
              </a:defRPr>
            </a:pPr>
            <a:r>
              <a:rPr sz="1200"/>
              <a:t>odds ratio:</a:t>
            </a:r>
            <a:br>
              <a:rPr sz="1200"/>
            </a:br>
            <a:r>
              <a:rPr sz="1200"/>
              <a:t>learning vs deficit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682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rPr dirty="0"/>
              <a:t>Key Take-Away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115568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1. FIDS is </a:t>
            </a:r>
            <a:r>
              <a:rPr lang="en-US" sz="1600" dirty="0"/>
              <a:t>an assumption as point of departure</a:t>
            </a:r>
            <a:r>
              <a:rPr sz="1600" dirty="0"/>
              <a:t>: early failure causes rapid, permanent dropout in elderly FRA users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2. Gamification produces significant clinical change (d = 0.42, p=0.028) but does NOT prevent FIDS dropout (74%)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3. First failure = dominant predictor of dropout (HR = 3.24, p &lt; 0.001), not age, gender, or education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4. "Learning is Earning": learning-oriented framing produces 87.5% engagement vs 18.2% deficit framing (OR = 35)</a:t>
            </a:r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5. Existing frameworks (TAM, STAM, Octalysis) lack failure response constructs — a new framework is needed</a:t>
            </a:r>
            <a:r>
              <a:rPr lang="en-US" sz="1600" dirty="0"/>
              <a:t> – Behavioural Science </a:t>
            </a:r>
            <a:endParaRPr sz="1600" dirty="0"/>
          </a:p>
          <a:p>
            <a:pPr>
              <a:spcAft>
                <a:spcPts val="78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6. The game IS the clinical measurement — dual-purpose design works for data collection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Sidney K.T. Tam  |  EngD Final Thesis  |  PolyU ISE  |  March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Calibri"/>
              </a:defRPr>
            </a:pPr>
            <a:r>
              <a:t>Slide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AE93E5-82D9-69D7-7A40-74F5FA1A1248}"/>
              </a:ext>
            </a:extLst>
          </p:cNvPr>
          <p:cNvSpPr/>
          <p:nvPr/>
        </p:nvSpPr>
        <p:spPr>
          <a:xfrm>
            <a:off x="1654629" y="2381361"/>
            <a:ext cx="9505406" cy="2535727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0B593-EF1D-87CC-DE26-841C0967C93A}"/>
              </a:ext>
            </a:extLst>
          </p:cNvPr>
          <p:cNvSpPr txBox="1"/>
          <p:nvPr/>
        </p:nvSpPr>
        <p:spPr>
          <a:xfrm>
            <a:off x="1998198" y="3177805"/>
            <a:ext cx="8818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Thank You — Questions &amp; Discussion</a:t>
            </a:r>
            <a:br>
              <a:rPr sz="1600" dirty="0"/>
            </a:br>
            <a:r>
              <a:rPr sz="1600" dirty="0"/>
              <a:t>Sidney K.T. Tam  |  EngD Candidate  |  </a:t>
            </a:r>
            <a:r>
              <a:rPr sz="1600" dirty="0" err="1"/>
              <a:t>PolyU</a:t>
            </a:r>
            <a:r>
              <a:rPr sz="1600" dirty="0"/>
              <a:t> ISE  |  March 2026</a:t>
            </a:r>
          </a:p>
        </p:txBody>
      </p:sp>
    </p:spTree>
    <p:extLst>
      <p:ext uri="{BB962C8B-B14F-4D97-AF65-F5344CB8AC3E}">
        <p14:creationId xmlns:p14="http://schemas.microsoft.com/office/powerpoint/2010/main" val="2429464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— Participant Characteristics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pilot cohort. Two staff controls (ages 36M, 53F) used for instrument calibration only — excluded from all analyses.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4800" y="975360"/>
            <a:ext cx="11582400" cy="463296"/>
          </a:xfrm>
          <a:prstGeom prst="rect">
            <a:avLst/>
          </a:prstGeom>
          <a:solidFill>
            <a:srgbClr val="EEF4FF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26720" y="975360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enrolled: N=32  |  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cohort (elderly residents): N=30  |  </a:t>
            </a: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controls (instrument calibration): N=2  (excluded from all analyses)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04800" y="1487424"/>
          <a:ext cx="11582400" cy="4519168"/>
        </p:xfrm>
        <a:graphic>
          <a:graphicData uri="http://schemas.openxmlformats.org/drawingml/2006/table">
            <a:tbl>
              <a:tblPr/>
              <a:tblGrid>
                <a:gridCol w="390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Characteristic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cohort (N)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Elderly residents, age ≥62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range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 – 84 years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participants confirmed elderly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age (SD)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  (5.9) years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Homogeneous elderly cohort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62–69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 (40.0%)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Young-old subgroup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70–79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 (53.3%)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subgroup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80+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(6.7%)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Old-old subgroup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13M (43.3%)  /  17F (56.7%)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Slightly female-majority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Education†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28%  /  Secondary 50%  /  Tertiary 22%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Collected separately — not in FRA dataset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experience†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62.5%  /  Intermediate 37.5%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Collected separately — not in FRA dataset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04800" y="6071616"/>
            <a:ext cx="115824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 Education and tech experience were recorded in a separate instrument and are not part of the FRA raw dataset.</a:t>
            </a:r>
            <a:endParaRPr lang="en-US" sz="113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 — FRA Score Summary (Gamified Condition, N=30)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 elderly participants. Corrected from earlier version. Pre-post paired t-test confirms significant overall improvement.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04800" y="999744"/>
          <a:ext cx="11582400" cy="5472176"/>
        </p:xfrm>
        <a:graphic>
          <a:graphicData uri="http://schemas.openxmlformats.org/drawingml/2006/table">
            <a:tbl>
              <a:tblPr/>
              <a:tblGrid>
                <a:gridCol w="414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5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 (N=30)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Statistical note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FRA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43.9 ± 10.9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with InBody historical baseline (44.1 ± 9.7)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Post-intervention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47.9 ± 10.8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improvement across full cohort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change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+4.0 ± 9.5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gain across all 30 participants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Paired t-test (pre vs post)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= 2.315,  p = 0.028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Significant — gamification produced real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size (Cohen's d, paired)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  (small)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Attenuated by 74% dropout reducing overall gain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Participants improved (after &gt; before)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/ 30  (66.7%)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showed some FRA gain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Participants with ≥10pt improvement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/ 30  (20.0%)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Substantial gain subgroup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Participants with no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30  (3.3%)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Participants declined (after &lt; before)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/ 30  (30.0%)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High-baseline participants — ceiling effect likely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game cycles completed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 ± 1.7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Range: 1–6 cycles per participant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 — Clinical Outcomes: Gamified FRA vs Historical Benchmark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 elderly participants. Historical benchmark: same facility InBody system, operational since 2014, age 60–85, N=hundreds.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08704" y="1219200"/>
            <a:ext cx="268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participants, N=30)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6815328" y="121920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facility, 10+ years, N=hundreds)</a:t>
            </a:r>
            <a:endParaRPr lang="en-US" sz="1067" dirty="0"/>
          </a:p>
        </p:txBody>
      </p:sp>
      <p:sp>
        <p:nvSpPr>
          <p:cNvPr id="9" name="Text 7"/>
          <p:cNvSpPr/>
          <p:nvPr/>
        </p:nvSpPr>
        <p:spPr>
          <a:xfrm>
            <a:off x="9765792" y="1219200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rgbClr val="77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(independent t-test)</a:t>
            </a:r>
            <a:endParaRPr lang="en-US" sz="1067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04800" y="999744"/>
          <a:ext cx="11582400" cy="3706368"/>
        </p:xfrm>
        <a:graphic>
          <a:graphicData uri="http://schemas.openxmlformats.org/drawingml/2006/table">
            <a:tbl>
              <a:tblPr/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Gamified FRA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FRA  †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FRA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43.9 ± 10.9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 ± 9.7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0.829  (n.s.)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Post-intervention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47.9 ± 10.8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48.3 ± 10.1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  (n.s.)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Change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+4.0 ± 9.5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+4.2 ± 5.1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0.925  (n.s.)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Size (Cohen's 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  (small)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  (large)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≥10pt Improvement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  (6/30)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improvement (any)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  (20/30)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Pre-post significance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= 0.028  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04800" y="5084064"/>
            <a:ext cx="11582400" cy="87782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426720" y="5108448"/>
            <a:ext cx="113385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population level, gamified FRA produced the same outcome as 10 years of standard FRA (change +4.0 vs +4.2, p=0.925). </a:t>
            </a:r>
            <a:r>
              <a:rPr lang="en-US" sz="14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does produce real clinical change (p=0.028) — but 74% dropout cancelled this benefit entirely at scale. </a:t>
            </a: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FIDS is a clinical outcomes problem, not just an engagement problem.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304800" y="6010656"/>
            <a:ext cx="11582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  Historical comparator: InBody FRA system at same facility, operational since 2014. Summary statistics compiled by InBody engineers at researcher's request. Not a randomised control group.</a:t>
            </a:r>
            <a:endParaRPr lang="en-US" sz="106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4 — Engagement Pattern and Clinical Impact (N=30)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cycles as proxy for engagement depth. Participants completing only 1 cycle represent the FIDS early-dropout pattern.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" y="999744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Cycle Distribution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04800" y="1377696"/>
          <a:ext cx="5547360" cy="353568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FIDS Indicator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(early exit)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1 failure likely = dropout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 (maximum)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— full engagement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Mean: 2.9 ± 1.7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Range: 1–6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39840" y="999744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Change by Engagement Level</a:t>
            </a:r>
            <a:endParaRPr lang="en-US" sz="16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/>
        </p:nvGraphicFramePr>
        <p:xfrm>
          <a:off x="6339840" y="1377696"/>
          <a:ext cx="5547360" cy="3901440"/>
        </p:xfrm>
        <a:graphic>
          <a:graphicData uri="http://schemas.openxmlformats.org/drawingml/2006/table">
            <a:tbl>
              <a:tblPr/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participants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cycle (FIDS pattern)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 cycles (persisted)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engagement (≥3 cycles)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engagement (&lt;3 cycles)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54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62–69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70–79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80+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04800" y="4937760"/>
            <a:ext cx="1158240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8"/>
          <p:cNvSpPr/>
          <p:nvPr/>
        </p:nvSpPr>
        <p:spPr>
          <a:xfrm>
            <a:off x="426720" y="4962144"/>
            <a:ext cx="11338560" cy="682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r>
              <a:rPr lang="en-US" sz="1267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who exited after 1 cycle (FIDS pattern, N=8) showed a mean change of +7.6 — higher than the multi-cycle group (+2.7). This is explained by high-baseline outliers (e.g., participant 7: 38→73, +35pts) who achieved rapid gain in a single session before exiting. </a:t>
            </a:r>
            <a:r>
              <a:rPr lang="en-US" sz="1267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not statistically significant (p=0.22) and does not contradict FIDS, as sustained benefit requires continued engagement.</a:t>
            </a:r>
            <a:endParaRPr lang="en-US" sz="126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5 — Satisfaction and Symptom Outcomes (N=30)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Post-game questionnaire responses. All 30 elderly participants included.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" y="999744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with FRA Game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04800" y="1377696"/>
          <a:ext cx="5547360" cy="3157728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Satisfaction Level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Dissatisfied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dissatisfied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 + Very satisfied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39840" y="999744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Outcomes &amp; Fall Risk Profile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6339840" y="1377696"/>
          <a:ext cx="5547360" cy="4389120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Symptom improvement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Reported improvement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No improvement reported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Verified responses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Presenting fall risk symptoms (multiple per person)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Fatigue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Requires mobility aids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Brain fog / Cognitive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Balance issues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Joint pain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Muscle weakness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04800" y="4572000"/>
            <a:ext cx="5547360" cy="975360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8"/>
          <p:cNvSpPr/>
          <p:nvPr/>
        </p:nvSpPr>
        <p:spPr>
          <a:xfrm>
            <a:off x="426720" y="4596384"/>
            <a:ext cx="5303520" cy="92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engagement signal:  </a:t>
            </a:r>
            <a:r>
              <a:rPr lang="en-US" sz="13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 were satisfied or very satisfied. 60.0% reported symptom improvement. These figures describe all 30 participants and are not affected by the data correction.</a:t>
            </a:r>
            <a:endParaRPr lang="en-US" sz="133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6 — Individual FRA Results, All 30 Elderly Participants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Colour: green = positive change, red = negative. Bold = ≥10pt improvement.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369568" y="902947"/>
          <a:ext cx="8721344" cy="5527040"/>
        </p:xfrm>
        <a:graphic>
          <a:graphicData uri="http://schemas.openxmlformats.org/drawingml/2006/table">
            <a:tbl>
              <a:tblPr/>
              <a:tblGrid>
                <a:gridCol w="40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59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88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 satisfied / very satisfied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6/30 (20.0%) achieved ≥10pt improvement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48000" marT="0" marB="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7 — Data Correction Record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99872"/>
            <a:ext cx="1072896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corrected to reflect raw dataset. Original figures contained computational errors — see details below.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07040" y="0"/>
            <a:ext cx="158496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Sidney K.T. Tam  |  EngD Final Thesis  |  PolyU ISE  |  March 2026  |  All figures derived from raw dataset N=30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04800" y="950976"/>
          <a:ext cx="11582400" cy="4382469"/>
        </p:xfrm>
        <a:graphic>
          <a:graphicData uri="http://schemas.openxmlformats.org/drawingml/2006/table">
            <a:tbl>
              <a:tblPr/>
              <a:tblGrid>
                <a:gridCol w="231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 (incorrect)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 (from raw data)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on findings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 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(all enrolled)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(elderly only)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profile corrected. Two staff controls excluded.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range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33–84 years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62–84 years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 is now correctly defined as elderly-only.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60.3 (SD 11.8)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 (SD 5.9)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homogeneous. Appropriate for elderly research.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FRA change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+14.7 ± 8.3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+4.0 ± 9.5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correction. Original figure was computationally wrong.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Post-intervention score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58.2 ± 9.8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47.9 ± 10.8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 from raw before/after columns.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Cohen's 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 (very large)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 (small)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size was grossly inflated. Corrected value is honest.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≥10pt improvement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73.3%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 (6/30)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Substantive correction to outcome claim.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benchmark p-value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8564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0.925 (n.s.)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reversal — now reveals the FIDS clinical problem.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6000" marR="9600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304800" y="5331227"/>
            <a:ext cx="115824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confirmed unchanged from raw data:</a:t>
            </a:r>
            <a:endParaRPr lang="en-US" sz="1333" dirty="0"/>
          </a:p>
        </p:txBody>
      </p:sp>
      <p:sp>
        <p:nvSpPr>
          <p:cNvPr id="9" name="Text 6"/>
          <p:cNvSpPr/>
          <p:nvPr/>
        </p:nvSpPr>
        <p:spPr>
          <a:xfrm>
            <a:off x="304800" y="5587259"/>
            <a:ext cx="115824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(66.7% satisfied/very satisfied)  ·  Symptom improvement (60.0%)  ·  Baseline FRA score (43.9 ± 10.9)  ·  Gender split (43.3M / 56.7F)  ·  Game cycle distribution (mean 2.9 ± 1.7)  ·  Pre-post significance (p=0.028)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304800" y="6123707"/>
            <a:ext cx="11582400" cy="49654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426720" y="6123707"/>
            <a:ext cx="11338560" cy="496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 </a:t>
            </a:r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data reveals FIDS as a clinical outcomes problem. Gamification did not outperform standard FRA at population level (p=0.925) because dropout cancelled clinical benefit for 74% of participants.</a:t>
            </a:r>
            <a:endParaRPr lang="en-US" sz="12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5415</Words>
  <Application>Microsoft Macintosh PowerPoint</Application>
  <PresentationFormat>Widescreen</PresentationFormat>
  <Paragraphs>1028</Paragraphs>
  <Slides>29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TAM, Sidney [Student]</cp:lastModifiedBy>
  <cp:revision>15</cp:revision>
  <dcterms:created xsi:type="dcterms:W3CDTF">2013-01-27T09:14:16Z</dcterms:created>
  <dcterms:modified xsi:type="dcterms:W3CDTF">2026-03-07T02:34:15Z</dcterms:modified>
  <cp:category/>
</cp:coreProperties>
</file>