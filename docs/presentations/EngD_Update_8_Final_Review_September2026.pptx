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Good afternoon. This is my final progress review before the oral examination. The programme asks how gamification serves continuous improvement when a promising health technology meets difficulty in the field — concretely, gamified fall-risk assessment with older adults, and what happens after an adverse first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Walk the three stages briefly: the survey that surfaced the phenomenon; the eight-week gamified deployment where the abandonment pattern was observed prospectively; and the decoupled deployment whose retention contrast motivates — but does not prove — the framing hypothesis. Emphasise the calibrated claim in the strip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 Four numbers, then the paradox. Point out the calibrated vocabulary line at the bottom — this is a direct response to the examination review: observed use is distinguished from inferred abandonment throughout the thesis and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 The construct story: what the field notes recorded, what FIAS names, and the two calibrated theoretical claims — candidate boundary condition and the Chapter 7 design response. Keep the register: proposed, candidate,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Frame everything as movement since the March review the panel saw. Lead with the recalibration card — own it as a strengthening: the March deck carried working figures that the archival record could not support, and the thesis now claims only what the record shows. Then ethics, the closed V40, and the publication advances.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One paper per stage, one venue per paper. Stage 1 accepted and presented; Stage 2 under review at JIKM; Stage 3 package ready for JMIR Serious Games this month. If asked about venues: JMIR Serious Games impact factor 4.7; JIKM indexed and scoped to knowledge management, which carries the KM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Stage 3B is deliberately scoped: a mini-deployment, not a replication — it tests whether the design framework holds engagement with measurement visible. Build and ethics are done; the only gate left is the protocol signature, and the window fits inside the approved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 The honest gap slide — four groups. Nothing here is analytically open; these are records to file, signatures to collect, one deployment to run, and mechanical production steps. Invite the panel to flag anything they consider missing from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Three beats to the deadline. The point to land: the critical path is short and fully unblocked — the only external dependencies are the supervisor's signature and two member-check consents.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Close on the four contributions, then stop talking and invite questions. If time runs short earlier, this slide plus the gaps slide are the two that must not be rushed.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77240" y="777240"/>
            <a:ext cx="9144000" cy="41148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RESEARCH UPDATE 8 — FINAL REVIEW BEFORE ORAL EXAMINATION</a:t>
            </a:r>
            <a:endParaRPr lang="en-US" sz="1600" dirty="0"/>
          </a:p>
        </p:txBody>
      </p:sp>
      <p:sp>
        <p:nvSpPr>
          <p:cNvPr id="3" name="Text 1"/>
          <p:cNvSpPr txBox="1"/>
          <p:nvPr/>
        </p:nvSpPr>
        <p:spPr>
          <a:xfrm>
            <a:off x="777240" y="1371600"/>
            <a:ext cx="8412480" cy="210312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Gamification as Proactive Approach for Continuous Improvement and Innovation Enhancement</a:t>
            </a:r>
            <a:endParaRPr lang="en-US" sz="3400" dirty="0"/>
          </a:p>
        </p:txBody>
      </p:sp>
      <p:sp>
        <p:nvSpPr>
          <p:cNvPr id="4" name="Text 2"/>
          <p:cNvSpPr txBox="1"/>
          <p:nvPr/>
        </p:nvSpPr>
        <p:spPr>
          <a:xfrm>
            <a:off x="777240" y="3520440"/>
            <a:ext cx="7863840" cy="86868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Failure-induced abandonment in gamified fall-risk assessment for older adults —</a:t>
            </a:r>
            <a:endParaRPr lang="en-US" sz="1700" dirty="0"/>
          </a:p>
          <a:p>
            <a:pPr indent="0" marL="0">
              <a:buNone/>
            </a:pPr>
            <a:r>
              <a:rPr lang="en-US" sz="1700" i="1" dirty="0">
                <a:solidFill>
                  <a:srgbClr val="CADCFC"/>
                </a:solidFill>
                <a:latin typeface="Calibri" pitchFamily="34" charset="0"/>
                <a:ea typeface="Calibri" pitchFamily="34" charset="-122"/>
                <a:cs typeface="Calibri" pitchFamily="34" charset="-120"/>
              </a:rPr>
              <a:t>and the engineering response to it</a:t>
            </a:r>
            <a:endParaRPr lang="en-US" sz="1700" dirty="0"/>
          </a:p>
        </p:txBody>
      </p:sp>
      <p:sp>
        <p:nvSpPr>
          <p:cNvPr id="5" name="Shape 3"/>
          <p:cNvSpPr/>
          <p:nvPr/>
        </p:nvSpPr>
        <p:spPr>
          <a:xfrm>
            <a:off x="822960" y="4709160"/>
            <a:ext cx="0" cy="1371600"/>
          </a:xfrm>
          <a:prstGeom prst="line">
            <a:avLst/>
          </a:prstGeom>
          <a:noFill/>
          <a:ln w="25400">
            <a:solidFill>
              <a:srgbClr val="2E3A8C"/>
            </a:solidFill>
            <a:prstDash val="solid"/>
          </a:ln>
        </p:spPr>
      </p:sp>
      <p:sp>
        <p:nvSpPr>
          <p:cNvPr id="6" name="Text 4"/>
          <p:cNvSpPr txBox="1"/>
          <p:nvPr/>
        </p:nvSpPr>
        <p:spPr>
          <a:xfrm>
            <a:off x="1005840" y="4754880"/>
            <a:ext cx="6858000" cy="1325880"/>
          </a:xfrm>
          <a:prstGeom prst="rect">
            <a:avLst/>
          </a:prstGeom>
          <a:noFill/>
          <a:ln/>
        </p:spPr>
        <p:txBody>
          <a:bodyPr wrap="square" lIns="0" tIns="0" rIns="0" bIns="0" rtlCol="0" anchor="ctr"/>
          <a:lstStyle/>
          <a:p>
            <a:pPr indent="0" marL="0">
              <a:lnSpc>
                <a:spcPct val="118000"/>
              </a:lnSpc>
              <a:buNone/>
            </a:pPr>
            <a:r>
              <a:rPr lang="en-US" sz="1700" b="1" dirty="0">
                <a:solidFill>
                  <a:srgbClr val="FFFFFF"/>
                </a:solidFill>
                <a:latin typeface="Calibri" pitchFamily="34" charset="0"/>
                <a:ea typeface="Calibri" pitchFamily="34" charset="-122"/>
                <a:cs typeface="Calibri" pitchFamily="34" charset="-120"/>
              </a:rPr>
              <a:t>Sidney K. T. Tam</a:t>
            </a:r>
            <a:endParaRPr lang="en-US" sz="1700" dirty="0"/>
          </a:p>
          <a:p>
            <a:pPr indent="0" marL="0">
              <a:lnSpc>
                <a:spcPct val="118000"/>
              </a:lnSpc>
              <a:buNone/>
            </a:pPr>
            <a:r>
              <a:rPr lang="en-US" sz="1300" dirty="0">
                <a:solidFill>
                  <a:srgbClr val="CADCFC"/>
                </a:solidFill>
                <a:latin typeface="Calibri" pitchFamily="34" charset="0"/>
                <a:ea typeface="Calibri" pitchFamily="34" charset="-122"/>
                <a:cs typeface="Calibri" pitchFamily="34" charset="-120"/>
              </a:rPr>
              <a:t>Doctor of Engineering (EngD) candidate</a:t>
            </a:r>
            <a:endParaRPr lang="en-US" sz="1700" dirty="0"/>
          </a:p>
          <a:p>
            <a:pPr indent="0" marL="0">
              <a:lnSpc>
                <a:spcPct val="118000"/>
              </a:lnSpc>
              <a:buNone/>
            </a:pPr>
            <a:r>
              <a:rPr lang="en-US" sz="1300" dirty="0">
                <a:solidFill>
                  <a:srgbClr val="CADCFC"/>
                </a:solidFill>
                <a:latin typeface="Calibri" pitchFamily="34" charset="0"/>
                <a:ea typeface="Calibri" pitchFamily="34" charset="-122"/>
                <a:cs typeface="Calibri" pitchFamily="34" charset="-120"/>
              </a:rPr>
              <a:t>Department of Industrial and Systems Engineering, PolyU</a:t>
            </a:r>
            <a:endParaRPr lang="en-US" sz="1700" dirty="0"/>
          </a:p>
          <a:p>
            <a:pPr indent="0" marL="0">
              <a:lnSpc>
                <a:spcPct val="118000"/>
              </a:lnSpc>
              <a:buNone/>
            </a:pPr>
            <a:r>
              <a:rPr lang="en-US" sz="1300" dirty="0">
                <a:solidFill>
                  <a:srgbClr val="CADCFC"/>
                </a:solidFill>
                <a:latin typeface="Calibri" pitchFamily="34" charset="0"/>
                <a:ea typeface="Calibri" pitchFamily="34" charset="-122"/>
                <a:cs typeface="Calibri" pitchFamily="34" charset="-120"/>
              </a:rPr>
              <a:t>Chief Supervisor: Prof. Chi Fai (Benny) Cheung</a:t>
            </a:r>
            <a:endParaRPr lang="en-US" sz="1700" dirty="0"/>
          </a:p>
        </p:txBody>
      </p:sp>
      <p:sp>
        <p:nvSpPr>
          <p:cNvPr id="7" name="Text 5"/>
          <p:cNvSpPr txBox="1"/>
          <p:nvPr/>
        </p:nvSpPr>
        <p:spPr>
          <a:xfrm>
            <a:off x="777240" y="6355080"/>
            <a:ext cx="82296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Last review before oral examination · Research period ends October 2026</a:t>
            </a:r>
            <a:endParaRPr lang="en-US" sz="1200" dirty="0"/>
          </a:p>
        </p:txBody>
      </p:sp>
      <p:sp>
        <p:nvSpPr>
          <p:cNvPr id="8" name="Shape 6"/>
          <p:cNvSpPr/>
          <p:nvPr/>
        </p:nvSpPr>
        <p:spPr>
          <a:xfrm>
            <a:off x="8732520" y="2011680"/>
            <a:ext cx="3063240" cy="2212848"/>
          </a:xfrm>
          <a:prstGeom prst="roundRect">
            <a:avLst>
              <a:gd name="adj" fmla="val 4132"/>
            </a:avLst>
          </a:prstGeom>
          <a:solidFill>
            <a:srgbClr val="2E3A8C"/>
          </a:solidFill>
          <a:ln/>
        </p:spPr>
      </p:sp>
      <p:pic>
        <p:nvPicPr>
          <p:cNvPr id="9" name="Image 0" descr="/home/user/gamification/docs/papers/figures_submission/Game_Screenshot_Level2.png">    </p:cNvPr>
          <p:cNvPicPr>
            <a:picLocks noChangeAspect="1"/>
          </p:cNvPicPr>
          <p:nvPr/>
        </p:nvPicPr>
        <p:blipFill>
          <a:blip r:embed="rId1"/>
          <a:stretch>
            <a:fillRect/>
          </a:stretch>
        </p:blipFill>
        <p:spPr>
          <a:xfrm>
            <a:off x="8869680" y="2148840"/>
            <a:ext cx="2788920" cy="1865376"/>
          </a:xfrm>
          <a:prstGeom prst="rect">
            <a:avLst/>
          </a:prstGeom>
        </p:spPr>
      </p:pic>
      <p:sp>
        <p:nvSpPr>
          <p:cNvPr id="10" name="Text 7"/>
          <p:cNvSpPr txBox="1"/>
          <p:nvPr/>
        </p:nvSpPr>
        <p:spPr>
          <a:xfrm>
            <a:off x="8732520" y="4279392"/>
            <a:ext cx="3063240" cy="292608"/>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The AI-assisted skiing game (Stage 2 build)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research at a glance</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One problem, followed through three empirical stages</a:t>
            </a:r>
            <a:endParaRPr lang="en-US" sz="1400" dirty="0"/>
          </a:p>
        </p:txBody>
      </p:sp>
      <p:sp>
        <p:nvSpPr>
          <p:cNvPr id="4" name="Text 2"/>
          <p:cNvSpPr txBox="1"/>
          <p:nvPr/>
        </p:nvSpPr>
        <p:spPr>
          <a:xfrm>
            <a:off x="502920" y="1417320"/>
            <a:ext cx="11155680" cy="777240"/>
          </a:xfrm>
          <a:prstGeom prst="rect">
            <a:avLst/>
          </a:prstGeom>
          <a:noFill/>
          <a:ln/>
        </p:spPr>
        <p:txBody>
          <a:bodyPr wrap="square" lIns="0" tIns="0" rIns="0" bIns="0" rtlCol="0" anchor="ctr"/>
          <a:lstStyle/>
          <a:p>
            <a:pPr indent="0" marL="0">
              <a:lnSpc>
                <a:spcPct val="110000"/>
              </a:lnSpc>
              <a:buNone/>
            </a:pPr>
            <a:r>
              <a:rPr lang="en-US" sz="1500" b="1" dirty="0">
                <a:solidFill>
                  <a:srgbClr val="1E2761"/>
                </a:solidFill>
                <a:latin typeface="Calibri" pitchFamily="34" charset="0"/>
                <a:ea typeface="Calibri" pitchFamily="34" charset="-122"/>
                <a:cs typeface="Calibri" pitchFamily="34" charset="-120"/>
              </a:rPr>
              <a:t>The problem. </a:t>
            </a:r>
            <a:pPr indent="0" marL="0">
              <a:lnSpc>
                <a:spcPct val="110000"/>
              </a:lnSpc>
              <a:buNone/>
            </a:pPr>
            <a:r>
              <a:rPr lang="en-US" sz="1500" dirty="0">
                <a:solidFill>
                  <a:srgbClr val="222222"/>
                </a:solidFill>
                <a:latin typeface="Calibri" pitchFamily="34" charset="0"/>
                <a:ea typeface="Calibri" pitchFamily="34" charset="-122"/>
                <a:cs typeface="Calibri" pitchFamily="34" charset="-120"/>
              </a:rPr>
              <a:t>An installed fall-risk assessment (FRA) station stood under-used for a decade despite clinical value. The binding constraint is not initial acceptance — it is continued voluntary engagement after an adverse experience.</a:t>
            </a:r>
            <a:endParaRPr lang="en-US" sz="1500" dirty="0"/>
          </a:p>
        </p:txBody>
      </p:sp>
      <p:sp>
        <p:nvSpPr>
          <p:cNvPr id="5" name="Shape 3"/>
          <p:cNvSpPr/>
          <p:nvPr/>
        </p:nvSpPr>
        <p:spPr>
          <a:xfrm>
            <a:off x="502920" y="2377440"/>
            <a:ext cx="3566160" cy="3246120"/>
          </a:xfrm>
          <a:prstGeom prst="roundRect">
            <a:avLst>
              <a:gd name="adj" fmla="val 2535"/>
            </a:avLst>
          </a:prstGeom>
          <a:solidFill>
            <a:srgbClr val="EAF1FD"/>
          </a:solidFill>
          <a:ln/>
        </p:spPr>
      </p:sp>
      <p:sp>
        <p:nvSpPr>
          <p:cNvPr id="6" name="Shape 4"/>
          <p:cNvSpPr/>
          <p:nvPr/>
        </p:nvSpPr>
        <p:spPr>
          <a:xfrm>
            <a:off x="758952" y="2633472"/>
            <a:ext cx="548640" cy="548640"/>
          </a:xfrm>
          <a:prstGeom prst="ellipse">
            <a:avLst/>
          </a:prstGeom>
          <a:solidFill>
            <a:srgbClr val="1E2761"/>
          </a:solidFill>
          <a:ln/>
        </p:spPr>
      </p:sp>
      <p:sp>
        <p:nvSpPr>
          <p:cNvPr id="7" name="Text 5"/>
          <p:cNvSpPr txBox="1"/>
          <p:nvPr/>
        </p:nvSpPr>
        <p:spPr>
          <a:xfrm>
            <a:off x="758952" y="2624328"/>
            <a:ext cx="54864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S1</a:t>
            </a:r>
            <a:endParaRPr lang="en-US" sz="1800" dirty="0"/>
          </a:p>
        </p:txBody>
      </p:sp>
      <p:sp>
        <p:nvSpPr>
          <p:cNvPr id="8" name="Text 6"/>
          <p:cNvSpPr txBox="1"/>
          <p:nvPr/>
        </p:nvSpPr>
        <p:spPr>
          <a:xfrm>
            <a:off x="1463040" y="2633472"/>
            <a:ext cx="2468880" cy="5943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Critical review &amp; survey</a:t>
            </a:r>
            <a:endParaRPr lang="en-US" sz="1650" dirty="0"/>
          </a:p>
        </p:txBody>
      </p:sp>
      <p:sp>
        <p:nvSpPr>
          <p:cNvPr id="9" name="Text 7"/>
          <p:cNvSpPr txBox="1"/>
          <p:nvPr/>
        </p:nvSpPr>
        <p:spPr>
          <a:xfrm>
            <a:off x="758952" y="3364992"/>
            <a:ext cx="3108960" cy="274320"/>
          </a:xfrm>
          <a:prstGeom prst="rect">
            <a:avLst/>
          </a:prstGeom>
          <a:noFill/>
          <a:ln/>
        </p:spPr>
        <p:txBody>
          <a:bodyPr wrap="square" lIns="0" tIns="0" rIns="0" bIns="0" rtlCol="0" anchor="ctr"/>
          <a:lstStyle/>
          <a:p>
            <a:pPr indent="0" marL="0">
              <a:buNone/>
            </a:pPr>
            <a:r>
              <a:rPr lang="en-US" sz="1150" i="1" dirty="0">
                <a:solidFill>
                  <a:srgbClr val="5A6172"/>
                </a:solidFill>
                <a:latin typeface="Calibri" pitchFamily="34" charset="0"/>
                <a:ea typeface="Calibri" pitchFamily="34" charset="-122"/>
                <a:cs typeface="Calibri" pitchFamily="34" charset="-120"/>
              </a:rPr>
              <a:t>Guangzhou facility</a:t>
            </a:r>
            <a:endParaRPr lang="en-US" sz="1150" dirty="0"/>
          </a:p>
        </p:txBody>
      </p:sp>
      <p:sp>
        <p:nvSpPr>
          <p:cNvPr id="10" name="Text 8"/>
          <p:cNvSpPr txBox="1"/>
          <p:nvPr/>
        </p:nvSpPr>
        <p:spPr>
          <a:xfrm>
            <a:off x="758952" y="3675888"/>
            <a:ext cx="3108960" cy="1481328"/>
          </a:xfrm>
          <a:prstGeom prst="rect">
            <a:avLst/>
          </a:prstGeom>
          <a:noFill/>
          <a:ln/>
        </p:spPr>
        <p:txBody>
          <a:bodyPr wrap="square" lIns="0" tIns="0" rIns="0" bIns="0" rtlCol="0" anchor="ctr"/>
          <a:lstStyle/>
          <a:p>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Surveyed 200 residents (population 280). Retrospective accounts of adverse first experiences followed by non-return; TAM and Octalysis framing.</a:t>
            </a:r>
            <a:endParaRPr lang="en-US" sz="1250" dirty="0"/>
          </a:p>
        </p:txBody>
      </p:sp>
      <p:sp>
        <p:nvSpPr>
          <p:cNvPr id="11" name="Shape 9"/>
          <p:cNvSpPr/>
          <p:nvPr/>
        </p:nvSpPr>
        <p:spPr>
          <a:xfrm>
            <a:off x="758952" y="5230368"/>
            <a:ext cx="2377440" cy="310896"/>
          </a:xfrm>
          <a:prstGeom prst="roundRect">
            <a:avLst>
              <a:gd name="adj" fmla="val 50000"/>
            </a:avLst>
          </a:prstGeom>
          <a:solidFill>
            <a:srgbClr val="CADCFC"/>
          </a:solidFill>
          <a:ln/>
        </p:spPr>
      </p:sp>
      <p:sp>
        <p:nvSpPr>
          <p:cNvPr id="12" name="Text 10"/>
          <p:cNvSpPr txBox="1"/>
          <p:nvPr/>
        </p:nvSpPr>
        <p:spPr>
          <a:xfrm>
            <a:off x="758952" y="5216652"/>
            <a:ext cx="2377440" cy="338328"/>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SS-293 · ICMSS 2026</a:t>
            </a:r>
            <a:endParaRPr lang="en-US" sz="1150" dirty="0"/>
          </a:p>
        </p:txBody>
      </p:sp>
      <p:sp>
        <p:nvSpPr>
          <p:cNvPr id="13" name="Shape 11"/>
          <p:cNvSpPr/>
          <p:nvPr/>
        </p:nvSpPr>
        <p:spPr>
          <a:xfrm>
            <a:off x="4325112" y="2377440"/>
            <a:ext cx="3566160" cy="3246120"/>
          </a:xfrm>
          <a:prstGeom prst="roundRect">
            <a:avLst>
              <a:gd name="adj" fmla="val 2535"/>
            </a:avLst>
          </a:prstGeom>
          <a:solidFill>
            <a:srgbClr val="EAF1FD"/>
          </a:solidFill>
          <a:ln/>
        </p:spPr>
      </p:sp>
      <p:sp>
        <p:nvSpPr>
          <p:cNvPr id="14" name="Shape 12"/>
          <p:cNvSpPr/>
          <p:nvPr/>
        </p:nvSpPr>
        <p:spPr>
          <a:xfrm>
            <a:off x="4581144" y="2633472"/>
            <a:ext cx="548640" cy="548640"/>
          </a:xfrm>
          <a:prstGeom prst="ellipse">
            <a:avLst/>
          </a:prstGeom>
          <a:solidFill>
            <a:srgbClr val="1E2761"/>
          </a:solidFill>
          <a:ln/>
        </p:spPr>
      </p:sp>
      <p:sp>
        <p:nvSpPr>
          <p:cNvPr id="15" name="Text 13"/>
          <p:cNvSpPr txBox="1"/>
          <p:nvPr/>
        </p:nvSpPr>
        <p:spPr>
          <a:xfrm>
            <a:off x="4581144" y="2624328"/>
            <a:ext cx="54864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S2</a:t>
            </a:r>
            <a:endParaRPr lang="en-US" sz="1800" dirty="0"/>
          </a:p>
        </p:txBody>
      </p:sp>
      <p:sp>
        <p:nvSpPr>
          <p:cNvPr id="16" name="Text 14"/>
          <p:cNvSpPr txBox="1"/>
          <p:nvPr/>
        </p:nvSpPr>
        <p:spPr>
          <a:xfrm>
            <a:off x="5285232" y="2633472"/>
            <a:ext cx="2468880" cy="5943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Gamified deployment</a:t>
            </a:r>
            <a:endParaRPr lang="en-US" sz="1650" dirty="0"/>
          </a:p>
        </p:txBody>
      </p:sp>
      <p:sp>
        <p:nvSpPr>
          <p:cNvPr id="17" name="Text 15"/>
          <p:cNvSpPr txBox="1"/>
          <p:nvPr/>
        </p:nvSpPr>
        <p:spPr>
          <a:xfrm>
            <a:off x="4581144" y="3364992"/>
            <a:ext cx="3108960" cy="274320"/>
          </a:xfrm>
          <a:prstGeom prst="rect">
            <a:avLst/>
          </a:prstGeom>
          <a:noFill/>
          <a:ln/>
        </p:spPr>
        <p:txBody>
          <a:bodyPr wrap="square" lIns="0" tIns="0" rIns="0" bIns="0" rtlCol="0" anchor="ctr"/>
          <a:lstStyle/>
          <a:p>
            <a:pPr indent="0" marL="0">
              <a:buNone/>
            </a:pPr>
            <a:r>
              <a:rPr lang="en-US" sz="1150" i="1" dirty="0">
                <a:solidFill>
                  <a:srgbClr val="5A6172"/>
                </a:solidFill>
                <a:latin typeface="Calibri" pitchFamily="34" charset="0"/>
                <a:ea typeface="Calibri" pitchFamily="34" charset="-122"/>
                <a:cs typeface="Calibri" pitchFamily="34" charset="-120"/>
              </a:rPr>
              <a:t>June–August 2025 · 8 weeks</a:t>
            </a:r>
            <a:endParaRPr lang="en-US" sz="1150" dirty="0"/>
          </a:p>
        </p:txBody>
      </p:sp>
      <p:sp>
        <p:nvSpPr>
          <p:cNvPr id="18" name="Text 16"/>
          <p:cNvSpPr txBox="1"/>
          <p:nvPr/>
        </p:nvSpPr>
        <p:spPr>
          <a:xfrm>
            <a:off x="4581144" y="3675888"/>
            <a:ext cx="3108960" cy="1481328"/>
          </a:xfrm>
          <a:prstGeom prst="rect">
            <a:avLst/>
          </a:prstGeom>
          <a:noFill/>
          <a:ln/>
        </p:spPr>
        <p:txBody>
          <a:bodyPr wrap="square" lIns="0" tIns="0" rIns="0" bIns="0" rtlCol="0" anchor="ctr"/>
          <a:lstStyle/>
          <a:p>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Thirty residents (62–84) played an AI-assisted skiing game whose weight-shift control also fed FRA measurement. Prospective observation of engagement and non-return.</a:t>
            </a:r>
            <a:endParaRPr lang="en-US" sz="1250" dirty="0"/>
          </a:p>
        </p:txBody>
      </p:sp>
      <p:sp>
        <p:nvSpPr>
          <p:cNvPr id="19" name="Shape 17"/>
          <p:cNvSpPr/>
          <p:nvPr/>
        </p:nvSpPr>
        <p:spPr>
          <a:xfrm>
            <a:off x="4581144" y="5230368"/>
            <a:ext cx="2377440" cy="310896"/>
          </a:xfrm>
          <a:prstGeom prst="roundRect">
            <a:avLst>
              <a:gd name="adj" fmla="val 50000"/>
            </a:avLst>
          </a:prstGeom>
          <a:solidFill>
            <a:srgbClr val="CADCFC"/>
          </a:solidFill>
          <a:ln/>
        </p:spPr>
      </p:sp>
      <p:sp>
        <p:nvSpPr>
          <p:cNvPr id="20" name="Text 18"/>
          <p:cNvSpPr txBox="1"/>
          <p:nvPr/>
        </p:nvSpPr>
        <p:spPr>
          <a:xfrm>
            <a:off x="4581144" y="5216652"/>
            <a:ext cx="2377440" cy="338328"/>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Paper 2 · JIKM</a:t>
            </a:r>
            <a:endParaRPr lang="en-US" sz="1150" dirty="0"/>
          </a:p>
        </p:txBody>
      </p:sp>
      <p:sp>
        <p:nvSpPr>
          <p:cNvPr id="21" name="Shape 19"/>
          <p:cNvSpPr/>
          <p:nvPr/>
        </p:nvSpPr>
        <p:spPr>
          <a:xfrm>
            <a:off x="8147304" y="2377440"/>
            <a:ext cx="3566160" cy="3246120"/>
          </a:xfrm>
          <a:prstGeom prst="roundRect">
            <a:avLst>
              <a:gd name="adj" fmla="val 2535"/>
            </a:avLst>
          </a:prstGeom>
          <a:solidFill>
            <a:srgbClr val="EAF1FD"/>
          </a:solidFill>
          <a:ln/>
        </p:spPr>
      </p:sp>
      <p:sp>
        <p:nvSpPr>
          <p:cNvPr id="22" name="Shape 20"/>
          <p:cNvSpPr/>
          <p:nvPr/>
        </p:nvSpPr>
        <p:spPr>
          <a:xfrm>
            <a:off x="8403336" y="2633472"/>
            <a:ext cx="548640" cy="548640"/>
          </a:xfrm>
          <a:prstGeom prst="ellipse">
            <a:avLst/>
          </a:prstGeom>
          <a:solidFill>
            <a:srgbClr val="1E2761"/>
          </a:solidFill>
          <a:ln/>
        </p:spPr>
      </p:sp>
      <p:sp>
        <p:nvSpPr>
          <p:cNvPr id="23" name="Text 21"/>
          <p:cNvSpPr txBox="1"/>
          <p:nvPr/>
        </p:nvSpPr>
        <p:spPr>
          <a:xfrm>
            <a:off x="8403336" y="2624328"/>
            <a:ext cx="54864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S3</a:t>
            </a:r>
            <a:endParaRPr lang="en-US" sz="1800" dirty="0"/>
          </a:p>
        </p:txBody>
      </p:sp>
      <p:sp>
        <p:nvSpPr>
          <p:cNvPr id="24" name="Text 22"/>
          <p:cNvSpPr txBox="1"/>
          <p:nvPr/>
        </p:nvSpPr>
        <p:spPr>
          <a:xfrm>
            <a:off x="9107424" y="2633472"/>
            <a:ext cx="2468880" cy="59436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Decoupled deployment</a:t>
            </a:r>
            <a:endParaRPr lang="en-US" sz="1650" dirty="0"/>
          </a:p>
        </p:txBody>
      </p:sp>
      <p:sp>
        <p:nvSpPr>
          <p:cNvPr id="25" name="Text 23"/>
          <p:cNvSpPr txBox="1"/>
          <p:nvPr/>
        </p:nvSpPr>
        <p:spPr>
          <a:xfrm>
            <a:off x="8403336" y="3364992"/>
            <a:ext cx="3108960" cy="274320"/>
          </a:xfrm>
          <a:prstGeom prst="rect">
            <a:avLst/>
          </a:prstGeom>
          <a:noFill/>
          <a:ln/>
        </p:spPr>
        <p:txBody>
          <a:bodyPr wrap="square" lIns="0" tIns="0" rIns="0" bIns="0" rtlCol="0" anchor="ctr"/>
          <a:lstStyle/>
          <a:p>
            <a:pPr indent="0" marL="0">
              <a:buNone/>
            </a:pPr>
            <a:r>
              <a:rPr lang="en-US" sz="1150" i="1" dirty="0">
                <a:solidFill>
                  <a:srgbClr val="5A6172"/>
                </a:solidFill>
                <a:latin typeface="Calibri" pitchFamily="34" charset="0"/>
                <a:ea typeface="Calibri" pitchFamily="34" charset="-122"/>
                <a:cs typeface="Calibri" pitchFamily="34" charset="-120"/>
              </a:rPr>
              <a:t>Hong Kong cohort · remote</a:t>
            </a:r>
            <a:endParaRPr lang="en-US" sz="1150" dirty="0"/>
          </a:p>
        </p:txBody>
      </p:sp>
      <p:sp>
        <p:nvSpPr>
          <p:cNvPr id="26" name="Text 24"/>
          <p:cNvSpPr txBox="1"/>
          <p:nvPr/>
        </p:nvSpPr>
        <p:spPr>
          <a:xfrm>
            <a:off x="8403336" y="3675888"/>
            <a:ext cx="3108960" cy="1481328"/>
          </a:xfrm>
          <a:prstGeom prst="rect">
            <a:avLst/>
          </a:prstGeom>
          <a:noFill/>
          <a:ln/>
        </p:spPr>
        <p:txBody>
          <a:bodyPr wrap="square" lIns="0" tIns="0" rIns="0" bIns="0" rtlCol="0" anchor="ctr"/>
          <a:lstStyle/>
          <a:p>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120 adults, desktop game decoupled from clinical measurement. End-of-window retention 93.3% overall; 15 of 23 initial dropouts returned voluntarily.</a:t>
            </a:r>
            <a:endParaRPr lang="en-US" sz="1250" dirty="0"/>
          </a:p>
        </p:txBody>
      </p:sp>
      <p:sp>
        <p:nvSpPr>
          <p:cNvPr id="27" name="Shape 25"/>
          <p:cNvSpPr/>
          <p:nvPr/>
        </p:nvSpPr>
        <p:spPr>
          <a:xfrm>
            <a:off x="8403336" y="5230368"/>
            <a:ext cx="2377440" cy="310896"/>
          </a:xfrm>
          <a:prstGeom prst="roundRect">
            <a:avLst>
              <a:gd name="adj" fmla="val 50000"/>
            </a:avLst>
          </a:prstGeom>
          <a:solidFill>
            <a:srgbClr val="CADCFC"/>
          </a:solidFill>
          <a:ln/>
        </p:spPr>
      </p:sp>
      <p:sp>
        <p:nvSpPr>
          <p:cNvPr id="28" name="Text 26"/>
          <p:cNvSpPr txBox="1"/>
          <p:nvPr/>
        </p:nvSpPr>
        <p:spPr>
          <a:xfrm>
            <a:off x="8403336" y="5216652"/>
            <a:ext cx="2377440" cy="338328"/>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Paper 3 · JMIR Serious Games</a:t>
            </a:r>
            <a:endParaRPr lang="en-US" sz="1150" dirty="0"/>
          </a:p>
        </p:txBody>
      </p:sp>
      <p:sp>
        <p:nvSpPr>
          <p:cNvPr id="29" name="Text 27"/>
          <p:cNvSpPr txBox="1"/>
          <p:nvPr/>
        </p:nvSpPr>
        <p:spPr>
          <a:xfrm>
            <a:off x="502920" y="5897880"/>
            <a:ext cx="11155680" cy="457200"/>
          </a:xfrm>
          <a:prstGeom prst="rect">
            <a:avLst/>
          </a:prstGeom>
          <a:noFill/>
          <a:ln/>
        </p:spPr>
        <p:txBody>
          <a:bodyPr wrap="square" lIns="0" tIns="0" rIns="0" bIns="0" rtlCol="0" anchor="ctr"/>
          <a:lstStyle/>
          <a:p>
            <a:pPr indent="0" marL="0">
              <a:buNone/>
            </a:pPr>
            <a:r>
              <a:rPr lang="en-US" sz="1250" i="1" dirty="0">
                <a:solidFill>
                  <a:srgbClr val="5A6172"/>
                </a:solidFill>
                <a:latin typeface="Calibri" pitchFamily="34" charset="0"/>
                <a:ea typeface="Calibri" pitchFamily="34" charset="-122"/>
                <a:cs typeface="Calibri" pitchFamily="34" charset="-120"/>
              </a:rPr>
              <a:t>Changes in cohort, setting, delivery and input modality across stages prevent causal isolation — the contrast motivates a framing hypothesis, tested next in Stage 3B.</a:t>
            </a:r>
            <a:endParaRPr lang="en-US" sz="1250" dirty="0"/>
          </a:p>
        </p:txBody>
      </p:sp>
      <p:sp>
        <p:nvSpPr>
          <p:cNvPr id="30" name="Text 28"/>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31" name="Text 29"/>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central observation</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Stage 2 — thirty residents, eight weeks, every claim anchored to the archived record</a:t>
            </a:r>
            <a:endParaRPr lang="en-US" sz="1400" dirty="0"/>
          </a:p>
        </p:txBody>
      </p:sp>
      <p:sp>
        <p:nvSpPr>
          <p:cNvPr id="4" name="Shape 2"/>
          <p:cNvSpPr/>
          <p:nvPr/>
        </p:nvSpPr>
        <p:spPr>
          <a:xfrm>
            <a:off x="502920" y="1600200"/>
            <a:ext cx="2670048" cy="2286000"/>
          </a:xfrm>
          <a:prstGeom prst="roundRect">
            <a:avLst>
              <a:gd name="adj" fmla="val 3600"/>
            </a:avLst>
          </a:prstGeom>
          <a:solidFill>
            <a:srgbClr val="EAF1FD"/>
          </a:solidFill>
          <a:ln/>
        </p:spPr>
      </p:sp>
      <p:sp>
        <p:nvSpPr>
          <p:cNvPr id="5" name="Text 3"/>
          <p:cNvSpPr txBox="1"/>
          <p:nvPr/>
        </p:nvSpPr>
        <p:spPr>
          <a:xfrm>
            <a:off x="640080" y="1783080"/>
            <a:ext cx="2395728" cy="86868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70.0%</a:t>
            </a:r>
            <a:endParaRPr lang="en-US" sz="4000" dirty="0"/>
          </a:p>
        </p:txBody>
      </p:sp>
      <p:sp>
        <p:nvSpPr>
          <p:cNvPr id="6" name="Text 4"/>
          <p:cNvSpPr txBox="1"/>
          <p:nvPr/>
        </p:nvSpPr>
        <p:spPr>
          <a:xfrm>
            <a:off x="704088" y="2697480"/>
            <a:ext cx="2267712" cy="1097280"/>
          </a:xfrm>
          <a:prstGeom prst="rect">
            <a:avLst/>
          </a:prstGeom>
          <a:noFill/>
          <a:ln/>
        </p:spPr>
        <p:txBody>
          <a:bodyPr wrap="square" lIns="0" tIns="0" rIns="0" bIns="0" rtlCol="0" anchor="ctr"/>
          <a:lstStyle/>
          <a:p>
            <a:pPr algn="ctr" indent="0" marL="0">
              <a:lnSpc>
                <a:spcPct val="105000"/>
              </a:lnSpc>
              <a:buNone/>
            </a:pPr>
            <a:r>
              <a:rPr lang="en-US" sz="1150" dirty="0">
                <a:solidFill>
                  <a:srgbClr val="222222"/>
                </a:solidFill>
                <a:latin typeface="Calibri" pitchFamily="34" charset="0"/>
                <a:ea typeface="Calibri" pitchFamily="34" charset="-122"/>
                <a:cs typeface="Calibri" pitchFamily="34" charset="-120"/>
              </a:rPr>
              <a:t>of participants had three or fewer recorded completed runs (95% CI 52.1–83.3%)</a:t>
            </a:r>
            <a:endParaRPr lang="en-US" sz="1150" dirty="0"/>
          </a:p>
        </p:txBody>
      </p:sp>
      <p:sp>
        <p:nvSpPr>
          <p:cNvPr id="7" name="Shape 5"/>
          <p:cNvSpPr/>
          <p:nvPr/>
        </p:nvSpPr>
        <p:spPr>
          <a:xfrm>
            <a:off x="3401568" y="1600200"/>
            <a:ext cx="2670048" cy="2286000"/>
          </a:xfrm>
          <a:prstGeom prst="roundRect">
            <a:avLst>
              <a:gd name="adj" fmla="val 3600"/>
            </a:avLst>
          </a:prstGeom>
          <a:solidFill>
            <a:srgbClr val="EAF1FD"/>
          </a:solidFill>
          <a:ln/>
        </p:spPr>
      </p:sp>
      <p:sp>
        <p:nvSpPr>
          <p:cNvPr id="8" name="Text 6"/>
          <p:cNvSpPr txBox="1"/>
          <p:nvPr/>
        </p:nvSpPr>
        <p:spPr>
          <a:xfrm>
            <a:off x="3538728" y="1783080"/>
            <a:ext cx="2395728" cy="86868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26.7%</a:t>
            </a:r>
            <a:endParaRPr lang="en-US" sz="4000" dirty="0"/>
          </a:p>
        </p:txBody>
      </p:sp>
      <p:sp>
        <p:nvSpPr>
          <p:cNvPr id="9" name="Text 7"/>
          <p:cNvSpPr txBox="1"/>
          <p:nvPr/>
        </p:nvSpPr>
        <p:spPr>
          <a:xfrm>
            <a:off x="3602736" y="2697480"/>
            <a:ext cx="2267712" cy="1097280"/>
          </a:xfrm>
          <a:prstGeom prst="rect">
            <a:avLst/>
          </a:prstGeom>
          <a:noFill/>
          <a:ln/>
        </p:spPr>
        <p:txBody>
          <a:bodyPr wrap="square" lIns="0" tIns="0" rIns="0" bIns="0" rtlCol="0" anchor="ctr"/>
          <a:lstStyle/>
          <a:p>
            <a:pPr algn="ctr" indent="0" marL="0">
              <a:lnSpc>
                <a:spcPct val="105000"/>
              </a:lnSpc>
              <a:buNone/>
            </a:pPr>
            <a:r>
              <a:rPr lang="en-US" sz="1150" dirty="0">
                <a:solidFill>
                  <a:srgbClr val="222222"/>
                </a:solidFill>
                <a:latin typeface="Calibri" pitchFamily="34" charset="0"/>
                <a:ea typeface="Calibri" pitchFamily="34" charset="-122"/>
                <a:cs typeface="Calibri" pitchFamily="34" charset="-120"/>
              </a:rPr>
              <a:t>had a single recorded completed run (95% CI 14.2–44.4%)</a:t>
            </a:r>
            <a:endParaRPr lang="en-US" sz="1150" dirty="0"/>
          </a:p>
        </p:txBody>
      </p:sp>
      <p:sp>
        <p:nvSpPr>
          <p:cNvPr id="10" name="Shape 8"/>
          <p:cNvSpPr/>
          <p:nvPr/>
        </p:nvSpPr>
        <p:spPr>
          <a:xfrm>
            <a:off x="6300216" y="1600200"/>
            <a:ext cx="2670048" cy="2286000"/>
          </a:xfrm>
          <a:prstGeom prst="roundRect">
            <a:avLst>
              <a:gd name="adj" fmla="val 3600"/>
            </a:avLst>
          </a:prstGeom>
          <a:solidFill>
            <a:srgbClr val="EAF1FD"/>
          </a:solidFill>
          <a:ln/>
        </p:spPr>
      </p:sp>
      <p:sp>
        <p:nvSpPr>
          <p:cNvPr id="11" name="Text 9"/>
          <p:cNvSpPr txBox="1"/>
          <p:nvPr/>
        </p:nvSpPr>
        <p:spPr>
          <a:xfrm>
            <a:off x="6437376" y="1783080"/>
            <a:ext cx="2395728" cy="86868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0 / 21</a:t>
            </a:r>
            <a:endParaRPr lang="en-US" sz="4000" dirty="0"/>
          </a:p>
        </p:txBody>
      </p:sp>
      <p:sp>
        <p:nvSpPr>
          <p:cNvPr id="12" name="Text 10"/>
          <p:cNvSpPr txBox="1"/>
          <p:nvPr/>
        </p:nvSpPr>
        <p:spPr>
          <a:xfrm>
            <a:off x="6501384" y="2697480"/>
            <a:ext cx="2267712" cy="1097280"/>
          </a:xfrm>
          <a:prstGeom prst="rect">
            <a:avLst/>
          </a:prstGeom>
          <a:noFill/>
          <a:ln/>
        </p:spPr>
        <p:txBody>
          <a:bodyPr wrap="square" lIns="0" tIns="0" rIns="0" bIns="0" rtlCol="0" anchor="ctr"/>
          <a:lstStyle/>
          <a:p>
            <a:pPr algn="ctr" indent="0" marL="0">
              <a:lnSpc>
                <a:spcPct val="105000"/>
              </a:lnSpc>
              <a:buNone/>
            </a:pPr>
            <a:r>
              <a:rPr lang="en-US" sz="1150" dirty="0">
                <a:solidFill>
                  <a:srgbClr val="222222"/>
                </a:solidFill>
                <a:latin typeface="Calibri" pitchFamily="34" charset="0"/>
                <a:ea typeface="Calibri" pitchFamily="34" charset="-122"/>
                <a:cs typeface="Calibri" pitchFamily="34" charset="-120"/>
              </a:rPr>
              <a:t>low-engagement participants with any later recorded run within the window (95% CI 0.0–15.5%)</a:t>
            </a:r>
            <a:endParaRPr lang="en-US" sz="1150" dirty="0"/>
          </a:p>
        </p:txBody>
      </p:sp>
      <p:sp>
        <p:nvSpPr>
          <p:cNvPr id="13" name="Shape 11"/>
          <p:cNvSpPr/>
          <p:nvPr/>
        </p:nvSpPr>
        <p:spPr>
          <a:xfrm>
            <a:off x="9198864" y="1600200"/>
            <a:ext cx="2670048" cy="2286000"/>
          </a:xfrm>
          <a:prstGeom prst="roundRect">
            <a:avLst>
              <a:gd name="adj" fmla="val 3600"/>
            </a:avLst>
          </a:prstGeom>
          <a:solidFill>
            <a:srgbClr val="EAF3EE"/>
          </a:solidFill>
          <a:ln/>
        </p:spPr>
      </p:sp>
      <p:sp>
        <p:nvSpPr>
          <p:cNvPr id="14" name="Text 12"/>
          <p:cNvSpPr txBox="1"/>
          <p:nvPr/>
        </p:nvSpPr>
        <p:spPr>
          <a:xfrm>
            <a:off x="9336024" y="1783080"/>
            <a:ext cx="2395728" cy="868680"/>
          </a:xfrm>
          <a:prstGeom prst="rect">
            <a:avLst/>
          </a:prstGeom>
          <a:noFill/>
          <a:ln/>
        </p:spPr>
        <p:txBody>
          <a:bodyPr wrap="square" lIns="0" tIns="0" rIns="0" bIns="0" rtlCol="0" anchor="ctr"/>
          <a:lstStyle/>
          <a:p>
            <a:pPr algn="ctr" indent="0" marL="0">
              <a:buNone/>
            </a:pPr>
            <a:r>
              <a:rPr lang="en-US" sz="4000" b="1" dirty="0">
                <a:solidFill>
                  <a:srgbClr val="2C6E49"/>
                </a:solidFill>
                <a:latin typeface="Cambria" pitchFamily="34" charset="0"/>
                <a:ea typeface="Cambria" pitchFamily="34" charset="-122"/>
                <a:cs typeface="Cambria" pitchFamily="34" charset="-120"/>
              </a:rPr>
              <a:t>+4.03</a:t>
            </a:r>
            <a:endParaRPr lang="en-US" sz="4000" dirty="0"/>
          </a:p>
        </p:txBody>
      </p:sp>
      <p:sp>
        <p:nvSpPr>
          <p:cNvPr id="15" name="Text 13"/>
          <p:cNvSpPr txBox="1"/>
          <p:nvPr/>
        </p:nvSpPr>
        <p:spPr>
          <a:xfrm>
            <a:off x="9400032" y="2697480"/>
            <a:ext cx="2267712" cy="1097280"/>
          </a:xfrm>
          <a:prstGeom prst="rect">
            <a:avLst/>
          </a:prstGeom>
          <a:noFill/>
          <a:ln/>
        </p:spPr>
        <p:txBody>
          <a:bodyPr wrap="square" lIns="0" tIns="0" rIns="0" bIns="0" rtlCol="0" anchor="ctr"/>
          <a:lstStyle/>
          <a:p>
            <a:pPr algn="ctr" indent="0" marL="0">
              <a:lnSpc>
                <a:spcPct val="105000"/>
              </a:lnSpc>
              <a:buNone/>
            </a:pPr>
            <a:r>
              <a:rPr lang="en-US" sz="1150" dirty="0">
                <a:solidFill>
                  <a:srgbClr val="222222"/>
                </a:solidFill>
                <a:latin typeface="Calibri" pitchFamily="34" charset="0"/>
                <a:ea typeface="Calibri" pitchFamily="34" charset="-122"/>
                <a:cs typeface="Calibri" pitchFamily="34" charset="-120"/>
              </a:rPr>
              <a:t>mean recorded balance-index change, 95% CI 0.47–7.60, paired t p = .028</a:t>
            </a:r>
            <a:endParaRPr lang="en-US" sz="1150" dirty="0"/>
          </a:p>
        </p:txBody>
      </p:sp>
      <p:sp>
        <p:nvSpPr>
          <p:cNvPr id="16" name="Shape 14"/>
          <p:cNvSpPr/>
          <p:nvPr/>
        </p:nvSpPr>
        <p:spPr>
          <a:xfrm>
            <a:off x="502920" y="4160520"/>
            <a:ext cx="11192256" cy="1600200"/>
          </a:xfrm>
          <a:prstGeom prst="roundRect">
            <a:avLst>
              <a:gd name="adj" fmla="val 5143"/>
            </a:avLst>
          </a:prstGeom>
          <a:solidFill>
            <a:srgbClr val="1E2761"/>
          </a:solidFill>
          <a:ln/>
        </p:spPr>
      </p:sp>
      <p:sp>
        <p:nvSpPr>
          <p:cNvPr id="17" name="Text 15"/>
          <p:cNvSpPr txBox="1"/>
          <p:nvPr/>
        </p:nvSpPr>
        <p:spPr>
          <a:xfrm>
            <a:off x="868680" y="4343400"/>
            <a:ext cx="10469880" cy="1280160"/>
          </a:xfrm>
          <a:prstGeom prst="rect">
            <a:avLst/>
          </a:prstGeom>
          <a:noFill/>
          <a:ln/>
        </p:spPr>
        <p:txBody>
          <a:bodyPr wrap="square" lIns="0" tIns="0" rIns="0" bIns="0" rtlCol="0" anchor="ctr"/>
          <a:lstStyle/>
          <a:p>
            <a:pPr indent="0" marL="0">
              <a:lnSpc>
                <a:spcPct val="112000"/>
              </a:lnSpc>
              <a:buNone/>
            </a:pPr>
            <a:r>
              <a:rPr lang="en-US" sz="1550" b="1" dirty="0">
                <a:solidFill>
                  <a:srgbClr val="CADCFC"/>
                </a:solidFill>
                <a:latin typeface="Calibri" pitchFamily="34" charset="0"/>
                <a:ea typeface="Calibri" pitchFamily="34" charset="-122"/>
                <a:cs typeface="Calibri" pitchFamily="34" charset="-120"/>
              </a:rPr>
              <a:t>The paradox that drives the thesis:  </a:t>
            </a:r>
            <a:pPr indent="0" marL="0">
              <a:lnSpc>
                <a:spcPct val="112000"/>
              </a:lnSpc>
              <a:buNone/>
            </a:pPr>
            <a:r>
              <a:rPr lang="en-US" sz="1550" dirty="0">
                <a:solidFill>
                  <a:srgbClr val="FFFFFF"/>
                </a:solidFill>
                <a:latin typeface="Calibri" pitchFamily="34" charset="0"/>
                <a:ea typeface="Calibri" pitchFamily="34" charset="-122"/>
                <a:cs typeface="Calibri" pitchFamily="34" charset="-120"/>
              </a:rPr>
              <a:t>recorded index scores improved, participants acknowledged the assessment's usefulness — and most still did not return. Users satisfied with the game abandoned the service that measured them. This coexistence does not establish durable learning or clinical benefit; it defines the engineering problem.</a:t>
            </a:r>
            <a:endParaRPr lang="en-US" sz="1550" dirty="0"/>
          </a:p>
        </p:txBody>
      </p:sp>
      <p:sp>
        <p:nvSpPr>
          <p:cNvPr id="18" name="Text 16"/>
          <p:cNvSpPr txBox="1"/>
          <p:nvPr/>
        </p:nvSpPr>
        <p:spPr>
          <a:xfrm>
            <a:off x="502920" y="5943600"/>
            <a:ext cx="11155680" cy="502920"/>
          </a:xfrm>
          <a:prstGeom prst="rect">
            <a:avLst/>
          </a:prstGeom>
          <a:noFill/>
          <a:ln/>
        </p:spPr>
        <p:txBody>
          <a:bodyPr wrap="square" lIns="0" tIns="0" rIns="0" bIns="0" rtlCol="0" anchor="ctr"/>
          <a:lstStyle/>
          <a:p>
            <a:pPr indent="0" marL="0">
              <a:buNone/>
            </a:pPr>
            <a:r>
              <a:rPr lang="en-US" sz="1200" i="1" dirty="0">
                <a:solidFill>
                  <a:srgbClr val="5A6172"/>
                </a:solidFill>
                <a:latin typeface="Calibri" pitchFamily="34" charset="0"/>
                <a:ea typeface="Calibri" pitchFamily="34" charset="-122"/>
                <a:cs typeface="Calibri" pitchFamily="34" charset="-120"/>
              </a:rPr>
              <a:t>Terminology is deliberate: “recorded completed runs” and “documented non-return within the observation window” — the archive records runs, not visits, and no participant was followed after the window.</a:t>
            </a:r>
            <a:endParaRPr lang="en-US" sz="1200" dirty="0"/>
          </a:p>
        </p:txBody>
      </p:sp>
      <p:sp>
        <p:nvSpPr>
          <p:cNvPr id="19" name="Text 17"/>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20" name="Text 18"/>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Proposed mechanism: FIDS → FIAS</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A descriptive, non-diagnostic construct — mechanisms remain hypotheses, not measured results</a:t>
            </a:r>
            <a:endParaRPr lang="en-US" sz="1400" dirty="0"/>
          </a:p>
        </p:txBody>
      </p:sp>
      <p:pic>
        <p:nvPicPr>
          <p:cNvPr id="4" name="Image 0" descr="/home/user/gamification/docs/papers/figures_submission/Figure7_FIDS_FIAS_Mechanism.png">    </p:cNvPr>
          <p:cNvPicPr>
            <a:picLocks noChangeAspect="1"/>
          </p:cNvPicPr>
          <p:nvPr/>
        </p:nvPicPr>
        <p:blipFill>
          <a:blip r:embed="rId1"/>
          <a:stretch>
            <a:fillRect/>
          </a:stretch>
        </p:blipFill>
        <p:spPr>
          <a:xfrm>
            <a:off x="7955280" y="1417320"/>
            <a:ext cx="3749040" cy="4507992"/>
          </a:xfrm>
          <a:prstGeom prst="rect">
            <a:avLst/>
          </a:prstGeom>
        </p:spPr>
      </p:pic>
      <p:sp>
        <p:nvSpPr>
          <p:cNvPr id="5" name="Text 2"/>
          <p:cNvSpPr txBox="1"/>
          <p:nvPr/>
        </p:nvSpPr>
        <p:spPr>
          <a:xfrm>
            <a:off x="502920" y="1481328"/>
            <a:ext cx="7178040" cy="1078992"/>
          </a:xfrm>
          <a:prstGeom prst="rect">
            <a:avLst/>
          </a:prstGeom>
          <a:noFill/>
          <a:ln/>
        </p:spPr>
        <p:txBody>
          <a:bodyPr wrap="square" lIns="0" tIns="0" rIns="0" bIns="0" rtlCol="0" anchor="ctr"/>
          <a:lstStyle/>
          <a:p>
            <a:pPr indent="0" marL="0">
              <a:lnSpc>
                <a:spcPct val="106000"/>
              </a:lnSpc>
              <a:buNone/>
            </a:pPr>
            <a:r>
              <a:rPr lang="en-US" sz="1350" b="1" dirty="0">
                <a:solidFill>
                  <a:srgbClr val="1E2761"/>
                </a:solidFill>
                <a:latin typeface="Calibri" pitchFamily="34" charset="0"/>
                <a:ea typeface="Calibri" pitchFamily="34" charset="-122"/>
                <a:cs typeface="Calibri" pitchFamily="34" charset="-120"/>
              </a:rPr>
              <a:t>Field sequence (contemporaneous notes)</a:t>
            </a:r>
            <a:endParaRPr lang="en-US" sz="1350" dirty="0"/>
          </a:p>
          <a:p>
            <a:pPr indent="0" marL="0">
              <a:lnSpc>
                <a:spcPct val="106000"/>
              </a:lnSpc>
              <a:buNone/>
            </a:pPr>
            <a:r>
              <a:rPr lang="en-US" sz="1200" dirty="0">
                <a:solidFill>
                  <a:srgbClr val="222222"/>
                </a:solidFill>
                <a:latin typeface="Calibri" pitchFamily="34" charset="0"/>
                <a:ea typeface="Calibri" pitchFamily="34" charset="-122"/>
                <a:cs typeface="Calibri" pitchFamily="34" charset="-120"/>
              </a:rPr>
              <a:t>Players acknowledged FRA benefits and recorded gains; recurring in-game failures across second and third runs; gave up despite gains; remaining players saw the group thin out and abandoned too.</a:t>
            </a:r>
            <a:endParaRPr lang="en-US" sz="1350" dirty="0"/>
          </a:p>
        </p:txBody>
      </p:sp>
      <p:sp>
        <p:nvSpPr>
          <p:cNvPr id="6" name="Text 3"/>
          <p:cNvSpPr txBox="1"/>
          <p:nvPr/>
        </p:nvSpPr>
        <p:spPr>
          <a:xfrm>
            <a:off x="502920" y="2615184"/>
            <a:ext cx="7178040" cy="1078992"/>
          </a:xfrm>
          <a:prstGeom prst="rect">
            <a:avLst/>
          </a:prstGeom>
          <a:noFill/>
          <a:ln/>
        </p:spPr>
        <p:txBody>
          <a:bodyPr wrap="square" lIns="0" tIns="0" rIns="0" bIns="0" rtlCol="0" anchor="ctr"/>
          <a:lstStyle/>
          <a:p>
            <a:pPr indent="0" marL="0">
              <a:lnSpc>
                <a:spcPct val="106000"/>
              </a:lnSpc>
              <a:buNone/>
            </a:pPr>
            <a:r>
              <a:rPr lang="en-US" sz="1350" b="1" dirty="0">
                <a:solidFill>
                  <a:srgbClr val="1E2761"/>
                </a:solidFill>
                <a:latin typeface="Calibri" pitchFamily="34" charset="0"/>
                <a:ea typeface="Calibri" pitchFamily="34" charset="-122"/>
                <a:cs typeface="Calibri" pitchFamily="34" charset="-120"/>
              </a:rPr>
              <a:t>Failure-Induced Abandonment Syndrome</a:t>
            </a:r>
            <a:endParaRPr lang="en-US" sz="1350" dirty="0"/>
          </a:p>
          <a:p>
            <a:pPr indent="0" marL="0">
              <a:lnSpc>
                <a:spcPct val="106000"/>
              </a:lnSpc>
              <a:buNone/>
            </a:pPr>
            <a:r>
              <a:rPr lang="en-US" sz="1200" dirty="0">
                <a:solidFill>
                  <a:srgbClr val="222222"/>
                </a:solidFill>
                <a:latin typeface="Calibri" pitchFamily="34" charset="0"/>
                <a:ea typeface="Calibri" pitchFamily="34" charset="-122"/>
                <a:cs typeface="Calibri" pitchFamily="34" charset="-120"/>
              </a:rPr>
              <a:t>Proposed to name the pattern: an adverse verdict experience in a health-coupled game, followed by non-return that spreads socially. Emerged from Stage-2 fieldwork; held to Chapter 4 onward by the writing-logic standard.</a:t>
            </a:r>
            <a:endParaRPr lang="en-US" sz="1350" dirty="0"/>
          </a:p>
        </p:txBody>
      </p:sp>
      <p:sp>
        <p:nvSpPr>
          <p:cNvPr id="7" name="Text 4"/>
          <p:cNvSpPr txBox="1"/>
          <p:nvPr/>
        </p:nvSpPr>
        <p:spPr>
          <a:xfrm>
            <a:off x="502920" y="3749040"/>
            <a:ext cx="7178040" cy="1078992"/>
          </a:xfrm>
          <a:prstGeom prst="rect">
            <a:avLst/>
          </a:prstGeom>
          <a:noFill/>
          <a:ln/>
        </p:spPr>
        <p:txBody>
          <a:bodyPr wrap="square" lIns="0" tIns="0" rIns="0" bIns="0" rtlCol="0" anchor="ctr"/>
          <a:lstStyle/>
          <a:p>
            <a:pPr indent="0" marL="0">
              <a:lnSpc>
                <a:spcPct val="106000"/>
              </a:lnSpc>
              <a:buNone/>
            </a:pPr>
            <a:r>
              <a:rPr lang="en-US" sz="1350" b="1" dirty="0">
                <a:solidFill>
                  <a:srgbClr val="1E2761"/>
                </a:solidFill>
                <a:latin typeface="Calibri" pitchFamily="34" charset="0"/>
                <a:ea typeface="Calibri" pitchFamily="34" charset="-122"/>
                <a:cs typeface="Calibri" pitchFamily="34" charset="-120"/>
              </a:rPr>
              <a:t>Candidate boundary condition</a:t>
            </a:r>
            <a:endParaRPr lang="en-US" sz="1350" dirty="0"/>
          </a:p>
          <a:p>
            <a:pPr indent="0" marL="0">
              <a:lnSpc>
                <a:spcPct val="106000"/>
              </a:lnSpc>
              <a:buNone/>
            </a:pPr>
            <a:r>
              <a:rPr lang="en-US" sz="1200" dirty="0">
                <a:solidFill>
                  <a:srgbClr val="222222"/>
                </a:solidFill>
                <a:latin typeface="Calibri" pitchFamily="34" charset="0"/>
                <a:ea typeface="Calibri" pitchFamily="34" charset="-122"/>
                <a:cs typeface="Calibri" pitchFamily="34" charset="-120"/>
              </a:rPr>
              <a:t>The decoupling comparison suggests gamification theory's engagement predictions may not transfer when play is coupled to a clinical verdict — stated as a candidate boundary condition, not a law.</a:t>
            </a:r>
            <a:endParaRPr lang="en-US" sz="1350" dirty="0"/>
          </a:p>
        </p:txBody>
      </p:sp>
      <p:sp>
        <p:nvSpPr>
          <p:cNvPr id="8" name="Text 5"/>
          <p:cNvSpPr txBox="1"/>
          <p:nvPr/>
        </p:nvSpPr>
        <p:spPr>
          <a:xfrm>
            <a:off x="502920" y="4882896"/>
            <a:ext cx="7178040" cy="1078992"/>
          </a:xfrm>
          <a:prstGeom prst="rect">
            <a:avLst/>
          </a:prstGeom>
          <a:noFill/>
          <a:ln/>
        </p:spPr>
        <p:txBody>
          <a:bodyPr wrap="square" lIns="0" tIns="0" rIns="0" bIns="0" rtlCol="0" anchor="ctr"/>
          <a:lstStyle/>
          <a:p>
            <a:pPr indent="0" marL="0">
              <a:lnSpc>
                <a:spcPct val="106000"/>
              </a:lnSpc>
              <a:buNone/>
            </a:pPr>
            <a:r>
              <a:rPr lang="en-US" sz="1350" b="1" dirty="0">
                <a:solidFill>
                  <a:srgbClr val="1E2761"/>
                </a:solidFill>
                <a:latin typeface="Calibri" pitchFamily="34" charset="0"/>
                <a:ea typeface="Calibri" pitchFamily="34" charset="-122"/>
                <a:cs typeface="Calibri" pitchFamily="34" charset="-120"/>
              </a:rPr>
              <a:t>Design response (Chapter 7)</a:t>
            </a:r>
            <a:endParaRPr lang="en-US" sz="1350" dirty="0"/>
          </a:p>
          <a:p>
            <a:pPr indent="0" marL="0">
              <a:lnSpc>
                <a:spcPct val="106000"/>
              </a:lnSpc>
              <a:buNone/>
            </a:pPr>
            <a:r>
              <a:rPr lang="en-US" sz="1200" dirty="0">
                <a:solidFill>
                  <a:srgbClr val="222222"/>
                </a:solidFill>
                <a:latin typeface="Calibri" pitchFamily="34" charset="0"/>
                <a:ea typeface="Calibri" pitchFamily="34" charset="-122"/>
                <a:cs typeface="Calibri" pitchFamily="34" charset="-120"/>
              </a:rPr>
              <a:t>Adaptive-learning framework: calibrated difficulty, trajectory display, coaching — the middle ground between coupled and decoupled designs. Stage 3B is its first field deployment.</a:t>
            </a:r>
            <a:endParaRPr lang="en-US" sz="1350" dirty="0"/>
          </a:p>
        </p:txBody>
      </p:sp>
      <p:sp>
        <p:nvSpPr>
          <p:cNvPr id="9" name="Text 6"/>
          <p:cNvSpPr txBox="1"/>
          <p:nvPr/>
        </p:nvSpPr>
        <p:spPr>
          <a:xfrm>
            <a:off x="7955280" y="5961888"/>
            <a:ext cx="3749040" cy="457200"/>
          </a:xfrm>
          <a:prstGeom prst="rect">
            <a:avLst/>
          </a:prstGeom>
          <a:noFill/>
          <a:ln/>
        </p:spPr>
        <p:txBody>
          <a:bodyPr wrap="square" lIns="0" tIns="0" rIns="0" bIns="0" rtlCol="0" anchor="ctr"/>
          <a:lstStyle/>
          <a:p>
            <a:pPr algn="ctr" indent="0" marL="0">
              <a:buNone/>
            </a:pPr>
            <a:r>
              <a:rPr lang="en-US" sz="1050" i="1" dirty="0">
                <a:solidFill>
                  <a:srgbClr val="5A6172"/>
                </a:solidFill>
                <a:latin typeface="Calibri" pitchFamily="34" charset="0"/>
                <a:ea typeface="Calibri" pitchFamily="34" charset="-122"/>
                <a:cs typeface="Calibri" pitchFamily="34" charset="-120"/>
              </a:rPr>
              <a:t>Figure: conceptual model (from Paper 2) — labelled as proposed, not directly measured.</a:t>
            </a:r>
            <a:endParaRPr lang="en-US" sz="1050" dirty="0"/>
          </a:p>
        </p:txBody>
      </p:sp>
      <p:sp>
        <p:nvSpPr>
          <p:cNvPr id="10" name="Text 7"/>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11" name="Text 8"/>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Progress since the last review (March 2026)</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Thesis V40 closed except items awaiting records or the Stage-3B window</a:t>
            </a:r>
            <a:endParaRPr lang="en-US" sz="1400" dirty="0"/>
          </a:p>
        </p:txBody>
      </p:sp>
      <p:sp>
        <p:nvSpPr>
          <p:cNvPr id="4" name="Shape 2"/>
          <p:cNvSpPr/>
          <p:nvPr/>
        </p:nvSpPr>
        <p:spPr>
          <a:xfrm>
            <a:off x="502920" y="1463040"/>
            <a:ext cx="5440680" cy="1481328"/>
          </a:xfrm>
          <a:prstGeom prst="roundRect">
            <a:avLst>
              <a:gd name="adj" fmla="val 4938"/>
            </a:avLst>
          </a:prstGeom>
          <a:solidFill>
            <a:srgbClr val="EAF3EE"/>
          </a:solidFill>
          <a:ln/>
        </p:spPr>
      </p:sp>
      <p:sp>
        <p:nvSpPr>
          <p:cNvPr id="5" name="Shape 3"/>
          <p:cNvSpPr/>
          <p:nvPr/>
        </p:nvSpPr>
        <p:spPr>
          <a:xfrm>
            <a:off x="667512" y="1627632"/>
            <a:ext cx="365760" cy="365760"/>
          </a:xfrm>
          <a:prstGeom prst="ellipse">
            <a:avLst/>
          </a:prstGeom>
          <a:solidFill>
            <a:srgbClr val="2C6E49"/>
          </a:solidFill>
          <a:ln/>
        </p:spPr>
      </p:sp>
      <p:sp>
        <p:nvSpPr>
          <p:cNvPr id="6" name="Text 4"/>
          <p:cNvSpPr txBox="1"/>
          <p:nvPr/>
        </p:nvSpPr>
        <p:spPr>
          <a:xfrm>
            <a:off x="667512" y="1618488"/>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61288" y="1572768"/>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Claims recalibrated to the record</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The March working figures (“82% never returned”, 18.4-hour median, “pattern confirmed”) are superseded: every claim now rests on the archived record, in calibrated language — observed use vs inferred abandonment.</a:t>
            </a:r>
            <a:endParaRPr lang="en-US" sz="1350" dirty="0"/>
          </a:p>
        </p:txBody>
      </p:sp>
      <p:sp>
        <p:nvSpPr>
          <p:cNvPr id="8" name="Shape 6"/>
          <p:cNvSpPr/>
          <p:nvPr/>
        </p:nvSpPr>
        <p:spPr>
          <a:xfrm>
            <a:off x="6190488" y="1463040"/>
            <a:ext cx="5440680" cy="1481328"/>
          </a:xfrm>
          <a:prstGeom prst="roundRect">
            <a:avLst>
              <a:gd name="adj" fmla="val 4938"/>
            </a:avLst>
          </a:prstGeom>
          <a:solidFill>
            <a:srgbClr val="EAF3EE"/>
          </a:solidFill>
          <a:ln/>
        </p:spPr>
      </p:sp>
      <p:sp>
        <p:nvSpPr>
          <p:cNvPr id="9" name="Shape 7"/>
          <p:cNvSpPr/>
          <p:nvPr/>
        </p:nvSpPr>
        <p:spPr>
          <a:xfrm>
            <a:off x="6355080" y="1627632"/>
            <a:ext cx="365760" cy="365760"/>
          </a:xfrm>
          <a:prstGeom prst="ellipse">
            <a:avLst/>
          </a:prstGeom>
          <a:solidFill>
            <a:srgbClr val="2C6E49"/>
          </a:solidFill>
          <a:ln/>
        </p:spPr>
      </p:sp>
      <p:sp>
        <p:nvSpPr>
          <p:cNvPr id="10" name="Text 8"/>
          <p:cNvSpPr txBox="1"/>
          <p:nvPr/>
        </p:nvSpPr>
        <p:spPr>
          <a:xfrm>
            <a:off x="6355080" y="1618488"/>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6848856" y="1572768"/>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Ethics approval secured</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HSEARS20260805008 approved 6 Aug 2026; PI Prof. Cheung; approval period 16 Jun 2024 – 30 Oct 2026 covers all conducted stages and the Stage-3B window. Memo archived.</a:t>
            </a:r>
            <a:endParaRPr lang="en-US" sz="1350" dirty="0"/>
          </a:p>
        </p:txBody>
      </p:sp>
      <p:sp>
        <p:nvSpPr>
          <p:cNvPr id="12" name="Shape 10"/>
          <p:cNvSpPr/>
          <p:nvPr/>
        </p:nvSpPr>
        <p:spPr>
          <a:xfrm>
            <a:off x="502920" y="3090672"/>
            <a:ext cx="5440680" cy="1481328"/>
          </a:xfrm>
          <a:prstGeom prst="roundRect">
            <a:avLst>
              <a:gd name="adj" fmla="val 4938"/>
            </a:avLst>
          </a:prstGeom>
          <a:solidFill>
            <a:srgbClr val="EAF3EE"/>
          </a:solidFill>
          <a:ln/>
        </p:spPr>
      </p:sp>
      <p:sp>
        <p:nvSpPr>
          <p:cNvPr id="13" name="Shape 11"/>
          <p:cNvSpPr/>
          <p:nvPr/>
        </p:nvSpPr>
        <p:spPr>
          <a:xfrm>
            <a:off x="667512" y="3255264"/>
            <a:ext cx="365760" cy="365760"/>
          </a:xfrm>
          <a:prstGeom prst="ellipse">
            <a:avLst/>
          </a:prstGeom>
          <a:solidFill>
            <a:srgbClr val="2C6E49"/>
          </a:solidFill>
          <a:ln/>
        </p:spPr>
      </p:sp>
      <p:sp>
        <p:nvSpPr>
          <p:cNvPr id="14" name="Text 12"/>
          <p:cNvSpPr txBox="1"/>
          <p:nvPr/>
        </p:nvSpPr>
        <p:spPr>
          <a:xfrm>
            <a:off x="667512" y="3246120"/>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161288" y="3200400"/>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Thesis of record closed (V40)</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Examiner-style review actioned (major-revision items closed), forward-results discipline applied to Ch1–3, evidentiary appendices built, all tables/figures production-formatted.</a:t>
            </a:r>
            <a:endParaRPr lang="en-US" sz="1350" dirty="0"/>
          </a:p>
        </p:txBody>
      </p:sp>
      <p:sp>
        <p:nvSpPr>
          <p:cNvPr id="16" name="Shape 14"/>
          <p:cNvSpPr/>
          <p:nvPr/>
        </p:nvSpPr>
        <p:spPr>
          <a:xfrm>
            <a:off x="6190488" y="3090672"/>
            <a:ext cx="5440680" cy="1481328"/>
          </a:xfrm>
          <a:prstGeom prst="roundRect">
            <a:avLst>
              <a:gd name="adj" fmla="val 4938"/>
            </a:avLst>
          </a:prstGeom>
          <a:solidFill>
            <a:srgbClr val="EAF3EE"/>
          </a:solidFill>
          <a:ln/>
        </p:spPr>
      </p:sp>
      <p:sp>
        <p:nvSpPr>
          <p:cNvPr id="17" name="Shape 15"/>
          <p:cNvSpPr/>
          <p:nvPr/>
        </p:nvSpPr>
        <p:spPr>
          <a:xfrm>
            <a:off x="6355080" y="3255264"/>
            <a:ext cx="365760" cy="365760"/>
          </a:xfrm>
          <a:prstGeom prst="ellipse">
            <a:avLst/>
          </a:prstGeom>
          <a:solidFill>
            <a:srgbClr val="2C6E49"/>
          </a:solidFill>
          <a:ln/>
        </p:spPr>
      </p:sp>
      <p:sp>
        <p:nvSpPr>
          <p:cNvPr id="18" name="Text 16"/>
          <p:cNvSpPr txBox="1"/>
          <p:nvPr/>
        </p:nvSpPr>
        <p:spPr>
          <a:xfrm>
            <a:off x="6355080" y="3246120"/>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6848856" y="3200400"/>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Stage-2 evidentiary archive completed</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FRA logbook with stable player IDs, questionnaire entry workbook, nine-interview record; sensitivity analysis independently reproduced (n=30 vs n=29); provenance documented as-received.</a:t>
            </a:r>
            <a:endParaRPr lang="en-US" sz="1350" dirty="0"/>
          </a:p>
        </p:txBody>
      </p:sp>
      <p:sp>
        <p:nvSpPr>
          <p:cNvPr id="20" name="Shape 18"/>
          <p:cNvSpPr/>
          <p:nvPr/>
        </p:nvSpPr>
        <p:spPr>
          <a:xfrm>
            <a:off x="502920" y="4718304"/>
            <a:ext cx="5440680" cy="1481328"/>
          </a:xfrm>
          <a:prstGeom prst="roundRect">
            <a:avLst>
              <a:gd name="adj" fmla="val 4938"/>
            </a:avLst>
          </a:prstGeom>
          <a:solidFill>
            <a:srgbClr val="EAF3EE"/>
          </a:solidFill>
          <a:ln/>
        </p:spPr>
      </p:sp>
      <p:sp>
        <p:nvSpPr>
          <p:cNvPr id="21" name="Shape 19"/>
          <p:cNvSpPr/>
          <p:nvPr/>
        </p:nvSpPr>
        <p:spPr>
          <a:xfrm>
            <a:off x="667512" y="4882896"/>
            <a:ext cx="365760" cy="365760"/>
          </a:xfrm>
          <a:prstGeom prst="ellipse">
            <a:avLst/>
          </a:prstGeom>
          <a:solidFill>
            <a:srgbClr val="2C6E49"/>
          </a:solidFill>
          <a:ln/>
        </p:spPr>
      </p:sp>
      <p:sp>
        <p:nvSpPr>
          <p:cNvPr id="22" name="Text 20"/>
          <p:cNvSpPr txBox="1"/>
          <p:nvPr/>
        </p:nvSpPr>
        <p:spPr>
          <a:xfrm>
            <a:off x="667512" y="4873752"/>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1161288" y="4828032"/>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Publications advanced</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Stage-1 paper presented and accepted (ICMSS 2026); Paper 2 revised through a systematic ten-point round and submitted to JIKM; Paper 3 package built for JMIR Serious Games.</a:t>
            </a:r>
            <a:endParaRPr lang="en-US" sz="1350" dirty="0"/>
          </a:p>
        </p:txBody>
      </p:sp>
      <p:sp>
        <p:nvSpPr>
          <p:cNvPr id="24" name="Shape 22"/>
          <p:cNvSpPr/>
          <p:nvPr/>
        </p:nvSpPr>
        <p:spPr>
          <a:xfrm>
            <a:off x="6190488" y="4718304"/>
            <a:ext cx="5440680" cy="1481328"/>
          </a:xfrm>
          <a:prstGeom prst="roundRect">
            <a:avLst>
              <a:gd name="adj" fmla="val 4938"/>
            </a:avLst>
          </a:prstGeom>
          <a:solidFill>
            <a:srgbClr val="EAF3EE"/>
          </a:solidFill>
          <a:ln/>
        </p:spPr>
      </p:sp>
      <p:sp>
        <p:nvSpPr>
          <p:cNvPr id="25" name="Shape 23"/>
          <p:cNvSpPr/>
          <p:nvPr/>
        </p:nvSpPr>
        <p:spPr>
          <a:xfrm>
            <a:off x="6355080" y="4882896"/>
            <a:ext cx="365760" cy="365760"/>
          </a:xfrm>
          <a:prstGeom prst="ellipse">
            <a:avLst/>
          </a:prstGeom>
          <a:solidFill>
            <a:srgbClr val="2C6E49"/>
          </a:solidFill>
          <a:ln/>
        </p:spPr>
      </p:sp>
      <p:sp>
        <p:nvSpPr>
          <p:cNvPr id="26" name="Text 24"/>
          <p:cNvSpPr txBox="1"/>
          <p:nvPr/>
        </p:nvSpPr>
        <p:spPr>
          <a:xfrm>
            <a:off x="6355080" y="4873752"/>
            <a:ext cx="365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6848856" y="4828032"/>
            <a:ext cx="4617720" cy="1298448"/>
          </a:xfrm>
          <a:prstGeom prst="rect">
            <a:avLst/>
          </a:prstGeom>
          <a:noFill/>
          <a:ln/>
        </p:spPr>
        <p:txBody>
          <a:bodyPr wrap="square" lIns="0" tIns="0" rIns="0" bIns="0" rtlCol="0" anchor="ctr"/>
          <a:lstStyle/>
          <a:p>
            <a:pPr indent="0" marL="0">
              <a:lnSpc>
                <a:spcPct val="104000"/>
              </a:lnSpc>
              <a:buNone/>
            </a:pPr>
            <a:r>
              <a:rPr lang="en-US" sz="1350" b="1" dirty="0">
                <a:solidFill>
                  <a:srgbClr val="1E2761"/>
                </a:solidFill>
                <a:latin typeface="Calibri" pitchFamily="34" charset="0"/>
                <a:ea typeface="Calibri" pitchFamily="34" charset="-122"/>
                <a:cs typeface="Calibri" pitchFamily="34" charset="-120"/>
              </a:rPr>
              <a:t>Stage 3B designed and built</a:t>
            </a:r>
            <a:endParaRPr lang="en-US" sz="1350" dirty="0"/>
          </a:p>
          <a:p>
            <a:pPr indent="0" marL="0">
              <a:lnSpc>
                <a:spcPct val="104000"/>
              </a:lnSpc>
              <a:buNone/>
            </a:pPr>
            <a:r>
              <a:rPr lang="en-US" sz="1100" dirty="0">
                <a:solidFill>
                  <a:srgbClr val="222222"/>
                </a:solidFill>
                <a:latin typeface="Calibri" pitchFamily="34" charset="0"/>
                <a:ea typeface="Calibri" pitchFamily="34" charset="-122"/>
                <a:cs typeface="Calibri" pitchFamily="34" charset="-120"/>
              </a:rPr>
              <a:t>New since March: protocol drafted, v3.0 bilingual build complete and smoke-tested (in-build consent, silent A/B arms, one-file export, no external calls).</a:t>
            </a:r>
            <a:endParaRPr lang="en-US" sz="1350" dirty="0"/>
          </a:p>
        </p:txBody>
      </p:sp>
      <p:sp>
        <p:nvSpPr>
          <p:cNvPr id="28" name="Text 26"/>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29" name="Text 27"/>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Publications</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One paper per stage, one venue per paper — no results duplicated across the three</a:t>
            </a:r>
            <a:endParaRPr lang="en-US" sz="1400" dirty="0"/>
          </a:p>
        </p:txBody>
      </p:sp>
      <p:sp>
        <p:nvSpPr>
          <p:cNvPr id="4" name="Shape 2"/>
          <p:cNvSpPr/>
          <p:nvPr/>
        </p:nvSpPr>
        <p:spPr>
          <a:xfrm>
            <a:off x="502920" y="1463040"/>
            <a:ext cx="11192256" cy="1426464"/>
          </a:xfrm>
          <a:prstGeom prst="roundRect">
            <a:avLst>
              <a:gd name="adj" fmla="val 5128"/>
            </a:avLst>
          </a:prstGeom>
          <a:solidFill>
            <a:srgbClr val="EAF1FD"/>
          </a:solidFill>
          <a:ln/>
        </p:spPr>
      </p:sp>
      <p:sp>
        <p:nvSpPr>
          <p:cNvPr id="5" name="Text 3"/>
          <p:cNvSpPr txBox="1"/>
          <p:nvPr/>
        </p:nvSpPr>
        <p:spPr>
          <a:xfrm>
            <a:off x="777240" y="1609344"/>
            <a:ext cx="1188720" cy="365760"/>
          </a:xfrm>
          <a:prstGeom prst="rect">
            <a:avLst/>
          </a:prstGeom>
          <a:noFill/>
          <a:ln/>
        </p:spPr>
        <p:txBody>
          <a:bodyPr wrap="square" lIns="0" tIns="0" rIns="0" bIns="0" rtlCol="0" anchor="ctr"/>
          <a:lstStyle/>
          <a:p>
            <a:pPr indent="0" marL="0">
              <a:buNone/>
            </a:pPr>
            <a:r>
              <a:rPr lang="en-US" sz="1300" b="1" dirty="0">
                <a:solidFill>
                  <a:srgbClr val="5A6172"/>
                </a:solidFill>
                <a:latin typeface="Calibri" pitchFamily="34" charset="0"/>
                <a:ea typeface="Calibri" pitchFamily="34" charset="-122"/>
                <a:cs typeface="Calibri" pitchFamily="34" charset="-120"/>
              </a:rPr>
              <a:t>Stage 1</a:t>
            </a:r>
            <a:endParaRPr lang="en-US" sz="1300" dirty="0"/>
          </a:p>
        </p:txBody>
      </p:sp>
      <p:sp>
        <p:nvSpPr>
          <p:cNvPr id="6" name="Shape 4"/>
          <p:cNvSpPr/>
          <p:nvPr/>
        </p:nvSpPr>
        <p:spPr>
          <a:xfrm>
            <a:off x="777240" y="2029968"/>
            <a:ext cx="1600200" cy="310896"/>
          </a:xfrm>
          <a:prstGeom prst="roundRect">
            <a:avLst>
              <a:gd name="adj" fmla="val 50000"/>
            </a:avLst>
          </a:prstGeom>
          <a:solidFill>
            <a:srgbClr val="2C6E49"/>
          </a:solidFill>
          <a:ln/>
        </p:spPr>
      </p:sp>
      <p:sp>
        <p:nvSpPr>
          <p:cNvPr id="7" name="Text 5"/>
          <p:cNvSpPr txBox="1"/>
          <p:nvPr/>
        </p:nvSpPr>
        <p:spPr>
          <a:xfrm>
            <a:off x="777240" y="2016252"/>
            <a:ext cx="1600200" cy="3383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ACCEPTED</a:t>
            </a:r>
            <a:endParaRPr lang="en-US" sz="1150" dirty="0"/>
          </a:p>
        </p:txBody>
      </p:sp>
      <p:sp>
        <p:nvSpPr>
          <p:cNvPr id="8" name="Text 6"/>
          <p:cNvSpPr txBox="1"/>
          <p:nvPr/>
        </p:nvSpPr>
        <p:spPr>
          <a:xfrm>
            <a:off x="2606040" y="1572768"/>
            <a:ext cx="8869680" cy="1261872"/>
          </a:xfrm>
          <a:prstGeom prst="rect">
            <a:avLst/>
          </a:prstGeom>
          <a:noFill/>
          <a:ln/>
        </p:spPr>
        <p:txBody>
          <a:bodyPr wrap="square" lIns="0" tIns="0" rIns="0" bIns="0" rtlCol="0" anchor="ctr"/>
          <a:lstStyle/>
          <a:p>
            <a:pPr indent="0" marL="0">
              <a:lnSpc>
                <a:spcPct val="105000"/>
              </a:lnSpc>
              <a:buNone/>
            </a:pPr>
            <a:r>
              <a:rPr lang="en-US" sz="1350" b="1" dirty="0">
                <a:solidFill>
                  <a:srgbClr val="1E2761"/>
                </a:solidFill>
                <a:latin typeface="Calibri" pitchFamily="34" charset="0"/>
                <a:ea typeface="Calibri" pitchFamily="34" charset="-122"/>
                <a:cs typeface="Calibri" pitchFamily="34" charset="-120"/>
              </a:rPr>
              <a:t>“Investigating Low Utilisation of Fall Risk Assessment Among Elderly Users…”</a:t>
            </a:r>
            <a:endParaRPr lang="en-US" sz="1350" dirty="0"/>
          </a:p>
          <a:p>
            <a:pPr indent="0" marL="0">
              <a:lnSpc>
                <a:spcPct val="105000"/>
              </a:lnSpc>
              <a:buNone/>
            </a:pPr>
            <a:r>
              <a:rPr lang="en-US" sz="1150" i="1" dirty="0">
                <a:solidFill>
                  <a:srgbClr val="5A6172"/>
                </a:solidFill>
                <a:latin typeface="Calibri" pitchFamily="34" charset="0"/>
                <a:ea typeface="Calibri" pitchFamily="34" charset="-122"/>
                <a:cs typeface="Calibri" pitchFamily="34" charset="-120"/>
              </a:rPr>
              <a:t>ICMSS 2026 (Wuhan) · IEEE Xplore (CPS)</a:t>
            </a:r>
            <a:endParaRPr lang="en-US" sz="1350" dirty="0"/>
          </a:p>
          <a:p>
            <a:pPr indent="0" marL="0">
              <a:lnSpc>
                <a:spcPct val="105000"/>
              </a:lnSpc>
              <a:buNone/>
            </a:pPr>
            <a:r>
              <a:rPr lang="en-US" sz="1100" dirty="0">
                <a:solidFill>
                  <a:srgbClr val="222222"/>
                </a:solidFill>
                <a:latin typeface="Calibri" pitchFamily="34" charset="0"/>
                <a:ea typeface="Calibri" pitchFamily="34" charset="-122"/>
                <a:cs typeface="Calibri" pitchFamily="34" charset="-120"/>
              </a:rPr>
              <a:t>Tam &amp; Cheung. Critical review through TAM and Octalysis; presented March 2026. Camera-ready consent-statement check pending.</a:t>
            </a:r>
            <a:endParaRPr lang="en-US" sz="1350" dirty="0"/>
          </a:p>
        </p:txBody>
      </p:sp>
      <p:sp>
        <p:nvSpPr>
          <p:cNvPr id="9" name="Shape 7"/>
          <p:cNvSpPr/>
          <p:nvPr/>
        </p:nvSpPr>
        <p:spPr>
          <a:xfrm>
            <a:off x="502920" y="3035808"/>
            <a:ext cx="11192256" cy="1426464"/>
          </a:xfrm>
          <a:prstGeom prst="roundRect">
            <a:avLst>
              <a:gd name="adj" fmla="val 5128"/>
            </a:avLst>
          </a:prstGeom>
          <a:solidFill>
            <a:srgbClr val="EAF1FD"/>
          </a:solidFill>
          <a:ln/>
        </p:spPr>
      </p:sp>
      <p:sp>
        <p:nvSpPr>
          <p:cNvPr id="10" name="Text 8"/>
          <p:cNvSpPr txBox="1"/>
          <p:nvPr/>
        </p:nvSpPr>
        <p:spPr>
          <a:xfrm>
            <a:off x="777240" y="3182112"/>
            <a:ext cx="1188720" cy="365760"/>
          </a:xfrm>
          <a:prstGeom prst="rect">
            <a:avLst/>
          </a:prstGeom>
          <a:noFill/>
          <a:ln/>
        </p:spPr>
        <p:txBody>
          <a:bodyPr wrap="square" lIns="0" tIns="0" rIns="0" bIns="0" rtlCol="0" anchor="ctr"/>
          <a:lstStyle/>
          <a:p>
            <a:pPr indent="0" marL="0">
              <a:buNone/>
            </a:pPr>
            <a:r>
              <a:rPr lang="en-US" sz="1300" b="1" dirty="0">
                <a:solidFill>
                  <a:srgbClr val="5A6172"/>
                </a:solidFill>
                <a:latin typeface="Calibri" pitchFamily="34" charset="0"/>
                <a:ea typeface="Calibri" pitchFamily="34" charset="-122"/>
                <a:cs typeface="Calibri" pitchFamily="34" charset="-120"/>
              </a:rPr>
              <a:t>Stage 2</a:t>
            </a:r>
            <a:endParaRPr lang="en-US" sz="1300" dirty="0"/>
          </a:p>
        </p:txBody>
      </p:sp>
      <p:sp>
        <p:nvSpPr>
          <p:cNvPr id="11" name="Shape 9"/>
          <p:cNvSpPr/>
          <p:nvPr/>
        </p:nvSpPr>
        <p:spPr>
          <a:xfrm>
            <a:off x="777240" y="3602736"/>
            <a:ext cx="1600200" cy="310896"/>
          </a:xfrm>
          <a:prstGeom prst="roundRect">
            <a:avLst>
              <a:gd name="adj" fmla="val 50000"/>
            </a:avLst>
          </a:prstGeom>
          <a:solidFill>
            <a:srgbClr val="CADCFC"/>
          </a:solidFill>
          <a:ln/>
        </p:spPr>
      </p:sp>
      <p:sp>
        <p:nvSpPr>
          <p:cNvPr id="12" name="Text 10"/>
          <p:cNvSpPr txBox="1"/>
          <p:nvPr/>
        </p:nvSpPr>
        <p:spPr>
          <a:xfrm>
            <a:off x="777240" y="3589020"/>
            <a:ext cx="1600200" cy="338328"/>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UNDER REVIEW</a:t>
            </a:r>
            <a:endParaRPr lang="en-US" sz="1150" dirty="0"/>
          </a:p>
        </p:txBody>
      </p:sp>
      <p:sp>
        <p:nvSpPr>
          <p:cNvPr id="13" name="Text 11"/>
          <p:cNvSpPr txBox="1"/>
          <p:nvPr/>
        </p:nvSpPr>
        <p:spPr>
          <a:xfrm>
            <a:off x="2606040" y="3145536"/>
            <a:ext cx="8869680" cy="1261872"/>
          </a:xfrm>
          <a:prstGeom prst="rect">
            <a:avLst/>
          </a:prstGeom>
          <a:noFill/>
          <a:ln/>
        </p:spPr>
        <p:txBody>
          <a:bodyPr wrap="square" lIns="0" tIns="0" rIns="0" bIns="0" rtlCol="0" anchor="ctr"/>
          <a:lstStyle/>
          <a:p>
            <a:pPr indent="0" marL="0">
              <a:lnSpc>
                <a:spcPct val="105000"/>
              </a:lnSpc>
              <a:buNone/>
            </a:pPr>
            <a:r>
              <a:rPr lang="en-US" sz="1350" b="1" dirty="0">
                <a:solidFill>
                  <a:srgbClr val="1E2761"/>
                </a:solidFill>
                <a:latin typeface="Calibri" pitchFamily="34" charset="0"/>
                <a:ea typeface="Calibri" pitchFamily="34" charset="-122"/>
                <a:cs typeface="Calibri" pitchFamily="34" charset="-120"/>
              </a:rPr>
              <a:t>Failure-induced abandonment in a gamified FRA deployment</a:t>
            </a:r>
            <a:endParaRPr lang="en-US" sz="1350" dirty="0"/>
          </a:p>
          <a:p>
            <a:pPr indent="0" marL="0">
              <a:lnSpc>
                <a:spcPct val="105000"/>
              </a:lnSpc>
              <a:buNone/>
            </a:pPr>
            <a:r>
              <a:rPr lang="en-US" sz="1150" i="1" dirty="0">
                <a:solidFill>
                  <a:srgbClr val="5A6172"/>
                </a:solidFill>
                <a:latin typeface="Calibri" pitchFamily="34" charset="0"/>
                <a:ea typeface="Calibri" pitchFamily="34" charset="-122"/>
                <a:cs typeface="Calibri" pitchFamily="34" charset="-120"/>
              </a:rPr>
              <a:t>Journal of Information &amp; Knowledge Management (JIKM)</a:t>
            </a:r>
            <a:endParaRPr lang="en-US" sz="1350" dirty="0"/>
          </a:p>
          <a:p>
            <a:pPr indent="0" marL="0">
              <a:lnSpc>
                <a:spcPct val="105000"/>
              </a:lnSpc>
              <a:buNone/>
            </a:pPr>
            <a:r>
              <a:rPr lang="en-US" sz="1100" dirty="0">
                <a:solidFill>
                  <a:srgbClr val="222222"/>
                </a:solidFill>
                <a:latin typeface="Calibri" pitchFamily="34" charset="0"/>
                <a:ea typeface="Calibri" pitchFamily="34" charset="-122"/>
                <a:cs typeface="Calibri" pitchFamily="34" charset="-120"/>
              </a:rPr>
              <a:t>Submitted via Editorial Manager (JIKMS2602466). Fully revised: data dictionary, sensitivity analysis, calibrated terminology, NASSS positioning, complete declarations.</a:t>
            </a:r>
            <a:endParaRPr lang="en-US" sz="1350" dirty="0"/>
          </a:p>
        </p:txBody>
      </p:sp>
      <p:sp>
        <p:nvSpPr>
          <p:cNvPr id="14" name="Shape 12"/>
          <p:cNvSpPr/>
          <p:nvPr/>
        </p:nvSpPr>
        <p:spPr>
          <a:xfrm>
            <a:off x="502920" y="4608576"/>
            <a:ext cx="11192256" cy="1426464"/>
          </a:xfrm>
          <a:prstGeom prst="roundRect">
            <a:avLst>
              <a:gd name="adj" fmla="val 5128"/>
            </a:avLst>
          </a:prstGeom>
          <a:solidFill>
            <a:srgbClr val="EAF1FD"/>
          </a:solidFill>
          <a:ln/>
        </p:spPr>
      </p:sp>
      <p:sp>
        <p:nvSpPr>
          <p:cNvPr id="15" name="Text 13"/>
          <p:cNvSpPr txBox="1"/>
          <p:nvPr/>
        </p:nvSpPr>
        <p:spPr>
          <a:xfrm>
            <a:off x="777240" y="4754880"/>
            <a:ext cx="1188720" cy="365760"/>
          </a:xfrm>
          <a:prstGeom prst="rect">
            <a:avLst/>
          </a:prstGeom>
          <a:noFill/>
          <a:ln/>
        </p:spPr>
        <p:txBody>
          <a:bodyPr wrap="square" lIns="0" tIns="0" rIns="0" bIns="0" rtlCol="0" anchor="ctr"/>
          <a:lstStyle/>
          <a:p>
            <a:pPr indent="0" marL="0">
              <a:buNone/>
            </a:pPr>
            <a:r>
              <a:rPr lang="en-US" sz="1300" b="1" dirty="0">
                <a:solidFill>
                  <a:srgbClr val="5A6172"/>
                </a:solidFill>
                <a:latin typeface="Calibri" pitchFamily="34" charset="0"/>
                <a:ea typeface="Calibri" pitchFamily="34" charset="-122"/>
                <a:cs typeface="Calibri" pitchFamily="34" charset="-120"/>
              </a:rPr>
              <a:t>Stage 3</a:t>
            </a:r>
            <a:endParaRPr lang="en-US" sz="1300" dirty="0"/>
          </a:p>
        </p:txBody>
      </p:sp>
      <p:sp>
        <p:nvSpPr>
          <p:cNvPr id="16" name="Shape 14"/>
          <p:cNvSpPr/>
          <p:nvPr/>
        </p:nvSpPr>
        <p:spPr>
          <a:xfrm>
            <a:off x="777240" y="5175504"/>
            <a:ext cx="1600200" cy="310896"/>
          </a:xfrm>
          <a:prstGeom prst="roundRect">
            <a:avLst>
              <a:gd name="adj" fmla="val 50000"/>
            </a:avLst>
          </a:prstGeom>
          <a:solidFill>
            <a:srgbClr val="D97706"/>
          </a:solidFill>
          <a:ln/>
        </p:spPr>
      </p:sp>
      <p:sp>
        <p:nvSpPr>
          <p:cNvPr id="17" name="Text 15"/>
          <p:cNvSpPr txBox="1"/>
          <p:nvPr/>
        </p:nvSpPr>
        <p:spPr>
          <a:xfrm>
            <a:off x="777240" y="5161788"/>
            <a:ext cx="1600200" cy="3383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READY TO SUBMIT</a:t>
            </a:r>
            <a:endParaRPr lang="en-US" sz="1150" dirty="0"/>
          </a:p>
        </p:txBody>
      </p:sp>
      <p:sp>
        <p:nvSpPr>
          <p:cNvPr id="18" name="Text 16"/>
          <p:cNvSpPr txBox="1"/>
          <p:nvPr/>
        </p:nvSpPr>
        <p:spPr>
          <a:xfrm>
            <a:off x="2606040" y="4718304"/>
            <a:ext cx="8869680" cy="1261872"/>
          </a:xfrm>
          <a:prstGeom prst="rect">
            <a:avLst/>
          </a:prstGeom>
          <a:noFill/>
          <a:ln/>
        </p:spPr>
        <p:txBody>
          <a:bodyPr wrap="square" lIns="0" tIns="0" rIns="0" bIns="0" rtlCol="0" anchor="ctr"/>
          <a:lstStyle/>
          <a:p>
            <a:pPr indent="0" marL="0">
              <a:lnSpc>
                <a:spcPct val="105000"/>
              </a:lnSpc>
              <a:buNone/>
            </a:pPr>
            <a:r>
              <a:rPr lang="en-US" sz="1350" b="1" dirty="0">
                <a:solidFill>
                  <a:srgbClr val="1E2761"/>
                </a:solidFill>
                <a:latin typeface="Calibri" pitchFamily="34" charset="0"/>
                <a:ea typeface="Calibri" pitchFamily="34" charset="-122"/>
                <a:cs typeface="Calibri" pitchFamily="34" charset="-120"/>
              </a:rPr>
              <a:t>The decoupled deployment study</a:t>
            </a:r>
            <a:endParaRPr lang="en-US" sz="1350" dirty="0"/>
          </a:p>
          <a:p>
            <a:pPr indent="0" marL="0">
              <a:lnSpc>
                <a:spcPct val="105000"/>
              </a:lnSpc>
              <a:buNone/>
            </a:pPr>
            <a:r>
              <a:rPr lang="en-US" sz="1150" i="1" dirty="0">
                <a:solidFill>
                  <a:srgbClr val="5A6172"/>
                </a:solidFill>
                <a:latin typeface="Calibri" pitchFamily="34" charset="0"/>
                <a:ea typeface="Calibri" pitchFamily="34" charset="-122"/>
                <a:cs typeface="Calibri" pitchFamily="34" charset="-120"/>
              </a:rPr>
              <a:t>JMIR Serious Games</a:t>
            </a:r>
            <a:endParaRPr lang="en-US" sz="1350" dirty="0"/>
          </a:p>
          <a:p>
            <a:pPr indent="0" marL="0">
              <a:lnSpc>
                <a:spcPct val="105000"/>
              </a:lnSpc>
              <a:buNone/>
            </a:pPr>
            <a:r>
              <a:rPr lang="en-US" sz="1100" dirty="0">
                <a:solidFill>
                  <a:srgbClr val="222222"/>
                </a:solidFill>
                <a:latin typeface="Calibri" pitchFamily="34" charset="0"/>
                <a:ea typeface="Calibri" pitchFamily="34" charset="-122"/>
                <a:cs typeface="Calibri" pitchFamily="34" charset="-120"/>
              </a:rPr>
              <a:t>Submission package complete (named sections, structured abstract, figures within 1200×1200). Awaiting one administrative clearance, then submits this month. Co-author ORCID needed for the form.</a:t>
            </a:r>
            <a:endParaRPr lang="en-US" sz="1350" dirty="0"/>
          </a:p>
        </p:txBody>
      </p:sp>
      <p:sp>
        <p:nvSpPr>
          <p:cNvPr id="19" name="Text 17"/>
          <p:cNvSpPr txBox="1"/>
          <p:nvPr/>
        </p:nvSpPr>
        <p:spPr>
          <a:xfrm>
            <a:off x="502920" y="5989320"/>
            <a:ext cx="11155680" cy="320040"/>
          </a:xfrm>
          <a:prstGeom prst="rect">
            <a:avLst/>
          </a:prstGeom>
          <a:noFill/>
          <a:ln/>
        </p:spPr>
        <p:txBody>
          <a:bodyPr wrap="square" lIns="0" tIns="0" rIns="0" bIns="0" rtlCol="0" anchor="ctr"/>
          <a:lstStyle/>
          <a:p>
            <a:pPr indent="0" marL="0">
              <a:buNone/>
            </a:pPr>
            <a:r>
              <a:rPr lang="en-US" sz="1200" i="1" dirty="0">
                <a:solidFill>
                  <a:srgbClr val="5A6172"/>
                </a:solidFill>
                <a:latin typeface="Calibri" pitchFamily="34" charset="0"/>
                <a:ea typeface="Calibri" pitchFamily="34" charset="-122"/>
                <a:cs typeface="Calibri" pitchFamily="34" charset="-120"/>
              </a:rPr>
              <a:t>Companion relationships are declared in each cover letter; the thesis remains the sole complete record.</a:t>
            </a:r>
            <a:endParaRPr lang="en-US" sz="1200" dirty="0"/>
          </a:p>
        </p:txBody>
      </p:sp>
      <p:sp>
        <p:nvSpPr>
          <p:cNvPr id="20" name="Text 18"/>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21" name="Text 19"/>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 the field now: Stage 3B</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First deployment of the Chapter 7 adaptive-learning framework — the committed final stage</a:t>
            </a:r>
            <a:endParaRPr lang="en-US" sz="1400" dirty="0"/>
          </a:p>
        </p:txBody>
      </p:sp>
      <p:sp>
        <p:nvSpPr>
          <p:cNvPr id="4" name="Shape 2"/>
          <p:cNvSpPr/>
          <p:nvPr/>
        </p:nvSpPr>
        <p:spPr>
          <a:xfrm>
            <a:off x="502920" y="1463040"/>
            <a:ext cx="6949440" cy="1371600"/>
          </a:xfrm>
          <a:prstGeom prst="roundRect">
            <a:avLst>
              <a:gd name="adj" fmla="val 5333"/>
            </a:avLst>
          </a:prstGeom>
          <a:solidFill>
            <a:srgbClr val="1E2761"/>
          </a:solidFill>
          <a:ln/>
        </p:spPr>
      </p:sp>
      <p:sp>
        <p:nvSpPr>
          <p:cNvPr id="5" name="Text 3"/>
          <p:cNvSpPr txBox="1"/>
          <p:nvPr/>
        </p:nvSpPr>
        <p:spPr>
          <a:xfrm>
            <a:off x="822960" y="1572768"/>
            <a:ext cx="6355080" cy="1152144"/>
          </a:xfrm>
          <a:prstGeom prst="rect">
            <a:avLst/>
          </a:prstGeom>
          <a:noFill/>
          <a:ln/>
        </p:spPr>
        <p:txBody>
          <a:bodyPr wrap="square" lIns="0" tIns="0" rIns="0" bIns="0" rtlCol="0" anchor="ctr"/>
          <a:lstStyle/>
          <a:p>
            <a:pPr indent="0" marL="0">
              <a:lnSpc>
                <a:spcPct val="110000"/>
              </a:lnSpc>
              <a:buNone/>
            </a:pPr>
            <a:r>
              <a:rPr lang="en-US" sz="1450" b="1" dirty="0">
                <a:solidFill>
                  <a:srgbClr val="CADCFC"/>
                </a:solidFill>
                <a:latin typeface="Calibri" pitchFamily="34" charset="0"/>
                <a:ea typeface="Calibri" pitchFamily="34" charset="-122"/>
                <a:cs typeface="Calibri" pitchFamily="34" charset="-120"/>
              </a:rPr>
              <a:t>H-3B:  </a:t>
            </a:r>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adaptive calibration + trajectory display + coaching sustain engagement even when measurement is visible — the middle ground of the design space made real.</a:t>
            </a:r>
            <a:endParaRPr lang="en-US" sz="1450" dirty="0"/>
          </a:p>
        </p:txBody>
      </p:sp>
      <p:sp>
        <p:nvSpPr>
          <p:cNvPr id="6" name="Text 4"/>
          <p:cNvSpPr txBox="1"/>
          <p:nvPr/>
        </p:nvSpPr>
        <p:spPr>
          <a:xfrm>
            <a:off x="502920" y="3063240"/>
            <a:ext cx="6949440" cy="749808"/>
          </a:xfrm>
          <a:prstGeom prst="rect">
            <a:avLst/>
          </a:prstGeom>
          <a:noFill/>
          <a:ln/>
        </p:spPr>
        <p:txBody>
          <a:bodyPr wrap="square" lIns="0" tIns="0" rIns="0" bIns="0" rtlCol="0" anchor="ctr"/>
          <a:lstStyle/>
          <a:p>
            <a:pPr indent="0" marL="0">
              <a:lnSpc>
                <a:spcPct val="106000"/>
              </a:lnSpc>
              <a:buNone/>
            </a:pPr>
            <a:r>
              <a:rPr lang="en-US" sz="1300" b="1" dirty="0">
                <a:solidFill>
                  <a:srgbClr val="1E2761"/>
                </a:solidFill>
                <a:latin typeface="Calibri" pitchFamily="34" charset="0"/>
                <a:ea typeface="Calibri" pitchFamily="34" charset="-122"/>
                <a:cs typeface="Calibri" pitchFamily="34" charset="-120"/>
              </a:rPr>
              <a:t>Design   </a:t>
            </a:r>
            <a:pPr indent="0" marL="0">
              <a:lnSpc>
                <a:spcPct val="106000"/>
              </a:lnSpc>
              <a:buNone/>
            </a:pPr>
            <a:r>
              <a:rPr lang="en-US" sz="1250" dirty="0">
                <a:solidFill>
                  <a:srgbClr val="222222"/>
                </a:solidFill>
                <a:latin typeface="Calibri" pitchFamily="34" charset="0"/>
                <a:ea typeface="Calibri" pitchFamily="34" charset="-122"/>
                <a:cs typeface="Calibri" pitchFamily="34" charset="-120"/>
              </a:rPr>
              <a:t>Two-arm randomised comparison, silently assigned: adaptive rule-agent + trajectory + coaching vs static difficulty, no coach. Target N ≥ 40.</a:t>
            </a:r>
            <a:endParaRPr lang="en-US" sz="1300" dirty="0"/>
          </a:p>
        </p:txBody>
      </p:sp>
      <p:sp>
        <p:nvSpPr>
          <p:cNvPr id="7" name="Text 5"/>
          <p:cNvSpPr txBox="1"/>
          <p:nvPr/>
        </p:nvSpPr>
        <p:spPr>
          <a:xfrm>
            <a:off x="502920" y="3849624"/>
            <a:ext cx="6949440" cy="749808"/>
          </a:xfrm>
          <a:prstGeom prst="rect">
            <a:avLst/>
          </a:prstGeom>
          <a:noFill/>
          <a:ln/>
        </p:spPr>
        <p:txBody>
          <a:bodyPr wrap="square" lIns="0" tIns="0" rIns="0" bIns="0" rtlCol="0" anchor="ctr"/>
          <a:lstStyle/>
          <a:p>
            <a:pPr indent="0" marL="0">
              <a:lnSpc>
                <a:spcPct val="106000"/>
              </a:lnSpc>
              <a:buNone/>
            </a:pPr>
            <a:r>
              <a:rPr lang="en-US" sz="1300" b="1" dirty="0">
                <a:solidFill>
                  <a:srgbClr val="1E2761"/>
                </a:solidFill>
                <a:latin typeface="Calibri" pitchFamily="34" charset="0"/>
                <a:ea typeface="Calibri" pitchFamily="34" charset="-122"/>
                <a:cs typeface="Calibri" pitchFamily="34" charset="-120"/>
              </a:rPr>
              <a:t>Build   </a:t>
            </a:r>
            <a:pPr indent="0" marL="0">
              <a:lnSpc>
                <a:spcPct val="106000"/>
              </a:lnSpc>
              <a:buNone/>
            </a:pPr>
            <a:r>
              <a:rPr lang="en-US" sz="1250" dirty="0">
                <a:solidFill>
                  <a:srgbClr val="222222"/>
                </a:solidFill>
                <a:latin typeface="Calibri" pitchFamily="34" charset="0"/>
                <a:ea typeface="Calibri" pitchFamily="34" charset="-122"/>
                <a:cs typeface="Calibri" pitchFamily="34" charset="-120"/>
              </a:rPr>
              <a:t>v3.0 bilingual (繁中/EN), smoke-tested: recorded in-build consent citing the approval, D1/D2 + framework items on the end screen, one-file JSON export, resume-on-reload, no external calls during play.</a:t>
            </a:r>
            <a:endParaRPr lang="en-US" sz="1300" dirty="0"/>
          </a:p>
        </p:txBody>
      </p:sp>
      <p:sp>
        <p:nvSpPr>
          <p:cNvPr id="8" name="Text 6"/>
          <p:cNvSpPr txBox="1"/>
          <p:nvPr/>
        </p:nvSpPr>
        <p:spPr>
          <a:xfrm>
            <a:off x="502920" y="4636008"/>
            <a:ext cx="6949440" cy="749808"/>
          </a:xfrm>
          <a:prstGeom prst="rect">
            <a:avLst/>
          </a:prstGeom>
          <a:noFill/>
          <a:ln/>
        </p:spPr>
        <p:txBody>
          <a:bodyPr wrap="square" lIns="0" tIns="0" rIns="0" bIns="0" rtlCol="0" anchor="ctr"/>
          <a:lstStyle/>
          <a:p>
            <a:pPr indent="0" marL="0">
              <a:lnSpc>
                <a:spcPct val="106000"/>
              </a:lnSpc>
              <a:buNone/>
            </a:pPr>
            <a:r>
              <a:rPr lang="en-US" sz="1300" b="1" dirty="0">
                <a:solidFill>
                  <a:srgbClr val="1E2761"/>
                </a:solidFill>
                <a:latin typeface="Calibri" pitchFamily="34" charset="0"/>
                <a:ea typeface="Calibri" pitchFamily="34" charset="-122"/>
                <a:cs typeface="Calibri" pitchFamily="34" charset="-120"/>
              </a:rPr>
              <a:t>Window   </a:t>
            </a:r>
            <a:pPr indent="0" marL="0">
              <a:lnSpc>
                <a:spcPct val="106000"/>
              </a:lnSpc>
              <a:buNone/>
            </a:pPr>
            <a:r>
              <a:rPr lang="en-US" sz="1250" dirty="0">
                <a:solidFill>
                  <a:srgbClr val="222222"/>
                </a:solidFill>
                <a:latin typeface="Calibri" pitchFamily="34" charset="0"/>
                <a:ea typeface="Calibri" pitchFamily="34" charset="-122"/>
                <a:cs typeface="Calibri" pitchFamily="34" charset="-120"/>
              </a:rPr>
              <a:t>~4 weeks within August–October 2026, inside the approved ethics period (to 30 Oct 2026).</a:t>
            </a:r>
            <a:endParaRPr lang="en-US" sz="1300" dirty="0"/>
          </a:p>
        </p:txBody>
      </p:sp>
      <p:sp>
        <p:nvSpPr>
          <p:cNvPr id="9" name="Text 7"/>
          <p:cNvSpPr txBox="1"/>
          <p:nvPr/>
        </p:nvSpPr>
        <p:spPr>
          <a:xfrm>
            <a:off x="502920" y="5422392"/>
            <a:ext cx="6949440" cy="749808"/>
          </a:xfrm>
          <a:prstGeom prst="rect">
            <a:avLst/>
          </a:prstGeom>
          <a:noFill/>
          <a:ln/>
        </p:spPr>
        <p:txBody>
          <a:bodyPr wrap="square" lIns="0" tIns="0" rIns="0" bIns="0" rtlCol="0" anchor="ctr"/>
          <a:lstStyle/>
          <a:p>
            <a:pPr indent="0" marL="0">
              <a:lnSpc>
                <a:spcPct val="106000"/>
              </a:lnSpc>
              <a:buNone/>
            </a:pPr>
            <a:r>
              <a:rPr lang="en-US" sz="1300" b="1" dirty="0">
                <a:solidFill>
                  <a:srgbClr val="D97706"/>
                </a:solidFill>
                <a:latin typeface="Calibri" pitchFamily="34" charset="0"/>
                <a:ea typeface="Calibri" pitchFamily="34" charset="-122"/>
                <a:cs typeface="Calibri" pitchFamily="34" charset="-120"/>
              </a:rPr>
              <a:t>Remaining gate   </a:t>
            </a:r>
            <a:pPr indent="0" marL="0">
              <a:lnSpc>
                <a:spcPct val="106000"/>
              </a:lnSpc>
              <a:buNone/>
            </a:pPr>
            <a:r>
              <a:rPr lang="en-US" sz="1250" dirty="0">
                <a:solidFill>
                  <a:srgbClr val="222222"/>
                </a:solidFill>
                <a:latin typeface="Calibri" pitchFamily="34" charset="0"/>
                <a:ea typeface="Calibri" pitchFamily="34" charset="-122"/>
                <a:cs typeface="Calibri" pitchFamily="34" charset="-120"/>
              </a:rPr>
              <a:t>Supervisor sign-off on the protocol, then recruitment begins.</a:t>
            </a:r>
            <a:endParaRPr lang="en-US" sz="1300" dirty="0"/>
          </a:p>
        </p:txBody>
      </p:sp>
      <p:sp>
        <p:nvSpPr>
          <p:cNvPr id="10" name="Shape 8"/>
          <p:cNvSpPr/>
          <p:nvPr/>
        </p:nvSpPr>
        <p:spPr>
          <a:xfrm>
            <a:off x="7726680" y="1463040"/>
            <a:ext cx="3977640" cy="4663440"/>
          </a:xfrm>
          <a:prstGeom prst="roundRect">
            <a:avLst>
              <a:gd name="adj" fmla="val 2069"/>
            </a:avLst>
          </a:prstGeom>
          <a:solidFill>
            <a:srgbClr val="EAF1FD"/>
          </a:solidFill>
          <a:ln/>
        </p:spPr>
      </p:sp>
      <p:sp>
        <p:nvSpPr>
          <p:cNvPr id="11" name="Text 9"/>
          <p:cNvSpPr txBox="1"/>
          <p:nvPr/>
        </p:nvSpPr>
        <p:spPr>
          <a:xfrm>
            <a:off x="8001000" y="1664208"/>
            <a:ext cx="34747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Stage 3B completes</a:t>
            </a:r>
            <a:endParaRPr lang="en-US" sz="1500" dirty="0"/>
          </a:p>
        </p:txBody>
      </p:sp>
      <p:sp>
        <p:nvSpPr>
          <p:cNvPr id="12" name="Text 10"/>
          <p:cNvSpPr txBox="1"/>
          <p:nvPr/>
        </p:nvSpPr>
        <p:spPr>
          <a:xfrm>
            <a:off x="8001000" y="2148840"/>
            <a:ext cx="3474720" cy="3108960"/>
          </a:xfrm>
          <a:prstGeom prst="rect">
            <a:avLst/>
          </a:prstGeom>
          <a:noFill/>
          <a:ln/>
        </p:spPr>
        <p:txBody>
          <a:bodyPr wrap="square" lIns="0" tIns="0" rIns="0" bIns="0" rtlCol="0" anchor="ctr"/>
          <a:lstStyle/>
          <a:p>
            <a:pPr marL="342900" indent="-342900">
              <a:lnSpc>
                <a:spcPct val="108000"/>
              </a:lnSpc>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§8.8 rewritten from proposed to first-deployment-conducted</a:t>
            </a:r>
            <a:endParaRPr lang="en-US" sz="1250" dirty="0"/>
          </a:p>
          <a:p>
            <a:pPr marL="342900" indent="-342900">
              <a:lnSpc>
                <a:spcPct val="108000"/>
              </a:lnSpc>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Programme diary (Table 9.1) final cells</a:t>
            </a:r>
            <a:endParaRPr lang="en-US" sz="1250" dirty="0"/>
          </a:p>
          <a:p>
            <a:pPr marL="342900" indent="-342900">
              <a:lnSpc>
                <a:spcPct val="108000"/>
              </a:lnSpc>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Tests the thesis's central psychological mechanism claim prospectively</a:t>
            </a:r>
            <a:endParaRPr lang="en-US" sz="1250" dirty="0"/>
          </a:p>
          <a:p>
            <a:pPr marL="342900" indent="-342900">
              <a:lnSpc>
                <a:spcPct val="108000"/>
              </a:lnSpc>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Last empirical input before the final production pass</a:t>
            </a:r>
            <a:endParaRPr lang="en-US" sz="1250" dirty="0"/>
          </a:p>
        </p:txBody>
      </p:sp>
      <p:sp>
        <p:nvSpPr>
          <p:cNvPr id="13" name="Text 11"/>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14" name="Text 12"/>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Still to complete</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Every open item is scheduled — none blocks another</a:t>
            </a:r>
            <a:endParaRPr lang="en-US" sz="1400" dirty="0"/>
          </a:p>
        </p:txBody>
      </p:sp>
      <p:sp>
        <p:nvSpPr>
          <p:cNvPr id="4" name="Shape 2"/>
          <p:cNvSpPr/>
          <p:nvPr/>
        </p:nvSpPr>
        <p:spPr>
          <a:xfrm>
            <a:off x="502920" y="1463040"/>
            <a:ext cx="5440680" cy="2249424"/>
          </a:xfrm>
          <a:prstGeom prst="roundRect">
            <a:avLst>
              <a:gd name="adj" fmla="val 3252"/>
            </a:avLst>
          </a:prstGeom>
          <a:solidFill>
            <a:srgbClr val="FDF3E3"/>
          </a:solidFill>
          <a:ln/>
        </p:spPr>
      </p:sp>
      <p:sp>
        <p:nvSpPr>
          <p:cNvPr id="5" name="Text 3"/>
          <p:cNvSpPr txBox="1"/>
          <p:nvPr/>
        </p:nvSpPr>
        <p:spPr>
          <a:xfrm>
            <a:off x="758952" y="1591056"/>
            <a:ext cx="4937760" cy="347472"/>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Stage 3B</a:t>
            </a:r>
            <a:endParaRPr lang="en-US" sz="1450" dirty="0"/>
          </a:p>
        </p:txBody>
      </p:sp>
      <p:sp>
        <p:nvSpPr>
          <p:cNvPr id="6" name="Text 4"/>
          <p:cNvSpPr txBox="1"/>
          <p:nvPr/>
        </p:nvSpPr>
        <p:spPr>
          <a:xfrm>
            <a:off x="758952" y="1975104"/>
            <a:ext cx="4956048" cy="1645920"/>
          </a:xfrm>
          <a:prstGeom prst="rect">
            <a:avLst/>
          </a:prstGeom>
          <a:noFill/>
          <a:ln/>
        </p:spPr>
        <p:txBody>
          <a:bodyPr wrap="square" lIns="0" tIns="0" rIns="0" bIns="0" rtlCol="0" anchor="ctr"/>
          <a:lstStyle/>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Protocol sign-off → recruit → run the ~4-week window</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Results written into §8.8 and the programme diary</a:t>
            </a:r>
            <a:endParaRPr lang="en-US" sz="1150" dirty="0"/>
          </a:p>
        </p:txBody>
      </p:sp>
      <p:sp>
        <p:nvSpPr>
          <p:cNvPr id="7" name="Shape 5"/>
          <p:cNvSpPr/>
          <p:nvPr/>
        </p:nvSpPr>
        <p:spPr>
          <a:xfrm>
            <a:off x="6190488" y="1463040"/>
            <a:ext cx="5440680" cy="2249424"/>
          </a:xfrm>
          <a:prstGeom prst="roundRect">
            <a:avLst>
              <a:gd name="adj" fmla="val 3252"/>
            </a:avLst>
          </a:prstGeom>
          <a:solidFill>
            <a:srgbClr val="FDF3E3"/>
          </a:solidFill>
          <a:ln/>
        </p:spPr>
      </p:sp>
      <p:sp>
        <p:nvSpPr>
          <p:cNvPr id="8" name="Text 6"/>
          <p:cNvSpPr txBox="1"/>
          <p:nvPr/>
        </p:nvSpPr>
        <p:spPr>
          <a:xfrm>
            <a:off x="6446520" y="1591056"/>
            <a:ext cx="4937760" cy="347472"/>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Documentary records</a:t>
            </a:r>
            <a:endParaRPr lang="en-US" sz="1450" dirty="0"/>
          </a:p>
        </p:txBody>
      </p:sp>
      <p:sp>
        <p:nvSpPr>
          <p:cNvPr id="9" name="Text 7"/>
          <p:cNvSpPr txBox="1"/>
          <p:nvPr/>
        </p:nvSpPr>
        <p:spPr>
          <a:xfrm>
            <a:off x="6446520" y="1975104"/>
            <a:ext cx="4956048" cy="1645920"/>
          </a:xfrm>
          <a:prstGeom prst="rect">
            <a:avLst/>
          </a:prstGeom>
          <a:noFill/>
          <a:ln/>
        </p:spPr>
        <p:txBody>
          <a:bodyPr wrap="square" lIns="0" tIns="0" rIns="0" bIns="0" rtlCol="0" anchor="ctr"/>
          <a:lstStyle/>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Scans of the two Stage-2 paper instruments (after-game questionnaire; nine-person interview form) + as-administered wording confirmation</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Appendix D instrument wording and scale confirmation</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Telemetry-retention statement; source-to-result manifest and build-lineage rows (Appendix G)</a:t>
            </a:r>
            <a:endParaRPr lang="en-US" sz="1150" dirty="0"/>
          </a:p>
        </p:txBody>
      </p:sp>
      <p:sp>
        <p:nvSpPr>
          <p:cNvPr id="10" name="Shape 8"/>
          <p:cNvSpPr/>
          <p:nvPr/>
        </p:nvSpPr>
        <p:spPr>
          <a:xfrm>
            <a:off x="502920" y="3858768"/>
            <a:ext cx="5440680" cy="2249424"/>
          </a:xfrm>
          <a:prstGeom prst="roundRect">
            <a:avLst>
              <a:gd name="adj" fmla="val 3252"/>
            </a:avLst>
          </a:prstGeom>
          <a:solidFill>
            <a:srgbClr val="FDF3E3"/>
          </a:solidFill>
          <a:ln/>
        </p:spPr>
      </p:sp>
      <p:sp>
        <p:nvSpPr>
          <p:cNvPr id="11" name="Text 9"/>
          <p:cNvSpPr txBox="1"/>
          <p:nvPr/>
        </p:nvSpPr>
        <p:spPr>
          <a:xfrm>
            <a:off x="758952" y="3986784"/>
            <a:ext cx="4937760" cy="347472"/>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Consents &amp; sign-offs</a:t>
            </a:r>
            <a:endParaRPr lang="en-US" sz="1450" dirty="0"/>
          </a:p>
        </p:txBody>
      </p:sp>
      <p:sp>
        <p:nvSpPr>
          <p:cNvPr id="12" name="Text 10"/>
          <p:cNvSpPr txBox="1"/>
          <p:nvPr/>
        </p:nvSpPr>
        <p:spPr>
          <a:xfrm>
            <a:off x="758952" y="4370832"/>
            <a:ext cx="4956048" cy="1645920"/>
          </a:xfrm>
          <a:prstGeom prst="rect">
            <a:avLst/>
          </a:prstGeom>
          <a:noFill/>
          <a:ln/>
        </p:spPr>
        <p:txBody>
          <a:bodyPr wrap="square" lIns="0" tIns="0" rIns="0" bIns="0" rtlCol="0" anchor="ctr"/>
          <a:lstStyle/>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Two member-check signatures releasing the last consent-gated panel content</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Title decision with the supervisor (ethics memo now documents the official registered title)</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Supervisor's review report</a:t>
            </a:r>
            <a:endParaRPr lang="en-US" sz="1150" dirty="0"/>
          </a:p>
        </p:txBody>
      </p:sp>
      <p:sp>
        <p:nvSpPr>
          <p:cNvPr id="13" name="Shape 11"/>
          <p:cNvSpPr/>
          <p:nvPr/>
        </p:nvSpPr>
        <p:spPr>
          <a:xfrm>
            <a:off x="6190488" y="3858768"/>
            <a:ext cx="5440680" cy="2249424"/>
          </a:xfrm>
          <a:prstGeom prst="roundRect">
            <a:avLst>
              <a:gd name="adj" fmla="val 3252"/>
            </a:avLst>
          </a:prstGeom>
          <a:solidFill>
            <a:srgbClr val="FDF3E3"/>
          </a:solidFill>
          <a:ln/>
        </p:spPr>
      </p:sp>
      <p:sp>
        <p:nvSpPr>
          <p:cNvPr id="14" name="Text 12"/>
          <p:cNvSpPr txBox="1"/>
          <p:nvPr/>
        </p:nvSpPr>
        <p:spPr>
          <a:xfrm>
            <a:off x="6446520" y="3986784"/>
            <a:ext cx="4937760" cy="347472"/>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Final production</a:t>
            </a:r>
            <a:endParaRPr lang="en-US" sz="1450" dirty="0"/>
          </a:p>
        </p:txBody>
      </p:sp>
      <p:sp>
        <p:nvSpPr>
          <p:cNvPr id="15" name="Text 13"/>
          <p:cNvSpPr txBox="1"/>
          <p:nvPr/>
        </p:nvSpPr>
        <p:spPr>
          <a:xfrm>
            <a:off x="6446520" y="4370832"/>
            <a:ext cx="4956048" cy="1645920"/>
          </a:xfrm>
          <a:prstGeom prst="rect">
            <a:avLst/>
          </a:prstGeom>
          <a:noFill/>
          <a:ln/>
        </p:spPr>
        <p:txBody>
          <a:bodyPr wrap="square" lIns="0" tIns="0" rIns="0" bIns="0" rtlCol="0" anchor="ctr"/>
          <a:lstStyle/>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Abstract strength-matching rewrite once records land</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Forward-results sweep of Ch1–3; single-answer RQ consolidation</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Word-generated ToC/LoF/LoT fields; evidence cut-off declaration</a:t>
            </a:r>
            <a:endParaRPr lang="en-US" sz="1150" dirty="0"/>
          </a:p>
          <a:p>
            <a:pPr marL="342900" indent="-342900">
              <a:lnSpc>
                <a:spcPct val="104000"/>
              </a:lnSpc>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JMIR submission metadata + co-author ORCID</a:t>
            </a:r>
            <a:endParaRPr lang="en-US" sz="1150" dirty="0"/>
          </a:p>
        </p:txBody>
      </p:sp>
      <p:sp>
        <p:nvSpPr>
          <p:cNvPr id="16" name="Text 14"/>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17" name="Text 15"/>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Path to submission</a:t>
            </a:r>
            <a:endParaRPr lang="en-US" sz="3200" dirty="0"/>
          </a:p>
        </p:txBody>
      </p:sp>
      <p:sp>
        <p:nvSpPr>
          <p:cNvPr id="3" name="Text 1"/>
          <p:cNvSpPr txBox="1"/>
          <p:nvPr/>
        </p:nvSpPr>
        <p:spPr>
          <a:xfrm>
            <a:off x="502920" y="932688"/>
            <a:ext cx="11155680" cy="329184"/>
          </a:xfrm>
          <a:prstGeom prst="rect">
            <a:avLst/>
          </a:prstGeom>
          <a:noFill/>
          <a:ln/>
        </p:spPr>
        <p:txBody>
          <a:bodyPr wrap="square" lIns="0" tIns="0" rIns="0" bIns="0" rtlCol="0" anchor="ctr"/>
          <a:lstStyle/>
          <a:p>
            <a:pPr indent="0" marL="0">
              <a:buNone/>
            </a:pPr>
            <a:r>
              <a:rPr lang="en-US" sz="1400" i="1" dirty="0">
                <a:solidFill>
                  <a:srgbClr val="5A6172"/>
                </a:solidFill>
                <a:latin typeface="Calibri" pitchFamily="34" charset="0"/>
                <a:ea typeface="Calibri" pitchFamily="34" charset="-122"/>
                <a:cs typeface="Calibri" pitchFamily="34" charset="-120"/>
              </a:rPr>
              <a:t>Six weeks of scheduled work to the October 2026 deadline</a:t>
            </a:r>
            <a:endParaRPr lang="en-US" sz="1400" dirty="0"/>
          </a:p>
        </p:txBody>
      </p:sp>
      <p:sp>
        <p:nvSpPr>
          <p:cNvPr id="4" name="Shape 2"/>
          <p:cNvSpPr/>
          <p:nvPr/>
        </p:nvSpPr>
        <p:spPr>
          <a:xfrm>
            <a:off x="1984248" y="1600200"/>
            <a:ext cx="566928" cy="566928"/>
          </a:xfrm>
          <a:prstGeom prst="ellipse">
            <a:avLst/>
          </a:prstGeom>
          <a:solidFill>
            <a:srgbClr val="1E2761"/>
          </a:solidFill>
          <a:ln/>
        </p:spPr>
      </p:sp>
      <p:sp>
        <p:nvSpPr>
          <p:cNvPr id="5" name="Text 3"/>
          <p:cNvSpPr txBox="1"/>
          <p:nvPr/>
        </p:nvSpPr>
        <p:spPr>
          <a:xfrm>
            <a:off x="1984248" y="1591056"/>
            <a:ext cx="56692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2743200" y="1883664"/>
            <a:ext cx="3063240" cy="0"/>
          </a:xfrm>
          <a:prstGeom prst="line">
            <a:avLst/>
          </a:prstGeom>
          <a:noFill/>
          <a:ln w="38100">
            <a:solidFill>
              <a:srgbClr val="CADCFC"/>
            </a:solidFill>
            <a:prstDash val="solid"/>
          </a:ln>
        </p:spPr>
      </p:sp>
      <p:sp>
        <p:nvSpPr>
          <p:cNvPr id="7" name="Text 5"/>
          <p:cNvSpPr txBox="1"/>
          <p:nvPr/>
        </p:nvSpPr>
        <p:spPr>
          <a:xfrm>
            <a:off x="502920" y="2331720"/>
            <a:ext cx="35661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Mid-September</a:t>
            </a:r>
            <a:endParaRPr lang="en-US" sz="1600" dirty="0"/>
          </a:p>
        </p:txBody>
      </p:sp>
      <p:sp>
        <p:nvSpPr>
          <p:cNvPr id="8" name="Shape 6"/>
          <p:cNvSpPr/>
          <p:nvPr/>
        </p:nvSpPr>
        <p:spPr>
          <a:xfrm>
            <a:off x="502920" y="2788920"/>
            <a:ext cx="3566160" cy="2377440"/>
          </a:xfrm>
          <a:prstGeom prst="roundRect">
            <a:avLst>
              <a:gd name="adj" fmla="val 3462"/>
            </a:avLst>
          </a:prstGeom>
          <a:solidFill>
            <a:srgbClr val="EAF1FD"/>
          </a:solidFill>
          <a:ln/>
        </p:spPr>
      </p:sp>
      <p:sp>
        <p:nvSpPr>
          <p:cNvPr id="9" name="Text 7"/>
          <p:cNvSpPr txBox="1"/>
          <p:nvPr/>
        </p:nvSpPr>
        <p:spPr>
          <a:xfrm>
            <a:off x="777240" y="3017520"/>
            <a:ext cx="3063240" cy="2011680"/>
          </a:xfrm>
          <a:prstGeom prst="rect">
            <a:avLst/>
          </a:prstGeom>
          <a:noFill/>
          <a:ln/>
        </p:spPr>
        <p:txBody>
          <a:bodyPr wrap="square" lIns="0" tIns="0" rIns="0" bIns="0" rtlCol="0" anchor="ctr"/>
          <a:lstStyle/>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Paper 3 submitted to JMIR Serious Games</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Stage-3B protocol signed; recruitment opens</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Instrument scans and consent forms filed</a:t>
            </a:r>
            <a:endParaRPr lang="en-US" sz="1250" dirty="0"/>
          </a:p>
        </p:txBody>
      </p:sp>
      <p:sp>
        <p:nvSpPr>
          <p:cNvPr id="10" name="Shape 8"/>
          <p:cNvSpPr/>
          <p:nvPr/>
        </p:nvSpPr>
        <p:spPr>
          <a:xfrm>
            <a:off x="5806440" y="1600200"/>
            <a:ext cx="566928" cy="566928"/>
          </a:xfrm>
          <a:prstGeom prst="ellipse">
            <a:avLst/>
          </a:prstGeom>
          <a:solidFill>
            <a:srgbClr val="1E2761"/>
          </a:solidFill>
          <a:ln/>
        </p:spPr>
      </p:sp>
      <p:sp>
        <p:nvSpPr>
          <p:cNvPr id="11" name="Text 9"/>
          <p:cNvSpPr txBox="1"/>
          <p:nvPr/>
        </p:nvSpPr>
        <p:spPr>
          <a:xfrm>
            <a:off x="5806440" y="1591056"/>
            <a:ext cx="56692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6565392" y="1883664"/>
            <a:ext cx="3063240" cy="0"/>
          </a:xfrm>
          <a:prstGeom prst="line">
            <a:avLst/>
          </a:prstGeom>
          <a:noFill/>
          <a:ln w="38100">
            <a:solidFill>
              <a:srgbClr val="CADCFC"/>
            </a:solidFill>
            <a:prstDash val="solid"/>
          </a:ln>
        </p:spPr>
      </p:sp>
      <p:sp>
        <p:nvSpPr>
          <p:cNvPr id="13" name="Text 11"/>
          <p:cNvSpPr txBox="1"/>
          <p:nvPr/>
        </p:nvSpPr>
        <p:spPr>
          <a:xfrm>
            <a:off x="4325112" y="2331720"/>
            <a:ext cx="35661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Late Sep – mid Oct</a:t>
            </a:r>
            <a:endParaRPr lang="en-US" sz="1600" dirty="0"/>
          </a:p>
        </p:txBody>
      </p:sp>
      <p:sp>
        <p:nvSpPr>
          <p:cNvPr id="14" name="Shape 12"/>
          <p:cNvSpPr/>
          <p:nvPr/>
        </p:nvSpPr>
        <p:spPr>
          <a:xfrm>
            <a:off x="4325112" y="2788920"/>
            <a:ext cx="3566160" cy="2377440"/>
          </a:xfrm>
          <a:prstGeom prst="roundRect">
            <a:avLst>
              <a:gd name="adj" fmla="val 3462"/>
            </a:avLst>
          </a:prstGeom>
          <a:solidFill>
            <a:srgbClr val="EAF1FD"/>
          </a:solidFill>
          <a:ln/>
        </p:spPr>
      </p:sp>
      <p:sp>
        <p:nvSpPr>
          <p:cNvPr id="15" name="Text 13"/>
          <p:cNvSpPr txBox="1"/>
          <p:nvPr/>
        </p:nvSpPr>
        <p:spPr>
          <a:xfrm>
            <a:off x="4599432" y="3017520"/>
            <a:ext cx="3063240" cy="2011680"/>
          </a:xfrm>
          <a:prstGeom prst="rect">
            <a:avLst/>
          </a:prstGeom>
          <a:noFill/>
          <a:ln/>
        </p:spPr>
        <p:txBody>
          <a:bodyPr wrap="square" lIns="0" tIns="0" rIns="0" bIns="0" rtlCol="0" anchor="ctr"/>
          <a:lstStyle/>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Stage-3B deployment window (~4 weeks)</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Appendix G manifest and lineage rows completed</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Member-check content released into §6.12 / Appendix H</a:t>
            </a:r>
            <a:endParaRPr lang="en-US" sz="1250" dirty="0"/>
          </a:p>
        </p:txBody>
      </p:sp>
      <p:sp>
        <p:nvSpPr>
          <p:cNvPr id="16" name="Shape 14"/>
          <p:cNvSpPr/>
          <p:nvPr/>
        </p:nvSpPr>
        <p:spPr>
          <a:xfrm>
            <a:off x="9628632" y="1600200"/>
            <a:ext cx="566928" cy="566928"/>
          </a:xfrm>
          <a:prstGeom prst="ellipse">
            <a:avLst/>
          </a:prstGeom>
          <a:solidFill>
            <a:srgbClr val="1E2761"/>
          </a:solidFill>
          <a:ln/>
        </p:spPr>
      </p:sp>
      <p:sp>
        <p:nvSpPr>
          <p:cNvPr id="17" name="Text 15"/>
          <p:cNvSpPr txBox="1"/>
          <p:nvPr/>
        </p:nvSpPr>
        <p:spPr>
          <a:xfrm>
            <a:off x="9628632" y="1591056"/>
            <a:ext cx="56692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8147304" y="2331720"/>
            <a:ext cx="35661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Mid–late October</a:t>
            </a:r>
            <a:endParaRPr lang="en-US" sz="1600" dirty="0"/>
          </a:p>
        </p:txBody>
      </p:sp>
      <p:sp>
        <p:nvSpPr>
          <p:cNvPr id="19" name="Shape 17"/>
          <p:cNvSpPr/>
          <p:nvPr/>
        </p:nvSpPr>
        <p:spPr>
          <a:xfrm>
            <a:off x="8147304" y="2788920"/>
            <a:ext cx="3566160" cy="2377440"/>
          </a:xfrm>
          <a:prstGeom prst="roundRect">
            <a:avLst>
              <a:gd name="adj" fmla="val 3462"/>
            </a:avLst>
          </a:prstGeom>
          <a:solidFill>
            <a:srgbClr val="EAF1FD"/>
          </a:solidFill>
          <a:ln/>
        </p:spPr>
      </p:sp>
      <p:sp>
        <p:nvSpPr>
          <p:cNvPr id="20" name="Text 18"/>
          <p:cNvSpPr txBox="1"/>
          <p:nvPr/>
        </p:nvSpPr>
        <p:spPr>
          <a:xfrm>
            <a:off x="8421624" y="3017520"/>
            <a:ext cx="3063240" cy="2011680"/>
          </a:xfrm>
          <a:prstGeom prst="rect">
            <a:avLst/>
          </a:prstGeom>
          <a:noFill/>
          <a:ln/>
        </p:spPr>
        <p:txBody>
          <a:bodyPr wrap="square" lIns="0" tIns="0" rIns="0" bIns="0" rtlCol="0" anchor="ctr"/>
          <a:lstStyle/>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Stage-3B results → §8.8 + programme diary</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Abstract rewrite; final A0 sweep; ToC/LoF/LoT fields</a:t>
            </a:r>
            <a:endParaRPr lang="en-US" sz="1250" dirty="0"/>
          </a:p>
          <a:p>
            <a:pPr marL="342900" indent="-342900">
              <a:lnSpc>
                <a:spcPct val="108000"/>
              </a:lnSpc>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Thesis submission → oral examination</a:t>
            </a:r>
            <a:endParaRPr lang="en-US" sz="1250" dirty="0"/>
          </a:p>
        </p:txBody>
      </p:sp>
      <p:sp>
        <p:nvSpPr>
          <p:cNvPr id="21" name="Shape 19"/>
          <p:cNvSpPr/>
          <p:nvPr/>
        </p:nvSpPr>
        <p:spPr>
          <a:xfrm>
            <a:off x="502920" y="5486400"/>
            <a:ext cx="11192256" cy="658368"/>
          </a:xfrm>
          <a:prstGeom prst="roundRect">
            <a:avLst>
              <a:gd name="adj" fmla="val 11111"/>
            </a:avLst>
          </a:prstGeom>
          <a:solidFill>
            <a:srgbClr val="1E2761"/>
          </a:solidFill>
          <a:ln/>
        </p:spPr>
      </p:sp>
      <p:sp>
        <p:nvSpPr>
          <p:cNvPr id="22" name="Text 20"/>
          <p:cNvSpPr txBox="1"/>
          <p:nvPr/>
        </p:nvSpPr>
        <p:spPr>
          <a:xfrm>
            <a:off x="868680" y="5486400"/>
            <a:ext cx="10469880" cy="65836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 dependency is already in hand: ethics coverage runs to 30 October 2026, the build is tested, and the archive is reproducible.</a:t>
            </a:r>
            <a:endParaRPr lang="en-US" sz="1400" dirty="0"/>
          </a:p>
        </p:txBody>
      </p:sp>
      <p:sp>
        <p:nvSpPr>
          <p:cNvPr id="23" name="Text 21"/>
          <p:cNvSpPr txBox="1"/>
          <p:nvPr/>
        </p:nvSpPr>
        <p:spPr>
          <a:xfrm>
            <a:off x="502920" y="6473952"/>
            <a:ext cx="7772400" cy="274320"/>
          </a:xfrm>
          <a:prstGeom prst="rect">
            <a:avLst/>
          </a:prstGeom>
          <a:noFill/>
          <a:ln/>
        </p:spPr>
        <p:txBody>
          <a:bodyPr wrap="square" lIns="0" tIns="0" rIns="0" bIns="0" rtlCol="0" anchor="ctr"/>
          <a:lstStyle/>
          <a:p>
            <a:pPr algn="l" indent="0" marL="0">
              <a:buNone/>
            </a:pPr>
            <a:r>
              <a:rPr lang="en-US" sz="1000" dirty="0">
                <a:solidFill>
                  <a:srgbClr val="5A6172"/>
                </a:solidFill>
                <a:latin typeface="Calibri" pitchFamily="34" charset="0"/>
                <a:ea typeface="Calibri" pitchFamily="34" charset="-122"/>
                <a:cs typeface="Calibri" pitchFamily="34" charset="-120"/>
              </a:rPr>
              <a:t>Sidney K.T. Tam  |  EngD Final Review (Update 8)  |  PolyU ISE  |  September 2026</a:t>
            </a:r>
            <a:endParaRPr lang="en-US" sz="1000" dirty="0"/>
          </a:p>
        </p:txBody>
      </p:sp>
      <p:sp>
        <p:nvSpPr>
          <p:cNvPr id="24" name="Text 22"/>
          <p:cNvSpPr txBox="1"/>
          <p:nvPr/>
        </p:nvSpPr>
        <p:spPr>
          <a:xfrm>
            <a:off x="11384280" y="6473952"/>
            <a:ext cx="365760" cy="274320"/>
          </a:xfrm>
          <a:prstGeom prst="rect">
            <a:avLst/>
          </a:prstGeom>
          <a:noFill/>
          <a:ln/>
        </p:spPr>
        <p:txBody>
          <a:bodyPr wrap="square" lIns="0" tIns="0" rIns="0" bIns="0" rtlCol="0" anchor="ctr"/>
          <a:lstStyle/>
          <a:p>
            <a:pPr algn="r" indent="0" marL="0">
              <a:buNone/>
            </a:pPr>
            <a:r>
              <a:rPr lang="en-US" sz="1000" dirty="0">
                <a:solidFill>
                  <a:srgbClr val="5A61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77240" y="548640"/>
            <a:ext cx="106070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thesis contributes</a:t>
            </a:r>
            <a:endParaRPr lang="en-US" sz="3200" dirty="0"/>
          </a:p>
        </p:txBody>
      </p:sp>
      <p:sp>
        <p:nvSpPr>
          <p:cNvPr id="3" name="Shape 1"/>
          <p:cNvSpPr/>
          <p:nvPr/>
        </p:nvSpPr>
        <p:spPr>
          <a:xfrm>
            <a:off x="777240" y="1554480"/>
            <a:ext cx="5166360" cy="1664208"/>
          </a:xfrm>
          <a:prstGeom prst="roundRect">
            <a:avLst>
              <a:gd name="adj" fmla="val 4396"/>
            </a:avLst>
          </a:prstGeom>
          <a:solidFill>
            <a:srgbClr val="2E3A8C"/>
          </a:solidFill>
          <a:ln/>
        </p:spPr>
      </p:sp>
      <p:sp>
        <p:nvSpPr>
          <p:cNvPr id="4" name="Text 2"/>
          <p:cNvSpPr txBox="1"/>
          <p:nvPr/>
        </p:nvSpPr>
        <p:spPr>
          <a:xfrm>
            <a:off x="1051560" y="1700784"/>
            <a:ext cx="4617720" cy="1417320"/>
          </a:xfrm>
          <a:prstGeom prst="rect">
            <a:avLst/>
          </a:prstGeom>
          <a:noFill/>
          <a:ln/>
        </p:spPr>
        <p:txBody>
          <a:bodyPr wrap="square" lIns="0" tIns="0" rIns="0" bIns="0" rtlCol="0" anchor="ctr"/>
          <a:lstStyle/>
          <a:p>
            <a:pPr indent="0" marL="0">
              <a:lnSpc>
                <a:spcPct val="108000"/>
              </a:lnSpc>
              <a:buNone/>
            </a:pPr>
            <a:r>
              <a:rPr lang="en-US" sz="1500" b="1" dirty="0">
                <a:solidFill>
                  <a:srgbClr val="CADCFC"/>
                </a:solidFill>
                <a:latin typeface="Calibri" pitchFamily="34" charset="0"/>
                <a:ea typeface="Calibri" pitchFamily="34" charset="-122"/>
                <a:cs typeface="Calibri" pitchFamily="34" charset="-120"/>
              </a:rPr>
              <a:t>A named phenomenon</a:t>
            </a:r>
            <a:endParaRPr lang="en-US" sz="1500" dirty="0"/>
          </a:p>
          <a:p>
            <a:pPr indent="0" marL="0">
              <a:lnSpc>
                <a:spcPct val="108000"/>
              </a:lnSpc>
              <a:buNone/>
            </a:pPr>
            <a:r>
              <a:rPr lang="en-US" sz="1150" dirty="0">
                <a:solidFill>
                  <a:srgbClr val="FFFFFF"/>
                </a:solidFill>
                <a:latin typeface="Calibri" pitchFamily="34" charset="0"/>
                <a:ea typeface="Calibri" pitchFamily="34" charset="-122"/>
                <a:cs typeface="Calibri" pitchFamily="34" charset="-120"/>
              </a:rPr>
              <a:t>FIAS — a descriptive construct for failure-induced abandonment in health-coupled games, grounded in a prospectively observed cohort and a documented field sequence.</a:t>
            </a:r>
            <a:endParaRPr lang="en-US" sz="1500" dirty="0"/>
          </a:p>
        </p:txBody>
      </p:sp>
      <p:sp>
        <p:nvSpPr>
          <p:cNvPr id="5" name="Shape 3"/>
          <p:cNvSpPr/>
          <p:nvPr/>
        </p:nvSpPr>
        <p:spPr>
          <a:xfrm>
            <a:off x="6217920" y="1554480"/>
            <a:ext cx="5166360" cy="1664208"/>
          </a:xfrm>
          <a:prstGeom prst="roundRect">
            <a:avLst>
              <a:gd name="adj" fmla="val 4396"/>
            </a:avLst>
          </a:prstGeom>
          <a:solidFill>
            <a:srgbClr val="2E3A8C"/>
          </a:solidFill>
          <a:ln/>
        </p:spPr>
      </p:sp>
      <p:sp>
        <p:nvSpPr>
          <p:cNvPr id="6" name="Text 4"/>
          <p:cNvSpPr txBox="1"/>
          <p:nvPr/>
        </p:nvSpPr>
        <p:spPr>
          <a:xfrm>
            <a:off x="6492240" y="1700784"/>
            <a:ext cx="4617720" cy="1417320"/>
          </a:xfrm>
          <a:prstGeom prst="rect">
            <a:avLst/>
          </a:prstGeom>
          <a:noFill/>
          <a:ln/>
        </p:spPr>
        <p:txBody>
          <a:bodyPr wrap="square" lIns="0" tIns="0" rIns="0" bIns="0" rtlCol="0" anchor="ctr"/>
          <a:lstStyle/>
          <a:p>
            <a:pPr indent="0" marL="0">
              <a:lnSpc>
                <a:spcPct val="108000"/>
              </a:lnSpc>
              <a:buNone/>
            </a:pPr>
            <a:r>
              <a:rPr lang="en-US" sz="1500" b="1" dirty="0">
                <a:solidFill>
                  <a:srgbClr val="CADCFC"/>
                </a:solidFill>
                <a:latin typeface="Calibri" pitchFamily="34" charset="0"/>
                <a:ea typeface="Calibri" pitchFamily="34" charset="-122"/>
                <a:cs typeface="Calibri" pitchFamily="34" charset="-120"/>
              </a:rPr>
              <a:t>A boundary claim for theory</a:t>
            </a:r>
            <a:endParaRPr lang="en-US" sz="1500" dirty="0"/>
          </a:p>
          <a:p>
            <a:pPr indent="0" marL="0">
              <a:lnSpc>
                <a:spcPct val="108000"/>
              </a:lnSpc>
              <a:buNone/>
            </a:pPr>
            <a:r>
              <a:rPr lang="en-US" sz="1150" dirty="0">
                <a:solidFill>
                  <a:srgbClr val="FFFFFF"/>
                </a:solidFill>
                <a:latin typeface="Calibri" pitchFamily="34" charset="0"/>
                <a:ea typeface="Calibri" pitchFamily="34" charset="-122"/>
                <a:cs typeface="Calibri" pitchFamily="34" charset="-120"/>
              </a:rPr>
              <a:t>A candidate boundary condition: gamification's engagement predictions may not transfer when play is coupled to a clinical verdict — with the decoupling comparison as motivating evidence.</a:t>
            </a:r>
            <a:endParaRPr lang="en-US" sz="1500" dirty="0"/>
          </a:p>
        </p:txBody>
      </p:sp>
      <p:sp>
        <p:nvSpPr>
          <p:cNvPr id="7" name="Shape 5"/>
          <p:cNvSpPr/>
          <p:nvPr/>
        </p:nvSpPr>
        <p:spPr>
          <a:xfrm>
            <a:off x="777240" y="3364992"/>
            <a:ext cx="5166360" cy="1664208"/>
          </a:xfrm>
          <a:prstGeom prst="roundRect">
            <a:avLst>
              <a:gd name="adj" fmla="val 4396"/>
            </a:avLst>
          </a:prstGeom>
          <a:solidFill>
            <a:srgbClr val="2E3A8C"/>
          </a:solidFill>
          <a:ln/>
        </p:spPr>
      </p:sp>
      <p:sp>
        <p:nvSpPr>
          <p:cNvPr id="8" name="Text 6"/>
          <p:cNvSpPr txBox="1"/>
          <p:nvPr/>
        </p:nvSpPr>
        <p:spPr>
          <a:xfrm>
            <a:off x="1051560" y="3511296"/>
            <a:ext cx="4617720" cy="1417320"/>
          </a:xfrm>
          <a:prstGeom prst="rect">
            <a:avLst/>
          </a:prstGeom>
          <a:noFill/>
          <a:ln/>
        </p:spPr>
        <p:txBody>
          <a:bodyPr wrap="square" lIns="0" tIns="0" rIns="0" bIns="0" rtlCol="0" anchor="ctr"/>
          <a:lstStyle/>
          <a:p>
            <a:pPr indent="0" marL="0">
              <a:lnSpc>
                <a:spcPct val="108000"/>
              </a:lnSpc>
              <a:buNone/>
            </a:pPr>
            <a:r>
              <a:rPr lang="en-US" sz="1500" b="1" dirty="0">
                <a:solidFill>
                  <a:srgbClr val="CADCFC"/>
                </a:solidFill>
                <a:latin typeface="Calibri" pitchFamily="34" charset="0"/>
                <a:ea typeface="Calibri" pitchFamily="34" charset="-122"/>
                <a:cs typeface="Calibri" pitchFamily="34" charset="-120"/>
              </a:rPr>
              <a:t>An engineering response</a:t>
            </a:r>
            <a:endParaRPr lang="en-US" sz="1500" dirty="0"/>
          </a:p>
          <a:p>
            <a:pPr indent="0" marL="0">
              <a:lnSpc>
                <a:spcPct val="108000"/>
              </a:lnSpc>
              <a:buNone/>
            </a:pPr>
            <a:r>
              <a:rPr lang="en-US" sz="1150" dirty="0">
                <a:solidFill>
                  <a:srgbClr val="FFFFFF"/>
                </a:solidFill>
                <a:latin typeface="Calibri" pitchFamily="34" charset="0"/>
                <a:ea typeface="Calibri" pitchFamily="34" charset="-122"/>
                <a:cs typeface="Calibri" pitchFamily="34" charset="-120"/>
              </a:rPr>
              <a:t>The adaptive-learning design framework and three design principles; Stage 3B is its first field test.</a:t>
            </a:r>
            <a:endParaRPr lang="en-US" sz="1500" dirty="0"/>
          </a:p>
        </p:txBody>
      </p:sp>
      <p:sp>
        <p:nvSpPr>
          <p:cNvPr id="9" name="Shape 7"/>
          <p:cNvSpPr/>
          <p:nvPr/>
        </p:nvSpPr>
        <p:spPr>
          <a:xfrm>
            <a:off x="6217920" y="3364992"/>
            <a:ext cx="5166360" cy="1664208"/>
          </a:xfrm>
          <a:prstGeom prst="roundRect">
            <a:avLst>
              <a:gd name="adj" fmla="val 4396"/>
            </a:avLst>
          </a:prstGeom>
          <a:solidFill>
            <a:srgbClr val="2E3A8C"/>
          </a:solidFill>
          <a:ln/>
        </p:spPr>
      </p:sp>
      <p:sp>
        <p:nvSpPr>
          <p:cNvPr id="10" name="Text 8"/>
          <p:cNvSpPr txBox="1"/>
          <p:nvPr/>
        </p:nvSpPr>
        <p:spPr>
          <a:xfrm>
            <a:off x="6492240" y="3511296"/>
            <a:ext cx="4617720" cy="1417320"/>
          </a:xfrm>
          <a:prstGeom prst="rect">
            <a:avLst/>
          </a:prstGeom>
          <a:noFill/>
          <a:ln/>
        </p:spPr>
        <p:txBody>
          <a:bodyPr wrap="square" lIns="0" tIns="0" rIns="0" bIns="0" rtlCol="0" anchor="ctr"/>
          <a:lstStyle/>
          <a:p>
            <a:pPr indent="0" marL="0">
              <a:lnSpc>
                <a:spcPct val="108000"/>
              </a:lnSpc>
              <a:buNone/>
            </a:pPr>
            <a:r>
              <a:rPr lang="en-US" sz="1500" b="1" dirty="0">
                <a:solidFill>
                  <a:srgbClr val="CADCFC"/>
                </a:solidFill>
                <a:latin typeface="Calibri" pitchFamily="34" charset="0"/>
                <a:ea typeface="Calibri" pitchFamily="34" charset="-122"/>
                <a:cs typeface="Calibri" pitchFamily="34" charset="-120"/>
              </a:rPr>
              <a:t>A reproducible record</a:t>
            </a:r>
            <a:endParaRPr lang="en-US" sz="1500" dirty="0"/>
          </a:p>
          <a:p>
            <a:pPr indent="0" marL="0">
              <a:lnSpc>
                <a:spcPct val="108000"/>
              </a:lnSpc>
              <a:buNone/>
            </a:pPr>
            <a:r>
              <a:rPr lang="en-US" sz="1150" dirty="0">
                <a:solidFill>
                  <a:srgbClr val="FFFFFF"/>
                </a:solidFill>
                <a:latin typeface="Calibri" pitchFamily="34" charset="0"/>
                <a:ea typeface="Calibri" pitchFamily="34" charset="-122"/>
                <a:cs typeface="Calibri" pitchFamily="34" charset="-120"/>
              </a:rPr>
              <a:t>As-received archives, independently reproduced statistics, calibrated language throughout — an evidential chain an examiner can walk end to end.</a:t>
            </a:r>
            <a:endParaRPr lang="en-US" sz="1500" dirty="0"/>
          </a:p>
        </p:txBody>
      </p:sp>
      <p:sp>
        <p:nvSpPr>
          <p:cNvPr id="11" name="Text 9"/>
          <p:cNvSpPr txBox="1"/>
          <p:nvPr/>
        </p:nvSpPr>
        <p:spPr>
          <a:xfrm>
            <a:off x="777240" y="5486400"/>
            <a:ext cx="10607040" cy="457200"/>
          </a:xfrm>
          <a:prstGeom prst="rect">
            <a:avLst/>
          </a:prstGeom>
          <a:noFill/>
          <a:ln/>
        </p:spPr>
        <p:txBody>
          <a:bodyPr wrap="square" lIns="0" tIns="0" rIns="0" bIns="0" rtlCol="0" anchor="ctr"/>
          <a:lstStyle/>
          <a:p>
            <a:pPr indent="0" marL="0">
              <a:buNone/>
            </a:pPr>
            <a:r>
              <a:rPr lang="en-US" sz="2000" i="1" dirty="0">
                <a:solidFill>
                  <a:srgbClr val="CADCFC"/>
                </a:solidFill>
                <a:latin typeface="Cambria" pitchFamily="34" charset="0"/>
                <a:ea typeface="Cambria" pitchFamily="34" charset="-122"/>
                <a:cs typeface="Cambria" pitchFamily="34" charset="-120"/>
              </a:rPr>
              <a:t>Thank you — I welcome the panel's questions.</a:t>
            </a:r>
            <a:endParaRPr lang="en-US" sz="2000" dirty="0"/>
          </a:p>
        </p:txBody>
      </p:sp>
      <p:sp>
        <p:nvSpPr>
          <p:cNvPr id="12" name="Text 10"/>
          <p:cNvSpPr txBox="1"/>
          <p:nvPr/>
        </p:nvSpPr>
        <p:spPr>
          <a:xfrm>
            <a:off x="777240" y="6263640"/>
            <a:ext cx="1060704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Sidney K. T. Tam · EngD candidate, ISE · Supervisor: Prof. C. F. Cheung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2026-09-11T11:55:22Z</dcterms:created>
  <dcterms:modified xsi:type="dcterms:W3CDTF">2026-09-11T11:55:22Z</dcterms:modified>
</cp:coreProperties>
</file>