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 active clinics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60.666666666666664</c:v>
                </c:pt>
                <c:pt idx="2">
                  <c:v>165.0</c:v>
                </c:pt>
                <c:pt idx="3">
                  <c:v>285.0</c:v>
                </c:pt>
                <c:pt idx="4">
                  <c:v>415.0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 b="1">
                  <a:solidFill>
                    <a:srgbClr val="1B335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E86C1"/>
            </a:solidFill>
          </c:spPr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2.366</c:v>
                </c:pt>
                <c:pt idx="2">
                  <c:v>6.435</c:v>
                </c:pt>
                <c:pt idx="3">
                  <c:v>11.115</c:v>
                </c:pt>
                <c:pt idx="4">
                  <c:v>16.185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B3355"/>
            </a:solidFill>
          </c:spPr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-0.46</c:v>
                </c:pt>
                <c:pt idx="1">
                  <c:v>0.9564</c:v>
                </c:pt>
                <c:pt idx="2">
                  <c:v>3.749</c:v>
                </c:pt>
                <c:pt idx="3">
                  <c:v>7.121</c:v>
                </c:pt>
                <c:pt idx="4">
                  <c:v>10.799</c:v>
                </c:pt>
              </c:numCache>
            </c:numRef>
          </c:val>
        </c:ser>
        <c:dLbls>
          <c:numFmt formatCode="&quot;$&quot;0.0" sourceLinked="0"/>
          <c:txPr>
            <a:bodyPr/>
            <a:lstStyle/>
            <a:p>
              <a:pPr>
                <a:defRPr sz="11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rPr sz="1300"/>
                  <a:t>$M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Financial model —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Bottom-up vial (razor-and-blades) consumable model · from Jul 2026, production Feb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A1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128016" cy="676656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" y="1417320"/>
            <a:ext cx="6126480" cy="676656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453896"/>
            <a:ext cx="585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Ex-factory price / vial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$30–35  (base $32.50)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58568"/>
            <a:ext cx="128016" cy="676656"/>
          </a:xfrm>
          <a:prstGeom prst="rect">
            <a:avLst/>
          </a:prstGeom>
          <a:solidFill>
            <a:srgbClr val="1AA1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68096" y="2258568"/>
            <a:ext cx="6126480" cy="676656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2295144"/>
            <a:ext cx="585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Cost / vial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$7  =  bottoming $4 + production $3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099816"/>
            <a:ext cx="128016" cy="676656"/>
          </a:xfrm>
          <a:prstGeom prst="rect">
            <a:avLst/>
          </a:prstGeom>
          <a:solidFill>
            <a:srgbClr val="E09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099816"/>
            <a:ext cx="6126480" cy="676656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136392"/>
            <a:ext cx="585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Gross profit / vial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$25.50   (78.5% margin)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941064"/>
            <a:ext cx="128016" cy="676656"/>
          </a:xfrm>
          <a:prstGeom prst="rect">
            <a:avLst/>
          </a:prstGeom>
          <a:solidFill>
            <a:srgbClr val="244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3941064"/>
            <a:ext cx="6126480" cy="676656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977640"/>
            <a:ext cx="585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Vials / clinic / month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100   (MOQ 300 per order)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782312"/>
            <a:ext cx="128016" cy="676656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8096" y="4782312"/>
            <a:ext cx="6126480" cy="676656"/>
          </a:xfrm>
          <a:prstGeom prst="roundRect">
            <a:avLst/>
          </a:prstGeom>
          <a:solidFill>
            <a:srgbClr val="EC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818888"/>
            <a:ext cx="585216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B3355"/>
                </a:solidFill>
                <a:latin typeface="Calibri"/>
              </a:rPr>
              <a:t>Production capacity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5A5A5A"/>
                </a:solidFill>
                <a:latin typeface="Calibri"/>
              </a:rPr>
              <a:t>60,000 vials/mo  (≈ 600 clinics) — 4 lab + 2 shared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78040" y="1417320"/>
            <a:ext cx="2148840" cy="128016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$25.50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gross profit / vial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18320" y="1417320"/>
            <a:ext cx="2148840" cy="128016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78.5%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gross margin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78040" y="2880360"/>
            <a:ext cx="438912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Volume driver — active clinics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End-2027 110  →  2028 220  →  2029 350  →  2030 480.  100 vials/clinic/mo. 2028–30 counts are assumptions to confirm.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7178040" y="4251960"/>
          <a:ext cx="4389120" cy="2057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7178040" y="6355080"/>
            <a:ext cx="4389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Avg active clinics / year — the model's revenue driver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Baseline — 5-year P&amp;L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Base case (ex-factory $32.50 / vial) · USD · illustrative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A2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417320"/>
          <a:ext cx="6949440" cy="3703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818120" y="1417320"/>
            <a:ext cx="3749039" cy="109728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$16.2M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2030 revenue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606040"/>
            <a:ext cx="3749039" cy="109728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200" b="1">
                <a:solidFill>
                  <a:srgbClr val="FFFFFF"/>
                </a:solidFill>
                <a:latin typeface="Calibri"/>
              </a:rPr>
              <a:t>$10.8M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2030 EBITDA  (67% margin)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3794760"/>
            <a:ext cx="1828800" cy="132588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78.5%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gross margin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738360" y="3794760"/>
            <a:ext cx="1828800" cy="1325880"/>
          </a:xfrm>
          <a:prstGeom prst="roundRect">
            <a:avLst/>
          </a:prstGeom>
          <a:solidFill>
            <a:srgbClr val="E09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2027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EBITDA-positive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5349240"/>
          <a:ext cx="10927080" cy="132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682496"/>
                <a:gridCol w="1682496"/>
                <a:gridCol w="1682496"/>
                <a:gridCol w="1682496"/>
                <a:gridCol w="1682496"/>
              </a:tblGrid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$M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2026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2027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2028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2029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2030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Revenue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0.00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2.37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6.43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11.12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16.18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Gross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1.86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5.05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8.72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B3355"/>
                          </a:solidFill>
                        </a:rPr>
                        <a:t>12.70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B3355"/>
                          </a:solidFill>
                        </a:rPr>
                        <a:t>EBITDA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-0.46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0.96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3.75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7.12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B3355"/>
                          </a:solidFill>
                        </a:rPr>
                        <a:t>10.80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310896"/>
            <a:ext cx="128016" cy="47548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4592"/>
            <a:ext cx="1060704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700" b="1">
                <a:solidFill>
                  <a:srgbClr val="FFFFFF"/>
                </a:solidFill>
                <a:latin typeface="Calibri"/>
              </a:rPr>
              <a:t>Return on investment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786384"/>
            <a:ext cx="10607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CFDDEA"/>
                </a:solidFill>
                <a:latin typeface="Calibri"/>
              </a:rPr>
              <a:t>$1.0M milestone-gated kickoff · self-funding from first production · illustrative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37376"/>
            <a:ext cx="731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5A5A5A"/>
                </a:solidFill>
                <a:latin typeface="Calibri"/>
              </a:rPr>
              <a:t>A3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520440" cy="1371600"/>
          </a:xfrm>
          <a:prstGeom prst="roundRect">
            <a:avLst/>
          </a:prstGeom>
          <a:solidFill>
            <a:srgbClr val="1B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$22.2M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5-yr cumulative EBITDA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17320"/>
            <a:ext cx="3520440" cy="1371600"/>
          </a:xfrm>
          <a:prstGeom prst="round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22×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5-yr EBITDA / $1.0M 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17320"/>
            <a:ext cx="3611880" cy="1371600"/>
          </a:xfrm>
          <a:prstGeom prst="roundRect">
            <a:avLst/>
          </a:prstGeom>
          <a:solidFill>
            <a:srgbClr val="1AA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3400" b="1">
                <a:solidFill>
                  <a:srgbClr val="FFFFFF"/>
                </a:solidFill>
                <a:latin typeface="Calibri"/>
              </a:rPr>
              <a:t>2028</a:t>
            </a:r>
          </a:p>
          <a:p>
            <a:pPr algn="ctr"/>
            <a:r>
              <a:rPr sz="1400" b="0">
                <a:solidFill>
                  <a:srgbClr val="CFDDEA"/>
                </a:solidFill>
                <a:latin typeface="Calibri"/>
              </a:rPr>
              <a:t>kickoff repaid by cum. EBITDA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71800"/>
            <a:ext cx="5349240" cy="324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800" b="1">
                <a:solidFill>
                  <a:srgbClr val="1B3355"/>
                </a:solidFill>
                <a:latin typeface="Calibri"/>
              </a:rPr>
              <a:t>Why so capital-efficient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5A5A5A"/>
                </a:solidFill>
                <a:latin typeface="Calibri"/>
              </a:rPr>
              <a:t>•  EBITDA-positive from 2027 — the first production year.
•  78.5% gross margin; the 4-lab + 2-shared team is fixed to 60K vials/mo, so margin expands as clinics grow.
•  Cumulative EBITDA covers the $1.0M kickoff by 2028 — no large survival round.
•  $1.0M funds prep + working capital to self-sustaining.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2971800"/>
            <a:ext cx="5440680" cy="960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09E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7000" rIns="127000" tIns="101600"/>
          <a:lstStyle/>
          <a:p>
            <a:pPr algn="l"/>
            <a:r>
              <a:rPr sz="1600" b="1">
                <a:solidFill>
                  <a:srgbClr val="1B3355"/>
                </a:solidFill>
                <a:latin typeface="Calibri"/>
              </a:rPr>
              <a:t>Illustrative equity return (exit on 2030 EBITDA)</a:t>
            </a:r>
          </a:p>
          <a:p>
            <a:pPr algn="l">
              <a:spcBef>
                <a:spcPts val="400"/>
              </a:spcBef>
            </a:pPr>
            <a:r>
              <a:rPr sz="1400">
                <a:solidFill>
                  <a:srgbClr val="5A5A5A"/>
                </a:solidFill>
                <a:latin typeface="Calibri"/>
              </a:rPr>
              <a:t>Investor owns ~14.3% ($1.0M at $6.0M pre / $7.0M post). Exit EV = multiple × $10.8M 2030 EBITDA.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26480" y="4069080"/>
          <a:ext cx="544068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554480"/>
                <a:gridCol w="1371600"/>
                <a:gridCol w="1188720"/>
              </a:tblGrid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Exit multiple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Enterprise value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Investor stake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Return on $1.0M</a:t>
                      </a:r>
                    </a:p>
                  </a:txBody>
                  <a:tcPr>
                    <a:solidFill>
                      <a:srgbClr val="1B3355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6×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$65M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$9.3M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B3355"/>
                          </a:solidFill>
                        </a:rPr>
                        <a:t>~9×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8×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$86M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$12.3M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B3355"/>
                          </a:solidFill>
                        </a:rPr>
                        <a:t>~12×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10×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$108M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1B3355"/>
                          </a:solidFill>
                        </a:rPr>
                        <a:t>$15.4M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1B3355"/>
                          </a:solidFill>
                        </a:rPr>
                        <a:t>~15×</a:t>
                      </a:r>
                    </a:p>
                  </a:txBody>
                  <a:tcPr>
                    <a:solidFill>
                      <a:srgbClr val="ECF2F7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A5A5A"/>
                </a:solidFill>
                <a:latin typeface="Calibri"/>
              </a:rPr>
              <a:t>Illustrative only — not investment advice. Equity ROI excludes dilution from future rounds; exit multiples are scenario placeholders.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