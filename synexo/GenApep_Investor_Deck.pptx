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 ($B)</c:v>
                </c:pt>
              </c:strCache>
            </c:strRef>
          </c:tx>
          <c:spPr>
            <a:solidFill>
              <a:srgbClr val="2E86C1"/>
            </a:solidFill>
          </c:spPr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2033E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17.5</c:v>
                </c:pt>
                <c:pt idx="1">
                  <c:v>56.0</c:v>
                </c:pt>
              </c:numCache>
            </c:numRef>
          </c:val>
        </c:ser>
        <c:dLbls>
          <c:numFmt formatCode="&quot;$&quot;0&quot;B&quot;" sourceLinked="0"/>
          <c:txPr>
            <a:bodyPr/>
            <a:lstStyle/>
            <a:p>
              <a:pPr>
                <a:defRPr sz="1800" b="1">
                  <a:solidFill>
                    <a:srgbClr val="1B335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Conservative</c:v>
                </c:pt>
              </c:strCache>
            </c:strRef>
          </c:tx>
          <c:spPr>
            <a:solidFill>
              <a:srgbClr val="5A5A5A"/>
            </a:solidFill>
          </c:spPr>
          <c:cat>
            <c:strRef>
              <c:f>Sheet1!$A$2:$A$5</c:f>
              <c:strCache>
                <c:ptCount val="4"/>
                <c:pt idx="0">
                  <c:v>2027</c:v>
                </c:pt>
                <c:pt idx="1">
                  <c:v>2028</c:v>
                </c:pt>
                <c:pt idx="2">
                  <c:v>2029</c:v>
                </c:pt>
                <c:pt idx="3">
                  <c:v>2030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2.058</c:v>
                </c:pt>
                <c:pt idx="1">
                  <c:v>8.148</c:v>
                </c:pt>
                <c:pt idx="2">
                  <c:v>19.449</c:v>
                </c:pt>
                <c:pt idx="3">
                  <c:v>34.992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2E86C1"/>
            </a:solidFill>
          </c:spPr>
          <c:cat>
            <c:strRef>
              <c:f>Sheet1!$A$2:$A$5</c:f>
              <c:strCache>
                <c:ptCount val="4"/>
                <c:pt idx="0">
                  <c:v>2027</c:v>
                </c:pt>
                <c:pt idx="1">
                  <c:v>2028</c:v>
                </c:pt>
                <c:pt idx="2">
                  <c:v>2029</c:v>
                </c:pt>
                <c:pt idx="3">
                  <c:v>2030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4.12</c:v>
                </c:pt>
                <c:pt idx="1">
                  <c:v>16.42125</c:v>
                </c:pt>
                <c:pt idx="2">
                  <c:v>40.29875</c:v>
                </c:pt>
                <c:pt idx="3">
                  <c:v>75.1225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Upside</c:v>
                </c:pt>
              </c:strCache>
            </c:strRef>
          </c:tx>
          <c:spPr>
            <a:solidFill>
              <a:srgbClr val="1B3355"/>
            </a:solidFill>
          </c:spPr>
          <c:cat>
            <c:strRef>
              <c:f>Sheet1!$A$2:$A$5</c:f>
              <c:strCache>
                <c:ptCount val="4"/>
                <c:pt idx="0">
                  <c:v>2027</c:v>
                </c:pt>
                <c:pt idx="1">
                  <c:v>2028</c:v>
                </c:pt>
                <c:pt idx="2">
                  <c:v>2029</c:v>
                </c:pt>
                <c:pt idx="3">
                  <c:v>2030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6.084</c:v>
                </c:pt>
                <c:pt idx="1">
                  <c:v>24.46275</c:v>
                </c:pt>
                <c:pt idx="2">
                  <c:v>60.09</c:v>
                </c:pt>
                <c:pt idx="3">
                  <c:v>112.17375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5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400"/>
                  <a:t>Revenue ($M)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5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5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Post-raise</c:v>
                </c:pt>
              </c:strCache>
            </c:strRef>
          </c:tx>
          <c:dPt>
            <c:idx val="0"/>
            <c:spPr>
              <a:solidFill>
                <a:srgbClr val="1B3355"/>
              </a:solidFill>
            </c:spPr>
          </c:dPt>
          <c:dPt>
            <c:idx val="1"/>
            <c:spPr>
              <a:solidFill>
                <a:srgbClr val="2E86C1"/>
              </a:solidFill>
            </c:spPr>
          </c:dPt>
          <c:dPt>
            <c:idx val="2"/>
            <c:spPr>
              <a:solidFill>
                <a:srgbClr val="E09E2B"/>
              </a:solidFill>
            </c:spPr>
          </c:dPt>
          <c:cat>
            <c:strRef>
              <c:f>Sheet1!$A$2:$A$4</c:f>
              <c:strCache>
                <c:ptCount val="3"/>
                <c:pt idx="0">
                  <c:v>WBI</c:v>
                </c:pt>
                <c:pt idx="1">
                  <c:v>Eyesel</c:v>
                </c:pt>
                <c:pt idx="2">
                  <c:v>Investor (SAFE)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60.0</c:v>
                </c:pt>
                <c:pt idx="1">
                  <c:v>25.7</c:v>
                </c:pt>
                <c:pt idx="2">
                  <c:v>14.3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5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5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24160" y="1371600"/>
            <a:ext cx="2377440" cy="2377440"/>
          </a:xfrm>
          <a:prstGeom prst="ellipse">
            <a:avLst/>
          </a:prstGeom>
          <a:solidFill>
            <a:srgbClr val="244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5120640"/>
            <a:ext cx="1645920" cy="1645920"/>
          </a:xfrm>
          <a:prstGeom prst="ellipse">
            <a:avLst/>
          </a:prstGeom>
          <a:solidFill>
            <a:srgbClr val="244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92640" y="5852160"/>
            <a:ext cx="914400" cy="914400"/>
          </a:xfrm>
          <a:prstGeom prst="ellipse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2331720"/>
            <a:ext cx="182880" cy="173736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240280"/>
            <a:ext cx="8686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600" b="1">
                <a:solidFill>
                  <a:srgbClr val="FFFFFF"/>
                </a:solidFill>
                <a:latin typeface="Calibri"/>
              </a:rPr>
              <a:t>GENAPEP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520440"/>
            <a:ext cx="8686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CFDDEA"/>
                </a:solidFill>
                <a:latin typeface="Calibri"/>
              </a:rPr>
              <a:t>AI-Personalised Aesthetic Medical Devices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34340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9FB6CB"/>
                </a:solidFill>
                <a:latin typeface="Calibri"/>
              </a:rPr>
              <a:t>Korea-anchored, export-led  ·  Investor Deck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594360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869CB4"/>
                </a:solidFill>
                <a:latin typeface="Calibri"/>
              </a:rPr>
              <a:t>Illustrative — not investment advice. Figures are v0.4 scenario estimates.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A large, fast-growing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Medical aesthetics — global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554480"/>
          <a:ext cx="60350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0" y="1645920"/>
            <a:ext cx="4206240" cy="1234440"/>
          </a:xfrm>
          <a:prstGeom prst="roundRect">
            <a:avLst/>
          </a:prstGeom>
          <a:solidFill>
            <a:srgbClr val="1B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~$56B</a:t>
            </a:r>
          </a:p>
          <a:p>
            <a:pPr algn="ctr"/>
            <a:r>
              <a:rPr sz="1400" b="0">
                <a:solidFill>
                  <a:srgbClr val="CFDDEA"/>
                </a:solidFill>
                <a:latin typeface="Calibri"/>
              </a:rPr>
              <a:t>global medical aesthetics by 2033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3063240"/>
            <a:ext cx="2011680" cy="1234440"/>
          </a:xfrm>
          <a:prstGeom prst="roundRect">
            <a:avLst/>
          </a:prstGeom>
          <a:solidFill>
            <a:srgbClr val="1A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10–13%</a:t>
            </a:r>
          </a:p>
          <a:p>
            <a:pPr algn="ctr"/>
            <a:r>
              <a:rPr sz="1400" b="0">
                <a:solidFill>
                  <a:srgbClr val="CFDDEA"/>
                </a:solidFill>
                <a:latin typeface="Calibri"/>
              </a:rPr>
              <a:t>CAGR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3063240"/>
            <a:ext cx="2011680" cy="1234440"/>
          </a:xfrm>
          <a:prstGeom prst="roundRect">
            <a:avLst/>
          </a:prstGeom>
          <a:solidFill>
            <a:srgbClr val="E09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&gt;40%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injectables share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4480560"/>
            <a:ext cx="420624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800" b="1">
                <a:solidFill>
                  <a:srgbClr val="1B3355"/>
                </a:solidFill>
                <a:latin typeface="Calibri"/>
              </a:rPr>
              <a:t>Why now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5A5A5A"/>
                </a:solidFill>
                <a:latin typeface="Calibri"/>
              </a:rPr>
              <a:t>Commodity injectables (HA, botox) keep growing but commoditise. Buyers want differentiated, regenerative, AI-personalised outcomes — a new lane, not a replacement.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The solution — device + kits +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A razor-and-blades medical-device business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32004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800" b="1">
                <a:solidFill>
                  <a:srgbClr val="1B3355"/>
                </a:solidFill>
                <a:latin typeface="Calibri"/>
              </a:rPr>
              <a:t>1 · Applicator device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5A5A5A"/>
                </a:solidFill>
                <a:latin typeface="Calibri"/>
              </a:rPr>
              <a:t>Placed/sold to clinics. Also the data-capture endpoint. ~$3,000 ASP.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950208" y="2834639"/>
            <a:ext cx="685800" cy="548640"/>
          </a:xfrm>
          <a:prstGeom prst="rightArrow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09160" y="2103120"/>
            <a:ext cx="32004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A1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800" b="1">
                <a:solidFill>
                  <a:srgbClr val="1B3355"/>
                </a:solidFill>
                <a:latin typeface="Calibri"/>
              </a:rPr>
              <a:t>2 · Personalised kits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5A5A5A"/>
                </a:solidFill>
                <a:latin typeface="Calibri"/>
              </a:rPr>
              <a:t>Recurring CodeLife-configured peptide/exosome treatment kits. ~$30–35 ex-factory, ~65% GM.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019288" y="2834639"/>
            <a:ext cx="685800" cy="548640"/>
          </a:xfrm>
          <a:prstGeom prst="rightArrow">
            <a:avLst/>
          </a:prstGeom>
          <a:solidFill>
            <a:srgbClr val="1AA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0" y="2103120"/>
            <a:ext cx="32004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9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800" b="1">
                <a:solidFill>
                  <a:srgbClr val="1B3355"/>
                </a:solidFill>
                <a:latin typeface="Calibri"/>
              </a:rPr>
              <a:t>3 · AI + data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5A5A5A"/>
                </a:solidFill>
                <a:latin typeface="Calibri"/>
              </a:rPr>
              <a:t>Every treatment feeds CodeLife — the model improves, the peptides improve, lock-in deepens.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754880"/>
            <a:ext cx="10908792" cy="1143000"/>
          </a:xfrm>
          <a:prstGeom prst="roundRect">
            <a:avLst/>
          </a:prstGeom>
          <a:solidFill>
            <a:srgbClr val="EC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92040"/>
            <a:ext cx="10424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B3355"/>
                </a:solidFill>
                <a:latin typeface="Calibri"/>
              </a:rPr>
              <a:t>Personalised by physician PURPOSE within an approved envelope — fast 'modified-device' registration, not bespoke per-patient devices.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Two co-equal moats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Either alone is copyable; together they compound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5349240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2000" b="1">
                <a:solidFill>
                  <a:srgbClr val="1B3355"/>
                </a:solidFill>
                <a:latin typeface="Calibri"/>
              </a:rPr>
              <a:t>Moat A · AI engine + data flywheel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5A5A5A"/>
                </a:solidFill>
                <a:latin typeface="Calibri"/>
              </a:rPr>
              <a:t>CodeLife.AI designs peptides that outperform generalised products. An AI-QA suite validates every batch and feeds a compounding outcomes dataset — the durable asset. Physician decision-support within a cleared envelope (SaMD-aware).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349240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9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2000" b="1">
                <a:solidFill>
                  <a:srgbClr val="1B3355"/>
                </a:solidFill>
                <a:latin typeface="Calibri"/>
              </a:rPr>
              <a:t>Moat B · Physician co-development engine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5A5A5A"/>
                </a:solidFill>
                <a:latin typeface="Calibri"/>
              </a:rPr>
              <a:t>Elite Korean KOLs co-develop purpose-built SKUs. A fast/cheap regulatory 'modification engine' registers each one. A compliance-first benefit-sharing royalty makes the inventing doctor the champion. A relationship + process asset — hard to copy.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715000"/>
            <a:ext cx="10927080" cy="685800"/>
          </a:xfrm>
          <a:prstGeom prst="roundRect">
            <a:avLst/>
          </a:prstGeom>
          <a:solidFill>
            <a:srgbClr val="EC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1">
                <a:solidFill>
                  <a:srgbClr val="1B3355"/>
                </a:solidFill>
                <a:latin typeface="Calibri"/>
              </a:rPr>
              <a:t>Devices + kits = the revenue wedge and the data-capture layer for Moat 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GenApep Labs — three engines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Moat B, in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3520440" cy="3611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800" b="1">
                <a:solidFill>
                  <a:srgbClr val="1B3355"/>
                </a:solidFill>
                <a:latin typeface="Calibri"/>
              </a:rPr>
              <a:t>1 · KOL co-development lab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5A5A5A"/>
                </a:solidFill>
                <a:latin typeface="Calibri"/>
              </a:rPr>
              <a:t>Korea's world-class physicians co-design products from the doctor's clinical perspective. Doctor-personalised, not patient-personalised. CodeLife accelerates each design.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520440" cy="3611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A1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800" b="1">
                <a:solidFill>
                  <a:srgbClr val="1B3355"/>
                </a:solidFill>
                <a:latin typeface="Calibri"/>
              </a:rPr>
              <a:t>2 · Modification engine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5A5A5A"/>
                </a:solidFill>
                <a:latin typeface="Calibri"/>
              </a:rPr>
              <a:t>Each variant is a minor change — Korea's improved-device / negative-list regime + same-active functional-cosmetic / quasi-drug routes. Capital-efficient SKU factory.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520440" cy="3611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9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800" b="1">
                <a:solidFill>
                  <a:srgbClr val="1B3355"/>
                </a:solidFill>
                <a:latin typeface="Calibri"/>
              </a:rPr>
              <a:t>3 · KOL royalty flywheel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5A5A5A"/>
                </a:solidFill>
                <a:latin typeface="Calibri"/>
              </a:rPr>
              <a:t>The inventing doctor champions the SKU to peers and shares economics as an FMV royalty for genuine IP co-invention — DECOUPLED from their own usage. K-Sunshine / anti-rebate compliant.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303520"/>
            <a:ext cx="2103120" cy="960120"/>
          </a:xfrm>
          <a:prstGeom prst="roundRect">
            <a:avLst/>
          </a:prstGeom>
          <a:solidFill>
            <a:srgbClr val="1A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&lt;3%</a:t>
            </a:r>
          </a:p>
          <a:p>
            <a:pPr algn="ctr"/>
            <a:r>
              <a:rPr sz="1400" b="0">
                <a:solidFill>
                  <a:srgbClr val="CFDDEA"/>
                </a:solidFill>
                <a:latin typeface="Calibri"/>
              </a:rPr>
              <a:t>formulation 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9504" y="5303520"/>
            <a:ext cx="2103120" cy="96012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~3 mo</a:t>
            </a:r>
          </a:p>
          <a:p>
            <a:pPr algn="ctr"/>
            <a:r>
              <a:rPr sz="1400" b="0">
                <a:solidFill>
                  <a:srgbClr val="CFDDEA"/>
                </a:solidFill>
                <a:latin typeface="Calibri"/>
              </a:rPr>
              <a:t>approval cycle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38928" y="5303520"/>
            <a:ext cx="2103120" cy="960120"/>
          </a:xfrm>
          <a:prstGeom prst="roundRect">
            <a:avLst/>
          </a:prstGeom>
          <a:solidFill>
            <a:srgbClr val="1B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&lt;$30K</a:t>
            </a:r>
          </a:p>
          <a:p>
            <a:pPr algn="ctr"/>
            <a:r>
              <a:rPr sz="1400" b="0">
                <a:solidFill>
                  <a:srgbClr val="CFDDEA"/>
                </a:solidFill>
                <a:latin typeface="Calibri"/>
              </a:rPr>
              <a:t>per SKU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88352" y="5303520"/>
            <a:ext cx="2103120" cy="960120"/>
          </a:xfrm>
          <a:prstGeom prst="roundRect">
            <a:avLst/>
          </a:prstGeom>
          <a:solidFill>
            <a:srgbClr val="E09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~20</a:t>
            </a:r>
          </a:p>
          <a:p>
            <a:pPr algn="ctr"/>
            <a:r>
              <a:rPr sz="1400" b="0">
                <a:solidFill>
                  <a:srgbClr val="CFDDEA"/>
                </a:solidFill>
                <a:latin typeface="Calibri"/>
              </a:rPr>
              <a:t>SKUs / 6 mo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37776" y="5303520"/>
            <a:ext cx="2103120" cy="960120"/>
          </a:xfrm>
          <a:prstGeom prst="roundRect">
            <a:avLst/>
          </a:prstGeom>
          <a:solidFill>
            <a:srgbClr val="244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&lt;$600K</a:t>
            </a:r>
          </a:p>
          <a:p>
            <a:pPr algn="ctr"/>
            <a:r>
              <a:rPr sz="1400" b="0">
                <a:solidFill>
                  <a:srgbClr val="CFDDEA"/>
                </a:solidFill>
                <a:latin typeface="Calibri"/>
              </a:rPr>
              <a:t>total reg dev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Moat A — AI efficacy + data flywheel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Performance, not merely personalisation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sp>
        <p:nvSpPr>
          <p:cNvPr id="7" name="Oval 6"/>
          <p:cNvSpPr/>
          <p:nvPr/>
        </p:nvSpPr>
        <p:spPr>
          <a:xfrm>
            <a:off x="4983479" y="2606040"/>
            <a:ext cx="2011680" cy="201168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DATA</a:t>
            </a:r>
          </a:p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FLYWHEEL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325880"/>
            <a:ext cx="2286000" cy="914400"/>
          </a:xfrm>
          <a:prstGeom prst="roundRect">
            <a:avLst/>
          </a:prstGeom>
          <a:solidFill>
            <a:srgbClr val="1A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Treatments &amp; outcomes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3154680"/>
            <a:ext cx="2286000" cy="914400"/>
          </a:xfrm>
          <a:prstGeom prst="roundRect">
            <a:avLst/>
          </a:prstGeom>
          <a:solidFill>
            <a:srgbClr val="1B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Bigger consented dataset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4937760"/>
            <a:ext cx="2286000" cy="914400"/>
          </a:xfrm>
          <a:prstGeom prst="roundRect">
            <a:avLst/>
          </a:prstGeom>
          <a:solidFill>
            <a:srgbClr val="E09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Better AI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154680"/>
            <a:ext cx="2286000" cy="914400"/>
          </a:xfrm>
          <a:prstGeom prst="roundRect">
            <a:avLst/>
          </a:prstGeom>
          <a:solidFill>
            <a:srgbClr val="244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Better peptides</a:t>
            </a:r>
          </a:p>
        </p:txBody>
      </p:sp>
      <p:sp>
        <p:nvSpPr>
          <p:cNvPr id="12" name="Right Arrow 11"/>
          <p:cNvSpPr/>
          <p:nvPr/>
        </p:nvSpPr>
        <p:spPr>
          <a:xfrm rot="2100000">
            <a:off x="7086600" y="2331720"/>
            <a:ext cx="960120" cy="502920"/>
          </a:xfrm>
          <a:prstGeom prst="rightArrow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 rot="7500000">
            <a:off x="7086600" y="4297680"/>
            <a:ext cx="960120" cy="502920"/>
          </a:xfrm>
          <a:prstGeom prst="rightArrow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 rot="12900000">
            <a:off x="3703320" y="4297680"/>
            <a:ext cx="960120" cy="502920"/>
          </a:xfrm>
          <a:prstGeom prst="rightArrow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 rot="18300000">
            <a:off x="3703320" y="2331720"/>
            <a:ext cx="960120" cy="502920"/>
          </a:xfrm>
          <a:prstGeom prst="rightArrow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A5A5A"/>
                </a:solidFill>
                <a:latin typeface="Calibri"/>
              </a:rPr>
              <a:t>Day-one asset: the consented dataset + data-rights + analytics. 'Own large model' is the direction, not the seed-stage claim.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Same product, more markets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One Korean-developed product, exported as-is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3108960" y="1691640"/>
            <a:ext cx="0" cy="2331720"/>
          </a:xfrm>
          <a:prstGeom prst="line">
            <a:avLst/>
          </a:prstGeom>
          <a:ln w="19050">
            <a:solidFill>
              <a:srgbClr val="C2D2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3108960" y="2061792"/>
            <a:ext cx="1433649" cy="1961568"/>
          </a:xfrm>
          <a:prstGeom prst="line">
            <a:avLst/>
          </a:prstGeom>
          <a:ln w="19050">
            <a:solidFill>
              <a:srgbClr val="C2D2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108960" y="3054728"/>
            <a:ext cx="2412125" cy="968632"/>
          </a:xfrm>
          <a:prstGeom prst="line">
            <a:avLst/>
          </a:prstGeom>
          <a:ln w="19050">
            <a:solidFill>
              <a:srgbClr val="C2D2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108960" y="4023360"/>
            <a:ext cx="2624768" cy="331838"/>
          </a:xfrm>
          <a:prstGeom prst="line">
            <a:avLst/>
          </a:prstGeom>
          <a:ln w="19050">
            <a:solidFill>
              <a:srgbClr val="C2D2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108960" y="4023360"/>
            <a:ext cx="2004066" cy="1526951"/>
          </a:xfrm>
          <a:prstGeom prst="line">
            <a:avLst/>
          </a:prstGeom>
          <a:ln w="19050">
            <a:solidFill>
              <a:srgbClr val="C2D2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108960" y="4023360"/>
            <a:ext cx="747087" cy="2237268"/>
          </a:xfrm>
          <a:prstGeom prst="line">
            <a:avLst/>
          </a:prstGeom>
          <a:ln w="19050">
            <a:solidFill>
              <a:srgbClr val="C2D2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361872" y="4023360"/>
            <a:ext cx="747088" cy="2237268"/>
          </a:xfrm>
          <a:prstGeom prst="line">
            <a:avLst/>
          </a:prstGeom>
          <a:ln w="19050">
            <a:solidFill>
              <a:srgbClr val="C2D2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104893" y="4023360"/>
            <a:ext cx="2004067" cy="1526951"/>
          </a:xfrm>
          <a:prstGeom prst="line">
            <a:avLst/>
          </a:prstGeom>
          <a:ln w="19050">
            <a:solidFill>
              <a:srgbClr val="C2D2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484191" y="4023360"/>
            <a:ext cx="2624769" cy="331838"/>
          </a:xfrm>
          <a:prstGeom prst="line">
            <a:avLst/>
          </a:prstGeom>
          <a:ln w="19050">
            <a:solidFill>
              <a:srgbClr val="C2D2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696834" y="3054728"/>
            <a:ext cx="2412126" cy="968632"/>
          </a:xfrm>
          <a:prstGeom prst="line">
            <a:avLst/>
          </a:prstGeom>
          <a:ln w="19050">
            <a:solidFill>
              <a:srgbClr val="C2D2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1675310" y="2061792"/>
            <a:ext cx="1433650" cy="1961568"/>
          </a:xfrm>
          <a:prstGeom prst="line">
            <a:avLst/>
          </a:prstGeom>
          <a:ln w="19050">
            <a:solidFill>
              <a:srgbClr val="C2D2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450591" y="1435608"/>
            <a:ext cx="1316736" cy="512064"/>
          </a:xfrm>
          <a:prstGeom prst="roundRect">
            <a:avLst/>
          </a:prstGeom>
          <a:solidFill>
            <a:srgbClr val="ECF2F7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1B3355"/>
                </a:solidFill>
                <a:latin typeface="Calibri"/>
              </a:rPr>
              <a:t>Hong Kong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84241" y="1805760"/>
            <a:ext cx="1316736" cy="512064"/>
          </a:xfrm>
          <a:prstGeom prst="roundRect">
            <a:avLst/>
          </a:prstGeom>
          <a:solidFill>
            <a:srgbClr val="ECF2F7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1B3355"/>
                </a:solidFill>
                <a:latin typeface="Calibri"/>
              </a:rPr>
              <a:t>Vietnam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62717" y="2798696"/>
            <a:ext cx="1316736" cy="512064"/>
          </a:xfrm>
          <a:prstGeom prst="roundRect">
            <a:avLst/>
          </a:prstGeom>
          <a:solidFill>
            <a:srgbClr val="ECF2F7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1B3355"/>
                </a:solidFill>
                <a:latin typeface="Calibri"/>
              </a:rPr>
              <a:t>Singapore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5360" y="4099166"/>
            <a:ext cx="1316736" cy="512064"/>
          </a:xfrm>
          <a:prstGeom prst="roundRect">
            <a:avLst/>
          </a:prstGeom>
          <a:solidFill>
            <a:srgbClr val="ECF2F7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1B3355"/>
                </a:solidFill>
                <a:latin typeface="Calibri"/>
              </a:rPr>
              <a:t>Thailand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658" y="5294279"/>
            <a:ext cx="1316736" cy="512064"/>
          </a:xfrm>
          <a:prstGeom prst="roundRect">
            <a:avLst/>
          </a:prstGeom>
          <a:solidFill>
            <a:srgbClr val="ECF2F7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1B3355"/>
                </a:solidFill>
                <a:latin typeface="Calibri"/>
              </a:rPr>
              <a:t>Malaysia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97679" y="6004596"/>
            <a:ext cx="1316736" cy="512064"/>
          </a:xfrm>
          <a:prstGeom prst="roundRect">
            <a:avLst/>
          </a:prstGeom>
          <a:solidFill>
            <a:srgbClr val="ECF2F7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1B3355"/>
                </a:solidFill>
                <a:latin typeface="Calibri"/>
              </a:rPr>
              <a:t>Indonesia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703504" y="6004596"/>
            <a:ext cx="1316736" cy="512064"/>
          </a:xfrm>
          <a:prstGeom prst="roundRect">
            <a:avLst/>
          </a:prstGeom>
          <a:solidFill>
            <a:srgbClr val="ECF2F7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1B3355"/>
                </a:solidFill>
                <a:latin typeface="Calibri"/>
              </a:rPr>
              <a:t>Philippines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6525" y="5294279"/>
            <a:ext cx="1316736" cy="512064"/>
          </a:xfrm>
          <a:prstGeom prst="roundRect">
            <a:avLst/>
          </a:prstGeom>
          <a:solidFill>
            <a:srgbClr val="ECF2F7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1B3355"/>
                </a:solidFill>
                <a:latin typeface="Calibri"/>
              </a:rPr>
              <a:t>Saudi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-174176" y="4099166"/>
            <a:ext cx="1316736" cy="512064"/>
          </a:xfrm>
          <a:prstGeom prst="roundRect">
            <a:avLst/>
          </a:prstGeom>
          <a:solidFill>
            <a:srgbClr val="ECF2F7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1B3355"/>
                </a:solidFill>
                <a:latin typeface="Calibri"/>
              </a:rPr>
              <a:t>UAE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66" y="2798696"/>
            <a:ext cx="1316736" cy="512064"/>
          </a:xfrm>
          <a:prstGeom prst="roundRect">
            <a:avLst/>
          </a:prstGeom>
          <a:solidFill>
            <a:srgbClr val="ECF2F7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1B3355"/>
                </a:solidFill>
                <a:latin typeface="Calibri"/>
              </a:rPr>
              <a:t>Taiwan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6942" y="1805760"/>
            <a:ext cx="1316736" cy="512064"/>
          </a:xfrm>
          <a:prstGeom prst="roundRect">
            <a:avLst/>
          </a:prstGeom>
          <a:solidFill>
            <a:srgbClr val="ECF2F7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1B3355"/>
                </a:solidFill>
                <a:latin typeface="Calibri"/>
              </a:rPr>
              <a:t>China</a:t>
            </a:r>
          </a:p>
        </p:txBody>
      </p:sp>
      <p:sp>
        <p:nvSpPr>
          <p:cNvPr id="29" name="Oval 28"/>
          <p:cNvSpPr/>
          <p:nvPr/>
        </p:nvSpPr>
        <p:spPr>
          <a:xfrm>
            <a:off x="2057400" y="3246120"/>
            <a:ext cx="2103120" cy="1554480"/>
          </a:xfrm>
          <a:prstGeom prst="ellipse">
            <a:avLst/>
          </a:prstGeom>
          <a:solidFill>
            <a:srgbClr val="1B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KOREA</a:t>
            </a:r>
          </a:p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MFDS</a:t>
            </a:r>
          </a:p>
          <a:p>
            <a:pPr algn="ctr"/>
            <a:r>
              <a:rPr sz="1400" b="0">
                <a:solidFill>
                  <a:srgbClr val="CFDDEA"/>
                </a:solidFill>
                <a:latin typeface="Calibri"/>
              </a:rPr>
              <a:t>master dossier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66560" y="1554480"/>
            <a:ext cx="484632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800" b="1">
                <a:solidFill>
                  <a:srgbClr val="1B3355"/>
                </a:solidFill>
                <a:latin typeface="Calibri"/>
              </a:rPr>
              <a:t>No per-market R&amp;D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5A5A5A"/>
                </a:solidFill>
                <a:latin typeface="Calibri"/>
              </a:rPr>
              <a:t>Personalisation is by physician purpose within the SAME approved envelope.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66560" y="2788920"/>
            <a:ext cx="484632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A1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800" b="1">
                <a:solidFill>
                  <a:srgbClr val="1B3355"/>
                </a:solidFill>
                <a:latin typeface="Calibri"/>
              </a:rPr>
              <a:t>Identical unit economics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5A5A5A"/>
                </a:solidFill>
                <a:latin typeface="Calibri"/>
              </a:rPr>
              <a:t>Only the clinic base and timing change country-to-country.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60" y="4023360"/>
            <a:ext cx="484632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9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800" b="1">
                <a:solidFill>
                  <a:srgbClr val="1B3355"/>
                </a:solidFill>
                <a:latin typeface="Calibri"/>
              </a:rPr>
              <a:t>Scale + data benefits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5A5A5A"/>
                </a:solidFill>
                <a:latin typeface="Calibri"/>
              </a:rPr>
              <a:t>One production / QC / stability spec; one comparable global dataset.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66560" y="5257800"/>
            <a:ext cx="48463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44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800" b="1">
                <a:solidFill>
                  <a:srgbClr val="1B3355"/>
                </a:solidFill>
                <a:latin typeface="Calibri"/>
              </a:rPr>
              <a:t>Reliance pathway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5A5A5A"/>
                </a:solidFill>
                <a:latin typeface="Calibri"/>
              </a:rPr>
              <a:t>The Korean technical file is the master dossier for every export filing.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Regulatory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Korea → Hong Kong → export, with the right product on the fast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  <p:sp>
        <p:nvSpPr>
          <p:cNvPr id="7" name="Chevron 6"/>
          <p:cNvSpPr/>
          <p:nvPr/>
        </p:nvSpPr>
        <p:spPr>
          <a:xfrm>
            <a:off x="640080" y="1783080"/>
            <a:ext cx="3657600" cy="1828800"/>
          </a:xfrm>
          <a:prstGeom prst="chevron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KOREA MFDS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Device family + 'modification engine' (improved-device / negative-list)</a:t>
            </a:r>
          </a:p>
        </p:txBody>
      </p:sp>
      <p:sp>
        <p:nvSpPr>
          <p:cNvPr id="8" name="Chevron 7"/>
          <p:cNvSpPr/>
          <p:nvPr/>
        </p:nvSpPr>
        <p:spPr>
          <a:xfrm>
            <a:off x="4434840" y="1783080"/>
            <a:ext cx="3657600" cy="1828800"/>
          </a:xfrm>
          <a:prstGeom prst="chevron">
            <a:avLst/>
          </a:prstGeom>
          <a:solidFill>
            <a:srgbClr val="1A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HONG KONG MDACS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Light voluntary listing; MFDS is a recognised reference regulator</a:t>
            </a:r>
          </a:p>
        </p:txBody>
      </p:sp>
      <p:sp>
        <p:nvSpPr>
          <p:cNvPr id="9" name="Chevron 8"/>
          <p:cNvSpPr/>
          <p:nvPr/>
        </p:nvSpPr>
        <p:spPr>
          <a:xfrm>
            <a:off x="8229600" y="1783080"/>
            <a:ext cx="3657600" cy="1828800"/>
          </a:xfrm>
          <a:prstGeom prst="chevron">
            <a:avLst/>
          </a:prstGeom>
          <a:solidFill>
            <a:srgbClr val="E09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EXPORT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Reliance/recognition across ASEAN + GCC on the same Korean 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77639"/>
            <a:ext cx="1097280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800" b="1">
                <a:solidFill>
                  <a:srgbClr val="1B3355"/>
                </a:solidFill>
                <a:latin typeface="Calibri"/>
              </a:rPr>
              <a:t>Device vs kit — the right wrapper for each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5A5A5A"/>
                </a:solidFill>
                <a:latin typeface="Calibri"/>
              </a:rPr>
              <a:t>The applicator registers as a medical device; the doctor-personalised topical/exosome kits are functional-cosmetic / quasi-drug; the IM/injectable line is a separate drug/biologic that never gates launch.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029200"/>
            <a:ext cx="109728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800" b="1">
                <a:solidFill>
                  <a:srgbClr val="1B3355"/>
                </a:solidFill>
                <a:latin typeface="Calibri"/>
              </a:rPr>
              <a:t>CodeLife = configuration within a cleared envelope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5A5A5A"/>
                </a:solidFill>
                <a:latin typeface="Calibri"/>
              </a:rPr>
              <a:t>Physician in the loop; manages Software-as-a-Medical-Device exposure. Claim discipline on exosomes (non-human salmon/synthetic origin; function-based claims).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Export springboard — KFDA reliance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Two tiers off one Korean registration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5486400" cy="4663440"/>
          </a:xfrm>
          <a:prstGeom prst="roundRect">
            <a:avLst/>
          </a:prstGeom>
          <a:solidFill>
            <a:srgbClr val="ECF2F7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5029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E86C1"/>
                </a:solidFill>
                <a:latin typeface="Calibri"/>
              </a:rPr>
              <a:t>TIER 1 · ASEAN + Hong Kong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A5A5A"/>
                </a:solidFill>
                <a:latin typeface="Calibri"/>
              </a:rPr>
              <a:t>Fastest — reliance-led off the Korean file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788920"/>
            <a:ext cx="2148840" cy="566928"/>
          </a:xfrm>
          <a:prstGeom prst="roundRect">
            <a:avLst/>
          </a:prstGeom>
          <a:solidFill>
            <a:srgbClr val="ECF2F7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1B3355"/>
                </a:solidFill>
                <a:latin typeface="Calibri"/>
              </a:rPr>
              <a:t>Hong Kong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27248" y="2788920"/>
            <a:ext cx="2148840" cy="566928"/>
          </a:xfrm>
          <a:prstGeom prst="roundRect">
            <a:avLst/>
          </a:prstGeom>
          <a:solidFill>
            <a:srgbClr val="ECF2F7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1B3355"/>
                </a:solidFill>
                <a:latin typeface="Calibri"/>
              </a:rPr>
              <a:t>Vietnam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465576"/>
            <a:ext cx="2148840" cy="566928"/>
          </a:xfrm>
          <a:prstGeom prst="roundRect">
            <a:avLst/>
          </a:prstGeom>
          <a:solidFill>
            <a:srgbClr val="ECF2F7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1B3355"/>
                </a:solidFill>
                <a:latin typeface="Calibri"/>
              </a:rPr>
              <a:t>Singapore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27248" y="3465576"/>
            <a:ext cx="2148840" cy="566928"/>
          </a:xfrm>
          <a:prstGeom prst="roundRect">
            <a:avLst/>
          </a:prstGeom>
          <a:solidFill>
            <a:srgbClr val="ECF2F7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1B3355"/>
                </a:solidFill>
                <a:latin typeface="Calibri"/>
              </a:rPr>
              <a:t>Thailand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142231"/>
            <a:ext cx="2148840" cy="566928"/>
          </a:xfrm>
          <a:prstGeom prst="roundRect">
            <a:avLst/>
          </a:prstGeom>
          <a:solidFill>
            <a:srgbClr val="ECF2F7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1B3355"/>
                </a:solidFill>
                <a:latin typeface="Calibri"/>
              </a:rPr>
              <a:t>Malaysia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27248" y="4142231"/>
            <a:ext cx="2148840" cy="566928"/>
          </a:xfrm>
          <a:prstGeom prst="roundRect">
            <a:avLst/>
          </a:prstGeom>
          <a:solidFill>
            <a:srgbClr val="ECF2F7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1B3355"/>
                </a:solidFill>
                <a:latin typeface="Calibri"/>
              </a:rPr>
              <a:t>Indonesia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818888"/>
            <a:ext cx="2148840" cy="566928"/>
          </a:xfrm>
          <a:prstGeom prst="roundRect">
            <a:avLst/>
          </a:prstGeom>
          <a:solidFill>
            <a:srgbClr val="ECF2F7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1B3355"/>
                </a:solidFill>
                <a:latin typeface="Calibri"/>
              </a:rPr>
              <a:t>Philippines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57784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A5A5A"/>
                </a:solidFill>
                <a:latin typeface="Calibri"/>
              </a:rPr>
              <a:t>HK MDACS reference · VN accepts MFDS · ASEAN CSDT cascade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508760"/>
            <a:ext cx="5120640" cy="4663440"/>
          </a:xfrm>
          <a:prstGeom prst="roundRect">
            <a:avLst/>
          </a:prstGeom>
          <a:solidFill>
            <a:srgbClr val="EEE9DD"/>
          </a:solidFill>
          <a:ln w="19050">
            <a:solidFill>
              <a:srgbClr val="E09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645920"/>
            <a:ext cx="4754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E09E2B"/>
                </a:solidFill>
                <a:latin typeface="Calibri"/>
              </a:rPr>
              <a:t>TIER 2 · GCC + Greater China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A5A5A"/>
                </a:solidFill>
                <a:latin typeface="Calibri"/>
              </a:rPr>
              <a:t>Large, attractive, more work per market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2788920"/>
            <a:ext cx="2148840" cy="566928"/>
          </a:xfrm>
          <a:prstGeom prst="roundRect">
            <a:avLst/>
          </a:prstGeom>
          <a:solidFill>
            <a:srgbClr val="F6F1E5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1B3355"/>
                </a:solidFill>
                <a:latin typeface="Calibri"/>
              </a:rPr>
              <a:t>Saudi (SFDA)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87968" y="2788920"/>
            <a:ext cx="2148840" cy="566928"/>
          </a:xfrm>
          <a:prstGeom prst="roundRect">
            <a:avLst/>
          </a:prstGeom>
          <a:solidFill>
            <a:srgbClr val="F6F1E5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1B3355"/>
                </a:solidFill>
                <a:latin typeface="Calibri"/>
              </a:rPr>
              <a:t>UAE (MOHAP)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400" y="3465576"/>
            <a:ext cx="2148840" cy="566928"/>
          </a:xfrm>
          <a:prstGeom prst="roundRect">
            <a:avLst/>
          </a:prstGeom>
          <a:solidFill>
            <a:srgbClr val="F6F1E5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1B3355"/>
                </a:solidFill>
                <a:latin typeface="Calibri"/>
              </a:rPr>
              <a:t>Taiwan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87968" y="3465576"/>
            <a:ext cx="2148840" cy="566928"/>
          </a:xfrm>
          <a:prstGeom prst="roundRect">
            <a:avLst/>
          </a:prstGeom>
          <a:solidFill>
            <a:srgbClr val="F6F1E5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1B3355"/>
                </a:solidFill>
                <a:latin typeface="Calibri"/>
              </a:rPr>
              <a:t>China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557784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A5A5A"/>
                </a:solidFill>
                <a:latin typeface="Calibri"/>
              </a:rPr>
              <a:t>SFDA regional reference · TFDA uses Korean data · China via Hainan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Multi-market revenue — 3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Same product; scenarios flex ramp, price, utilisation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508760"/>
          <a:ext cx="73152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75320" y="1600200"/>
            <a:ext cx="3383280" cy="1371600"/>
          </a:xfrm>
          <a:prstGeom prst="round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$35M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Conservative · 2030 · 1,167 clinics · $10M EBITDA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3172968"/>
            <a:ext cx="3383280" cy="13716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$75M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Base · 2030 · 2,020 clinics · $33M EBITDA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4745736"/>
            <a:ext cx="3383280" cy="1371600"/>
          </a:xfrm>
          <a:prstGeom prst="roundRect">
            <a:avLst/>
          </a:prstGeom>
          <a:solidFill>
            <a:srgbClr val="1B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$112M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Upside · 2030 · 2,626 clinics · $55M EBITDA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Scenario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The product never changes — only these levers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645920"/>
          <a:ext cx="105156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468880"/>
                <a:gridCol w="2468880"/>
                <a:gridCol w="2377440"/>
              </a:tblGrid>
              <a:tr h="600891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</a:rPr>
                        <a:t>Lever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</a:rPr>
                        <a:t>Conservative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</a:rPr>
                        <a:t>Base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</a:rPr>
                        <a:t>Upside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B3355"/>
                          </a:solidFill>
                        </a:rPr>
                        <a:t>Markets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B3355"/>
                          </a:solidFill>
                        </a:rPr>
                        <a:t>11 (China excl.)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B3355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B3355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B3355"/>
                          </a:solidFill>
                        </a:rPr>
                        <a:t>Clinic ramp vs 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B3355"/>
                          </a:solidFill>
                        </a:rPr>
                        <a:t>0.62×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B3355"/>
                          </a:solidFill>
                        </a:rPr>
                        <a:t>1.00×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B3355"/>
                          </a:solidFill>
                        </a:rPr>
                        <a:t>1.30×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B3355"/>
                          </a:solidFill>
                        </a:rPr>
                        <a:t>Kit EXW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B3355"/>
                          </a:solidFill>
                        </a:rPr>
                        <a:t>$30.00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B3355"/>
                          </a:solidFill>
                        </a:rPr>
                        <a:t>$32.50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B3355"/>
                          </a:solidFill>
                        </a:rPr>
                        <a:t>$35.00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B3355"/>
                          </a:solidFill>
                        </a:rPr>
                        <a:t>Kit gross margin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B3355"/>
                          </a:solidFill>
                        </a:rPr>
                        <a:t>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B3355"/>
                          </a:solidFill>
                        </a:rPr>
                        <a:t>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B3355"/>
                          </a:solidFill>
                        </a:rPr>
                        <a:t>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B3355"/>
                          </a:solidFill>
                        </a:rPr>
                        <a:t>Device GM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B3355"/>
                          </a:solidFill>
                        </a:rPr>
                        <a:t>35%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B3355"/>
                          </a:solidFill>
                        </a:rPr>
                        <a:t>40%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B3355"/>
                          </a:solidFill>
                        </a:rPr>
                        <a:t>42%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B3355"/>
                          </a:solidFill>
                        </a:rPr>
                        <a:t>Kits / clinic / 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B3355"/>
                          </a:solidFill>
                        </a:rPr>
                        <a:t>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B3355"/>
                          </a:solidFill>
                        </a:rPr>
                        <a:t>1,400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B3355"/>
                          </a:solidFill>
                        </a:rPr>
                        <a:t>1,500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Valuation — two lenses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Priced on the floor today; the AI upside is the Series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5212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900" b="1">
                <a:solidFill>
                  <a:srgbClr val="1B3355"/>
                </a:solidFill>
                <a:latin typeface="Calibri"/>
              </a:rPr>
              <a:t>Lens A — floor (priced today)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5A5A5A"/>
                </a:solidFill>
                <a:latin typeface="Calibri"/>
              </a:rPr>
              <a:t>Device / consumables business. $5–7M pre-money; $6M midpoint for the $1M kickoff. Recurring medical consumables + device + regulatory moat.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03320"/>
            <a:ext cx="5212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9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900" b="1">
                <a:solidFill>
                  <a:srgbClr val="1B3355"/>
                </a:solidFill>
                <a:latin typeface="Calibri"/>
              </a:rPr>
              <a:t>Lens B — upside (the prize)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5A5A5A"/>
                </a:solidFill>
                <a:latin typeface="Calibri"/>
              </a:rPr>
              <a:t>AI / data-science company. Comps shift medtech → AI/data multiples; reframes the 2028 Series A as a premium, institutional AI round.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309360" y="1554480"/>
          <a:ext cx="530352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09360" y="59893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A5A5A"/>
                </a:solidFill>
                <a:latin typeface="Calibri"/>
              </a:rPr>
              <a:t>Cap table at $6.0M pre / $1.0M kickoff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The ask — milestone-gated SAFE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US$1.0M post-money SAFE · $6.0M cap · 20% discount · MFN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212080" cy="1828800"/>
          </a:xfrm>
          <a:prstGeom prst="roundRect">
            <a:avLst/>
          </a:prstGeom>
          <a:solidFill>
            <a:srgbClr val="1B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$400k</a:t>
            </a:r>
          </a:p>
          <a:p>
            <a:pPr algn="ctr"/>
            <a:r>
              <a:rPr sz="1600" b="1">
                <a:solidFill>
                  <a:srgbClr val="CFDDEA"/>
                </a:solidFill>
                <a:latin typeface="Calibri"/>
              </a:rPr>
              <a:t>Tranche 1 — at close</a:t>
            </a:r>
          </a:p>
          <a:p>
            <a:pPr algn="ctr"/>
            <a:r>
              <a:rPr sz="1400" b="0">
                <a:solidFill>
                  <a:srgbClr val="CFDDEA"/>
                </a:solidFill>
                <a:latin typeface="Calibri"/>
              </a:rPr>
              <a:t>Conditions precedent (below)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89320" y="2331720"/>
            <a:ext cx="640080" cy="502920"/>
          </a:xfrm>
          <a:prstGeom prst="rightArrow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720840" y="1645920"/>
            <a:ext cx="4846320" cy="18288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$600k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Tranche 2 — on milestones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Released when proven (below)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57600"/>
            <a:ext cx="521208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800" b="1">
                <a:solidFill>
                  <a:srgbClr val="1B3355"/>
                </a:solidFill>
                <a:latin typeface="Calibri"/>
              </a:rPr>
              <a:t>Conditions precedent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5A5A5A"/>
                </a:solidFill>
                <a:latin typeface="Calibri"/>
              </a:rPr>
              <a:t>•  WBI IP assigned/licensed into the JV
•  Verify the $25M sample (entity/product/channel)
•  Clinic data-rights clause
•  Clean cap 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3657600"/>
            <a:ext cx="484632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800" b="1">
                <a:solidFill>
                  <a:srgbClr val="1B3355"/>
                </a:solidFill>
                <a:latin typeface="Calibri"/>
              </a:rPr>
              <a:t>Milestones (release Tranche 2)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5A5A5A"/>
                </a:solidFill>
                <a:latin typeface="Calibri"/>
              </a:rPr>
              <a:t>•  Stability dossier + COGS BOM
•  5–10 anchor clinics with reorders
•  One prospective clinical readout
•  Regulatory classification memo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Korea anchor → reliance-led export waves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611880"/>
            <a:ext cx="10515600" cy="146304"/>
          </a:xfrm>
          <a:prstGeom prst="rect">
            <a:avLst/>
          </a:prstGeom>
          <a:solidFill>
            <a:srgbClr val="C2D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1328" y="3419856"/>
            <a:ext cx="512064" cy="512064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79" y="1600200"/>
            <a:ext cx="265176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2027 · Anchor</a:t>
            </a:r>
          </a:p>
          <a:p>
            <a:pPr algn="ctr"/>
            <a:r>
              <a:rPr sz="1400" b="0">
                <a:solidFill>
                  <a:srgbClr val="5A5A5A"/>
                </a:solidFill>
                <a:latin typeface="Calibri"/>
              </a:rPr>
              <a:t>Korea registration; anchor clinics; CodeLife v1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737360" y="3063240"/>
            <a:ext cx="0" cy="621792"/>
          </a:xfrm>
          <a:prstGeom prst="line">
            <a:avLst/>
          </a:prstGeom>
          <a:ln w="19050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453128" y="3419856"/>
            <a:ext cx="512064" cy="512064"/>
          </a:xfrm>
          <a:prstGeom prst="ellipse">
            <a:avLst/>
          </a:prstGeom>
          <a:solidFill>
            <a:srgbClr val="1A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4160520"/>
            <a:ext cx="265176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A1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1">
                <a:solidFill>
                  <a:srgbClr val="1AA19C"/>
                </a:solidFill>
                <a:latin typeface="Calibri"/>
              </a:rPr>
              <a:t>2027–28 · Wave 1</a:t>
            </a:r>
          </a:p>
          <a:p>
            <a:pPr algn="ctr"/>
            <a:r>
              <a:rPr sz="1400" b="0">
                <a:solidFill>
                  <a:srgbClr val="5A5A5A"/>
                </a:solidFill>
                <a:latin typeface="Calibri"/>
              </a:rPr>
              <a:t>Hong Kong · Vietnam · Singapore; reorder evidence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09160" y="3685032"/>
            <a:ext cx="0" cy="475488"/>
          </a:xfrm>
          <a:prstGeom prst="line">
            <a:avLst/>
          </a:prstGeom>
          <a:ln w="19050">
            <a:solidFill>
              <a:srgbClr val="1AA1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424928" y="3419856"/>
            <a:ext cx="512064" cy="512064"/>
          </a:xfrm>
          <a:prstGeom prst="ellipse">
            <a:avLst/>
          </a:prstGeom>
          <a:solidFill>
            <a:srgbClr val="E09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600200"/>
            <a:ext cx="265176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9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1">
                <a:solidFill>
                  <a:srgbClr val="E09E2B"/>
                </a:solidFill>
                <a:latin typeface="Calibri"/>
              </a:rPr>
              <a:t>2028–29 · Wave 2</a:t>
            </a:r>
          </a:p>
          <a:p>
            <a:pPr algn="ctr"/>
            <a:r>
              <a:rPr sz="1400" b="0">
                <a:solidFill>
                  <a:srgbClr val="5A5A5A"/>
                </a:solidFill>
                <a:latin typeface="Calibri"/>
              </a:rPr>
              <a:t>ASEAN cascade + GCC (Saudi, UAE); Series A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7680960" y="3063240"/>
            <a:ext cx="0" cy="621792"/>
          </a:xfrm>
          <a:prstGeom prst="line">
            <a:avLst/>
          </a:prstGeom>
          <a:ln w="19050">
            <a:solidFill>
              <a:srgbClr val="E09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0396728" y="3419856"/>
            <a:ext cx="512064" cy="512064"/>
          </a:xfrm>
          <a:prstGeom prst="ellipse">
            <a:avLst/>
          </a:prstGeom>
          <a:solidFill>
            <a:srgbClr val="244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4160520"/>
            <a:ext cx="265176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44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1">
                <a:solidFill>
                  <a:srgbClr val="24446E"/>
                </a:solidFill>
                <a:latin typeface="Calibri"/>
              </a:rPr>
              <a:t>2029–30 · Wave 3</a:t>
            </a:r>
          </a:p>
          <a:p>
            <a:pPr algn="ctr"/>
            <a:r>
              <a:rPr sz="1400" b="0">
                <a:solidFill>
                  <a:srgbClr val="5A5A5A"/>
                </a:solidFill>
                <a:latin typeface="Calibri"/>
              </a:rPr>
              <a:t>Taiwan · China (Hainan→NMPA)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652760" y="3685032"/>
            <a:ext cx="0" cy="475488"/>
          </a:xfrm>
          <a:prstGeom prst="line">
            <a:avLst/>
          </a:prstGeom>
          <a:ln w="19050">
            <a:solidFill>
              <a:srgbClr val="244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What we will prove (diligence-ready)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Turning the critique into milestones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15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554480"/>
            <a:ext cx="914400" cy="914400"/>
          </a:xfrm>
          <a:prstGeom prst="ellipse">
            <a:avLst/>
          </a:prstGeom>
          <a:solidFill>
            <a:srgbClr val="1A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91639" y="1554480"/>
            <a:ext cx="43434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A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/>
            <a:r>
              <a:rPr sz="1700" b="1">
                <a:solidFill>
                  <a:srgbClr val="1B3355"/>
                </a:solidFill>
              </a:rPr>
              <a:t>Cold-chain-free</a:t>
            </a:r>
          </a:p>
          <a:p>
            <a:r>
              <a:rPr sz="1400">
                <a:solidFill>
                  <a:srgbClr val="5A5A5A"/>
                </a:solidFill>
              </a:rPr>
              <a:t>Stabilisation removes −80 °C; document shelf-life + bottom-up BOM</a:t>
            </a:r>
          </a:p>
        </p:txBody>
      </p:sp>
      <p:sp>
        <p:nvSpPr>
          <p:cNvPr id="9" name="Oval 8"/>
          <p:cNvSpPr/>
          <p:nvPr/>
        </p:nvSpPr>
        <p:spPr>
          <a:xfrm>
            <a:off x="6263640" y="1554480"/>
            <a:ext cx="914400" cy="91440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554480"/>
            <a:ext cx="43434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/>
            <a:r>
              <a:rPr sz="1700" b="1">
                <a:solidFill>
                  <a:srgbClr val="1B3355"/>
                </a:solidFill>
              </a:rPr>
              <a:t>Validation pack</a:t>
            </a:r>
          </a:p>
          <a:p>
            <a:r>
              <a:rPr sz="1400">
                <a:solidFill>
                  <a:srgbClr val="5A5A5A"/>
                </a:solidFill>
              </a:rPr>
              <a:t>The $25M at entity/product/channel level + reorder cohorts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127248"/>
            <a:ext cx="914400" cy="914400"/>
          </a:xfrm>
          <a:prstGeom prst="ellipse">
            <a:avLst/>
          </a:prstGeom>
          <a:solidFill>
            <a:srgbClr val="1A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91639" y="3127248"/>
            <a:ext cx="43434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A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/>
            <a:r>
              <a:rPr sz="1700" b="1">
                <a:solidFill>
                  <a:srgbClr val="1B3355"/>
                </a:solidFill>
              </a:rPr>
              <a:t>Formulation envelope</a:t>
            </a:r>
          </a:p>
          <a:p>
            <a:r>
              <a:rPr sz="1400">
                <a:solidFill>
                  <a:srgbClr val="5A5A5A"/>
                </a:solidFill>
              </a:rPr>
              <a:t>Clean AND clinically differentiating within the family</a:t>
            </a:r>
          </a:p>
        </p:txBody>
      </p:sp>
      <p:sp>
        <p:nvSpPr>
          <p:cNvPr id="13" name="Oval 12"/>
          <p:cNvSpPr/>
          <p:nvPr/>
        </p:nvSpPr>
        <p:spPr>
          <a:xfrm>
            <a:off x="6263640" y="3127248"/>
            <a:ext cx="914400" cy="914400"/>
          </a:xfrm>
          <a:prstGeom prst="ellipse">
            <a:avLst/>
          </a:prstGeom>
          <a:solidFill>
            <a:srgbClr val="E09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3127248"/>
            <a:ext cx="43434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9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/>
            <a:r>
              <a:rPr sz="1700" b="1">
                <a:solidFill>
                  <a:srgbClr val="1B3355"/>
                </a:solidFill>
              </a:rPr>
              <a:t>Exosome discipline</a:t>
            </a:r>
          </a:p>
          <a:p>
            <a:r>
              <a:rPr sz="1400">
                <a:solidFill>
                  <a:srgbClr val="5A5A5A"/>
                </a:solidFill>
              </a:rPr>
              <a:t>Non-human (salmon/synthetic) origin; function-based claims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700016"/>
            <a:ext cx="914400" cy="914400"/>
          </a:xfrm>
          <a:prstGeom prst="ellipse">
            <a:avLst/>
          </a:prstGeom>
          <a:solidFill>
            <a:srgbClr val="244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91639" y="4700016"/>
            <a:ext cx="43434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44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/>
            <a:r>
              <a:rPr sz="1700" b="1">
                <a:solidFill>
                  <a:srgbClr val="1B3355"/>
                </a:solidFill>
              </a:rPr>
              <a:t>Data moat</a:t>
            </a:r>
          </a:p>
          <a:p>
            <a:r>
              <a:rPr sz="1400">
                <a:solidFill>
                  <a:srgbClr val="5A5A5A"/>
                </a:solidFill>
              </a:rPr>
              <a:t>CodeLife v1 demo + data-rights in the clinic contract</a:t>
            </a:r>
          </a:p>
        </p:txBody>
      </p:sp>
      <p:sp>
        <p:nvSpPr>
          <p:cNvPr id="17" name="Oval 16"/>
          <p:cNvSpPr/>
          <p:nvPr/>
        </p:nvSpPr>
        <p:spPr>
          <a:xfrm>
            <a:off x="6263640" y="4700016"/>
            <a:ext cx="914400" cy="914400"/>
          </a:xfrm>
          <a:prstGeom prst="ellipse">
            <a:avLst/>
          </a:prstGeom>
          <a:solidFill>
            <a:srgbClr val="1B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4700016"/>
            <a:ext cx="43434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/>
            <a:r>
              <a:rPr sz="1700" b="1">
                <a:solidFill>
                  <a:srgbClr val="1B3355"/>
                </a:solidFill>
              </a:rPr>
              <a:t>Anchor evidence</a:t>
            </a:r>
          </a:p>
          <a:p>
            <a:r>
              <a:rPr sz="1400">
                <a:solidFill>
                  <a:srgbClr val="5A5A5A"/>
                </a:solidFill>
              </a:rPr>
              <a:t>5–10 clinics live with documented reorders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1097280"/>
            <a:ext cx="2011680" cy="2011680"/>
          </a:xfrm>
          <a:prstGeom prst="ellipse">
            <a:avLst/>
          </a:prstGeom>
          <a:solidFill>
            <a:srgbClr val="244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4206240"/>
            <a:ext cx="1280160" cy="1280160"/>
          </a:xfrm>
          <a:prstGeom prst="ellipse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377440"/>
            <a:ext cx="182880" cy="14630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286000"/>
            <a:ext cx="9601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Same product. More markets. A data moat.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611880"/>
            <a:ext cx="98755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CFDDEA"/>
                </a:solidFill>
                <a:latin typeface="Calibri"/>
              </a:rPr>
              <a:t>Base case ~$75M revenue / ~$33M EBITDA by 2030 across 12 markets on one Korean-developed product.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39496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$1.0M milestone-gated kickoff · $6.0M cap · 20% discount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