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E86C1"/>
            </a:solidFill>
          </c:spPr>
          <c:cat>
            <c:strRef>
              <c:f>Sheet1!$A$2:$A$7</c:f>
              <c:strCache>
                <c:ptCount val="6"/>
                <c:pt idx="0">
                  <c:v>FY2025A</c:v>
                </c:pt>
                <c:pt idx="1">
                  <c:v>2026P</c:v>
                </c:pt>
                <c:pt idx="2">
                  <c:v>2027P</c:v>
                </c:pt>
                <c:pt idx="3">
                  <c:v>2028P</c:v>
                </c:pt>
                <c:pt idx="4">
                  <c:v>2029P</c:v>
                </c:pt>
                <c:pt idx="5">
                  <c:v>2030P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11.43</c:v>
                </c:pt>
                <c:pt idx="1">
                  <c:v>16.39</c:v>
                </c:pt>
                <c:pt idx="2">
                  <c:v>25.31</c:v>
                </c:pt>
                <c:pt idx="3">
                  <c:v>31.7</c:v>
                </c:pt>
                <c:pt idx="4">
                  <c:v>43.82</c:v>
                </c:pt>
                <c:pt idx="5">
                  <c:v>58.91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Operating profit</c:v>
                </c:pt>
              </c:strCache>
            </c:strRef>
          </c:tx>
          <c:spPr>
            <a:solidFill>
              <a:srgbClr val="1B3355"/>
            </a:solidFill>
          </c:spPr>
          <c:cat>
            <c:strRef>
              <c:f>Sheet1!$A$2:$A$7</c:f>
              <c:strCache>
                <c:ptCount val="6"/>
                <c:pt idx="0">
                  <c:v>FY2025A</c:v>
                </c:pt>
                <c:pt idx="1">
                  <c:v>2026P</c:v>
                </c:pt>
                <c:pt idx="2">
                  <c:v>2027P</c:v>
                </c:pt>
                <c:pt idx="3">
                  <c:v>2028P</c:v>
                </c:pt>
                <c:pt idx="4">
                  <c:v>2029P</c:v>
                </c:pt>
                <c:pt idx="5">
                  <c:v>2030P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0.76</c:v>
                </c:pt>
                <c:pt idx="1">
                  <c:v>2.4</c:v>
                </c:pt>
                <c:pt idx="2">
                  <c:v>4.54</c:v>
                </c:pt>
                <c:pt idx="3">
                  <c:v>5.95</c:v>
                </c:pt>
                <c:pt idx="4">
                  <c:v>8.86</c:v>
                </c:pt>
                <c:pt idx="5">
                  <c:v>12.51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r>
                  <a:rPr sz="1300"/>
                  <a:t>US$M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24160" y="1371600"/>
            <a:ext cx="2377440" cy="2377440"/>
          </a:xfrm>
          <a:prstGeom prst="ellipse">
            <a:avLst/>
          </a:prstGeom>
          <a:solidFill>
            <a:srgbClr val="244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55680" y="5120640"/>
            <a:ext cx="1645920" cy="1645920"/>
          </a:xfrm>
          <a:prstGeom prst="ellipse">
            <a:avLst/>
          </a:prstGeom>
          <a:solidFill>
            <a:srgbClr val="244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92640" y="5852160"/>
            <a:ext cx="914400" cy="914400"/>
          </a:xfrm>
          <a:prstGeom prst="ellipse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2148840"/>
            <a:ext cx="182880" cy="173736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057400"/>
            <a:ext cx="96012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GENAPEP — THE ROAD TO A US LISTING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337560"/>
            <a:ext cx="9601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CFDDEA"/>
                </a:solidFill>
                <a:latin typeface="Calibri"/>
              </a:rPr>
              <a:t>Director briefing: the Joint Venture, First Vital, and the choice of route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416052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9FB6CB"/>
                </a:solidFill>
                <a:latin typeface="Calibri"/>
              </a:rPr>
              <a:t>Executive presentation · ~30 minutes · read before the document pack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580644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09E2B"/>
                </a:solidFill>
                <a:latin typeface="Calibri"/>
              </a:rPr>
              <a:t>PRIVATE &amp; CONFIDENTIAL — for the directors of WBI and Eyesel only. Not for release to First Vital. Illustrative planning figures; not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September 2026 update — verified facts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Read first: this supersedes the FirstVitals content on later slides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63040"/>
          <a:ext cx="109270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417320"/>
                <a:gridCol w="649224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</a:rPr>
                        <a:t>Prior claim / item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</a:rPr>
                        <a:t>Verdict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</a:rPr>
                        <a:t>Verified evidence (DD 03-Sep; cap table 02-Sep; statutory accounts)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“SEC filer / listed vehicle / reporting status”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CONTRADICTED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Reg A+ Form 1-A crowdfunding only — not a reporting company; no S-1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“Operating GLP-1 programme” ($2.2M→$16.7M)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CONTRADICTED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RPM services abandoned in the 2024 pivot; pre-revenue per DD (1-K pending); proforma = unvalidated plan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“$75M valuation cap” / $5–13M scenarios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UNSUPPORTABLE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$75M = Reg A+ Tier 2 regulatory max (offering target $20.74M); capital $500K; 94.63% one holder; assessed value ~$0–2M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“List in the US by mid-2027”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CONTRADICTED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Rule 3-05: 12–18 months of PCAOB US-GAAP audits on any S-1 — no time saving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Hidden dilution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NEW FINDING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7.5M-share unissued option pool = 54.18% fully diluted; a negotiated 75% falls to ~57.9%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Eyesel financial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B3355"/>
                          </a:solidFill>
                        </a:rPr>
                        <a:t>VERIFIED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B3355"/>
                          </a:solidFill>
                        </a:rPr>
                        <a:t>FY2025 revenue ₩10.46B (~$7.47M @1,400) — inside the 15% band; NI ₩2.05B; RE ₩10.36B; 51:49 holds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5532120"/>
            <a:ext cx="10927080" cy="960120"/>
          </a:xfrm>
          <a:prstGeom prst="round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50" b="1">
                <a:solidFill>
                  <a:srgbClr val="1B3355"/>
                </a:solidFill>
                <a:latin typeface="Calibri"/>
              </a:rPr>
              <a:t>Consequence: Route B fails AS PITCHED — but is reconstructed as a MANAGEMENT PARTNERSHIP (Ernie = US CEO + KPI equity; entity at verified value) that strengthens either route. Route A stays default; Korea listing promoted to a parallel track.</a:t>
            </a:r>
          </a:p>
          <a:p>
            <a:pPr algn="ctr"/>
            <a:r>
              <a:rPr sz="1200" b="0">
                <a:solidFill>
                  <a:srgbClr val="5A5A5A"/>
                </a:solidFill>
                <a:latin typeface="Calibri"/>
              </a:rPr>
              <a:t>Governing document: GenApep IPO Plan v2. Evidence is in the name ProteusDx/FirstVitals — identity with “First Vital” to be confirmed at gate zero. Later as-pitched slides retained for record.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Why we are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Thirty minutes before you read eight documents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 b="0">
                <a:solidFill>
                  <a:srgbClr val="1B3355"/>
                </a:solidFill>
                <a:latin typeface="Calibri"/>
              </a:rPr>
              <a:t>●  WBI and Eyesel signed an MOU on 12 August 2026 to combine into one group — GenApep — and take it to a US public market.</a:t>
            </a:r>
          </a:p>
          <a:p>
            <a:pPr>
              <a:spcAft>
                <a:spcPts val="1100"/>
              </a:spcAft>
            </a:pPr>
            <a:r>
              <a:rPr sz="1800" b="0">
                <a:solidFill>
                  <a:srgbClr val="1B3355"/>
                </a:solidFill>
                <a:latin typeface="Calibri"/>
              </a:rPr>
              <a:t>●  Two new elements have arrived since: First Vital (a US company with a stated SEC filing record and a CLAIMED GLP-1 care programme — both examined on the next slide) proposes to be the listing vehicle, and DPW (under the listed Richards Group) is reviewing a licence to GenApep's technology.</a:t>
            </a:r>
          </a:p>
          <a:p>
            <a:pPr>
              <a:spcAft>
                <a:spcPts val="1100"/>
              </a:spcAft>
            </a:pPr>
            <a:r>
              <a:rPr sz="1800" b="0">
                <a:solidFill>
                  <a:srgbClr val="1B3355"/>
                </a:solidFill>
                <a:latin typeface="Calibri"/>
              </a:rPr>
              <a:t>●  The document pack runs to eight instruments and two workbooks. This presentation gives you the structure, the numbers, the pros and cons, and the decisions — so the pack confirms rather than surprises.</a:t>
            </a:r>
          </a:p>
          <a:p>
            <a:pPr>
              <a:spcAft>
                <a:spcPts val="1100"/>
              </a:spcAft>
            </a:pPr>
            <a:r>
              <a:rPr sz="1800" b="0">
                <a:solidFill>
                  <a:srgbClr val="1B3355"/>
                </a:solidFill>
                <a:latin typeface="Calibri"/>
              </a:rPr>
              <a:t>●  The ask today: agree the implementation order, note the risks, and approve the next actions on the final slide.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5120640"/>
            <a:ext cx="3337560" cy="118872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8 + 2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documents + workbooks distilled here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The project in one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Two stages; the second is a choice, not a commitment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53949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STAGE 1 — form the Joint Venture (now)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5A5A5A"/>
                </a:solidFill>
                <a:latin typeface="Calibri"/>
              </a:rPr>
              <a:t>GenApep Holdings (Cayman) → GenApep Korea → acquires 100% of WBI and 100% of Eyesel.
Eyesel shareholders 51% · WBI shareholders 49% · tech sweat pool 5–10% dilutes both pro rata.
Governed by the 12-Aug MOU + Amendment No. 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554480"/>
            <a:ext cx="530352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STAGE 2 — choose the route to market (later, gated)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5A5A5A"/>
                </a:solidFill>
                <a:latin typeface="Calibri"/>
              </a:rPr>
              <a:t>Route A (default): GenApep's own US offering — SEC confidential draft by end-2027, listing 2028.
Route B (option): combine with First Vital — claimed SEC record now verified as Reg A+ 1-A only (see slide 2); any step only through Addendum A machinery.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06440" y="2514600"/>
            <a:ext cx="457200" cy="411480"/>
          </a:xfrm>
          <a:prstGeom prst="rightArrow">
            <a:avLst/>
          </a:prstGeom>
          <a:solidFill>
            <a:srgbClr val="1AA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4114800"/>
            <a:ext cx="10927080" cy="914400"/>
          </a:xfrm>
          <a:prstGeom prst="round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700" b="1">
                <a:solidFill>
                  <a:srgbClr val="1B3355"/>
                </a:solidFill>
                <a:latin typeface="Calibri"/>
              </a:rPr>
              <a:t>The PCAOB audit of both companies is the critical path under EVERY route — so forming the JV first costs no calendar time.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257800"/>
            <a:ext cx="1092708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600" b="1">
                <a:solidFill>
                  <a:srgbClr val="1B3355"/>
                </a:solidFill>
                <a:latin typeface="Calibri"/>
              </a:rPr>
              <a:t>Why the order matters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5A5A5A"/>
                </a:solidFill>
                <a:latin typeface="Calibri"/>
              </a:rPr>
              <a:t>Settle the 51:49 economics between ourselves first, then negotiate with First Vital as ONE party holding audited accounts — instead of two unaudited companies and two individuals inside someone else's cap table.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Stage 1 — the Joint Venture, in essentials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12-Aug MOU as amended by Amendment No.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352044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Structure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5A5A5A"/>
                </a:solidFill>
                <a:latin typeface="Calibri"/>
              </a:rPr>
              <a:t>Cayman holdco → GenApep Korea → 100% WBI + 100% Eyesel. Korean operations undisturbed; one group for audit and listing.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63040"/>
            <a:ext cx="352044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A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Economics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5A5A5A"/>
                </a:solidFill>
                <a:latin typeface="Calibri"/>
              </a:rPr>
              <a:t>Eyesel 51 : WBI 49, both diluted by a 5–10% technology pool (Keith · Sidney · Charles + team). Mandatory equalisation if either side's figures move &gt;15%.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52044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Governance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5A5A5A"/>
                </a:solidFill>
                <a:latin typeface="Calibri"/>
              </a:rPr>
              <a:t>One director each + a Third Director (interests disclosed; deadlock fallback fixes the pool at 7.5% if directors cannot agree).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23360"/>
            <a:ext cx="539496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Amendment No. 1 — why it must be signed first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5A5A5A"/>
                </a:solidFill>
                <a:latin typeface="Calibri"/>
              </a:rPr>
              <a:t>Nine fixes needed under every scenario: consideration flows to SHAREHOLDER BODIES pro rata, never to individuals · equalisation becomes mandatory · technology chain-of-title becomes a condition precedent · open items get owners and dates.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023360"/>
            <a:ext cx="530352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444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Addendum A — sign when Route B is on the table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5A5A5A"/>
                </a:solidFill>
                <a:latin typeface="Calibri"/>
              </a:rPr>
              <a:t>Route selection becomes a board decision · GenApep Korea is the ONLY permitted acquisition vehicle · any Stage-2 deal must carry every shareholder through pro rata as one block · the sweat pool survives any change of vehicle.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The numbers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JV Financial Plan (rev. 29 Aug 2026) — planning basis, Eyesel figures placeholder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0080" y="1463040"/>
          <a:ext cx="69494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863840" y="1463040"/>
            <a:ext cx="3703320" cy="114300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$58.9M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2030 plan revenue (base case)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2743200"/>
            <a:ext cx="3703320" cy="1143000"/>
          </a:xfrm>
          <a:prstGeom prst="roundRect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$30–40M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combined pre-JV valuation range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4023360"/>
            <a:ext cx="370332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What drives it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5A5A5A"/>
                </a:solidFill>
                <a:latin typeface="Calibri"/>
              </a:rPr>
              <a:t>MM Studio ramp $2.9M → $36.3M is the swing factor (WBI-side). Eyesel base VERIFIED Sep-2026: statutory FY2025 ₩10.46B (~$7.47M @1,400), inside the 15% band — 51:49 holds.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Stage 2 — two routes to being public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Route A is the default; Route B is an option with gates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539496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ROUTE A — our own offering (default)</a:t>
            </a:r>
          </a:p>
          <a:p>
            <a:pPr algn="l">
              <a:spcBef>
                <a:spcPts val="400"/>
              </a:spcBef>
            </a:pPr>
            <a:r>
              <a:rPr sz="1450">
                <a:solidFill>
                  <a:srgbClr val="5A5A5A"/>
                </a:solidFill>
                <a:latin typeface="Calibri"/>
              </a:rPr>
              <a:t>GenApep Holdings files its own registration.
• Confidential SEC draft by end-2027; listing 2028.
• Raises primary capital (illustrative $20M at $80M pre-money).
• Foreign private issuer: F-1, IFRS, 20-F — as budgeted.
• Fully in our control; no counterparty risk.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508760"/>
            <a:ext cx="530352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ROUTE B — combine with First Vital (SUPERSEDED — see update slide)</a:t>
            </a:r>
          </a:p>
          <a:p>
            <a:pPr algn="l">
              <a:spcBef>
                <a:spcPts val="400"/>
              </a:spcBef>
            </a:pPr>
            <a:r>
              <a:rPr sz="1450">
                <a:solidFill>
                  <a:srgbClr val="5A5A5A"/>
                </a:solidFill>
                <a:latin typeface="Calibri"/>
              </a:rPr>
              <a:t>PREMISE FAILED: First Vital does NOT report to the SEC (Reg A+ 1-A only).
• Potentially faster to reporting status — but that is NOT an exchange listing.
• Raises no money by itself; financing must be planned separately.
• Likely domestic issuer: US GAAP, 10-K/10-Q — unbudgeted cost.
• Brings the GLP-1 programme and a US clinical channel.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983480"/>
            <a:ext cx="10927080" cy="1188720"/>
          </a:xfrm>
          <a:prstGeom prst="round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1B3355"/>
                </a:solidFill>
                <a:latin typeface="Calibri"/>
              </a:rPr>
              <a:t>Addendum A keeps BOTH routes open until the boards choose — route selection is a Reserved Matter requiring both directors.</a:t>
            </a:r>
          </a:p>
          <a:p>
            <a:pPr algn="ctr"/>
            <a:r>
              <a:rPr sz="1300" b="0">
                <a:solidFill>
                  <a:srgbClr val="5A5A5A"/>
                </a:solidFill>
                <a:latin typeface="Calibri"/>
              </a:rPr>
              <a:t>No step may foreclose either route without Board approval.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First Vital — claimed vs verified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Sep-2026 DD: pre-revenue Reg A+ issuer; GLP-1 figures are an unvalidated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53949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A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The GLP-1 Bridge programme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5A5A5A"/>
                </a:solidFill>
                <a:latin typeface="Calibri"/>
              </a:rPr>
              <a:t>CPT-reimbursed care: assessment → care plan → monthly remote monitoring at $168.92/patient/month. Targeting 2,500 patients by Dec-2026, 10,000 by Dec-2027.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931920"/>
            <a:ext cx="2606040" cy="1188720"/>
          </a:xfrm>
          <a:prstGeom prst="roundRect">
            <a:avLst/>
          </a:prstGeom>
          <a:solidFill>
            <a:srgbClr val="5A5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$2.2M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PLAN H2-2026 — unverified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3931920"/>
            <a:ext cx="2606040" cy="1188720"/>
          </a:xfrm>
          <a:prstGeom prst="roundRect">
            <a:avLst/>
          </a:prstGeom>
          <a:solidFill>
            <a:srgbClr val="5A5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$16.7M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PLAN 2027 — unverified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257800"/>
            <a:ext cx="2606040" cy="118872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$0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verified revenue today (pre-revenue)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5257800"/>
            <a:ext cx="2606040" cy="1188720"/>
          </a:xfrm>
          <a:prstGeom prst="roundRect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$500K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lifetime capital raised (one note)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463040"/>
            <a:ext cx="530352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Why it fits GenApep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5A5A5A"/>
                </a:solidFill>
                <a:latin typeface="Calibri"/>
              </a:rPr>
              <a:t>A GLP-1 patient base is a natural US channel for peptide products: GI &amp; metabolic support, muscle preservation, GLP-1-associated hair loss — designed by the AI platform, made by Eyesel under GMP.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931920"/>
            <a:ext cx="530352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Sep-2026 verification result</a:t>
            </a:r>
          </a:p>
          <a:p>
            <a:pPr algn="l">
              <a:spcBef>
                <a:spcPts val="400"/>
              </a:spcBef>
            </a:pPr>
            <a:r>
              <a:rPr sz="1250">
                <a:solidFill>
                  <a:srgbClr val="5A5A5A"/>
                </a:solidFill>
                <a:latin typeface="Calibri"/>
              </a:rPr>
              <a:t>• DD report: RPM/CCM services ABANDONED in the 2024 pivot to ProteusDx (GI capsule AI) — the GLP-1 numbers left are a plan, not operations.
• EDGAR: Reg A+ Form 1-A crowdfunding, not an S-1; not a reporting company.
• Cap table: 94.63% one holder; $500K lifetime capital; 7.5M-share pool unissued (54.18% FD).
• Internal papers admit Phase-1 pilot while public sites market operational products — a compliance gap to reconcile under NDA.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Route B — the case for (as pitched)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Sep-2026 update: most of these claimed benefits failed verification — see update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1554480" cy="77724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156362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An existing, current filing record cuts the time and execution risk of becoming a reporting company.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478024"/>
            <a:ext cx="1554480" cy="777240"/>
          </a:xfrm>
          <a:prstGeom prst="roundRect">
            <a:avLst/>
          </a:prstGeom>
          <a:solidFill>
            <a:srgbClr val="1AA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Channel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2532888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10,000 targeted GLP-1 patients = a US clinical route to market GenApep cannot quickly build alone.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447288"/>
            <a:ext cx="1554480" cy="777240"/>
          </a:xfrm>
          <a:prstGeom prst="roundRect">
            <a:avLst/>
          </a:prstGeom>
          <a:solidFill>
            <a:srgbClr val="E09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Revenue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3502152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A recurring-revenue care programme (MRR $1.59M/month exiting 2027, proforma) alongside our product revenue.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16552"/>
            <a:ext cx="1554480" cy="777240"/>
          </a:xfrm>
          <a:prstGeom prst="roundRect">
            <a:avLst/>
          </a:prstGeom>
          <a:solidFill>
            <a:srgbClr val="244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Synergy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4471416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GLP-1 GI support + hair-loss management are exactly the categories GenApep's peptide/exosome stack targets.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385816"/>
            <a:ext cx="1554480" cy="777240"/>
          </a:xfrm>
          <a:prstGeom prst="roundRect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Infrastructure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5440680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US corporate platform and an existing shareholder base — float the JV would otherwise create from zero.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Route B — the risks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Each has a gate in Addendum A / the diligence programme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63040"/>
          <a:ext cx="109270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4937760"/>
                <a:gridCol w="393192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</a:rPr>
                        <a:t>Risk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</a:rPr>
                        <a:t>Why it matters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</a:rPr>
                        <a:t>The gate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Filing status — now confirmed Reg A+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Form 1-A confirmed by the Sep-2026 DD: not a reporting company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Gate zero remains: CIK/EDGAR index to resolve the FirstVital(s)/ProteusDx entity chain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Two months of history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GLP-1 enrolment began 1 Jul 2026; the 10,000-patient ramp is a plan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Jul–Aug actual enrolments, claims, denials — this week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Revenue-only proforma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No cost build; 20% margin is an assumption; reimbursement ≠ cash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Cost build + collection-rate before any valuation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Issuer &amp; accounting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US parent likely = domestic issuer: US GAAP, 10-K/10-Q, proxy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Written classification opinion before route selection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Shell / liabilities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Possible shell-company resale restrictions; unknown liabilities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Shell status on EDGAR; corporate &amp; legal diligence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No capital raised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A combination raises nothing; group could emerge public but underfunded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Separate financing plan before selection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Related-party optics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Principals could sit on both sides of the transaction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Independent valuations + fairness opinion + disinterested approval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The conflict to resolve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The draft IPO MOU cannot be signed alongside the JV MOU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63040"/>
          <a:ext cx="109270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297680"/>
                <a:gridCol w="4251960"/>
              </a:tblGrid>
              <a:tr h="365760">
                <a:tc>
                  <a:txBody>
                    <a:bodyPr/>
                    <a:lstStyle/>
                    <a:p>
                      <a:pPr algn="l"/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JV MOU + Amendment (agreed)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Draft IPO MOU (as written)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Who gets the shares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WBI &amp; Eyesel SHAREHOLDER BODIES, pro rata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Two named individuals (40% + 35%)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The split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Eyesel 51 : WBI 49, less sweat 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≈ 53 : 47 the other way; no pool at 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Acquisition vehicle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GenApep Korea (sole permitted vehicle)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FVH Korea — a competing vehicle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When shares move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Issuance and transfer simultaneous at closing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75% issued BEFORE the companies transfer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Eyesel principal / revenue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Mr. Park · US$8.0M (plan placeholder)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Mr. Kim · ~US$15M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4526280"/>
            <a:ext cx="10927080" cy="1554480"/>
          </a:xfrm>
          <a:prstGeom prst="round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1B3355"/>
                </a:solidFill>
                <a:latin typeface="Calibri"/>
              </a:rPr>
              <a:t>The fix is documentation and sequencing — not abandonment.</a:t>
            </a:r>
          </a:p>
          <a:p>
            <a:pPr algn="ctr"/>
            <a:r>
              <a:rPr sz="1450" b="0">
                <a:solidFill>
                  <a:srgbClr val="5A5A5A"/>
                </a:solidFill>
                <a:latin typeface="Calibri"/>
              </a:rPr>
              <a:t>The individual-first idea has a legitimate driver — Korean FX filings and dry tax charges on a direct swap (next slide). It must simply land pro rata: through the holdco block, or a documented nominee bridge. Same commercial outcome, none of the defects — and zero calendar cost, because the audit is the critical path either way.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Korean FX/tax — choosing the compliant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Why “individuals first” was proposed, and how to keep its benefit safely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1092708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600" b="1">
                <a:solidFill>
                  <a:srgbClr val="1B3355"/>
                </a:solidFill>
                <a:latin typeface="Calibri"/>
              </a:rPr>
              <a:t>The burden being avoided is real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5A5A5A"/>
                </a:solidFill>
                <a:latin typeface="Calibri"/>
              </a:rPr>
              <a:t>Every Korean shareholder must make foreign-exchange filings for foreign securities, and a share-for-share exchange is generally a TAXABLE DISPOSAL — tax due in cash while the consideration arrives as shares, with no rollover into a foreign parent. Dozens of individual filings and dry tax charges could stall the transaction.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834640"/>
          <a:ext cx="109270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4892040"/>
                <a:gridCol w="379476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</a:rPr>
                        <a:t>Path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</a:rPr>
                        <a:t>Mechanics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</a:rPr>
                        <a:t>Assessment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A · Direct swap by all holders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Each Korean shareholder files and is taxed individually at the exchange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Heaviest friction — the problem rightly being avoided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B · Holdco block entry (recommended)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B3355"/>
                          </a:solidFill>
                        </a:rPr>
                        <a:t>One exchange into the Cayman holdco at the LOW pre-listing value; one collective FX filing via the FA; the later platform swap happens at holdco level — no second Korean event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B3355"/>
                          </a:solidFill>
                        </a:rPr>
                        <a:t>Tax/FX objective achieved AND automatic pro-rata fairness — what the Cayman structure exists for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C · Individuals first — documented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Written nominee/escrow declaration + annexed pro-rata schedule + deadline transfer into the holdco at the SAME valuation + Korean tax opinion (deemed-gift exposure) + SEC beneficial-ownership disclosure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Workable as a bridge; undocumented it creates deemed-gift tax, a larger second-step tax at listed prices, and personal risk for the two principals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5806440"/>
            <a:ext cx="10927080" cy="731520"/>
          </a:xfrm>
          <a:prstGeom prst="round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50" b="1">
                <a:solidFill>
                  <a:srgbClr val="1B3355"/>
                </a:solidFill>
                <a:latin typeface="Calibri"/>
              </a:rPr>
              <a:t>All Korean tax and FX statements to be confirmed in writing by Korean counsel before any structure is selected.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The management dimension — what Ernie brings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Beyond finance: a US listing needs operators, and GenApep does not yet have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53949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600" b="1">
                <a:solidFill>
                  <a:srgbClr val="1B3355"/>
                </a:solidFill>
                <a:latin typeface="Calibri"/>
              </a:rPr>
              <a:t>The gap (the meeting's own words)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5A5A5A"/>
                </a:solidFill>
                <a:latin typeface="Calibri"/>
              </a:rPr>
              <a:t>A listed US company needs a credible local CEO/President, finance/IR staff and post-listing support. Korean issuers listed 2023–24 are struggling; “IPO preparation is a new beginning, not an end”; US opex $300–500K/yr; the only internal CEO candidates discussed were family members.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417320"/>
            <a:ext cx="530352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600" b="1">
                <a:solidFill>
                  <a:srgbClr val="1B3355"/>
                </a:solidFill>
                <a:latin typeface="Calibri"/>
              </a:rPr>
              <a:t>The asset (verifiable, unlike the entity)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5A5A5A"/>
                </a:solidFill>
                <a:latin typeface="Calibri"/>
              </a:rPr>
              <a:t>Ernie Lee: ~12 years operating a real US healthcare-services company (Hawaii RPM/CCM 2010–2022, Medicaid billing/compliance); first-hand SEC (Reg A+) process experience; US corporate infrastructure; claimed investor network (verify at gate zero, incl. the 2024 shareholder dispute).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840480"/>
            <a:ext cx="69494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A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600" b="1">
                <a:solidFill>
                  <a:srgbClr val="1B3355"/>
                </a:solidFill>
                <a:latin typeface="Calibri"/>
              </a:rPr>
              <a:t>The Management Partnership (adopted)</a:t>
            </a:r>
          </a:p>
          <a:p>
            <a:pPr algn="l">
              <a:spcBef>
                <a:spcPts val="400"/>
              </a:spcBef>
            </a:pPr>
            <a:r>
              <a:rPr sz="1250">
                <a:solidFill>
                  <a:srgbClr val="5A5A5A"/>
                </a:solidFill>
                <a:latin typeface="Calibri"/>
              </a:rPr>
              <a:t>• Role: US CEO/President + board seat — accountable for listing execution and post-listing management.
• Incentive: KPI-gated 3–7% GROUP equity (reporting, listing, capital raised, US revenue) — replaces the FVH 7.5M pool.
• Entity: folded in at independently verified value (~$0–2M) or kept as the US operating subsidiary.
• Clean: disclosed management compensation with KPIs — never acquisition consideration to individuals; works under Route A or B.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3840480"/>
            <a:ext cx="3794760" cy="1097280"/>
          </a:xfrm>
          <a:prstGeom prst="roundRect">
            <a:avLst/>
          </a:prstGeom>
          <a:solidFill>
            <a:srgbClr val="1AA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3–7%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KPI-gated group equity band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5029200"/>
            <a:ext cx="3794760" cy="1097280"/>
          </a:xfrm>
          <a:prstGeom prst="roundRect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~$13–14/sh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cost to WBI holders at 5% grant ($100M scenario)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Recommended shareholding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SEP-2026: structure now known (cap table 02-Sep); method stands, applied to verified ~$0–2M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5394960" cy="18745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The principle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5A5A5A"/>
                </a:solidFill>
                <a:latin typeface="Calibri"/>
              </a:rPr>
              <a:t>One value-based exchange ratio: independent valuations of GenApep ($30–40M planning range) and of a VERIFIED First Vital + a written fairness opinion. FVH issues shares to GenApep Holdings' shareholders pro rata — never to individuals.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5394960" cy="1691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Technology credit — the DPW licence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5A5A5A"/>
                </a:solidFill>
                <a:latin typeface="Calibri"/>
              </a:rPr>
              <a:t>DPW (under listed Richards Group) is reviewing a licence to GenApep technology. An arm's-length licence evidences the $5–10M AI.pep value now carried at $0 — and adds royalty income. Gate: chain-of-title first; keep exclusivity narrow.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4173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392B"/>
                </a:solidFill>
                <a:latin typeface="Calibri"/>
              </a:rPr>
              <a:t>Cap table scenarios — SUPERSEDED, for record (see slide 2): verified FVH ~$0–2M ⇒ FVH ≈5%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63640" y="1874519"/>
          <a:ext cx="53035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868680"/>
                <a:gridCol w="777240"/>
                <a:gridCol w="731520"/>
                <a:gridCol w="640080"/>
                <a:gridCol w="6858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Scenario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GA block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Eyesel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WBI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Pool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FVH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B3355"/>
                          </a:solidFill>
                        </a:rPr>
                        <a:t>FVH verified $5M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88%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41.3%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39.7%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6.6%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12%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B3355"/>
                          </a:solidFill>
                        </a:rPr>
                        <a:t>FVH verified $10M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B3355"/>
                          </a:solidFill>
                        </a:rPr>
                        <a:t>78%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B3355"/>
                          </a:solidFill>
                        </a:rPr>
                        <a:t>36.7%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B3355"/>
                          </a:solidFill>
                        </a:rPr>
                        <a:t>35.3%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B3355"/>
                          </a:solidFill>
                        </a:rPr>
                        <a:t>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B3355"/>
                          </a:solidFill>
                        </a:rPr>
                        <a:t>22%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B3355"/>
                          </a:solidFill>
                        </a:rPr>
                        <a:t>FVH verified $13M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73%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34.4%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33.0%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5.5%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27%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263640" y="3749039"/>
            <a:ext cx="530352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A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Why this beats 40/35/25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5A5A5A"/>
                </a:solidFill>
                <a:latin typeface="Calibri"/>
              </a:rPr>
              <a:t>The block percentage is the only number to negotiate; the internal 51:49-less-pool split then divides automatically. Simpler to agree, to explain, and to support with a fairness opinion.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349240"/>
            <a:ext cx="10927080" cy="777240"/>
          </a:xfrm>
          <a:prstGeom prst="round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50" b="1">
                <a:solidFill>
                  <a:srgbClr val="1B3355"/>
                </a:solidFill>
                <a:latin typeface="Calibri"/>
              </a:rPr>
              <a:t>Price test: the draft's percentages imply paying $10–13M for FVH. Would FVH be worth that if it were private? Verify before a single share moves.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Eyesel data machinery — RESOLVED Sep-2026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Statutory FY2025 received: $7.47M @₩1,400 — inside the 15% band; the mechanisms below worked as designed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5760720" cy="4160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600" b="1">
                <a:solidFill>
                  <a:srgbClr val="1B3355"/>
                </a:solidFill>
                <a:latin typeface="Calibri"/>
              </a:rPr>
              <a:t>Four mechanisms — commit now, correct automatically</a:t>
            </a:r>
          </a:p>
          <a:p>
            <a:pPr algn="l">
              <a:spcBef>
                <a:spcPts val="400"/>
              </a:spcBef>
            </a:pPr>
            <a:r>
              <a:rPr sz="1250">
                <a:solidFill>
                  <a:srgbClr val="5A5A5A"/>
                </a:solidFill>
                <a:latin typeface="Calibri"/>
              </a:rPr>
              <a:t>1 · PEG + MANDATORY TRUE-UP (Amendment A1, already drafted): sign on a stated basis — Eyesel revenue $8.0M, value $15–20M. If verified figures differ &gt;15%, equalisation is mandatory; an independent valuer decides if boards cannot. Symmetric — protects Eyesel too.
2 · VERIFIED FINANCIALS = condition precedent to the SHARE EXCHANGE, not to signing — the exchange is Q1–Q2 2027 and the PCAOB audit verifies the numbers anyway.
3 · ESCROW HOLDBACK (fallback): 5–8 points of the Eyesel allocation held until verification.
4 · PARITY OF METHOD: the same valuer, method and multiples for both companies — agree the method today, the numbers follow from the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29400" y="141732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B3355"/>
                </a:solidFill>
                <a:latin typeface="Calibri"/>
              </a:rPr>
              <a:t>Planning numbers meanwhile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29400" y="1874519"/>
          <a:ext cx="49377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914400"/>
                <a:gridCol w="278892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Assume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Why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Revenue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$8.0M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documented basis (lower figure)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Gross margin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planning assumption (WBI margins unverified)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EBITDA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~12%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GMP-manufacturer profile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Value band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$15–20M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same band as WBI — parity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629400" y="3977639"/>
            <a:ext cx="4937760" cy="1600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450" b="1">
                <a:solidFill>
                  <a:srgbClr val="1B3355"/>
                </a:solidFill>
                <a:latin typeface="Calibri"/>
              </a:rPr>
              <a:t>The check for both boards</a:t>
            </a:r>
          </a:p>
          <a:p>
            <a:pPr algn="l">
              <a:spcBef>
                <a:spcPts val="400"/>
              </a:spcBef>
            </a:pPr>
            <a:r>
              <a:rPr sz="1250">
                <a:solidFill>
                  <a:srgbClr val="5A5A5A"/>
                </a:solidFill>
                <a:latin typeface="Calibri"/>
              </a:rPr>
              <a:t>Value-proportional, Eyesel needs ≥ ~$18M verified value to hold 51%. At $8M revenue that means documenting GMP-facility / licence asset value — or equalisation applies. At ~$15M revenue, 51:49 is comfortable.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760720"/>
            <a:ext cx="10927080" cy="685800"/>
          </a:xfrm>
          <a:prstGeom prst="round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1B3355"/>
                </a:solidFill>
                <a:latin typeface="Calibri"/>
              </a:rPr>
              <a:t>The FVH ratio never waits on Eyesel's data — only the internal split does, and it self-corrects inside the block.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What this means for WBI shareholders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Your 49% of GenApep, traced through both routes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2606040" cy="196596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CFDDEA"/>
                </a:solidFill>
                <a:latin typeface="Calibri"/>
              </a:rPr>
              <a:t>Today</a:t>
            </a:r>
          </a:p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49%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Calibri"/>
              </a:rPr>
              <a:t>of GenApep · ≈ $17.2M at $35M mid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64408" y="2331720"/>
            <a:ext cx="182880" cy="411480"/>
          </a:xfrm>
          <a:prstGeom prst="rightArrow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56432" y="1554480"/>
            <a:ext cx="2606040" cy="1965960"/>
          </a:xfrm>
          <a:prstGeom prst="roundRect">
            <a:avLst/>
          </a:prstGeom>
          <a:solidFill>
            <a:srgbClr val="1AA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CFDDEA"/>
                </a:solidFill>
                <a:latin typeface="Calibri"/>
              </a:rPr>
              <a:t>After pool (7.5%)</a:t>
            </a:r>
          </a:p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45.3%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Calibri"/>
              </a:rPr>
              <a:t>≈ $15.9M — before technology credit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080760" y="2331720"/>
            <a:ext cx="182880" cy="411480"/>
          </a:xfrm>
          <a:prstGeom prst="rightArrow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72784" y="1554480"/>
            <a:ext cx="2606040" cy="1965960"/>
          </a:xfrm>
          <a:prstGeom prst="roundRect">
            <a:avLst/>
          </a:prstGeom>
          <a:solidFill>
            <a:srgbClr val="E09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Route B as pitched — SUPERSEDED</a:t>
            </a:r>
          </a:p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35.3%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Calibri"/>
              </a:rPr>
              <a:t>at the unsupportable FVH-$10M scenario; combined co is NOT listed (Reg A+ only) — see slide 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897112" y="2331720"/>
            <a:ext cx="182880" cy="411480"/>
          </a:xfrm>
          <a:prstGeom prst="rightArrow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89136" y="1554480"/>
            <a:ext cx="2606040" cy="1965960"/>
          </a:xfrm>
          <a:prstGeom prst="roundRect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CFDDEA"/>
                </a:solidFill>
                <a:latin typeface="Calibri"/>
              </a:rPr>
              <a:t>Route A post-IPO</a:t>
            </a:r>
          </a:p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36.3%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Calibri"/>
              </a:rPr>
              <a:t>≈ $36.3M at $80M pre + $20M raise (workbook)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794760"/>
            <a:ext cx="539496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Where WBI's value comes from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5A5A5A"/>
                </a:solidFill>
                <a:latin typeface="Calibri"/>
              </a:rPr>
              <a:t>• MM Studio — WBI's growth engine: $2.9M → $36.3M by 2030, the plan's biggest swing factor.
• WBI core exports PLAN: $4.69M in 2026 (+37% vs NTS-certified FY2025 actual ~$3.4M), +20%/yr after.
• Technology upside (AI.pep, DPW licence) accrues inside GenApep — you participate via the block.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794760"/>
            <a:ext cx="530352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The protections that matter to you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5A5A5A"/>
                </a:solidFill>
                <a:latin typeface="Calibri"/>
              </a:rPr>
              <a:t>• A2: consideration only to shareholder bodies, pro rata — the draft's 40% to one individual (zero to other WBI shareholders) becomes impossible.
• B4/B5: any Stage-2 deal carries every shareholder through as one block at one ratio.
• A1: if Eyesel's real revenue departs &gt;15% from $8.0M, equalisation is mandatory.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The price test on First Vital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What the draft's percentages imply — and how to check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63040"/>
          <a:ext cx="10927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737360"/>
                <a:gridCol w="498348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Basis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B3355"/>
                          </a:solidFill>
                        </a:rPr>
                        <a:t>GenApep combined value (planning)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3355"/>
                          </a:solidFill>
                        </a:rPr>
                        <a:t>$30–40M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3355"/>
                          </a:solidFill>
                        </a:rPr>
                        <a:t>JV plan valuation sheet (before AI.pep/DPW)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B3355"/>
                          </a:solidFill>
                        </a:rPr>
                        <a:t>GenApep share under the draft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3355"/>
                          </a:solidFill>
                        </a:rPr>
                        <a:t>75%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3355"/>
                          </a:solidFill>
                        </a:rPr>
                        <a:t>40% + 35% to the two individuals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B3355"/>
                          </a:solidFill>
                        </a:rPr>
                        <a:t>Implied combined group value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3355"/>
                          </a:solidFill>
                        </a:rPr>
                        <a:t>$40–53M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3355"/>
                          </a:solidFill>
                        </a:rPr>
                        <a:t>GenApep value ÷ 0.75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B3355"/>
                          </a:solidFill>
                        </a:rPr>
                        <a:t>Implied value of First Vital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B3355"/>
                          </a:solidFill>
                        </a:rPr>
                        <a:t>$10–13M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B3355"/>
                          </a:solidFill>
                        </a:rPr>
                        <a:t>the remaining 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3520440"/>
            <a:ext cx="109270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600" b="1">
                <a:solidFill>
                  <a:srgbClr val="1B3355"/>
                </a:solidFill>
                <a:latin typeface="Calibri"/>
              </a:rPr>
              <a:t>The question to answer before any share moves</a:t>
            </a:r>
          </a:p>
          <a:p>
            <a:pPr algn="l">
              <a:spcBef>
                <a:spcPts val="400"/>
              </a:spcBef>
            </a:pPr>
            <a:r>
              <a:rPr sz="1450">
                <a:solidFill>
                  <a:srgbClr val="5A5A5A"/>
                </a:solidFill>
                <a:latin typeface="Calibri"/>
              </a:rPr>
              <a:t>ANSWERED (Sep-2026): No. The record — pre-revenue per DD (Form 1-K confirmation pending), $500K lifetime capital, no reporting status — supports an assessed ~$0–2M, possibly less after the $500K convertible note (terms unverified). Every dollar conceded above verified value is a transfer from GenApep shareholders; a clean new US topco costs under $100K.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029200"/>
            <a:ext cx="3520440" cy="10972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Gate 0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CIK + full EDGAR index, in writing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5029200"/>
            <a:ext cx="3520440" cy="109728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This week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request Jul–Aug GLP-1 actuals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5029200"/>
            <a:ext cx="3520440" cy="1097280"/>
          </a:xfrm>
          <a:prstGeom prst="roundRect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Then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independent valuations + fairness opinion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Protections already drafted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Sign Amendment No. 1 now; Addendum A when Route B is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539496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Amendment No. 1 (both scenarios)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5A5A5A"/>
                </a:solidFill>
                <a:latin typeface="Calibri"/>
              </a:rPr>
              <a:t>A1 · Equalisation becomes MANDATORY beyond 15% variance — independent valuer decides if boards cannot.
A2 · Consideration to shareholder bodies pro rata, never to principals.
A3/A4 · Third-Director interests disclosed; deadlocks resolved (pool fixed at 7.5% fallback).
A5 · Technology chain of title = condition precedent to completion.
A6/A7 · Technology encumbrances disclosed; provenance pack before sweat-equity vesting.
A8 · No one may present GenApep as an existing rights-holding entity before it is one.
A9 · Open items scheduled with owners and dates.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463040"/>
            <a:ext cx="530352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Addendum A (Route-B machinery)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5A5A5A"/>
                </a:solidFill>
                <a:latin typeface="Calibri"/>
              </a:rPr>
              <a:t>B1 · GenApep Korea is the ONLY permitted acquisition vehicle.
B2 · Sweat pool carries into any new structure on equivalent terms.
B3 · Route selection is a Reserved Matter; Route A stays the default.
B4 · Ratio preservation: consideration strictly pro rata — binding.
B5 · Block entry: one exchange ratio for the whole JV, never individual deals.
B6/B11 · No unilateral negotiation; exclusivity extends to listing vehicles.
B7 · Related-party deals need valuations, fairness opinion, disinterested approval.
B8–B10, B12 · Verification gates, audit scoped for either route, consequences schedule.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Timeline &amp; critical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The audit is the clock; everything else runs in parallel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63040"/>
          <a:ext cx="109270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7315200"/>
                <a:gridCol w="2057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When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Milestone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Owner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Now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Sign Amendment No. 1 · request FVH EDGAR index + GLP-1 actuals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Boards / FA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≤ 30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Eyesel FY2025 statutory accounts RECEIVED/verified; principal confirmation (Park vs Kim) in writing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Eyesel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Q3–Q4 2026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Incorporate GenApep Holdings (Cayman) + GenApep Korea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FA / counsel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Q4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1B3355"/>
                          </a:solidFill>
                        </a:rPr>
                        <a:t>Appoint PCAOB auditor — CRITICAL PATH · definitive SHA + pool KPIs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1B3355"/>
                          </a:solidFill>
                        </a:rPr>
                        <a:t>Joint / FA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Q1–Q2 2027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Share exchange: GenApep Korea acquires WBI + Eyesel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All parties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When gated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Route decision under Addendum A (verified FVH, valuations, fairness opinion)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Boards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≤ end-2027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Confidential SEC draft registration (Route A) / combination filings (Route B)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FA / US counsel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2028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US listing — market-dependent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5257800"/>
            <a:ext cx="10927080" cy="868680"/>
          </a:xfrm>
          <a:prstGeom prst="round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1B3355"/>
                </a:solidFill>
                <a:latin typeface="Calibri"/>
              </a:rPr>
              <a:t>Two audited fiscal years to PCAOB standard are required before ANY filing — start the auditor appointment now and the route choice steals no time.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Decisions requested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Approve these seven actions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20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1463040"/>
            <a:ext cx="548640" cy="54864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481328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>
                <a:solidFill>
                  <a:srgbClr val="1B3355"/>
                </a:solidFill>
                <a:latin typeface="Calibri"/>
              </a:rPr>
              <a:t>Sign Amendment No. 1 and start Stage 1 — both boards.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2157984"/>
            <a:ext cx="548640" cy="548640"/>
          </a:xfrm>
          <a:prstGeom prst="ellipse">
            <a:avLst/>
          </a:prstGeom>
          <a:solidFill>
            <a:srgbClr val="1AA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176272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Treat Addendum A as the gate for all First Vital discussion.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2852928"/>
            <a:ext cx="548640" cy="548640"/>
          </a:xfrm>
          <a:prstGeom prst="ellipse">
            <a:avLst/>
          </a:prstGeom>
          <a:solidFill>
            <a:srgbClr val="E09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871216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Gate-zero this week (1-A sales, 1-K/1-SA, note terms, entity chain, Ernie references) + table the Management-Partnership term sheet.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3547872"/>
            <a:ext cx="548640" cy="548640"/>
          </a:xfrm>
          <a:prstGeom prst="ellipse">
            <a:avLst/>
          </a:prstGeom>
          <a:solidFill>
            <a:srgbClr val="244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5661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Eyesel: financials DELIVERED &amp; verified; principal confirmation (Park vs Kim) within 30 days.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4242816"/>
            <a:ext cx="548640" cy="548640"/>
          </a:xfrm>
          <a:prstGeom prst="ellipse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4261104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Appoint the PCAOB auditor in Q4-2026, scoped for either route.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937760"/>
            <a:ext cx="548640" cy="54864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956048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>
                <a:solidFill>
                  <a:srgbClr val="1B3355"/>
                </a:solidFill>
                <a:latin typeface="Calibri"/>
              </a:rPr>
              <a:t>Do not sign the draft IPO MOU as written — revise to value-based block entry.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5632704"/>
            <a:ext cx="548640" cy="548640"/>
          </a:xfrm>
          <a:prstGeom prst="ellipse">
            <a:avLst/>
          </a:prstGeom>
          <a:solidFill>
            <a:srgbClr val="1AA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5650992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Progress the DPW licence to asset-level term sheets after chain-of-title is documented.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008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PRIVATE &amp; CONFIDENTIAL — WBI &amp; Eyesel directors only · planning figures · not advice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