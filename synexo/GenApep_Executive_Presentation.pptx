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2E86C1"/>
            </a:solidFill>
          </c:spPr>
          <c:cat>
            <c:strRef>
              <c:f>Sheet1!$A$2:$A$7</c:f>
              <c:strCache>
                <c:ptCount val="6"/>
                <c:pt idx="0">
                  <c:v>FY2025A</c:v>
                </c:pt>
                <c:pt idx="1">
                  <c:v>2026P</c:v>
                </c:pt>
                <c:pt idx="2">
                  <c:v>2027P</c:v>
                </c:pt>
                <c:pt idx="3">
                  <c:v>2028P</c:v>
                </c:pt>
                <c:pt idx="4">
                  <c:v>2029P</c:v>
                </c:pt>
                <c:pt idx="5">
                  <c:v>2030P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11.43</c:v>
                </c:pt>
                <c:pt idx="1">
                  <c:v>16.39</c:v>
                </c:pt>
                <c:pt idx="2">
                  <c:v>25.31</c:v>
                </c:pt>
                <c:pt idx="3">
                  <c:v>31.7</c:v>
                </c:pt>
                <c:pt idx="4">
                  <c:v>43.82</c:v>
                </c:pt>
                <c:pt idx="5">
                  <c:v>58.91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Operating profit</c:v>
                </c:pt>
              </c:strCache>
            </c:strRef>
          </c:tx>
          <c:spPr>
            <a:solidFill>
              <a:srgbClr val="1B3355"/>
            </a:solidFill>
          </c:spPr>
          <c:cat>
            <c:strRef>
              <c:f>Sheet1!$A$2:$A$7</c:f>
              <c:strCache>
                <c:ptCount val="6"/>
                <c:pt idx="0">
                  <c:v>FY2025A</c:v>
                </c:pt>
                <c:pt idx="1">
                  <c:v>2026P</c:v>
                </c:pt>
                <c:pt idx="2">
                  <c:v>2027P</c:v>
                </c:pt>
                <c:pt idx="3">
                  <c:v>2028P</c:v>
                </c:pt>
                <c:pt idx="4">
                  <c:v>2029P</c:v>
                </c:pt>
                <c:pt idx="5">
                  <c:v>2030P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0.76</c:v>
                </c:pt>
                <c:pt idx="1">
                  <c:v>2.4</c:v>
                </c:pt>
                <c:pt idx="2">
                  <c:v>4.54</c:v>
                </c:pt>
                <c:pt idx="3">
                  <c:v>5.95</c:v>
                </c:pt>
                <c:pt idx="4">
                  <c:v>8.86</c:v>
                </c:pt>
                <c:pt idx="5">
                  <c:v>12.51</c:v>
                </c:pt>
              </c:numCache>
            </c:numRef>
          </c:val>
        </c:ser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title>
          <c:tx>
            <c:rich>
              <a:bodyPr/>
              <a:lstStyle/>
              <a:p>
                <a:r>
                  <a:rPr sz="1300"/>
                  <a:t>US$M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3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24160" y="1371600"/>
            <a:ext cx="2377440" cy="2377440"/>
          </a:xfrm>
          <a:prstGeom prst="ellipse">
            <a:avLst/>
          </a:prstGeom>
          <a:solidFill>
            <a:srgbClr val="2444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155680" y="5120640"/>
            <a:ext cx="1645920" cy="1645920"/>
          </a:xfrm>
          <a:prstGeom prst="ellipse">
            <a:avLst/>
          </a:prstGeom>
          <a:solidFill>
            <a:srgbClr val="2444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92640" y="5852160"/>
            <a:ext cx="914400" cy="914400"/>
          </a:xfrm>
          <a:prstGeom prst="ellipse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68680" y="2148840"/>
            <a:ext cx="182880" cy="173736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2057400"/>
            <a:ext cx="96012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GENAPEP — THE ROAD TO A US LISTING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3337560"/>
            <a:ext cx="9601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>
                <a:solidFill>
                  <a:srgbClr val="CFDDEA"/>
                </a:solidFill>
                <a:latin typeface="Calibri"/>
              </a:rPr>
              <a:t>Director briefing: the Joint Venture, First Vital, and the choice of route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4160520"/>
            <a:ext cx="9601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9FB6CB"/>
                </a:solidFill>
                <a:latin typeface="Calibri"/>
              </a:rPr>
              <a:t>Executive presentation · ~30 minutes · read before the document pack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580644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E09E2B"/>
                </a:solidFill>
                <a:latin typeface="Calibri"/>
              </a:rPr>
              <a:t>PRIVATE &amp; CONFIDENTIAL — for the directors of WBI and Eyesel only. Not for release to First Vital. Illustrative planning figures; not advice.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Why we are here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Thirty minutes before you read eight documents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 b="0">
                <a:solidFill>
                  <a:srgbClr val="1B3355"/>
                </a:solidFill>
                <a:latin typeface="Calibri"/>
              </a:rPr>
              <a:t>●  WBI and Eyesel signed an MOU on 12 August 2026 to combine into one group — GenApep — and take it to a US public market.</a:t>
            </a:r>
          </a:p>
          <a:p>
            <a:pPr>
              <a:spcAft>
                <a:spcPts val="1100"/>
              </a:spcAft>
            </a:pPr>
            <a:r>
              <a:rPr sz="1800" b="0">
                <a:solidFill>
                  <a:srgbClr val="1B3355"/>
                </a:solidFill>
                <a:latin typeface="Calibri"/>
              </a:rPr>
              <a:t>●  Two new elements have arrived since: First Vital (a US company with a stated SEC filing record and a GLP-1 care programme) proposes to be the listing vehicle, and DPW (under the listed Richards Group) is reviewing a licence to GenApep's technology.</a:t>
            </a:r>
          </a:p>
          <a:p>
            <a:pPr>
              <a:spcAft>
                <a:spcPts val="1100"/>
              </a:spcAft>
            </a:pPr>
            <a:r>
              <a:rPr sz="1800" b="0">
                <a:solidFill>
                  <a:srgbClr val="1B3355"/>
                </a:solidFill>
                <a:latin typeface="Calibri"/>
              </a:rPr>
              <a:t>●  The document pack runs to eight instruments and two workbooks. This presentation gives you the structure, the numbers, the pros and cons, and the decisions — so the pack confirms rather than surprises.</a:t>
            </a:r>
          </a:p>
          <a:p>
            <a:pPr>
              <a:spcAft>
                <a:spcPts val="1100"/>
              </a:spcAft>
            </a:pPr>
            <a:r>
              <a:rPr sz="1800" b="0">
                <a:solidFill>
                  <a:srgbClr val="1B3355"/>
                </a:solidFill>
                <a:latin typeface="Calibri"/>
              </a:rPr>
              <a:t>●  The ask today: agree the implementation order, note the risks, and approve the next actions on the final slide.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0" y="5120640"/>
            <a:ext cx="3337560" cy="1188720"/>
          </a:xfrm>
          <a:prstGeom prst="round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8 + 2</a:t>
            </a:r>
          </a:p>
          <a:p>
            <a:pPr algn="ctr"/>
            <a:r>
              <a:rPr sz="1300" b="0">
                <a:solidFill>
                  <a:srgbClr val="CFDDEA"/>
                </a:solidFill>
                <a:latin typeface="Calibri"/>
              </a:rPr>
              <a:t>documents + workbooks distilled here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The project in one picture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Two stages; the second is a choice, not a commitment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554480"/>
            <a:ext cx="539496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800" b="1">
                <a:solidFill>
                  <a:srgbClr val="1B3355"/>
                </a:solidFill>
                <a:latin typeface="Calibri"/>
              </a:rPr>
              <a:t>STAGE 1 — form the Joint Venture (now)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5A5A5A"/>
                </a:solidFill>
                <a:latin typeface="Calibri"/>
              </a:rPr>
              <a:t>GenApep Holdings (Cayman) → GenApep Korea → acquires 100% of WBI and 100% of Eyesel.
Eyesel shareholders 51% · WBI shareholders 49% · tech sweat pool 5–10% dilutes both pro rata.
Governed by the 12-Aug MOU + Amendment No. 1.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554480"/>
            <a:ext cx="530352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9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800" b="1">
                <a:solidFill>
                  <a:srgbClr val="1B3355"/>
                </a:solidFill>
                <a:latin typeface="Calibri"/>
              </a:rPr>
              <a:t>STAGE 2 — choose the route to market (later, gated)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5A5A5A"/>
                </a:solidFill>
                <a:latin typeface="Calibri"/>
              </a:rPr>
              <a:t>Route A (default): GenApep's own US offering — SEC confidential draft by end-2027, listing 2028.
Route B (option): combine with First Vital, a company with an existing SEC record — only through the machinery in Addendum A.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806440" y="2514600"/>
            <a:ext cx="457200" cy="411480"/>
          </a:xfrm>
          <a:prstGeom prst="rightArrow">
            <a:avLst/>
          </a:prstGeom>
          <a:solidFill>
            <a:srgbClr val="1AA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4114800"/>
            <a:ext cx="10927080" cy="914400"/>
          </a:xfrm>
          <a:prstGeom prst="roundRect">
            <a:avLst/>
          </a:prstGeom>
          <a:solidFill>
            <a:srgbClr val="EC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700" b="1">
                <a:solidFill>
                  <a:srgbClr val="1B3355"/>
                </a:solidFill>
                <a:latin typeface="Calibri"/>
              </a:rPr>
              <a:t>The PCAOB audit of both companies is the critical path under EVERY route — so forming the JV first costs no calendar time.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257800"/>
            <a:ext cx="10927080" cy="1051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600" b="1">
                <a:solidFill>
                  <a:srgbClr val="1B3355"/>
                </a:solidFill>
                <a:latin typeface="Calibri"/>
              </a:rPr>
              <a:t>Why the order matters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5A5A5A"/>
                </a:solidFill>
                <a:latin typeface="Calibri"/>
              </a:rPr>
              <a:t>Settle the 51:49 economics between ourselves first, then negotiate with First Vital as ONE party holding audited accounts — instead of two unaudited companies and two individuals inside someone else's cap table.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Stage 1 — the Joint Venture, in essentials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12-Aug MOU as amended by Amendment No.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63040"/>
            <a:ext cx="352044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700" b="1">
                <a:solidFill>
                  <a:srgbClr val="1B3355"/>
                </a:solidFill>
                <a:latin typeface="Calibri"/>
              </a:rPr>
              <a:t>Structure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5A5A5A"/>
                </a:solidFill>
                <a:latin typeface="Calibri"/>
              </a:rPr>
              <a:t>Cayman holdco → GenApep Korea → 100% WBI + 100% Eyesel. Korean operations undisturbed; one group for audit and listing.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463040"/>
            <a:ext cx="352044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A1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700" b="1">
                <a:solidFill>
                  <a:srgbClr val="1B3355"/>
                </a:solidFill>
                <a:latin typeface="Calibri"/>
              </a:rPr>
              <a:t>Economics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5A5A5A"/>
                </a:solidFill>
                <a:latin typeface="Calibri"/>
              </a:rPr>
              <a:t>Eyesel 51 : WBI 49, both diluted by a 5–10% technology pool (Keith · Sidney · Charles + team). Mandatory equalisation if either side's figures move &gt;15%.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463040"/>
            <a:ext cx="352044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9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700" b="1">
                <a:solidFill>
                  <a:srgbClr val="1B3355"/>
                </a:solidFill>
                <a:latin typeface="Calibri"/>
              </a:rPr>
              <a:t>Governance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5A5A5A"/>
                </a:solidFill>
                <a:latin typeface="Calibri"/>
              </a:rPr>
              <a:t>One director each + a Third Director (interests disclosed; deadlock fallback fixes the pool at 7.5% if directors cannot agree).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023360"/>
            <a:ext cx="539496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700" b="1">
                <a:solidFill>
                  <a:srgbClr val="1B3355"/>
                </a:solidFill>
                <a:latin typeface="Calibri"/>
              </a:rPr>
              <a:t>Amendment No. 1 — why it must be signed first</a:t>
            </a:r>
          </a:p>
          <a:p>
            <a:pPr algn="l">
              <a:spcBef>
                <a:spcPts val="400"/>
              </a:spcBef>
            </a:pPr>
            <a:r>
              <a:rPr sz="1350">
                <a:solidFill>
                  <a:srgbClr val="5A5A5A"/>
                </a:solidFill>
                <a:latin typeface="Calibri"/>
              </a:rPr>
              <a:t>Nine fixes needed under every scenario: consideration flows to SHAREHOLDER BODIES pro rata, never to individuals · equalisation becomes mandatory · technology chain-of-title becomes a condition precedent · open items get owners and dates.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023360"/>
            <a:ext cx="530352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444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700" b="1">
                <a:solidFill>
                  <a:srgbClr val="1B3355"/>
                </a:solidFill>
                <a:latin typeface="Calibri"/>
              </a:rPr>
              <a:t>Addendum A — sign when Route B is on the table</a:t>
            </a:r>
          </a:p>
          <a:p>
            <a:pPr algn="l">
              <a:spcBef>
                <a:spcPts val="400"/>
              </a:spcBef>
            </a:pPr>
            <a:r>
              <a:rPr sz="1350">
                <a:solidFill>
                  <a:srgbClr val="5A5A5A"/>
                </a:solidFill>
                <a:latin typeface="Calibri"/>
              </a:rPr>
              <a:t>Route selection becomes a board decision · GenApep Korea is the ONLY permitted acquisition vehicle · any Stage-2 deal must carry every shareholder through pro rata as one block · the sweat pool survives any change of vehicle.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The numbers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JV Financial Plan (rev. 29 Aug 2026) — planning basis, Eyesel figures placeholder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40080" y="1463040"/>
          <a:ext cx="694944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863840" y="1463040"/>
            <a:ext cx="3703320" cy="1143000"/>
          </a:xfrm>
          <a:prstGeom prst="round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$58.9M</a:t>
            </a:r>
          </a:p>
          <a:p>
            <a:pPr algn="ctr"/>
            <a:r>
              <a:rPr sz="1300" b="0">
                <a:solidFill>
                  <a:srgbClr val="CFDDEA"/>
                </a:solidFill>
                <a:latin typeface="Calibri"/>
              </a:rPr>
              <a:t>2030 plan revenue (base case)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0" y="2743200"/>
            <a:ext cx="3703320" cy="1143000"/>
          </a:xfrm>
          <a:prstGeom prst="roundRect">
            <a:avLst/>
          </a:prstGeom>
          <a:solidFill>
            <a:srgbClr val="1B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$30–40M</a:t>
            </a:r>
          </a:p>
          <a:p>
            <a:pPr algn="ctr"/>
            <a:r>
              <a:rPr sz="1300" b="0">
                <a:solidFill>
                  <a:srgbClr val="CFDDEA"/>
                </a:solidFill>
                <a:latin typeface="Calibri"/>
              </a:rPr>
              <a:t>combined pre-JV valuation range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4023360"/>
            <a:ext cx="370332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9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700" b="1">
                <a:solidFill>
                  <a:srgbClr val="1B3355"/>
                </a:solidFill>
                <a:latin typeface="Calibri"/>
              </a:rPr>
              <a:t>What drives it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5A5A5A"/>
                </a:solidFill>
                <a:latin typeface="Calibri"/>
              </a:rPr>
              <a:t>MM Studio ramp $2.9M → $36.3M is the swing factor (WBI-side). Eyesel base $8.0M placeholder +10%/yr — updated financials due within 30 days and the 51:49 rests on them.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Stage 2 — two routes to being public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Route A is the default; Route B is an option with gates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508760"/>
            <a:ext cx="5394960" cy="3200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800" b="1">
                <a:solidFill>
                  <a:srgbClr val="1B3355"/>
                </a:solidFill>
                <a:latin typeface="Calibri"/>
              </a:rPr>
              <a:t>ROUTE A — our own offering (default)</a:t>
            </a:r>
          </a:p>
          <a:p>
            <a:pPr algn="l">
              <a:spcBef>
                <a:spcPts val="400"/>
              </a:spcBef>
            </a:pPr>
            <a:r>
              <a:rPr sz="1450">
                <a:solidFill>
                  <a:srgbClr val="5A5A5A"/>
                </a:solidFill>
                <a:latin typeface="Calibri"/>
              </a:rPr>
              <a:t>GenApep Holdings files its own registration.
• Confidential SEC draft by end-2027; listing 2028.
• Raises primary capital (illustrative $20M at $80M pre-money).
• Foreign private issuer: F-1, IFRS, 20-F — as budgeted.
• Fully in our control; no counterparty risk.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508760"/>
            <a:ext cx="5303520" cy="3200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9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800" b="1">
                <a:solidFill>
                  <a:srgbClr val="1B3355"/>
                </a:solidFill>
                <a:latin typeface="Calibri"/>
              </a:rPr>
              <a:t>ROUTE B — combine with First Vital (option)</a:t>
            </a:r>
          </a:p>
          <a:p>
            <a:pPr algn="l">
              <a:spcBef>
                <a:spcPts val="400"/>
              </a:spcBef>
            </a:pPr>
            <a:r>
              <a:rPr sz="1450">
                <a:solidFill>
                  <a:srgbClr val="5A5A5A"/>
                </a:solidFill>
                <a:latin typeface="Calibri"/>
              </a:rPr>
              <a:t>GenApep enters a company that already reports to the SEC.
• Potentially faster to reporting status — but that is NOT an exchange listing.
• Raises no money by itself; financing must be planned separately.
• Likely domestic issuer: US GAAP, 10-K/10-Q — unbudgeted cost.
• Brings the GLP-1 programme and a US clinical channel.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983480"/>
            <a:ext cx="10927080" cy="1188720"/>
          </a:xfrm>
          <a:prstGeom prst="roundRect">
            <a:avLst/>
          </a:prstGeom>
          <a:solidFill>
            <a:srgbClr val="EC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600" b="1">
                <a:solidFill>
                  <a:srgbClr val="1B3355"/>
                </a:solidFill>
                <a:latin typeface="Calibri"/>
              </a:rPr>
              <a:t>Addendum A keeps BOTH routes open until the boards choose — route selection is a Reserved Matter requiring both directors.</a:t>
            </a:r>
          </a:p>
          <a:p>
            <a:pPr algn="ctr"/>
            <a:r>
              <a:rPr sz="1300" b="0">
                <a:solidFill>
                  <a:srgbClr val="5A5A5A"/>
                </a:solidFill>
                <a:latin typeface="Calibri"/>
              </a:rPr>
              <a:t>No step may foreclose either route without Board approval.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First Vital — what it brings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Stated SEC record + an operating GLP-1 programme (proforma basis)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63040"/>
            <a:ext cx="539496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A1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700" b="1">
                <a:solidFill>
                  <a:srgbClr val="1B3355"/>
                </a:solidFill>
                <a:latin typeface="Calibri"/>
              </a:rPr>
              <a:t>The GLP-1 Bridge programme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5A5A5A"/>
                </a:solidFill>
                <a:latin typeface="Calibri"/>
              </a:rPr>
              <a:t>CPT-reimbursed care: assessment → care plan → monthly remote monitoring at $168.92/patient/month. Targeting 2,500 patients by Dec-2026, 10,000 by Dec-2027.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931920"/>
            <a:ext cx="2606040" cy="1188720"/>
          </a:xfrm>
          <a:prstGeom prst="roundRect">
            <a:avLst/>
          </a:prstGeom>
          <a:solidFill>
            <a:srgbClr val="1AA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$2.2M</a:t>
            </a:r>
          </a:p>
          <a:p>
            <a:pPr algn="ctr"/>
            <a:r>
              <a:rPr sz="1300" b="0">
                <a:solidFill>
                  <a:srgbClr val="CFDDEA"/>
                </a:solidFill>
                <a:latin typeface="Calibri"/>
              </a:rPr>
              <a:t>proforma revenue H2-2026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3931920"/>
            <a:ext cx="2606040" cy="1188720"/>
          </a:xfrm>
          <a:prstGeom prst="round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$16.7M</a:t>
            </a:r>
          </a:p>
          <a:p>
            <a:pPr algn="ctr"/>
            <a:r>
              <a:rPr sz="1300" b="0">
                <a:solidFill>
                  <a:srgbClr val="CFDDEA"/>
                </a:solidFill>
                <a:latin typeface="Calibri"/>
              </a:rPr>
              <a:t>proforma revenue 2027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257800"/>
            <a:ext cx="2606040" cy="1188720"/>
          </a:xfrm>
          <a:prstGeom prst="roundRect">
            <a:avLst/>
          </a:prstGeom>
          <a:solidFill>
            <a:srgbClr val="1B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$1.59M/mo</a:t>
            </a:r>
          </a:p>
          <a:p>
            <a:pPr algn="ctr"/>
            <a:r>
              <a:rPr sz="1300" b="0">
                <a:solidFill>
                  <a:srgbClr val="CFDDEA"/>
                </a:solidFill>
                <a:latin typeface="Calibri"/>
              </a:rPr>
              <a:t>recurring MRR exiting 2027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0" y="5257800"/>
            <a:ext cx="2606040" cy="1188720"/>
          </a:xfrm>
          <a:prstGeom prst="roundRect">
            <a:avLst/>
          </a:prstGeom>
          <a:solidFill>
            <a:srgbClr val="244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2600" b="1">
                <a:solidFill>
                  <a:srgbClr val="FFFFFF"/>
                </a:solidFill>
                <a:latin typeface="Calibri"/>
              </a:rPr>
              <a:t>~$3,788</a:t>
            </a:r>
          </a:p>
          <a:p>
            <a:pPr algn="ctr"/>
            <a:r>
              <a:rPr sz="1300" b="0">
                <a:solidFill>
                  <a:srgbClr val="CFDDEA"/>
                </a:solidFill>
                <a:latin typeface="Calibri"/>
              </a:rPr>
              <a:t>revenue per enrolled patient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463040"/>
            <a:ext cx="530352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9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700" b="1">
                <a:solidFill>
                  <a:srgbClr val="1B3355"/>
                </a:solidFill>
                <a:latin typeface="Calibri"/>
              </a:rPr>
              <a:t>Why it fits GenApep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5A5A5A"/>
                </a:solidFill>
                <a:latin typeface="Calibri"/>
              </a:rPr>
              <a:t>A GLP-1 patient base is a natural US channel for peptide products: GI &amp; metabolic support, muscle preservation, GLP-1-associated hair loss — designed by the AI platform, made by Eyesel under GMP.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931920"/>
            <a:ext cx="530352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700" b="1">
                <a:solidFill>
                  <a:srgbClr val="1B3355"/>
                </a:solidFill>
                <a:latin typeface="Calibri"/>
              </a:rPr>
              <a:t>Read the numbers with care</a:t>
            </a:r>
          </a:p>
          <a:p>
            <a:pPr algn="l">
              <a:spcBef>
                <a:spcPts val="400"/>
              </a:spcBef>
            </a:pPr>
            <a:r>
              <a:rPr sz="1350">
                <a:solidFill>
                  <a:srgbClr val="5A5A5A"/>
                </a:solidFill>
                <a:latin typeface="Calibri"/>
              </a:rPr>
              <a:t>• Proforma is GROSS REIMBURSEMENT only — no clinician, billing or collection costs.
• Programme began enrolling 1 July 2026 — two months of history.
• SEC filing record is stated, not yet verified on EDGAR.
• July–August actuals are the cheapest, most informative diligence available.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Route B — the case for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What a verified First Vital adds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08760"/>
            <a:ext cx="1554480" cy="777240"/>
          </a:xfrm>
          <a:prstGeom prst="round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600" y="156362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0">
                <a:solidFill>
                  <a:srgbClr val="1B3355"/>
                </a:solidFill>
                <a:latin typeface="Calibri"/>
              </a:rPr>
              <a:t>An existing, current filing record cuts the time and execution risk of becoming a reporting company.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478024"/>
            <a:ext cx="1554480" cy="777240"/>
          </a:xfrm>
          <a:prstGeom prst="roundRect">
            <a:avLst/>
          </a:prstGeom>
          <a:solidFill>
            <a:srgbClr val="1AA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Channel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4600" y="2532888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0">
                <a:solidFill>
                  <a:srgbClr val="1B3355"/>
                </a:solidFill>
                <a:latin typeface="Calibri"/>
              </a:rPr>
              <a:t>10,000 targeted GLP-1 patients = a US clinical route to market GenApep cannot quickly build alone.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447288"/>
            <a:ext cx="1554480" cy="777240"/>
          </a:xfrm>
          <a:prstGeom prst="roundRect">
            <a:avLst/>
          </a:prstGeom>
          <a:solidFill>
            <a:srgbClr val="E09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Revenue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600" y="3502152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0">
                <a:solidFill>
                  <a:srgbClr val="1B3355"/>
                </a:solidFill>
                <a:latin typeface="Calibri"/>
              </a:rPr>
              <a:t>A recurring-revenue care programme (MRR $1.59M/month exiting 2027, proforma) alongside our product revenue.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16552"/>
            <a:ext cx="1554480" cy="777240"/>
          </a:xfrm>
          <a:prstGeom prst="roundRect">
            <a:avLst/>
          </a:prstGeom>
          <a:solidFill>
            <a:srgbClr val="244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Synergy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4600" y="4471416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0">
                <a:solidFill>
                  <a:srgbClr val="1B3355"/>
                </a:solidFill>
                <a:latin typeface="Calibri"/>
              </a:rPr>
              <a:t>GLP-1 GI support + hair-loss management are exactly the categories GenApep's peptide/exosome stack targets.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385816"/>
            <a:ext cx="1554480" cy="777240"/>
          </a:xfrm>
          <a:prstGeom prst="roundRect">
            <a:avLst/>
          </a:prstGeom>
          <a:solidFill>
            <a:srgbClr val="1B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Infrastructure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14600" y="5440680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0">
                <a:solidFill>
                  <a:srgbClr val="1B3355"/>
                </a:solidFill>
                <a:latin typeface="Calibri"/>
              </a:rPr>
              <a:t>US corporate platform and an existing shareholder base — float the JV would otherwise create from zero.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Route B — the risks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Each has a gate in Addendum A / the diligence programme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463040"/>
          <a:ext cx="1092708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4937760"/>
                <a:gridCol w="393192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</a:rPr>
                        <a:t>Risk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</a:rPr>
                        <a:t>Why it matters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</a:rPr>
                        <a:t>The gate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B3355"/>
                          </a:solidFill>
                        </a:rPr>
                        <a:t>Filing status unverified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No identifiable EDGAR record surfaced by name search; a Reg-A filing would not make FVH a reporting company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Gate zero: CIK + full EDGAR index, counsel confirmation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B3355"/>
                          </a:solidFill>
                        </a:rPr>
                        <a:t>Two months of history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GLP-1 enrolment began 1 Jul 2026; the 10,000-patient ramp is a plan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Jul–Aug actual enrolments, claims, denials — this week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B3355"/>
                          </a:solidFill>
                        </a:rPr>
                        <a:t>Revenue-only proforma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No cost build; 20% margin is an assumption; reimbursement ≠ cash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Cost build + collection-rate before any valuation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B3355"/>
                          </a:solidFill>
                        </a:rPr>
                        <a:t>Issuer &amp; accounting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US parent likely = domestic issuer: US GAAP, 10-K/10-Q, proxy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Written classification opinion before route selection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B3355"/>
                          </a:solidFill>
                        </a:rPr>
                        <a:t>Shell / liabilities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Possible shell-company resale restrictions; unknown liabilities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Shell status on EDGAR; corporate &amp; legal diligence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B3355"/>
                          </a:solidFill>
                        </a:rPr>
                        <a:t>No capital raised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A combination raises nothing; group could emerge public but underfunded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Separate financing plan before selection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B3355"/>
                          </a:solidFill>
                        </a:rPr>
                        <a:t>Related-party optics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Principals could sit on both sides of the transaction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Independent valuations + fairness opinion + disinterested approval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The conflict to resolve first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The draft IPO MOU cannot be signed alongside the JV MOU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463040"/>
          <a:ext cx="109270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297680"/>
                <a:gridCol w="4251960"/>
              </a:tblGrid>
              <a:tr h="365760">
                <a:tc>
                  <a:txBody>
                    <a:bodyPr/>
                    <a:lstStyle/>
                    <a:p>
                      <a:pPr algn="l"/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JV MOU + Amendment (agreed)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Draft IPO MOU (as written)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B3355"/>
                          </a:solidFill>
                        </a:rPr>
                        <a:t>Who gets the shares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WBI &amp; Eyesel SHAREHOLDER BODIES, pro rata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Two named individuals (40% + 35%)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B3355"/>
                          </a:solidFill>
                        </a:rPr>
                        <a:t>The split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Eyesel 51 : WBI 49, less sweat pool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≈ 53 : 47 the other way; no pool at 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B3355"/>
                          </a:solidFill>
                        </a:rPr>
                        <a:t>Acquisition vehicle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GenApep Korea (sole permitted vehicle)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FVH Korea — a competing vehicle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B3355"/>
                          </a:solidFill>
                        </a:rPr>
                        <a:t>When shares move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Issuance and transfer simultaneous at closing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75% issued BEFORE the companies transfer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B3355"/>
                          </a:solidFill>
                        </a:rPr>
                        <a:t>Eyesel principal / revenue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Mr. Park · US$8.0M (plan placeholder)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Mr. Kim · ~US$15M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" y="4526280"/>
            <a:ext cx="10927080" cy="1554480"/>
          </a:xfrm>
          <a:prstGeom prst="roundRect">
            <a:avLst/>
          </a:prstGeom>
          <a:solidFill>
            <a:srgbClr val="EC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800" b="1">
                <a:solidFill>
                  <a:srgbClr val="1B3355"/>
                </a:solidFill>
                <a:latin typeface="Calibri"/>
              </a:rPr>
              <a:t>The fix is documentation and sequencing — not abandonment.</a:t>
            </a:r>
          </a:p>
          <a:p>
            <a:pPr algn="ctr"/>
            <a:r>
              <a:rPr sz="1450" b="0">
                <a:solidFill>
                  <a:srgbClr val="5A5A5A"/>
                </a:solidFill>
                <a:latin typeface="Calibri"/>
              </a:rPr>
              <a:t>The individual-first idea has a legitimate driver — Korean FX filings and dry tax charges on a direct swap (next slide). It must simply land pro rata: through the holdco block, or a documented nominee bridge. Same commercial outcome, none of the defects — and zero calendar cost, because the audit is the critical path either way.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Korean FX/tax — choosing the compliant 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Why “individuals first” was proposed, and how to keep its benefit safely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17320"/>
            <a:ext cx="10927080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600" b="1">
                <a:solidFill>
                  <a:srgbClr val="1B3355"/>
                </a:solidFill>
                <a:latin typeface="Calibri"/>
              </a:rPr>
              <a:t>The burden being avoided is real</a:t>
            </a:r>
          </a:p>
          <a:p>
            <a:pPr algn="l">
              <a:spcBef>
                <a:spcPts val="400"/>
              </a:spcBef>
            </a:pPr>
            <a:r>
              <a:rPr sz="1350">
                <a:solidFill>
                  <a:srgbClr val="5A5A5A"/>
                </a:solidFill>
                <a:latin typeface="Calibri"/>
              </a:rPr>
              <a:t>Every Korean shareholder must make foreign-exchange filings for foreign securities, and a share-for-share exchange is generally a TAXABLE DISPOSAL — tax due in cash while the consideration arrives as shares, with no rollover into a foreign parent. Dozens of individual filings and dry tax charges could stall the transaction.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834640"/>
          <a:ext cx="109270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0280"/>
                <a:gridCol w="4892040"/>
                <a:gridCol w="379476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</a:rPr>
                        <a:t>Path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</a:rPr>
                        <a:t>Mechanics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</a:rPr>
                        <a:t>Assessment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B3355"/>
                          </a:solidFill>
                        </a:rPr>
                        <a:t>A · Direct swap by all holders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Each Korean shareholder files and is taxed individually at the exchange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Heaviest friction — the problem rightly being avoided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B3355"/>
                          </a:solidFill>
                        </a:rPr>
                        <a:t>B · Holdco block entry (recommended)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B3355"/>
                          </a:solidFill>
                        </a:rPr>
                        <a:t>One exchange into the Cayman holdco at the LOW pre-listing value; one collective FX filing via the FA; the later platform swap happens at holdco level — no second Korean event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B3355"/>
                          </a:solidFill>
                        </a:rPr>
                        <a:t>Tax/FX objective achieved AND automatic pro-rata fairness — what the Cayman structure exists for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B3355"/>
                          </a:solidFill>
                        </a:rPr>
                        <a:t>C · Individuals first — documented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Written nominee/escrow declaration + annexed pro-rata schedule + deadline transfer into the holdco at the SAME valuation + Korean tax opinion (deemed-gift exposure) + SEC beneficial-ownership disclosure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Workable as a bridge; undocumented it creates deemed-gift tax, a larger second-step tax at listed prices, and personal risk for the two principals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0080" y="5806440"/>
            <a:ext cx="10927080" cy="731520"/>
          </a:xfrm>
          <a:prstGeom prst="roundRect">
            <a:avLst/>
          </a:prstGeom>
          <a:solidFill>
            <a:srgbClr val="EC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50" b="1">
                <a:solidFill>
                  <a:srgbClr val="1B3355"/>
                </a:solidFill>
                <a:latin typeface="Calibri"/>
              </a:rPr>
              <a:t>All Korean tax and FX statements to be confirmed in writing by Korean counsel before any structure is selected.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Recommended shareholding 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FVH's structure is undetermined — set it by value, enter as one block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17320"/>
            <a:ext cx="5394960" cy="187451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700" b="1">
                <a:solidFill>
                  <a:srgbClr val="1B3355"/>
                </a:solidFill>
                <a:latin typeface="Calibri"/>
              </a:rPr>
              <a:t>The principle</a:t>
            </a:r>
          </a:p>
          <a:p>
            <a:pPr algn="l">
              <a:spcBef>
                <a:spcPts val="400"/>
              </a:spcBef>
            </a:pPr>
            <a:r>
              <a:rPr sz="1350">
                <a:solidFill>
                  <a:srgbClr val="5A5A5A"/>
                </a:solidFill>
                <a:latin typeface="Calibri"/>
              </a:rPr>
              <a:t>One value-based exchange ratio: independent valuations of GenApep ($30–40M planning range) and of a VERIFIED First Vital + a written fairness opinion. FVH issues shares to GenApep Holdings' shareholders pro rata — never to individuals.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5394960" cy="1691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9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700" b="1">
                <a:solidFill>
                  <a:srgbClr val="1B3355"/>
                </a:solidFill>
                <a:latin typeface="Calibri"/>
              </a:rPr>
              <a:t>Technology credit — the DPW licence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5A5A5A"/>
                </a:solidFill>
                <a:latin typeface="Calibri"/>
              </a:rPr>
              <a:t>DPW (under listed Richards Group) is reviewing a licence to GenApep technology. An arm's-length licence evidences the $5–10M AI.pep value now carried at $0 — and adds royalty income. Gate: chain-of-title first; keep exclusivity narrow.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14173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B3355"/>
                </a:solidFill>
                <a:latin typeface="Calibri"/>
              </a:rPr>
              <a:t>Illustrative cap table (GenApep $35M mid · 7.5% pool)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63640" y="1874519"/>
          <a:ext cx="53035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868680"/>
                <a:gridCol w="777240"/>
                <a:gridCol w="731520"/>
                <a:gridCol w="640080"/>
                <a:gridCol w="68580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Scenario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GA block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Eyesel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WBI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Pool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FVH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B3355"/>
                          </a:solidFill>
                        </a:rPr>
                        <a:t>FVH verified $5M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B3355"/>
                          </a:solidFill>
                        </a:rPr>
                        <a:t>88%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B3355"/>
                          </a:solidFill>
                        </a:rPr>
                        <a:t>41.3%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B3355"/>
                          </a:solidFill>
                        </a:rPr>
                        <a:t>39.7%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B3355"/>
                          </a:solidFill>
                        </a:rPr>
                        <a:t>6.6%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B3355"/>
                          </a:solidFill>
                        </a:rPr>
                        <a:t>12%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B3355"/>
                          </a:solidFill>
                        </a:rPr>
                        <a:t>FVH verified $10M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B3355"/>
                          </a:solidFill>
                        </a:rPr>
                        <a:t>78%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B3355"/>
                          </a:solidFill>
                        </a:rPr>
                        <a:t>36.7%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B3355"/>
                          </a:solidFill>
                        </a:rPr>
                        <a:t>35.3%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B3355"/>
                          </a:solidFill>
                        </a:rPr>
                        <a:t>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B3355"/>
                          </a:solidFill>
                        </a:rPr>
                        <a:t>22%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B3355"/>
                          </a:solidFill>
                        </a:rPr>
                        <a:t>FVH verified $13M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B3355"/>
                          </a:solidFill>
                        </a:rPr>
                        <a:t>73%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B3355"/>
                          </a:solidFill>
                        </a:rPr>
                        <a:t>34.4%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B3355"/>
                          </a:solidFill>
                        </a:rPr>
                        <a:t>33.0%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B3355"/>
                          </a:solidFill>
                        </a:rPr>
                        <a:t>5.5%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B3355"/>
                          </a:solidFill>
                        </a:rPr>
                        <a:t>27%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263640" y="3749039"/>
            <a:ext cx="530352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A1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700" b="1">
                <a:solidFill>
                  <a:srgbClr val="1B3355"/>
                </a:solidFill>
                <a:latin typeface="Calibri"/>
              </a:rPr>
              <a:t>Why this beats 40/35/25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5A5A5A"/>
                </a:solidFill>
                <a:latin typeface="Calibri"/>
              </a:rPr>
              <a:t>The block percentage is the only number to negotiate; the internal 51:49-less-pool split then divides automatically. Simpler to agree, to explain, and to support with a fairness opinion.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349240"/>
            <a:ext cx="10927080" cy="777240"/>
          </a:xfrm>
          <a:prstGeom prst="roundRect">
            <a:avLst/>
          </a:prstGeom>
          <a:solidFill>
            <a:srgbClr val="EC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50" b="1">
                <a:solidFill>
                  <a:srgbClr val="1B3355"/>
                </a:solidFill>
                <a:latin typeface="Calibri"/>
              </a:rPr>
              <a:t>Price test: the draft's percentages imply paying $10–13M for FVH. Would FVH be worth that if it were private? Verify before a single share moves.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Fair without Eyesel's numbers — interim assumptions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Fairness comes from mechanism, not from guessing the missing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17320"/>
            <a:ext cx="5760720" cy="4160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600" b="1">
                <a:solidFill>
                  <a:srgbClr val="1B3355"/>
                </a:solidFill>
                <a:latin typeface="Calibri"/>
              </a:rPr>
              <a:t>Four mechanisms — commit now, correct automatically</a:t>
            </a:r>
          </a:p>
          <a:p>
            <a:pPr algn="l">
              <a:spcBef>
                <a:spcPts val="400"/>
              </a:spcBef>
            </a:pPr>
            <a:r>
              <a:rPr sz="1250">
                <a:solidFill>
                  <a:srgbClr val="5A5A5A"/>
                </a:solidFill>
                <a:latin typeface="Calibri"/>
              </a:rPr>
              <a:t>1 · PEG + MANDATORY TRUE-UP (Amendment A1, already drafted): sign on a stated basis — Eyesel revenue $8.0M, value $15–20M. If verified figures differ &gt;15%, equalisation is mandatory; an independent valuer decides if boards cannot. Symmetric — protects Eyesel too.
2 · VERIFIED FINANCIALS = condition precedent to the SHARE EXCHANGE, not to signing — the exchange is Q1–Q2 2027 and the PCAOB audit verifies the numbers anyway.
3 · ESCROW HOLDBACK (fallback): 5–8 points of the Eyesel allocation held until verification.
4 · PARITY OF METHOD: the same valuer, method and multiples for both companies — agree the method today, the numbers follow from the data.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29400" y="141732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B3355"/>
                </a:solidFill>
                <a:latin typeface="Calibri"/>
              </a:rPr>
              <a:t>Planning numbers meanwhile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29400" y="1874519"/>
          <a:ext cx="49377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914400"/>
                <a:gridCol w="278892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Item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Assume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Why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B3355"/>
                          </a:solidFill>
                        </a:rPr>
                        <a:t>Revenue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$8.0M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documented basis (lower figure)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B3355"/>
                          </a:solidFill>
                        </a:rPr>
                        <a:t>Gross margin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40%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mirrors WBI's certified actual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B3355"/>
                          </a:solidFill>
                        </a:rPr>
                        <a:t>EBITDA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~12%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GMP-manufacturer profile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B3355"/>
                          </a:solidFill>
                        </a:rPr>
                        <a:t>Value band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$15–20M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same band as WBI — parity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629400" y="3977639"/>
            <a:ext cx="4937760" cy="1600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9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450" b="1">
                <a:solidFill>
                  <a:srgbClr val="1B3355"/>
                </a:solidFill>
                <a:latin typeface="Calibri"/>
              </a:rPr>
              <a:t>The check for both boards</a:t>
            </a:r>
          </a:p>
          <a:p>
            <a:pPr algn="l">
              <a:spcBef>
                <a:spcPts val="400"/>
              </a:spcBef>
            </a:pPr>
            <a:r>
              <a:rPr sz="1250">
                <a:solidFill>
                  <a:srgbClr val="5A5A5A"/>
                </a:solidFill>
                <a:latin typeface="Calibri"/>
              </a:rPr>
              <a:t>Value-proportional, Eyesel needs ≥ ~$18M verified value to hold 51%. At $8M revenue that means documenting GMP-facility / licence asset value — or equalisation applies. At ~$15M revenue, 51:49 is comfortable.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760720"/>
            <a:ext cx="10927080" cy="685800"/>
          </a:xfrm>
          <a:prstGeom prst="roundRect">
            <a:avLst/>
          </a:prstGeom>
          <a:solidFill>
            <a:srgbClr val="EC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500" b="1">
                <a:solidFill>
                  <a:srgbClr val="1B3355"/>
                </a:solidFill>
                <a:latin typeface="Calibri"/>
              </a:rPr>
              <a:t>The FVH ratio never waits on Eyesel's data — only the internal split does, and it self-corrects inside the block.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What this means for WBI shareholders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Your 49% of GenApep, traced through both routes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554480"/>
            <a:ext cx="2606040" cy="1965960"/>
          </a:xfrm>
          <a:prstGeom prst="round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CFDDEA"/>
                </a:solidFill>
                <a:latin typeface="Calibri"/>
              </a:rPr>
              <a:t>Today</a:t>
            </a:r>
          </a:p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49%</a:t>
            </a:r>
          </a:p>
          <a:p>
            <a:pPr algn="ctr"/>
            <a:r>
              <a:rPr sz="1150" b="0">
                <a:solidFill>
                  <a:srgbClr val="FFFFFF"/>
                </a:solidFill>
                <a:latin typeface="Calibri"/>
              </a:rPr>
              <a:t>of GenApep · ≈ $17.2M at $35M mid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264408" y="2331720"/>
            <a:ext cx="182880" cy="411480"/>
          </a:xfrm>
          <a:prstGeom prst="rightArrow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56432" y="1554480"/>
            <a:ext cx="2606040" cy="1965960"/>
          </a:xfrm>
          <a:prstGeom prst="roundRect">
            <a:avLst/>
          </a:prstGeom>
          <a:solidFill>
            <a:srgbClr val="1AA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CFDDEA"/>
                </a:solidFill>
                <a:latin typeface="Calibri"/>
              </a:rPr>
              <a:t>After pool (7.5%)</a:t>
            </a:r>
          </a:p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45.3%</a:t>
            </a:r>
          </a:p>
          <a:p>
            <a:pPr algn="ctr"/>
            <a:r>
              <a:rPr sz="1150" b="0">
                <a:solidFill>
                  <a:srgbClr val="FFFFFF"/>
                </a:solidFill>
                <a:latin typeface="Calibri"/>
              </a:rPr>
              <a:t>≈ $15.9M — before technology credit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080760" y="2331720"/>
            <a:ext cx="182880" cy="411480"/>
          </a:xfrm>
          <a:prstGeom prst="rightArrow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72784" y="1554480"/>
            <a:ext cx="2606040" cy="1965960"/>
          </a:xfrm>
          <a:prstGeom prst="roundRect">
            <a:avLst/>
          </a:prstGeom>
          <a:solidFill>
            <a:srgbClr val="E09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Route B (FVH $10M)</a:t>
            </a:r>
          </a:p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35.3%</a:t>
            </a:r>
          </a:p>
          <a:p>
            <a:pPr algn="ctr"/>
            <a:r>
              <a:rPr sz="1150" b="0">
                <a:solidFill>
                  <a:srgbClr val="FFFFFF"/>
                </a:solidFill>
                <a:latin typeface="Calibri"/>
              </a:rPr>
              <a:t>of the LISTED company · $28–35M if market values group at $80–100M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897112" y="2331720"/>
            <a:ext cx="182880" cy="411480"/>
          </a:xfrm>
          <a:prstGeom prst="rightArrow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089136" y="1554480"/>
            <a:ext cx="2606040" cy="1965960"/>
          </a:xfrm>
          <a:prstGeom prst="roundRect">
            <a:avLst/>
          </a:prstGeom>
          <a:solidFill>
            <a:srgbClr val="1B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CFDDEA"/>
                </a:solidFill>
                <a:latin typeface="Calibri"/>
              </a:rPr>
              <a:t>Route A post-IPO</a:t>
            </a:r>
          </a:p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36.3%</a:t>
            </a:r>
          </a:p>
          <a:p>
            <a:pPr algn="ctr"/>
            <a:r>
              <a:rPr sz="1150" b="0">
                <a:solidFill>
                  <a:srgbClr val="FFFFFF"/>
                </a:solidFill>
                <a:latin typeface="Calibri"/>
              </a:rPr>
              <a:t>≈ $36.3M at $80M pre + $20M raise (workbook)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794760"/>
            <a:ext cx="5394960" cy="2331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700" b="1">
                <a:solidFill>
                  <a:srgbClr val="1B3355"/>
                </a:solidFill>
                <a:latin typeface="Calibri"/>
              </a:rPr>
              <a:t>Where WBI's value comes from</a:t>
            </a:r>
          </a:p>
          <a:p>
            <a:pPr algn="l">
              <a:spcBef>
                <a:spcPts val="400"/>
              </a:spcBef>
            </a:pPr>
            <a:r>
              <a:rPr sz="1350">
                <a:solidFill>
                  <a:srgbClr val="5A5A5A"/>
                </a:solidFill>
                <a:latin typeface="Calibri"/>
              </a:rPr>
              <a:t>• MM Studio — WBI's growth engine: $2.9M → $36.3M by 2030, the plan's biggest swing factor.
• WBI core exports: $4.69M in 2026, +20%/yr, NTS-certified FY2025 base.
• Technology upside (AI.pep, DPW licence) accrues inside GenApep — you participate via the block.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794760"/>
            <a:ext cx="5303520" cy="2331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700" b="1">
                <a:solidFill>
                  <a:srgbClr val="1B3355"/>
                </a:solidFill>
                <a:latin typeface="Calibri"/>
              </a:rPr>
              <a:t>The protections that matter to you</a:t>
            </a:r>
          </a:p>
          <a:p>
            <a:pPr algn="l">
              <a:spcBef>
                <a:spcPts val="400"/>
              </a:spcBef>
            </a:pPr>
            <a:r>
              <a:rPr sz="1350">
                <a:solidFill>
                  <a:srgbClr val="5A5A5A"/>
                </a:solidFill>
                <a:latin typeface="Calibri"/>
              </a:rPr>
              <a:t>• A2: consideration only to shareholder bodies, pro rata — the draft's 40% to one individual (zero to other WBI shareholders) becomes impossible.
• B4/B5: any Stage-2 deal carries every shareholder through as one block at one ratio.
• A1: if Eyesel's real revenue departs &gt;15% from $8.0M, equalisation is mandatory.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The price test on First Vital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What the draft's percentages imply — and how to check them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15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463040"/>
          <a:ext cx="109270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1737360"/>
                <a:gridCol w="498348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Value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Basis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B3355"/>
                          </a:solidFill>
                        </a:rPr>
                        <a:t>GenApep combined value (planning)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B3355"/>
                          </a:solidFill>
                        </a:rPr>
                        <a:t>$30–40M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B3355"/>
                          </a:solidFill>
                        </a:rPr>
                        <a:t>JV plan valuation sheet (before AI.pep/DPW)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B3355"/>
                          </a:solidFill>
                        </a:rPr>
                        <a:t>GenApep share under the draft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B3355"/>
                          </a:solidFill>
                        </a:rPr>
                        <a:t>75%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B3355"/>
                          </a:solidFill>
                        </a:rPr>
                        <a:t>40% + 35% to the two individuals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B3355"/>
                          </a:solidFill>
                        </a:rPr>
                        <a:t>Implied combined group value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B3355"/>
                          </a:solidFill>
                        </a:rPr>
                        <a:t>$40–53M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B3355"/>
                          </a:solidFill>
                        </a:rPr>
                        <a:t>GenApep value ÷ 0.75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B3355"/>
                          </a:solidFill>
                        </a:rPr>
                        <a:t>Implied value of First Vital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B3355"/>
                          </a:solidFill>
                        </a:rPr>
                        <a:t>$10–13M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B3355"/>
                          </a:solidFill>
                        </a:rPr>
                        <a:t>the remaining 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" y="3520440"/>
            <a:ext cx="109270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9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600" b="1">
                <a:solidFill>
                  <a:srgbClr val="1B3355"/>
                </a:solidFill>
                <a:latin typeface="Calibri"/>
              </a:rPr>
              <a:t>The question to answer before any share moves</a:t>
            </a:r>
          </a:p>
          <a:p>
            <a:pPr algn="l">
              <a:spcBef>
                <a:spcPts val="400"/>
              </a:spcBef>
            </a:pPr>
            <a:r>
              <a:rPr sz="1450">
                <a:solidFill>
                  <a:srgbClr val="5A5A5A"/>
                </a:solidFill>
                <a:latin typeface="Calibri"/>
              </a:rPr>
              <a:t>Would First Vital be worth $10–13M if it were NOT public? If yes — on the GLP-1 business alone — the terms are fair and the listing status comes free. If not, most of the price pays for a filing record that has not yet been verified.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029200"/>
            <a:ext cx="3520440" cy="109728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2600" b="1">
                <a:solidFill>
                  <a:srgbClr val="FFFFFF"/>
                </a:solidFill>
                <a:latin typeface="Calibri"/>
              </a:rPr>
              <a:t>Gate 0</a:t>
            </a:r>
          </a:p>
          <a:p>
            <a:pPr algn="ctr"/>
            <a:r>
              <a:rPr sz="1300" b="0">
                <a:solidFill>
                  <a:srgbClr val="CFDDEA"/>
                </a:solidFill>
                <a:latin typeface="Calibri"/>
              </a:rPr>
              <a:t>CIK + full EDGAR index, in writing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5029200"/>
            <a:ext cx="3520440" cy="1097280"/>
          </a:xfrm>
          <a:prstGeom prst="round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This week</a:t>
            </a:r>
          </a:p>
          <a:p>
            <a:pPr algn="ctr"/>
            <a:r>
              <a:rPr sz="1300" b="0">
                <a:solidFill>
                  <a:srgbClr val="CFDDEA"/>
                </a:solidFill>
                <a:latin typeface="Calibri"/>
              </a:rPr>
              <a:t>request Jul–Aug GLP-1 actuals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5029200"/>
            <a:ext cx="3520440" cy="1097280"/>
          </a:xfrm>
          <a:prstGeom prst="roundRect">
            <a:avLst/>
          </a:prstGeom>
          <a:solidFill>
            <a:srgbClr val="1B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2600" b="1">
                <a:solidFill>
                  <a:srgbClr val="FFFFFF"/>
                </a:solidFill>
                <a:latin typeface="Calibri"/>
              </a:rPr>
              <a:t>Then</a:t>
            </a:r>
          </a:p>
          <a:p>
            <a:pPr algn="ctr"/>
            <a:r>
              <a:rPr sz="1300" b="0">
                <a:solidFill>
                  <a:srgbClr val="CFDDEA"/>
                </a:solidFill>
                <a:latin typeface="Calibri"/>
              </a:rPr>
              <a:t>independent valuations + fairness opinion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Protections already drafted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Sign Amendment No. 1 now; Addendum A when Route B is 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63040"/>
            <a:ext cx="539496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700" b="1">
                <a:solidFill>
                  <a:srgbClr val="1B3355"/>
                </a:solidFill>
                <a:latin typeface="Calibri"/>
              </a:rPr>
              <a:t>Amendment No. 1 (both scenarios)</a:t>
            </a:r>
          </a:p>
          <a:p>
            <a:pPr algn="l">
              <a:spcBef>
                <a:spcPts val="400"/>
              </a:spcBef>
            </a:pPr>
            <a:r>
              <a:rPr sz="1350">
                <a:solidFill>
                  <a:srgbClr val="5A5A5A"/>
                </a:solidFill>
                <a:latin typeface="Calibri"/>
              </a:rPr>
              <a:t>A1 · Equalisation becomes MANDATORY beyond 15% variance — independent valuer decides if boards cannot.
A2 · Consideration to shareholder bodies pro rata, never to principals.
A3/A4 · Third-Director interests disclosed; deadlocks resolved (pool fixed at 7.5% fallback).
A5 · Technology chain of title = condition precedent to completion.
A6/A7 · Technology encumbrances disclosed; provenance pack before sweat-equity vesting.
A8 · No one may present GenApep as an existing rights-holding entity before it is one.
A9 · Open items scheduled with owners and dates.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463040"/>
            <a:ext cx="530352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9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700" b="1">
                <a:solidFill>
                  <a:srgbClr val="1B3355"/>
                </a:solidFill>
                <a:latin typeface="Calibri"/>
              </a:rPr>
              <a:t>Addendum A (Route-B machinery)</a:t>
            </a:r>
          </a:p>
          <a:p>
            <a:pPr algn="l">
              <a:spcBef>
                <a:spcPts val="400"/>
              </a:spcBef>
            </a:pPr>
            <a:r>
              <a:rPr sz="1350">
                <a:solidFill>
                  <a:srgbClr val="5A5A5A"/>
                </a:solidFill>
                <a:latin typeface="Calibri"/>
              </a:rPr>
              <a:t>B1 · GenApep Korea is the ONLY permitted acquisition vehicle.
B2 · Sweat pool carries into any new structure on equivalent terms.
B3 · Route selection is a Reserved Matter; Route A stays the default.
B4 · Ratio preservation: consideration strictly pro rata — binding.
B5 · Block entry: one exchange ratio for the whole JV, never individual deals.
B6/B11 · No unilateral negotiation; exclusivity extends to listing vehicles.
B7 · Related-party deals need valuations, fairness opinion, disinterested approval.
B8–B10, B12 · Verification gates, audit scoped for either route, consequences schedule.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Timeline &amp; critical 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The audit is the clock; everything else runs in parallel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17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463040"/>
          <a:ext cx="109270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7315200"/>
                <a:gridCol w="205740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When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Milestone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Owner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B3355"/>
                          </a:solidFill>
                        </a:rPr>
                        <a:t>Now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Sign Amendment No. 1 · request FVH EDGAR index + GLP-1 actuals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Boards / FA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B3355"/>
                          </a:solidFill>
                        </a:rPr>
                        <a:t>≤ 30 days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Eyesel updated financial report + principal confirmation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Eyesel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B3355"/>
                          </a:solidFill>
                        </a:rPr>
                        <a:t>Q3–Q4 2026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Incorporate GenApep Holdings (Cayman) + GenApep Korea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FA / counsel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B3355"/>
                          </a:solidFill>
                        </a:rPr>
                        <a:t>Q4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1B3355"/>
                          </a:solidFill>
                        </a:rPr>
                        <a:t>Appoint PCAOB auditor — CRITICAL PATH · definitive SHA + pool KPIs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1B3355"/>
                          </a:solidFill>
                        </a:rPr>
                        <a:t>Joint / FA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B3355"/>
                          </a:solidFill>
                        </a:rPr>
                        <a:t>Q1–Q2 2027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Share exchange: GenApep Korea acquires WBI + Eyesel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All parties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B3355"/>
                          </a:solidFill>
                        </a:rPr>
                        <a:t>When gated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Route decision under Addendum A (verified FVH, valuations, fairness opinion)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Boards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B3355"/>
                          </a:solidFill>
                        </a:rPr>
                        <a:t>≤ end-2027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Confidential SEC draft registration (Route A) / combination filings (Route B)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FA / US counsel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B3355"/>
                          </a:solidFill>
                        </a:rPr>
                        <a:t>2028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US listing — market-dependent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" y="5257800"/>
            <a:ext cx="10927080" cy="868680"/>
          </a:xfrm>
          <a:prstGeom prst="roundRect">
            <a:avLst/>
          </a:prstGeom>
          <a:solidFill>
            <a:srgbClr val="EC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500" b="1">
                <a:solidFill>
                  <a:srgbClr val="1B3355"/>
                </a:solidFill>
                <a:latin typeface="Calibri"/>
              </a:rPr>
              <a:t>Two audited fiscal years to PCAOB standard are required before ANY filing — start the auditor appointment now and the route choice steals no time.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Decisions requested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Approve these seven actions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18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1463040"/>
            <a:ext cx="548640" cy="548640"/>
          </a:xfrm>
          <a:prstGeom prst="ellipse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481328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1">
                <a:solidFill>
                  <a:srgbClr val="1B3355"/>
                </a:solidFill>
                <a:latin typeface="Calibri"/>
              </a:rPr>
              <a:t>Sign Amendment No. 1 and start Stage 1 — both boards.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2157984"/>
            <a:ext cx="548640" cy="548640"/>
          </a:xfrm>
          <a:prstGeom prst="ellipse">
            <a:avLst/>
          </a:prstGeom>
          <a:solidFill>
            <a:srgbClr val="1AA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2176272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0">
                <a:solidFill>
                  <a:srgbClr val="1B3355"/>
                </a:solidFill>
                <a:latin typeface="Calibri"/>
              </a:rPr>
              <a:t>Treat Addendum A as the gate for all First Vital discussion.</a:t>
            </a:r>
          </a:p>
        </p:txBody>
      </p:sp>
      <p:sp>
        <p:nvSpPr>
          <p:cNvPr id="11" name="Oval 10"/>
          <p:cNvSpPr/>
          <p:nvPr/>
        </p:nvSpPr>
        <p:spPr>
          <a:xfrm>
            <a:off x="731520" y="2852928"/>
            <a:ext cx="548640" cy="548640"/>
          </a:xfrm>
          <a:prstGeom prst="ellipse">
            <a:avLst/>
          </a:prstGeom>
          <a:solidFill>
            <a:srgbClr val="E09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871216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0">
                <a:solidFill>
                  <a:srgbClr val="1B3355"/>
                </a:solidFill>
                <a:latin typeface="Calibri"/>
              </a:rPr>
              <a:t>Instruct the FA to obtain FVH's CIK / EDGAR index and Jul–Aug GLP-1 actuals — this week.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3547872"/>
            <a:ext cx="548640" cy="548640"/>
          </a:xfrm>
          <a:prstGeom prst="ellipse">
            <a:avLst/>
          </a:prstGeom>
          <a:solidFill>
            <a:srgbClr val="244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3566160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0">
                <a:solidFill>
                  <a:srgbClr val="1B3355"/>
                </a:solidFill>
                <a:latin typeface="Calibri"/>
              </a:rPr>
              <a:t>Eyesel: updated financials + principal confirmation within 30 days.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4242816"/>
            <a:ext cx="548640" cy="548640"/>
          </a:xfrm>
          <a:prstGeom prst="ellipse">
            <a:avLst/>
          </a:prstGeom>
          <a:solidFill>
            <a:srgbClr val="1B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4261104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0">
                <a:solidFill>
                  <a:srgbClr val="1B3355"/>
                </a:solidFill>
                <a:latin typeface="Calibri"/>
              </a:rPr>
              <a:t>Appoint the PCAOB auditor in Q4-2026, scoped for either route.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937760"/>
            <a:ext cx="548640" cy="54864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4956048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1">
                <a:solidFill>
                  <a:srgbClr val="1B3355"/>
                </a:solidFill>
                <a:latin typeface="Calibri"/>
              </a:rPr>
              <a:t>Do not sign the draft IPO MOU as written — revise to value-based block entry.</a:t>
            </a:r>
          </a:p>
        </p:txBody>
      </p:sp>
      <p:sp>
        <p:nvSpPr>
          <p:cNvPr id="19" name="Oval 18"/>
          <p:cNvSpPr/>
          <p:nvPr/>
        </p:nvSpPr>
        <p:spPr>
          <a:xfrm>
            <a:off x="731520" y="5632704"/>
            <a:ext cx="548640" cy="548640"/>
          </a:xfrm>
          <a:prstGeom prst="ellipse">
            <a:avLst/>
          </a:prstGeom>
          <a:solidFill>
            <a:srgbClr val="1AA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5650992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0">
                <a:solidFill>
                  <a:srgbClr val="1B3355"/>
                </a:solidFill>
                <a:latin typeface="Calibri"/>
              </a:rPr>
              <a:t>Progress the DPW licence to asset-level term sheets after chain-of-title is documented.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4008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PRIVATE &amp; CONFIDENTIAL — WBI &amp; Eyesel directors only · planning figures · not advice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