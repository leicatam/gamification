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Sheet1!$A$2:$A$7</c:f>
              <c:strCache>
                <c:ptCount val="6"/>
                <c:pt idx="0">
                  <c:v>FY2025A</c:v>
                </c:pt>
                <c:pt idx="1">
                  <c:v>2026P</c:v>
                </c:pt>
                <c:pt idx="2">
                  <c:v>2027P</c:v>
                </c:pt>
                <c:pt idx="3">
                  <c:v>2028P</c:v>
                </c:pt>
                <c:pt idx="4">
                  <c:v>2029P</c:v>
                </c:pt>
                <c:pt idx="5">
                  <c:v>2030P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11.43</c:v>
                </c:pt>
                <c:pt idx="1">
                  <c:v>16.39</c:v>
                </c:pt>
                <c:pt idx="2">
                  <c:v>25.31</c:v>
                </c:pt>
                <c:pt idx="3">
                  <c:v>31.7</c:v>
                </c:pt>
                <c:pt idx="4">
                  <c:v>43.82</c:v>
                </c:pt>
                <c:pt idx="5">
                  <c:v>58.91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profit</c:v>
                </c:pt>
              </c:strCache>
            </c:strRef>
          </c:tx>
          <c:spPr>
            <a:solidFill>
              <a:srgbClr val="1B3355"/>
            </a:solidFill>
          </c:spPr>
          <c:cat>
            <c:strRef>
              <c:f>Sheet1!$A$2:$A$7</c:f>
              <c:strCache>
                <c:ptCount val="6"/>
                <c:pt idx="0">
                  <c:v>FY2025A</c:v>
                </c:pt>
                <c:pt idx="1">
                  <c:v>2026P</c:v>
                </c:pt>
                <c:pt idx="2">
                  <c:v>2027P</c:v>
                </c:pt>
                <c:pt idx="3">
                  <c:v>2028P</c:v>
                </c:pt>
                <c:pt idx="4">
                  <c:v>2029P</c:v>
                </c:pt>
                <c:pt idx="5">
                  <c:v>2030P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0.76</c:v>
                </c:pt>
                <c:pt idx="1">
                  <c:v>2.4</c:v>
                </c:pt>
                <c:pt idx="2">
                  <c:v>4.54</c:v>
                </c:pt>
                <c:pt idx="3">
                  <c:v>5.95</c:v>
                </c:pt>
                <c:pt idx="4">
                  <c:v>8.86</c:v>
                </c:pt>
                <c:pt idx="5">
                  <c:v>12.51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rPr sz="1300"/>
                  <a:t>US$M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371600"/>
            <a:ext cx="2377440" cy="237744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5120640"/>
            <a:ext cx="1645920" cy="164592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0" y="5852160"/>
            <a:ext cx="914400" cy="91440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48840"/>
            <a:ext cx="182880" cy="173736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057400"/>
            <a:ext cx="9601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GENAPEP — THE ROAD TO A US LISTING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3756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CFDDEA"/>
                </a:solidFill>
                <a:latin typeface="Calibri"/>
              </a:rPr>
              <a:t>Director briefing: the Joint Venture, First Vital, and the choice of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16052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FB6CB"/>
                </a:solidFill>
                <a:latin typeface="Calibri"/>
              </a:rPr>
              <a:t>Executive presentation · ~30 minutes · read before the document pack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8064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09E2B"/>
                </a:solidFill>
                <a:latin typeface="Calibri"/>
              </a:rPr>
              <a:t>PRIVATE &amp; CONFIDENTIAL — for the directors of WBI and Eyesel only. Not for release to First Vital. Illustrative planning figures; not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Why we are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Thirty minutes before you read eight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WBI and Eyesel signed an MOU on 12 August 2026 to combine into one group — GenApep — and take it to a US public market.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Two new elements have arrived since: First Vital (a US company with a stated SEC filing record and a GLP-1 care programme) proposes to be the listing vehicle, and DPW (under the listed Richards Group) is reviewing a licence to GenApep's technology.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The document pack runs to eight instruments and two workbooks. This presentation gives you the structure, the numbers, the pros and cons, and the decisions — so the pack confirms rather than surprises.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The ask today: agree the implementation order, note the risks, and approve the next actions on the final slide.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5120640"/>
            <a:ext cx="3337560" cy="118872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8 + 2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documents + workbooks distilled here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project in one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Two stages; the second is a choice, not a commitment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53949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STAGE 1 — form the Joint Venture (now)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GenApep Holdings (Cayman) → GenApep Korea → acquires 100% of WBI and 100% of Eyesel.
Eyesel shareholders 51% · WBI shareholders 49% · tech sweat pool 5–10% dilutes both pro rata.
Governed by the 12-Aug MOU + Amendment No.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54480"/>
            <a:ext cx="53035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STAGE 2 — choose the route to market (later, gated)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Route A (default): GenApep's own US offering — SEC confidential draft by end-2027, listing 2028.
Route B (option): combine with First Vital, a company with an existing SEC record — only through the machinery in Addendum A.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2514600"/>
            <a:ext cx="457200" cy="411480"/>
          </a:xfrm>
          <a:prstGeom prst="rightArrow">
            <a:avLst/>
          </a:prstGeom>
          <a:solidFill>
            <a:srgbClr val="1AA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4114800"/>
            <a:ext cx="10927080" cy="91440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700" b="1">
                <a:solidFill>
                  <a:srgbClr val="1B3355"/>
                </a:solidFill>
                <a:latin typeface="Calibri"/>
              </a:rPr>
              <a:t>The PCAOB audit of both companies is the critical path under EVERY route — so forming the JV first costs no calendar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9270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Why the order matters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Settle the 51:49 economics between ourselves first, then negotiate with First Vital as ONE party holding audited accounts — instead of two unaudited companies and two individuals inside someone else's cap table.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Stage 1 — the Joint Venture, in essentials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12-Aug MOU as amended by Amendment No.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3520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Structure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Cayman holdco → GenApep Korea → 100% WBI + 100% Eyesel. Korean operations undisturbed; one group for audit and listing.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520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Economics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Eyesel 51 : WBI 49, both diluted by a 5–10% technology pool (Keith · Sidney · Charles + team). Mandatory equalisation if either side's figures move &gt;15%.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520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Governance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One director each + a Third Director (interests disclosed; deadlock fallback fixes the pool at 7.5% if directors cannot agree).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3360"/>
            <a:ext cx="539496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Amendment No. 1 — why it must be signed first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Nine fixes needed under every scenario: consideration flows to SHAREHOLDER BODIES pro rata, never to individuals · equalisation becomes mandatory · technology chain-of-title becomes a condition precedent · open items get owners and dates.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023360"/>
            <a:ext cx="53035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44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Addendum A — sign when Route B is on the table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Route selection becomes a board decision · GenApep Korea is the ONLY permitted acquisition vehicle · any Stage-2 deal must carry every shareholder through pro rata as one block · the sweat pool survives any change of vehicle.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numbers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JV Financial Plan (rev. 29 Aug 2026) — planning basis, Eyesel figures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463040"/>
          <a:ext cx="69494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863840" y="1463040"/>
            <a:ext cx="3703320" cy="1143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$58.9M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2030 plan revenue (base case)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743200"/>
            <a:ext cx="3703320" cy="114300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$30–40M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combined pre-JV valuation range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4023360"/>
            <a:ext cx="370332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What drives it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5A5A5A"/>
                </a:solidFill>
                <a:latin typeface="Calibri"/>
              </a:rPr>
              <a:t>MM Studio ramp $2.9M → $36.3M is the swing factor (WBI-side). Eyesel base $8.0M placeholder +10%/yr — updated financials due within 30 days and the 51:49 rests on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Stage 2 — two routes to being public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Route A is the default; Route B is an option with 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539496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ROUTE A — our own offering (default)</a:t>
            </a:r>
          </a:p>
          <a:p>
            <a:pPr algn="l">
              <a:spcBef>
                <a:spcPts val="400"/>
              </a:spcBef>
            </a:pPr>
            <a:r>
              <a:rPr sz="1450">
                <a:solidFill>
                  <a:srgbClr val="5A5A5A"/>
                </a:solidFill>
                <a:latin typeface="Calibri"/>
              </a:rPr>
              <a:t>GenApep Holdings files its own registration.
• Confidential SEC draft by end-2027; listing 2028.
• Raises primary capital (illustrative $20M at $80M pre-money).
• Foreign private issuer: F-1, IFRS, 20-F — as budgeted.
• Fully in our control; no counterparty risk.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08760"/>
            <a:ext cx="530352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ROUTE B — combine with First Vital (option)</a:t>
            </a:r>
          </a:p>
          <a:p>
            <a:pPr algn="l">
              <a:spcBef>
                <a:spcPts val="400"/>
              </a:spcBef>
            </a:pPr>
            <a:r>
              <a:rPr sz="1450">
                <a:solidFill>
                  <a:srgbClr val="5A5A5A"/>
                </a:solidFill>
                <a:latin typeface="Calibri"/>
              </a:rPr>
              <a:t>GenApep enters a company that already reports to the SEC.
• Potentially faster to reporting status — but that is NOT an exchange listing.
• Raises no money by itself; financing must be planned separately.
• Likely domestic issuer: US GAAP, 10-K/10-Q — unbudgeted cost.
• Brings the GLP-1 programme and a US clinical channel.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10927080" cy="118872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1B3355"/>
                </a:solidFill>
                <a:latin typeface="Calibri"/>
              </a:rPr>
              <a:t>Addendum A keeps BOTH routes open until the boards choose — route selection is a Reserved Matter requiring both directors.</a:t>
            </a:r>
          </a:p>
          <a:p>
            <a:pPr algn="ctr"/>
            <a:r>
              <a:rPr sz="1300" b="0">
                <a:solidFill>
                  <a:srgbClr val="5A5A5A"/>
                </a:solidFill>
                <a:latin typeface="Calibri"/>
              </a:rPr>
              <a:t>No step may foreclose either route without Board approval.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First Vital — what it brings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Stated SEC record + an operating GLP-1 programme (proforma basis)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3949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The GLP-1 Bridge programme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CPT-reimbursed care: assessment → care plan → monthly remote monitoring at $168.92/patient/month. Targeting 2,500 patients by Dec-2026, 10,000 by Dec-2027.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31920"/>
            <a:ext cx="2606040" cy="118872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$2.2M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proforma revenue H2-2026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931920"/>
            <a:ext cx="2606040" cy="118872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$16.7M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proforma revenue 2027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257800"/>
            <a:ext cx="2606040" cy="118872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$1.59M/mo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recurring MRR exiting 2027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5257800"/>
            <a:ext cx="2606040" cy="1188720"/>
          </a:xfrm>
          <a:prstGeom prst="roundRect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~$3,788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revenue per enrolled patient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63040"/>
            <a:ext cx="53035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Why it fits GenApep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A GLP-1 patient base is a natural US channel for peptide products: GI &amp; metabolic support, muscle preservation, GLP-1-associated hair loss — designed by the AI platform, made by Eyesel under GMP.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931920"/>
            <a:ext cx="53035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Read the numbers with care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• Proforma is GROSS REIMBURSEMENT only — no clinician, billing or collection costs.
• Programme began enrolling 1 July 2026 — two months of history.
• SEC filing record is stated, not yet verified on EDGAR.
• July–August actuals are the cheapest, most informative diligence available.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Route B — the case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What a verified First Vital adds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554480" cy="77724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56362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An existing, current filing record cuts the time and execution risk of becoming a reporting company.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78024"/>
            <a:ext cx="1554480" cy="77724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532888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10,000 targeted GLP-1 patients = a US clinical route to market GenApep cannot quickly build alone.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47288"/>
            <a:ext cx="1554480" cy="77724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3502152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A recurring-revenue care programme (MRR $1.59M/month exiting 2027, proforma) alongside our product revenue.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16552"/>
            <a:ext cx="1554480" cy="777240"/>
          </a:xfrm>
          <a:prstGeom prst="roundRect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Synergy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471416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GLP-1 GI support + hair-loss management are exactly the categories GenApep's peptide/exosome stack targets.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85816"/>
            <a:ext cx="1554480" cy="77724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Infrastructure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440680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US corporate platform and an existing shareholder base — float the JV would otherwise create from zero.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Route B — the 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Each has a gate in Addendum A / the diligence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4937760"/>
                <a:gridCol w="39319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Why it matters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The gate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Filing status unverified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No identifiable EDGAR record surfaced by name search; a Reg-A filing would not make FVH a reporting company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Gate zero: CIK + full EDGAR index, counsel confirmation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Two months of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GLP-1 enrolment began 1 Jul 2026; the 10,000-patient ramp is a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Jul–Aug actual enrolments, claims, denials — this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Revenue-only proforma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No cost build; 20% margin is an assumption; reimbursement ≠ cash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Cost build + collection-rate before any valuation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Issuer &amp; accounting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US parent likely = domestic issuer: US GAAP, 10-K/10-Q, proxy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Written classification opinion before route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Shell / liabilities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Possible shell-company resale restrictions; unknown liabilities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Shell status on EDGAR; corporate &amp; legal diligence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No capital raised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A combination raises nothing; group could emerge public but underfunded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Separate financing plan before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Related-party optics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Principals could sit on both sides of the transaction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Independent valuations + fairness opinion + disinterested approval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conflict to resolve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The draft IPO MOU cannot be signed alongside the JV MOU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97680"/>
                <a:gridCol w="4251960"/>
              </a:tblGrid>
              <a:tr h="36576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JV MOU + Amendment (agreed)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Draft IPO MOU (as written)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Who gets the shares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WBI &amp; Eyesel SHAREHOLDER BODIES, pro rata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Two named individuals (40% + 35%)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The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Eyesel 51 : WBI 49, less sweat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≈ 53 : 47 the other way; no pool at 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Acquisition vehicle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GenApep Korea (sole permitted vehicle)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FVH Korea — a competing vehicle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When shares move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Issuance and transfer simultaneous at closing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75% issued BEFORE the companies transfer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Eyesel principal / revenue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Mr. Park · US$8.0M (plan placeholder)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Mr. Kim · ~US$15M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526280"/>
            <a:ext cx="10927080" cy="155448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1B3355"/>
                </a:solidFill>
                <a:latin typeface="Calibri"/>
              </a:rPr>
              <a:t>The fix is sequencing, not abandonment.</a:t>
            </a:r>
          </a:p>
          <a:p>
            <a:pPr algn="ctr"/>
            <a:r>
              <a:rPr sz="1450" b="0">
                <a:solidFill>
                  <a:srgbClr val="5A5A5A"/>
                </a:solidFill>
                <a:latin typeface="Calibri"/>
              </a:rPr>
              <a:t>Form the Joint Venture first, then approach First Vital as one block with one agreed internal split. Same commercial outcome, none of the governance defects — and zero calendar cost, because the audit runs on the critical path either way.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Recommended shareholding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FVH's structure is undetermined — set it by value, enter as one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39496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The principle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One value-based exchange ratio: independent valuations of GenApep ($30–40M planning range) and of a VERIFIED First Vital + a written fairness opinion. FVH issues shares to GenApep Holdings' shareholders pro rata — never to individuals.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539496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Technology credit — the DPW licence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5A5A5A"/>
                </a:solidFill>
                <a:latin typeface="Calibri"/>
              </a:rPr>
              <a:t>DPW (under listed Richards Group) is reviewing a licence to GenApep technology. An arm's-length licence evidences the $5–10M AI.pep value now carried at $0 — and adds royalty income. Gate: chain-of-title first; keep exclusivity narrow.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4173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355"/>
                </a:solidFill>
                <a:latin typeface="Calibri"/>
              </a:rPr>
              <a:t>Illustrative cap table (GenApep $35M mid · 7.5% pool)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874519"/>
          <a:ext cx="53035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868680"/>
                <a:gridCol w="777240"/>
                <a:gridCol w="731520"/>
                <a:gridCol w="640080"/>
                <a:gridCol w="6858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GA block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Eyesel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WBI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Pool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FVH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3355"/>
                          </a:solidFill>
                        </a:rPr>
                        <a:t>FVH verified $5M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88%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41.3%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39.7%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6.6%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12%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3355"/>
                          </a:solidFill>
                        </a:rPr>
                        <a:t>FVH verified $10M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36.7%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35.3%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3355"/>
                          </a:solidFill>
                        </a:rPr>
                        <a:t>FVH verified $13M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73%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34.4%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33.0%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5.5%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27%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749039"/>
            <a:ext cx="530352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Why this beats 40/35/25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5A5A5A"/>
                </a:solidFill>
                <a:latin typeface="Calibri"/>
              </a:rPr>
              <a:t>The block percentage is the only number to negotiate; the internal 51:49-less-pool split then divides automatically. Simpler to agree, to explain, and to support with a fairness opinion.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349240"/>
            <a:ext cx="10927080" cy="77724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50" b="1">
                <a:solidFill>
                  <a:srgbClr val="1B3355"/>
                </a:solidFill>
                <a:latin typeface="Calibri"/>
              </a:rPr>
              <a:t>Price test: the draft's percentages imply paying $10–13M for FVH. Would FVH be worth that if it were private? Verify before a single share moves.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What this means for WBI shareholders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Your 49% of GenApep, traced through both routes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606040" cy="196596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CFDDEA"/>
                </a:solidFill>
                <a:latin typeface="Calibri"/>
              </a:rPr>
              <a:t>Today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49%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of GenApep · ≈ $17.2M at $35M mid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64408" y="2331720"/>
            <a:ext cx="182880" cy="411480"/>
          </a:xfrm>
          <a:prstGeom prst="rightArrow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56432" y="1554480"/>
            <a:ext cx="2606040" cy="196596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CFDDEA"/>
                </a:solidFill>
                <a:latin typeface="Calibri"/>
              </a:rPr>
              <a:t>After pool (7.5%)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45.3%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≈ $15.9M — before technology credit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80760" y="2331720"/>
            <a:ext cx="182880" cy="411480"/>
          </a:xfrm>
          <a:prstGeom prst="rightArrow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554480"/>
            <a:ext cx="2606040" cy="196596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Route B (FVH $10M)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35.3%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of the LISTED company · $28–35M if market values group at $80–100M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97112" y="2331720"/>
            <a:ext cx="182880" cy="411480"/>
          </a:xfrm>
          <a:prstGeom prst="rightArrow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89136" y="1554480"/>
            <a:ext cx="2606040" cy="196596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CFDDEA"/>
                </a:solidFill>
                <a:latin typeface="Calibri"/>
              </a:rPr>
              <a:t>Route A post-IPO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36.3%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≈ $36.3M at $80M pre + $20M raise (workbook)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94760"/>
            <a:ext cx="539496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Where WBI's value comes from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• MM Studio — WBI's growth engine: $2.9M → $36.3M by 2030, the plan's biggest swing factor.
• WBI core exports: $4.69M in 2026, +20%/yr, NTS-certified FY2025 base.
• Technology upside (AI.pep, DPW licence) accrues inside GenApep — you participate via the block.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794760"/>
            <a:ext cx="530352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The protections that matter to you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• A2: consideration only to shareholder bodies, pro rata — the draft's 40% to one individual (zero to other WBI shareholders) becomes impossible.
• B4/B5: any Stage-2 deal carries every shareholder through as one block at one ratio.
• A1: if Eyesel's real revenue departs &gt;15% from $8.0M, equalisation is mandatory.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price test on First Vital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What the draft's percentages imply — and how to check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737360"/>
                <a:gridCol w="498348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Basis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GenApep combined value (planning)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$30–40M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JV plan valuation sheet (before AI.pep/DPW)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GenApep share under the draft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40% + 35% to the two individuals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Implied combined group value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$40–53M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GenApep value ÷ 0.75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Implied value of First Vital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3355"/>
                          </a:solidFill>
                        </a:rPr>
                        <a:t>$10–13M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3355"/>
                          </a:solidFill>
                        </a:rPr>
                        <a:t>the remaining 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3520440"/>
            <a:ext cx="10927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The question to answer before any share moves</a:t>
            </a:r>
          </a:p>
          <a:p>
            <a:pPr algn="l">
              <a:spcBef>
                <a:spcPts val="400"/>
              </a:spcBef>
            </a:pPr>
            <a:r>
              <a:rPr sz="1450">
                <a:solidFill>
                  <a:srgbClr val="5A5A5A"/>
                </a:solidFill>
                <a:latin typeface="Calibri"/>
              </a:rPr>
              <a:t>Would First Vital be worth $10–13M if it were NOT public? If yes — on the GLP-1 business alone — the terms are fair and the listing status comes free. If not, most of the price pays for a filing record that has not yet been verified.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029200"/>
            <a:ext cx="3520440" cy="10972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Gate 0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CIK + full EDGAR index, in writing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5029200"/>
            <a:ext cx="3520440" cy="109728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This week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request Jul–Aug GLP-1 actuals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5029200"/>
            <a:ext cx="3520440" cy="109728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Then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independent valuations + fairness opinion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Protections already drafted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Sign Amendment No. 1 now; Addendum A when Route B is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3949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Amendment No. 1 (both scenarios)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A1 · Equalisation becomes MANDATORY beyond 15% variance — independent valuer decides if boards cannot.
A2 · Consideration to shareholder bodies pro rata, never to principals.
A3/A4 · Third-Director interests disclosed; deadlocks resolved (pool fixed at 7.5% fallback).
A5 · Technology chain of title = condition precedent to completion.
A6/A7 · Technology encumbrances disclosed; provenance pack before sweat-equity vesting.
A8 · No one may present GenApep as an existing rights-holding entity before it is one.
A9 · Open items scheduled with owners and dates.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63040"/>
            <a:ext cx="53035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Addendum A (Route-B machinery)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B1 · GenApep Korea is the ONLY permitted acquisition vehicle.
B2 · Sweat pool carries into any new structure on equivalent terms.
B3 · Route selection is a Reserved Matter; Route A stays the default.
B4 · Ratio preservation: consideration strictly pro rata — binding.
B5 · Block entry: one exchange ratio for the whole JV, never individual deals.
B6/B11 · No unilateral negotiation; exclusivity extends to listing vehicles.
B7 · Related-party deals need valuations, fairness opinion, disinterested approval.
B8–B10, B12 · Verification gates, audit scoped for either route, consequences schedule.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Timeline &amp; critical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The audit is the clock; everything else runs in parallel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73152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When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Milestone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Owner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Now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Sign Amendment No. 1 · request FVH EDGAR index + GLP-1 actuals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Boards / FA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≤ 30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Eyesel updated financial report + principal confirmation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Eyesel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Q3–Q4 2026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Incorporate GenApep Holdings (Cayman) + GenApep Korea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FA / counsel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Q4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B3355"/>
                          </a:solidFill>
                        </a:rPr>
                        <a:t>Appoint PCAOB auditor — CRITICAL PATH · definitive SHA + pool KPIs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B3355"/>
                          </a:solidFill>
                        </a:rPr>
                        <a:t>Joint / 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Q1–Q2 2027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Share exchange: GenApep Korea acquires WBI + Eyesel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All parties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When gated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Route decision under Addendum A (verified FVH, valuations, fairness opinion)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Boards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≤ end-2027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Confidential SEC draft registration (Route A) / combination filings (Route B)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FA / US counsel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2028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US listing — market-dependent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257800"/>
            <a:ext cx="10927080" cy="86868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1B3355"/>
                </a:solidFill>
                <a:latin typeface="Calibri"/>
              </a:rPr>
              <a:t>Two audited fiscal years to PCAOB standard are required before ANY filing — start the auditor appointment now and the route choice steals no time.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Decisions requested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Approve these seven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81328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1B3355"/>
                </a:solidFill>
                <a:latin typeface="Calibri"/>
              </a:rPr>
              <a:t>Sign Amendment No. 1 and start Stage 1 — both boards.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157984"/>
            <a:ext cx="548640" cy="548640"/>
          </a:xfrm>
          <a:prstGeom prst="ellipse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17627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Treat Addendum A as the gate for all First Vital discussion.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852928"/>
            <a:ext cx="548640" cy="548640"/>
          </a:xfrm>
          <a:prstGeom prst="ellipse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71216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Instruct the FA to obtain FVH's CIK / EDGAR index and Jul–Aug GLP-1 actuals — this week.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547872"/>
            <a:ext cx="548640" cy="548640"/>
          </a:xfrm>
          <a:prstGeom prst="ellipse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5661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Eyesel: updated financials + principal confirmation within 30 days.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4242816"/>
            <a:ext cx="548640" cy="548640"/>
          </a:xfrm>
          <a:prstGeom prst="ellipse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261104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Appoint the PCAOB auditor in Q4-2026, scoped for either route.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937760"/>
            <a:ext cx="548640" cy="54864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956048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1B3355"/>
                </a:solidFill>
                <a:latin typeface="Calibri"/>
              </a:rPr>
              <a:t>Do not sign the draft IPO MOU as written — revise to value-based block entry.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632704"/>
            <a:ext cx="548640" cy="548640"/>
          </a:xfrm>
          <a:prstGeom prst="ellipse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65099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Progress the DPW licence to asset-level term sheets after chain-of-title is documented.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PRIVATE &amp; CONFIDENTIAL — WBI &amp; Eyesel directors only · planning figures · not advice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