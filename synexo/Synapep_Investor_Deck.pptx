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Conservative</c:v>
                </c:pt>
              </c:strCache>
            </c:strRef>
          </c:tx>
          <c:spPr>
            <a:solidFill>
              <a:srgbClr val="555555"/>
            </a:solidFill>
          </c:spPr>
          <c:cat>
            <c:strRef>
              <c:f>Sheet1!$A$2:$A$5</c:f>
              <c:strCache>
                <c:ptCount val="4"/>
                <c:pt idx="0">
                  <c:v>2027</c:v>
                </c:pt>
                <c:pt idx="1">
                  <c:v>2028</c:v>
                </c:pt>
                <c:pt idx="2">
                  <c:v>2029</c:v>
                </c:pt>
                <c:pt idx="3">
                  <c:v>2030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2.058</c:v>
                </c:pt>
                <c:pt idx="1">
                  <c:v>8.148</c:v>
                </c:pt>
                <c:pt idx="2">
                  <c:v>19.449</c:v>
                </c:pt>
                <c:pt idx="3">
                  <c:v>34.992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2E86C1"/>
            </a:solidFill>
          </c:spPr>
          <c:cat>
            <c:strRef>
              <c:f>Sheet1!$A$2:$A$5</c:f>
              <c:strCache>
                <c:ptCount val="4"/>
                <c:pt idx="0">
                  <c:v>2027</c:v>
                </c:pt>
                <c:pt idx="1">
                  <c:v>2028</c:v>
                </c:pt>
                <c:pt idx="2">
                  <c:v>2029</c:v>
                </c:pt>
                <c:pt idx="3">
                  <c:v>2030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4.12</c:v>
                </c:pt>
                <c:pt idx="1">
                  <c:v>16.42125</c:v>
                </c:pt>
                <c:pt idx="2">
                  <c:v>40.29875</c:v>
                </c:pt>
                <c:pt idx="3">
                  <c:v>75.1225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Upside</c:v>
                </c:pt>
              </c:strCache>
            </c:strRef>
          </c:tx>
          <c:spPr>
            <a:solidFill>
              <a:srgbClr val="1F3A5F"/>
            </a:solidFill>
          </c:spPr>
          <c:cat>
            <c:strRef>
              <c:f>Sheet1!$A$2:$A$5</c:f>
              <c:strCache>
                <c:ptCount val="4"/>
                <c:pt idx="0">
                  <c:v>2027</c:v>
                </c:pt>
                <c:pt idx="1">
                  <c:v>2028</c:v>
                </c:pt>
                <c:pt idx="2">
                  <c:v>2029</c:v>
                </c:pt>
                <c:pt idx="3">
                  <c:v>2030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6.084</c:v>
                </c:pt>
                <c:pt idx="1">
                  <c:v>24.46275</c:v>
                </c:pt>
                <c:pt idx="2">
                  <c:v>60.09</c:v>
                </c:pt>
                <c:pt idx="3">
                  <c:v>112.17375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title>
          <c:tx>
            <c:rich>
              <a:bodyPr/>
              <a:lstStyle/>
              <a:p>
                <a:r>
                  <a:t>Revenue ($M)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377440"/>
            <a:ext cx="164592" cy="155448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22860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Calibri"/>
              </a:rPr>
              <a:t>SYNAPEP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5661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 i="0">
                <a:solidFill>
                  <a:srgbClr val="CFDDEA"/>
                </a:solidFill>
                <a:latin typeface="Calibri"/>
              </a:rPr>
              <a:t>AI-Personalised Aesthetic Medical Devices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2976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1">
                <a:solidFill>
                  <a:srgbClr val="9FB6CB"/>
                </a:solidFill>
                <a:latin typeface="Calibri"/>
              </a:rPr>
              <a:t>Korea-anchored, export-led  •  Investor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7F97AE"/>
                </a:solidFill>
                <a:latin typeface="Calibri"/>
              </a:rPr>
              <a:t>Illustrative — not investment advice. Figures are v0.4 scenario estimates.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09728" cy="41148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7160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1F3A5F"/>
                </a:solidFill>
                <a:latin typeface="Calibri"/>
              </a:rPr>
              <a:t>•  Medical aesthetics ≈ $17–18.5B (2024), ~10–13% CAGR → ~$56B by 2033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1F3A5F"/>
                </a:solidFill>
                <a:latin typeface="Calibri"/>
              </a:rPr>
              <a:t>•  Injectables &gt;40% of revenue; Korea a global hub, Hong Kong a gateway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555555"/>
                </a:solidFill>
                <a:latin typeface="Calibri"/>
              </a:rPr>
              <a:t>–  Commodity injectables (HA, botox) still grow but commoditise — buyers want differentiated, regenerative, personalised outcomes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1F3A5F"/>
                </a:solidFill>
                <a:latin typeface="Calibri"/>
              </a:rPr>
              <a:t>•  Opening: an AI-personalised, physician-configured regenerative category — a new lane beside HA/botox, not a replacement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09728" cy="41148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The solution — device + recurring kits +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7160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1F3A5F"/>
                </a:solidFill>
                <a:latin typeface="Calibri"/>
              </a:rPr>
              <a:t>•  Applicator device placed in clinics + recurring, CodeLife-configured peptide/exosome treatment kits, registered as a medical-device family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555555"/>
                </a:solidFill>
                <a:latin typeface="Calibri"/>
              </a:rPr>
              <a:t>–  Personalised by physician purpose within an approved envelope — fast 'modified-device' registration, not bespoke per-patient devices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1F3A5F"/>
                </a:solidFill>
                <a:latin typeface="Calibri"/>
              </a:rPr>
              <a:t>•  Razor-and-blades: device is the wedge and the data-capture endpoint; kits are the recurring revenue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555555"/>
                </a:solidFill>
                <a:latin typeface="Calibri"/>
              </a:rPr>
              <a:t>–  Kit ~$30–35 ex-factory; ~64–67% gross margin; device ASP $3,000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09728" cy="41148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The moat — AI efficacy + data flywheel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7160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1F3A5F"/>
                </a:solidFill>
                <a:latin typeface="Calibri"/>
              </a:rPr>
              <a:t>•  Differentiator is performance, not merely personalisation: peptides engineered to outperform generalised, off-the-shelf products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1F3A5F"/>
                </a:solidFill>
                <a:latin typeface="Calibri"/>
              </a:rPr>
              <a:t>•  Proprietary AI-QA/analytics validate every batch and feed continuous improvement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555555"/>
                </a:solidFill>
                <a:latin typeface="Calibri"/>
              </a:rPr>
              <a:t>–  Closed loop: treatment inputs/outcomes → better model → better peptides → deeper clinic lock-in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1F3A5F"/>
                </a:solidFill>
                <a:latin typeface="Calibri"/>
              </a:rPr>
              <a:t>•  Vision: a data-science company in aesthetic medicine — devices/kits are the data layer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555555"/>
                </a:solidFill>
                <a:latin typeface="Calibri"/>
              </a:rPr>
              <a:t>–  Honest framing: the day-one asset is the consented dataset + data-rights + analytics, not a foundation model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09728" cy="41148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Same product, more markets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7160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700">
                <a:solidFill>
                  <a:srgbClr val="1F3A5F"/>
                </a:solidFill>
                <a:latin typeface="Calibri"/>
              </a:rPr>
              <a:t>•  One product family — </a:t>
            </a:r>
            <a:r>
              <a:rPr sz="1700">
                <a:solidFill>
                  <a:srgbClr val="555555"/>
                </a:solidFill>
                <a:latin typeface="Calibri"/>
              </a:rPr>
              <a:t>the Korean-developed device + CodeLife kit is exported as-is</a:t>
            </a:r>
          </a:p>
          <a:p>
            <a:pPr>
              <a:spcAft>
                <a:spcPts val="1000"/>
              </a:spcAft>
            </a:pPr>
            <a:r>
              <a:rPr b="1" sz="1700">
                <a:solidFill>
                  <a:srgbClr val="1F3A5F"/>
                </a:solidFill>
                <a:latin typeface="Calibri"/>
              </a:rPr>
              <a:t>•  No per-market R&amp;D — </a:t>
            </a:r>
            <a:r>
              <a:rPr sz="1700">
                <a:solidFill>
                  <a:srgbClr val="555555"/>
                </a:solidFill>
                <a:latin typeface="Calibri"/>
              </a:rPr>
              <a:t>personalisation is by physician purpose within the same approved envelope</a:t>
            </a:r>
          </a:p>
          <a:p>
            <a:pPr>
              <a:spcAft>
                <a:spcPts val="1000"/>
              </a:spcAft>
            </a:pPr>
            <a:r>
              <a:rPr b="1" sz="1700">
                <a:solidFill>
                  <a:srgbClr val="1F3A5F"/>
                </a:solidFill>
                <a:latin typeface="Calibri"/>
              </a:rPr>
              <a:t>•  Identical unit economics everywhere — </a:t>
            </a:r>
            <a:r>
              <a:rPr sz="1700">
                <a:solidFill>
                  <a:srgbClr val="555555"/>
                </a:solidFill>
                <a:latin typeface="Calibri"/>
              </a:rPr>
              <a:t>the only variables are clinic base and timing</a:t>
            </a:r>
          </a:p>
          <a:p>
            <a:pPr>
              <a:spcAft>
                <a:spcPts val="1000"/>
              </a:spcAft>
            </a:pPr>
            <a:r>
              <a:rPr b="1" sz="1700">
                <a:solidFill>
                  <a:srgbClr val="1F3A5F"/>
                </a:solidFill>
                <a:latin typeface="Calibri"/>
              </a:rPr>
              <a:t>•  Scale + data benefits — </a:t>
            </a:r>
            <a:r>
              <a:rPr sz="1700">
                <a:solidFill>
                  <a:srgbClr val="555555"/>
                </a:solidFill>
                <a:latin typeface="Calibri"/>
              </a:rPr>
              <a:t>one production/QC/stability spec; one comparable global dataset</a:t>
            </a:r>
          </a:p>
          <a:p>
            <a:pPr>
              <a:spcAft>
                <a:spcPts val="1000"/>
              </a:spcAft>
            </a:pPr>
            <a:r>
              <a:rPr b="1" sz="1700">
                <a:solidFill>
                  <a:srgbClr val="1F3A5F"/>
                </a:solidFill>
                <a:latin typeface="Calibri"/>
              </a:rPr>
              <a:t>•  Regulatory — </a:t>
            </a:r>
            <a:r>
              <a:rPr sz="1700">
                <a:solidFill>
                  <a:srgbClr val="555555"/>
                </a:solidFill>
                <a:latin typeface="Calibri"/>
              </a:rPr>
              <a:t>the Korean technical file is the master dossier for every reliance filing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09728" cy="41148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Regulatory strategy (Korea → Hong Kong → export)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371600"/>
          <a:ext cx="107899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4023360"/>
                <a:gridCol w="292608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Product line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Pathway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Speed / note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A5F"/>
                          </a:solidFill>
                        </a:rPr>
                        <a:t>Microneedling/topical kit + applicator</a:t>
                      </a:r>
                    </a:p>
                  </a:txBody>
                  <a:tcPr>
                    <a:solidFill>
                      <a:srgbClr val="ED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3A5F"/>
                          </a:solidFill>
                        </a:rPr>
                        <a:t>Korea MFDS modified-device; HK MDACS listing</a:t>
                      </a:r>
                    </a:p>
                  </a:txBody>
                  <a:tcPr>
                    <a:solidFill>
                      <a:srgbClr val="ED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3A5F"/>
                          </a:solidFill>
                        </a:rPr>
                        <a:t>Fast (~months) — the lead family</a:t>
                      </a:r>
                    </a:p>
                  </a:txBody>
                  <a:tcPr>
                    <a:solidFill>
                      <a:srgbClr val="ED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A5F"/>
                          </a:solidFill>
                        </a:rPr>
                        <a:t>IM / injectable peptide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3A5F"/>
                          </a:solidFill>
                        </a:rPr>
                        <a:t>Drug/biologic (separate) or cosmetic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3A5F"/>
                          </a:solidFill>
                        </a:rPr>
                        <a:t>Slower — doesn't gate launch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A5F"/>
                          </a:solidFill>
                        </a:rPr>
                        <a:t>CodeLife software</a:t>
                      </a:r>
                    </a:p>
                  </a:txBody>
                  <a:tcPr>
                    <a:solidFill>
                      <a:srgbClr val="ED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3A5F"/>
                          </a:solidFill>
                        </a:rPr>
                        <a:t>Config/decision-support in cleared envelope</a:t>
                      </a:r>
                    </a:p>
                  </a:txBody>
                  <a:tcPr>
                    <a:solidFill>
                      <a:srgbClr val="ED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3A5F"/>
                          </a:solidFill>
                        </a:rPr>
                        <a:t>Manages SaMD exposure</a:t>
                      </a:r>
                    </a:p>
                  </a:txBody>
                  <a:tcPr>
                    <a:solidFill>
                      <a:srgbClr val="ED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09728" cy="41148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Export springboard — KFDA reliance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371600"/>
          <a:ext cx="1078992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572000"/>
                <a:gridCol w="3474720"/>
              </a:tblGrid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Tier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Markets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KFDA leverage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F3A5F"/>
                          </a:solidFill>
                        </a:rPr>
                        <a:t>Tier 1: ASEAN + Hong Kong</a:t>
                      </a:r>
                    </a:p>
                  </a:txBody>
                  <a:tcPr>
                    <a:solidFill>
                      <a:srgbClr val="ED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3A5F"/>
                          </a:solidFill>
                        </a:rPr>
                        <a:t>HK, Vietnam, Singapore → Thailand, Malaysia, Indonesia, Philippines</a:t>
                      </a:r>
                    </a:p>
                  </a:txBody>
                  <a:tcPr>
                    <a:solidFill>
                      <a:srgbClr val="ED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3A5F"/>
                          </a:solidFill>
                        </a:rPr>
                        <a:t>MDACS reference; VN accepts MFDS; ASEAN CSDT cascade</a:t>
                      </a:r>
                    </a:p>
                  </a:txBody>
                  <a:tcPr>
                    <a:solidFill>
                      <a:srgbClr val="ED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F3A5F"/>
                          </a:solidFill>
                        </a:rPr>
                        <a:t>Tier 2: GCC + Greater China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3A5F"/>
                          </a:solidFill>
                        </a:rPr>
                        <a:t>Saudi, UAE; Taiwan; China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3A5F"/>
                          </a:solidFill>
                        </a:rPr>
                        <a:t>SFDA regional reference; TFDA uses Korean data; China via Hainan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09728" cy="41148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Multi-market revenue — 3 scenarios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8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40080" y="1280160"/>
          <a:ext cx="7498079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412480" y="146304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500">
                <a:solidFill>
                  <a:srgbClr val="1F3A5F"/>
                </a:solidFill>
                <a:latin typeface="Calibri"/>
              </a:rPr>
              <a:t>Conservative 2030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  $35M rev  •  $10M EBITDA
  1,167 clinics  •  64% GM</a:t>
            </a:r>
          </a:p>
          <a:p>
            <a:r>
              <a:rPr b="1" sz="1500">
                <a:solidFill>
                  <a:srgbClr val="1F3A5F"/>
                </a:solidFill>
                <a:latin typeface="Calibri"/>
              </a:rPr>
              <a:t>Base 2030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  $75M rev  •  $33M EBITDA
  2,020 clinics  •  65% GM</a:t>
            </a:r>
          </a:p>
          <a:p>
            <a:r>
              <a:rPr b="1" sz="1500">
                <a:solidFill>
                  <a:srgbClr val="1F3A5F"/>
                </a:solidFill>
                <a:latin typeface="Calibri"/>
              </a:rPr>
              <a:t>Upside 2030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  $112M rev  •  $55M EBITDA
  2,626 clinics  •  66% GM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09728" cy="41148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Scenario assumptions (product unchanged)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371600"/>
          <a:ext cx="107899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651760"/>
                <a:gridCol w="2560320"/>
                <a:gridCol w="246888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Lever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Conservative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Base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Upside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A5F"/>
                          </a:solidFill>
                        </a:rPr>
                        <a:t>Markets</a:t>
                      </a:r>
                    </a:p>
                  </a:txBody>
                  <a:tcPr>
                    <a:solidFill>
                      <a:srgbClr val="ED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3A5F"/>
                          </a:solidFill>
                        </a:rPr>
                        <a:t>11 (China excl.)</a:t>
                      </a:r>
                    </a:p>
                  </a:txBody>
                  <a:tcPr>
                    <a:solidFill>
                      <a:srgbClr val="ED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3A5F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ED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3A5F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ED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A5F"/>
                          </a:solidFill>
                        </a:rPr>
                        <a:t>Clinic ramp vs base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3A5F"/>
                          </a:solidFill>
                        </a:rPr>
                        <a:t>0.62×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3A5F"/>
                          </a:solidFill>
                        </a:rPr>
                        <a:t>1.00×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3A5F"/>
                          </a:solidFill>
                        </a:rPr>
                        <a:t>1.30×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A5F"/>
                          </a:solidFill>
                        </a:rPr>
                        <a:t>Kit EXW</a:t>
                      </a:r>
                    </a:p>
                  </a:txBody>
                  <a:tcPr>
                    <a:solidFill>
                      <a:srgbClr val="ED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3A5F"/>
                          </a:solidFill>
                        </a:rPr>
                        <a:t>$30.00</a:t>
                      </a:r>
                    </a:p>
                  </a:txBody>
                  <a:tcPr>
                    <a:solidFill>
                      <a:srgbClr val="ED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3A5F"/>
                          </a:solidFill>
                        </a:rPr>
                        <a:t>$32.50</a:t>
                      </a:r>
                    </a:p>
                  </a:txBody>
                  <a:tcPr>
                    <a:solidFill>
                      <a:srgbClr val="ED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3A5F"/>
                          </a:solidFill>
                        </a:rPr>
                        <a:t>$35.00</a:t>
                      </a:r>
                    </a:p>
                  </a:txBody>
                  <a:tcPr>
                    <a:solidFill>
                      <a:srgbClr val="ED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A5F"/>
                          </a:solidFill>
                        </a:rPr>
                        <a:t>Kit gross margin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3A5F"/>
                          </a:solidFill>
                        </a:rPr>
                        <a:t>65%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3A5F"/>
                          </a:solidFill>
                        </a:rPr>
                        <a:t>66%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3A5F"/>
                          </a:solidFill>
                        </a:rPr>
                        <a:t>67%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A5F"/>
                          </a:solidFill>
                        </a:rPr>
                        <a:t>Device GM</a:t>
                      </a:r>
                    </a:p>
                  </a:txBody>
                  <a:tcPr>
                    <a:solidFill>
                      <a:srgbClr val="ED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3A5F"/>
                          </a:solidFill>
                        </a:rPr>
                        <a:t>35%</a:t>
                      </a:r>
                    </a:p>
                  </a:txBody>
                  <a:tcPr>
                    <a:solidFill>
                      <a:srgbClr val="ED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3A5F"/>
                          </a:solidFill>
                        </a:rPr>
                        <a:t>40%</a:t>
                      </a:r>
                    </a:p>
                  </a:txBody>
                  <a:tcPr>
                    <a:solidFill>
                      <a:srgbClr val="ED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3A5F"/>
                          </a:solidFill>
                        </a:rPr>
                        <a:t>42%</a:t>
                      </a:r>
                    </a:p>
                  </a:txBody>
                  <a:tcPr>
                    <a:solidFill>
                      <a:srgbClr val="ED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A5F"/>
                          </a:solidFill>
                        </a:rPr>
                        <a:t>Kits/clinic/yr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3A5F"/>
                          </a:solidFill>
                        </a:rPr>
                        <a:t>1,200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3A5F"/>
                          </a:solidFill>
                        </a:rPr>
                        <a:t>1,400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3A5F"/>
                          </a:solidFill>
                        </a:rPr>
                        <a:t>1,500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09728" cy="41148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Valuation — two lenses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7160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700">
                <a:solidFill>
                  <a:srgbClr val="1F3A5F"/>
                </a:solidFill>
                <a:latin typeface="Calibri"/>
              </a:rPr>
              <a:t>•  Lens A (priced today) — </a:t>
            </a:r>
            <a:r>
              <a:rPr sz="1700">
                <a:solidFill>
                  <a:srgbClr val="555555"/>
                </a:solidFill>
                <a:latin typeface="Calibri"/>
              </a:rPr>
              <a:t>device/consumables floor: $5–7M pre; $6M midpoint for the $1M kickoff</a:t>
            </a:r>
          </a:p>
          <a:p>
            <a:pPr>
              <a:spcAft>
                <a:spcPts val="1000"/>
              </a:spcAft>
            </a:pPr>
            <a:r>
              <a:rPr b="1" sz="1700">
                <a:solidFill>
                  <a:srgbClr val="1F3A5F"/>
                </a:solidFill>
                <a:latin typeface="Calibri"/>
              </a:rPr>
              <a:t>•  Lens B (upside) — </a:t>
            </a:r>
            <a:r>
              <a:rPr sz="1700">
                <a:solidFill>
                  <a:srgbClr val="555555"/>
                </a:solidFill>
                <a:latin typeface="Calibri"/>
              </a:rPr>
              <a:t>AI/data-science company: medtech → AI multiples; premium Series A in 2028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3108960"/>
          <a:ext cx="64008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  <a:gridCol w="2133600"/>
              </a:tblGrid>
              <a:tr h="502920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Holder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Pre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Post-raise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A5F"/>
                          </a:solidFill>
                        </a:rPr>
                        <a:t>WBI</a:t>
                      </a:r>
                    </a:p>
                  </a:txBody>
                  <a:tcPr>
                    <a:solidFill>
                      <a:srgbClr val="ED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A5F"/>
                          </a:solidFill>
                        </a:rPr>
                        <a:t>70.0%</a:t>
                      </a:r>
                    </a:p>
                  </a:txBody>
                  <a:tcPr>
                    <a:solidFill>
                      <a:srgbClr val="ED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A5F"/>
                          </a:solidFill>
                        </a:rPr>
                        <a:t>60.0%</a:t>
                      </a:r>
                    </a:p>
                  </a:txBody>
                  <a:tcPr>
                    <a:solidFill>
                      <a:srgbClr val="EDF1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A5F"/>
                          </a:solidFill>
                        </a:rPr>
                        <a:t>Eyesel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A5F"/>
                          </a:solidFill>
                        </a:rPr>
                        <a:t>30.0%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A5F"/>
                          </a:solidFill>
                        </a:rPr>
                        <a:t>25.7%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A5F"/>
                          </a:solidFill>
                        </a:rPr>
                        <a:t>Investor (SAFE)</a:t>
                      </a:r>
                    </a:p>
                  </a:txBody>
                  <a:tcPr>
                    <a:solidFill>
                      <a:srgbClr val="ED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A5F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D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A5F"/>
                          </a:solidFill>
                        </a:rPr>
                        <a:t>14.3%</a:t>
                      </a:r>
                    </a:p>
                  </a:txBody>
                  <a:tcPr>
                    <a:solidFill>
                      <a:srgbClr val="ED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09728" cy="41148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The ask — milestone-gated SAFE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7160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1F3A5F"/>
                </a:solidFill>
                <a:latin typeface="Calibri"/>
              </a:rPr>
              <a:t>•  US$1.0M kickoff — post-money SAFE, $6.0M cap, 20% discount, MFN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555555"/>
                </a:solidFill>
                <a:latin typeface="Calibri"/>
              </a:rPr>
              <a:t>–  Two tranches: $400k at close · $600k on milestones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1F3A5F"/>
                </a:solidFill>
                <a:latin typeface="Calibri"/>
              </a:rPr>
              <a:t>•  Conditions precedent: WBI IP into the JV; verify the $25M sample; clinic data-rights clause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1F3A5F"/>
                </a:solidFill>
                <a:latin typeface="Calibri"/>
              </a:rPr>
              <a:t>•  Milestones: cold-chain spec + COGS BOM; 5–10 anchor clinics w/ reorders; one prospective readout; classification memo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1F3A5F"/>
                </a:solidFill>
                <a:latin typeface="Calibri"/>
              </a:rPr>
              <a:t>•  Use of funds: Korea launch + Wave-1 export (HK/Vietnam/Singapore); CodeLife v1; QC/stability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09728" cy="41148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What we will prove (diligence-ready)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7160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600">
                <a:solidFill>
                  <a:srgbClr val="1F3A5F"/>
                </a:solidFill>
                <a:latin typeface="Calibri"/>
              </a:rPr>
              <a:t>•  RED — cold chain &amp; COGS: </a:t>
            </a:r>
            <a:r>
              <a:rPr sz="1600">
                <a:solidFill>
                  <a:srgbClr val="555555"/>
                </a:solidFill>
                <a:latin typeface="Calibri"/>
              </a:rPr>
              <a:t>reformulate to 2–8 °C / ambient; publish a bottom-up BOM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1F3A5F"/>
                </a:solidFill>
                <a:latin typeface="Calibri"/>
              </a:rPr>
              <a:t>•  Validation pack: </a:t>
            </a:r>
            <a:r>
              <a:rPr sz="1600">
                <a:solidFill>
                  <a:srgbClr val="555555"/>
                </a:solidFill>
                <a:latin typeface="Calibri"/>
              </a:rPr>
              <a:t>the $25M at entity/product/channel level + reorder cohorts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1F3A5F"/>
                </a:solidFill>
                <a:latin typeface="Calibri"/>
              </a:rPr>
              <a:t>•  Formulation envelope: </a:t>
            </a:r>
            <a:r>
              <a:rPr sz="1600">
                <a:solidFill>
                  <a:srgbClr val="555555"/>
                </a:solidFill>
                <a:latin typeface="Calibri"/>
              </a:rPr>
              <a:t>clean AND clinically differentiating within the approved family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1F3A5F"/>
                </a:solidFill>
                <a:latin typeface="Calibri"/>
              </a:rPr>
              <a:t>•  Exosome discipline: </a:t>
            </a:r>
            <a:r>
              <a:rPr sz="1600">
                <a:solidFill>
                  <a:srgbClr val="555555"/>
                </a:solidFill>
                <a:latin typeface="Calibri"/>
              </a:rPr>
              <a:t>non-human (salmon/synthetic) origin; function-based claims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1F3A5F"/>
                </a:solidFill>
                <a:latin typeface="Calibri"/>
              </a:rPr>
              <a:t>•  Data moat: </a:t>
            </a:r>
            <a:r>
              <a:rPr sz="1600">
                <a:solidFill>
                  <a:srgbClr val="555555"/>
                </a:solidFill>
                <a:latin typeface="Calibri"/>
              </a:rPr>
              <a:t>CodeLife v1 demo + data-rights in the clinic contract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09728" cy="41148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  <a:latin typeface="Calibri"/>
              </a:rP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371600"/>
          <a:ext cx="107899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937760"/>
                <a:gridCol w="3474720"/>
              </a:tblGrid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Phase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Markets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Milestones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F3A5F"/>
                          </a:solidFill>
                        </a:rPr>
                        <a:t>2027 — Anchor</a:t>
                      </a:r>
                    </a:p>
                  </a:txBody>
                  <a:tcPr>
                    <a:solidFill>
                      <a:srgbClr val="ED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3A5F"/>
                          </a:solidFill>
                        </a:rPr>
                        <a:t>Korea</a:t>
                      </a:r>
                    </a:p>
                  </a:txBody>
                  <a:tcPr>
                    <a:solidFill>
                      <a:srgbClr val="ED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3A5F"/>
                          </a:solidFill>
                        </a:rPr>
                        <a:t>Registration; anchor clinics; CodeLife v1</a:t>
                      </a:r>
                    </a:p>
                  </a:txBody>
                  <a:tcPr>
                    <a:solidFill>
                      <a:srgbClr val="ED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F3A5F"/>
                          </a:solidFill>
                        </a:rPr>
                        <a:t>2027–28 — Wave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3A5F"/>
                          </a:solidFill>
                        </a:rPr>
                        <a:t>Hong Kong, Vietnam, Singapore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3A5F"/>
                          </a:solidFill>
                        </a:rPr>
                        <a:t>Reliance filings; reorder evidence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F3A5F"/>
                          </a:solidFill>
                        </a:rPr>
                        <a:t>2028–29 — Wave 2</a:t>
                      </a:r>
                    </a:p>
                  </a:txBody>
                  <a:tcPr>
                    <a:solidFill>
                      <a:srgbClr val="ED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3A5F"/>
                          </a:solidFill>
                        </a:rPr>
                        <a:t>Thailand, Malaysia, Indonesia, Philippines; Saudi, UAE</a:t>
                      </a:r>
                    </a:p>
                  </a:txBody>
                  <a:tcPr>
                    <a:solidFill>
                      <a:srgbClr val="ED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3A5F"/>
                          </a:solidFill>
                        </a:rPr>
                        <a:t>ASEAN CSDT cascade; SFDA; Series A</a:t>
                      </a:r>
                    </a:p>
                  </a:txBody>
                  <a:tcPr>
                    <a:solidFill>
                      <a:srgbClr val="ED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F3A5F"/>
                          </a:solidFill>
                        </a:rPr>
                        <a:t>2029–30 — Wave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3A5F"/>
                          </a:solidFill>
                        </a:rPr>
                        <a:t>Taiwan, China (Hainan→NMPA)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3A5F"/>
                          </a:solidFill>
                        </a:rPr>
                        <a:t>Greater-China entry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468880"/>
            <a:ext cx="164592" cy="13716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23774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libri"/>
              </a:rPr>
              <a:t>Same product. More markets. A data moat.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566160"/>
            <a:ext cx="10241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CFDDEA"/>
                </a:solidFill>
                <a:latin typeface="Calibri"/>
              </a:rPr>
              <a:t>Base case ~$75M revenue / ~$33M EBITDA by 2030 across 12 markets on one Korean-developed product. $1M milestone-gated kickoff.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